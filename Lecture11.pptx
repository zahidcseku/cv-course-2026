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36"/>
  </p:notesMasterIdLst>
  <p:sldIdLst>
    <p:sldId id="256" r:id="rId2"/>
    <p:sldId id="271" r:id="rId3"/>
    <p:sldId id="272" r:id="rId4"/>
    <p:sldId id="273" r:id="rId5"/>
    <p:sldId id="275" r:id="rId6"/>
    <p:sldId id="276" r:id="rId7"/>
    <p:sldId id="274" r:id="rId8"/>
    <p:sldId id="277" r:id="rId9"/>
    <p:sldId id="265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7" r:id="rId19"/>
    <p:sldId id="288" r:id="rId20"/>
    <p:sldId id="289" r:id="rId21"/>
    <p:sldId id="290" r:id="rId22"/>
    <p:sldId id="293" r:id="rId23"/>
    <p:sldId id="294" r:id="rId24"/>
    <p:sldId id="266" r:id="rId25"/>
    <p:sldId id="295" r:id="rId26"/>
    <p:sldId id="296" r:id="rId27"/>
    <p:sldId id="297" r:id="rId28"/>
    <p:sldId id="298" r:id="rId29"/>
    <p:sldId id="292" r:id="rId30"/>
    <p:sldId id="286" r:id="rId31"/>
    <p:sldId id="268" r:id="rId32"/>
    <p:sldId id="270" r:id="rId33"/>
    <p:sldId id="269" r:id="rId34"/>
    <p:sldId id="26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84"/>
    <p:restoredTop sz="82993"/>
  </p:normalViewPr>
  <p:slideViewPr>
    <p:cSldViewPr snapToGrid="0">
      <p:cViewPr varScale="1">
        <p:scale>
          <a:sx n="101" d="100"/>
          <a:sy n="101" d="100"/>
        </p:scale>
        <p:origin x="1456" y="1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For instance, a road sign photographed from a few meters away will look much bigger than the same sign captured at a distance, but SIFT can still detect the same distinctive features. This makes it possible to match the two images correctly, even though the sign appears at very different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For example, a landmark captured in a landscape photo can still be identified correctly even if another photo of it is taken with the camera tilted at an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74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2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28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7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Calling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200" b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n-US" sz="1200" b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/>
                  <a:t> a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"continuous refinement"</a:t>
                </a:r>
                <a:r>
                  <a:rPr lang="en-AU" dirty="0"/>
                  <a:t> simply means moving from a coarse, grid-bound estimation (</a:t>
                </a:r>
                <a14:m>
                  <m:oMath xmlns:m="http://schemas.openxmlformats.org/officeDocument/2006/math">
                    <m:r>
                      <a:rPr lang="en-US" sz="1200" b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𝐱</m:t>
                    </m:r>
                  </m:oMath>
                </a14:m>
                <a:r>
                  <a:rPr lang="en-AU" dirty="0"/>
                  <a:t>) to a precise floating-point estimate (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200" b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en-US" sz="1200" b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/>
                  <a:t>) by </a:t>
                </a:r>
                <a:r>
                  <a:rPr lang="en-AU" dirty="0" err="1"/>
                  <a:t>modeling</a:t>
                </a:r>
                <a:r>
                  <a:rPr lang="en-AU" dirty="0"/>
                  <a:t> the continuous surface between pixels.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Calling 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 ˆ</a:t>
                </a:r>
                <a:r>
                  <a:rPr lang="en-AU" dirty="0"/>
                  <a:t> a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"continuous refinement"</a:t>
                </a:r>
                <a:r>
                  <a:rPr lang="en-AU" dirty="0"/>
                  <a:t> simply means moving from a coarse, grid-bound estimation (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</a:t>
                </a:r>
                <a:r>
                  <a:rPr lang="en-AU" dirty="0"/>
                  <a:t>) to a precise floating-point estimate (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 ˆ</a:t>
                </a:r>
                <a:r>
                  <a:rPr lang="en-AU" dirty="0"/>
                  <a:t>) by </a:t>
                </a:r>
                <a:r>
                  <a:rPr lang="en-AU" dirty="0" err="1"/>
                  <a:t>modeling</a:t>
                </a:r>
                <a:r>
                  <a:rPr lang="en-AU" dirty="0"/>
                  <a:t> the continuous surface between pixels.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96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1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28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i="1" dirty="0"/>
              <a:t>Clearly, we need a fast way to process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24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3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2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zahidbd/lecture11-classification-hog-nb1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zahidbd/lecture11-classification-sift-nb2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zahidbd/lecture11-classification-lj-nb3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code/zahidbd/lecture11-classification-hog-nb1/" TargetMode="External"/><Relationship Id="rId3" Type="http://schemas.openxmlformats.org/officeDocument/2006/relationships/hyperlink" Target="https://cvl-umass.github.io/intro-cv-spring-2025/assets/notes/localfeatures.pdf" TargetMode="External"/><Relationship Id="rId7" Type="http://schemas.openxmlformats.org/officeDocument/2006/relationships/hyperlink" Target="https://towardsdatascience.com/viola-jones-algorithm-and-haar-cascade-classifier-ee3bfb19f7d8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.towardsai.net/the-magic-behind-face-detection-a-deep-dive-into-the-viola-jones-algorithm-51f323f16cd2" TargetMode="External"/><Relationship Id="rId5" Type="http://schemas.openxmlformats.org/officeDocument/2006/relationships/hyperlink" Target="https://blog.roboflow.com/sift/" TargetMode="External"/><Relationship Id="rId10" Type="http://schemas.openxmlformats.org/officeDocument/2006/relationships/hyperlink" Target="https://www.kaggle.com/code/zahidbd/lecture11-classification-lj-nb3/" TargetMode="External"/><Relationship Id="rId4" Type="http://schemas.openxmlformats.org/officeDocument/2006/relationships/hyperlink" Target="https://www.ultralytics.com/blog/what-is-the-scale-invariant-feature-transform-sift#resilience-to-other-image-variations" TargetMode="External"/><Relationship Id="rId9" Type="http://schemas.openxmlformats.org/officeDocument/2006/relationships/hyperlink" Target="https://www.kaggle.com/code/zahidbd/lecture11-classification-sift-nb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8</a:t>
            </a:r>
          </a:p>
          <a:p>
            <a:r>
              <a:rPr lang="en-US" dirty="0"/>
              <a:t>Lecture 11 &amp; 12 (17/09/2026)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949A-8C9E-6216-E37D-1CC4E623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From Feature Detection to Description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BC0D-ADC3-05C7-7473-47C548FE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Once features are detected (or extracted) in an image, we want to be able to match them with features in other images. </a:t>
            </a:r>
          </a:p>
          <a:p>
            <a:r>
              <a:rPr lang="en-AU" dirty="0"/>
              <a:t>We need to extract from each feature some kind of signature that describes the local appearance around the location of the feature. </a:t>
            </a:r>
          </a:p>
          <a:p>
            <a:r>
              <a:rPr lang="en-AU" dirty="0"/>
              <a:t>To find correspondences between images, we need to compare their </a:t>
            </a:r>
            <a:r>
              <a:rPr lang="en-AU" b="1" dirty="0"/>
              <a:t>feature descriptors</a:t>
            </a:r>
            <a:r>
              <a:rPr lang="en-AU" dirty="0"/>
              <a:t>.</a:t>
            </a:r>
          </a:p>
          <a:p>
            <a:r>
              <a:rPr lang="en-AU" dirty="0"/>
              <a:t>The simplest feature descriptor directly represents the image patch corresponding to each detected feature using a vector of raw intensity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0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87DE-B590-8B07-5770-8C78AE2F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Patch Comparison Methods 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8CB52-8FDD-536A-B1FA-21414809F2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Sum of squared differences (SSD)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𝑆𝑆𝐷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Normalized correlation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A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A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AU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AU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  <m:e>
                                          <m:d>
                                            <m:dPr>
                                              <m:ctrlP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A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AU" i="1">
                                                      <a:latin typeface="Cambria Math" panose="02040503050406030204" pitchFamily="18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AU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A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AU" i="1">
                                                      <a:latin typeface="Cambria Math" panose="02040503050406030204" pitchFamily="18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</m:nary>
                                    </m:e>
                                    <m:sup>
                                      <m:r>
                                        <a:rPr lang="en-AU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8CB52-8FDD-536A-B1FA-21414809F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80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C2CC-2642-7FBF-00EE-5F7D218B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A2C68-6D9A-A341-ECC0-2599657A8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Images can look very different depending on their size, angle, scale, or lighting, which makes it difficult for machines to identify them consistently.</a:t>
            </a:r>
          </a:p>
          <a:p>
            <a:r>
              <a:rPr lang="en-AU" dirty="0"/>
              <a:t>SIFT solves this problem. </a:t>
            </a:r>
          </a:p>
          <a:p>
            <a:r>
              <a:rPr lang="en-AU" dirty="0"/>
              <a:t>SIFT is designed to find and describe unique </a:t>
            </a:r>
            <a:r>
              <a:rPr lang="en-AU" dirty="0" err="1"/>
              <a:t>keypoints</a:t>
            </a:r>
            <a:r>
              <a:rPr lang="en-AU" dirty="0"/>
              <a:t> in an image, such as corners, edges, or patterns that remain recognizable even when the image is resized, rotated, or lit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28912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A43D-BE5D-A7FB-0235-B27E1056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 Scale Invariance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023C-96DA-F06C-3B98-832E27791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image is blurred at different levels to create multiple versions.</a:t>
            </a:r>
          </a:p>
          <a:p>
            <a:r>
              <a:rPr lang="en-AU" dirty="0"/>
              <a:t>SIFT then looks through these versions to find patterns and details that stay the same, regardless of how the image changes in size or sharpness.</a:t>
            </a:r>
          </a:p>
        </p:txBody>
      </p:sp>
    </p:spTree>
    <p:extLst>
      <p:ext uri="{BB962C8B-B14F-4D97-AF65-F5344CB8AC3E}">
        <p14:creationId xmlns:p14="http://schemas.microsoft.com/office/powerpoint/2010/main" val="105586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EA5D-23E5-2D9B-4CF5-BEDBC79B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Rotation invariance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6D554-FAA6-7767-53C3-24C541425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Objects in images can also appear rotated, sometimes even upside down. </a:t>
                </a:r>
              </a:p>
              <a:p>
                <a:r>
                  <a:rPr lang="en-AU" dirty="0"/>
                  <a:t>For every </a:t>
                </a:r>
                <a:r>
                  <a:rPr lang="en-AU" dirty="0" err="1"/>
                  <a:t>keypoint</a:t>
                </a:r>
                <a:r>
                  <a:rPr lang="en-AU" dirty="0"/>
                  <a:t> it detects, the algorithm assigns a consistent orientation based on the local image gradients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AU" dirty="0"/>
                  <a:t>). </a:t>
                </a:r>
              </a:p>
              <a:p>
                <a:r>
                  <a:rPr lang="en-AU" dirty="0"/>
                  <a:t>It is like marking each </a:t>
                </a:r>
                <a:r>
                  <a:rPr lang="en-AU" dirty="0" err="1"/>
                  <a:t>keypoint</a:t>
                </a:r>
                <a:r>
                  <a:rPr lang="en-AU" dirty="0"/>
                  <a:t> with a small arrow that shows which direction it faces. </a:t>
                </a:r>
              </a:p>
              <a:p>
                <a:r>
                  <a:rPr lang="en-AU" dirty="0"/>
                  <a:t>By aligning features to these orientations, SIFT ensures that </a:t>
                </a:r>
                <a:r>
                  <a:rPr lang="en-AU" dirty="0" err="1"/>
                  <a:t>keypoints</a:t>
                </a:r>
                <a:r>
                  <a:rPr lang="en-AU" dirty="0"/>
                  <a:t> match correctly even when the object is rotated.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6D554-FAA6-7767-53C3-24C541425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91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C559-0B44-52F6-1FA5-61A9C0CB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Other image variations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2DB3D-2B8B-A42D-AB1A-4043D655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Images can also change in other ways, </a:t>
            </a:r>
          </a:p>
          <a:p>
            <a:pPr lvl="1"/>
            <a:r>
              <a:rPr lang="en-AU" dirty="0"/>
              <a:t>illumination changes. 	</a:t>
            </a:r>
          </a:p>
          <a:p>
            <a:pPr lvl="1"/>
            <a:r>
              <a:rPr lang="en-AU" dirty="0"/>
              <a:t>lighting on an object might go from bright to dim, </a:t>
            </a:r>
          </a:p>
          <a:p>
            <a:pPr lvl="1"/>
            <a:r>
              <a:rPr lang="en-AU" dirty="0"/>
              <a:t>camera angle might shift slightly, or </a:t>
            </a:r>
          </a:p>
          <a:p>
            <a:pPr lvl="1"/>
            <a:r>
              <a:rPr lang="en-AU" dirty="0"/>
              <a:t>image could be blurred or noisy.</a:t>
            </a:r>
          </a:p>
          <a:p>
            <a:r>
              <a:rPr lang="en-AU" dirty="0"/>
              <a:t>SIFT is built to handle these kinds of variations. It does this by focusing on </a:t>
            </a:r>
            <a:r>
              <a:rPr lang="en-AU" b="1" dirty="0" err="1"/>
              <a:t>keypoints</a:t>
            </a:r>
            <a:r>
              <a:rPr lang="en-AU" b="1" dirty="0"/>
              <a:t> that are distinctive and high in contrast</a:t>
            </a:r>
            <a:r>
              <a:rPr lang="en-AU" dirty="0"/>
              <a:t>, since these features are less affected by changes in lighting or small shifts in viewpoint.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0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20AC95-DD4F-293E-8280-B199F9C20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8765" y="829071"/>
            <a:ext cx="10314470" cy="51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9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93538-8DAB-8117-CA67-FD0BEE3D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SIFT – Scale Invariant Feature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B327-4044-F0D0-8A41-D86A542B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AU" dirty="0"/>
              <a:t>Main steps:</a:t>
            </a:r>
          </a:p>
          <a:p>
            <a:pPr lvl="1"/>
            <a:r>
              <a:rPr lang="en-AU" sz="2800" b="1" dirty="0"/>
              <a:t>Scale-space peak selection: </a:t>
            </a:r>
            <a:r>
              <a:rPr lang="en-AU" sz="2800" dirty="0"/>
              <a:t>Potential location for finding features.</a:t>
            </a:r>
          </a:p>
          <a:p>
            <a:pPr lvl="1"/>
            <a:r>
              <a:rPr lang="en-AU" sz="2800" b="1" dirty="0" err="1"/>
              <a:t>Keypoint</a:t>
            </a:r>
            <a:r>
              <a:rPr lang="en-AU" sz="2800" b="1" dirty="0"/>
              <a:t> Localization:</a:t>
            </a:r>
            <a:r>
              <a:rPr lang="en-AU" sz="2800" dirty="0"/>
              <a:t> Accurately locating the feature </a:t>
            </a:r>
            <a:r>
              <a:rPr lang="en-AU" sz="2800" dirty="0" err="1"/>
              <a:t>keypoints</a:t>
            </a:r>
            <a:r>
              <a:rPr lang="en-AU" sz="2800" dirty="0"/>
              <a:t>.</a:t>
            </a:r>
          </a:p>
          <a:p>
            <a:pPr lvl="1"/>
            <a:r>
              <a:rPr lang="en-AU" sz="2800" b="1" dirty="0"/>
              <a:t>Orientation Assignment:</a:t>
            </a:r>
            <a:r>
              <a:rPr lang="en-AU" sz="2800" dirty="0"/>
              <a:t> Assigning orientation to </a:t>
            </a:r>
            <a:r>
              <a:rPr lang="en-AU" sz="2800" dirty="0" err="1"/>
              <a:t>keypoints</a:t>
            </a:r>
            <a:r>
              <a:rPr lang="en-AU" sz="2800" dirty="0"/>
              <a:t>.</a:t>
            </a:r>
          </a:p>
          <a:p>
            <a:pPr lvl="1"/>
            <a:r>
              <a:rPr lang="en-AU" sz="2800" b="1" dirty="0" err="1"/>
              <a:t>Keypoint</a:t>
            </a:r>
            <a:r>
              <a:rPr lang="en-AU" sz="2800" b="1" dirty="0"/>
              <a:t> descriptor:</a:t>
            </a:r>
            <a:r>
              <a:rPr lang="en-AU" sz="2800" dirty="0"/>
              <a:t> Describing the </a:t>
            </a:r>
            <a:r>
              <a:rPr lang="en-AU" sz="2800" dirty="0" err="1"/>
              <a:t>keypoints</a:t>
            </a:r>
            <a:r>
              <a:rPr lang="en-AU" sz="2800" dirty="0"/>
              <a:t> as a high dimensional vector.</a:t>
            </a:r>
          </a:p>
          <a:p>
            <a:pPr lvl="1"/>
            <a:r>
              <a:rPr lang="en-AU" sz="2800" b="1" dirty="0" err="1"/>
              <a:t>Keypoint</a:t>
            </a:r>
            <a:r>
              <a:rPr lang="en-AU" sz="2800" b="1" dirty="0"/>
              <a:t> Matching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0270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7EB5-2E7D-4336-BFA9-BD20A292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227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Step 1: Scale-space extrema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F0EEB-B5EE-EC6F-F58A-EC8AB2759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843463"/>
          </a:xfrm>
        </p:spPr>
        <p:txBody>
          <a:bodyPr>
            <a:normAutofit lnSpcReduction="10000"/>
          </a:bodyPr>
          <a:lstStyle/>
          <a:p>
            <a:r>
              <a:rPr lang="en-AU" dirty="0" err="1"/>
              <a:t>Keypoints</a:t>
            </a:r>
            <a:r>
              <a:rPr lang="en-AU" dirty="0"/>
              <a:t>: distinctive spots in the image, such as corners or sharp changes in texture, that help track or recognize an object.</a:t>
            </a:r>
          </a:p>
          <a:p>
            <a:r>
              <a:rPr lang="en-AU" dirty="0"/>
              <a:t>To achieve scale invariance</a:t>
            </a:r>
          </a:p>
          <a:p>
            <a:pPr lvl="1"/>
            <a:r>
              <a:rPr lang="en-AU" dirty="0"/>
              <a:t>SIFT builds a scale space. A collection of images created by gradually blurring the original image with a Gaussian filter and grouping the results into layers called octaves. </a:t>
            </a:r>
          </a:p>
          <a:p>
            <a:pPr lvl="1"/>
            <a:r>
              <a:rPr lang="en-AU" dirty="0"/>
              <a:t>Each octave contains the same image at increasing levels of blur, while the next octave is a smaller version of the image.</a:t>
            </a:r>
          </a:p>
          <a:p>
            <a:r>
              <a:rPr lang="en-AU" dirty="0"/>
              <a:t>By subtracting one blurred image from another, SIFT calculates the Difference of Gaussians (</a:t>
            </a:r>
            <a:r>
              <a:rPr lang="en-AU" dirty="0" err="1"/>
              <a:t>DoG</a:t>
            </a:r>
            <a:r>
              <a:rPr lang="en-AU" dirty="0"/>
              <a:t>), which highlights areas where brightness changes sharply. </a:t>
            </a:r>
          </a:p>
          <a:p>
            <a:r>
              <a:rPr lang="en-AU" dirty="0"/>
              <a:t>These areas are chosen as candidate </a:t>
            </a:r>
            <a:r>
              <a:rPr lang="en-AU" dirty="0" err="1"/>
              <a:t>keypoints</a:t>
            </a:r>
            <a:r>
              <a:rPr lang="en-AU" dirty="0"/>
              <a:t> because they remain consistent when the image is zoomed in or out.</a:t>
            </a:r>
          </a:p>
        </p:txBody>
      </p:sp>
    </p:spTree>
    <p:extLst>
      <p:ext uri="{BB962C8B-B14F-4D97-AF65-F5344CB8AC3E}">
        <p14:creationId xmlns:p14="http://schemas.microsoft.com/office/powerpoint/2010/main" val="3353157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2A9E-C4AC-2C5A-BDE8-C7EAE0268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Difference of Gaussians (</a:t>
            </a:r>
            <a:r>
              <a:rPr lang="en-AU" b="1" dirty="0" err="1"/>
              <a:t>DoG</a:t>
            </a:r>
            <a:r>
              <a:rPr lang="en-AU" b="1" dirty="0"/>
              <a:t>)</a:t>
            </a:r>
            <a:endParaRPr lang="en-US" b="1" dirty="0"/>
          </a:p>
        </p:txBody>
      </p:sp>
      <p:pic>
        <p:nvPicPr>
          <p:cNvPr id="4" name="Picture 3" descr="DoG highlights key structures by subtracting images blurred at different levels">
            <a:extLst>
              <a:ext uri="{FF2B5EF4-FFF2-40B4-BE49-F238E27FC236}">
                <a16:creationId xmlns:a16="http://schemas.microsoft.com/office/drawing/2014/main" id="{050DEB11-D5C0-1618-253E-0520521A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42" y="2085578"/>
            <a:ext cx="7870858" cy="364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6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08C8-E07C-DFC8-235C-D76D8D60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90" y="389591"/>
            <a:ext cx="5723965" cy="1051299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Scale-space Extrema Detection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A451D6-3B39-D21F-347E-4C2C0DB376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035" y="1954306"/>
                <a:ext cx="5723965" cy="453856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AU" dirty="0"/>
                  <a:t>Gaussian kernel with low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AU" dirty="0"/>
                  <a:t> gives high value for small corner while gaussian kernel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AU" dirty="0"/>
                  <a:t> with high  fits well for larger corner. </a:t>
                </a:r>
              </a:p>
              <a:p>
                <a:r>
                  <a:rPr lang="en-AU" dirty="0"/>
                  <a:t>We find the local maxima across the scale and space - a list of 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 values which means there is a potential </a:t>
                </a:r>
                <a:r>
                  <a:rPr lang="en-AU" dirty="0" err="1"/>
                  <a:t>keypoint</a:t>
                </a:r>
                <a:r>
                  <a:rPr lang="en-AU" dirty="0"/>
                  <a:t> at (</a:t>
                </a:r>
                <a:r>
                  <a:rPr lang="en-AU" dirty="0" err="1"/>
                  <a:t>x,y</a:t>
                </a:r>
                <a:r>
                  <a:rPr lang="en-AU" dirty="0"/>
                  <a:t>) at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scale.</a:t>
                </a:r>
              </a:p>
              <a:p>
                <a:r>
                  <a:rPr lang="en-AU" dirty="0"/>
                  <a:t>This process is done for different octaves of the image in Gaussian Pyramid.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A451D6-3B39-D21F-347E-4C2C0DB376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035" y="1954306"/>
                <a:ext cx="5723965" cy="4538569"/>
              </a:xfrm>
              <a:blipFill>
                <a:blip r:embed="rId3"/>
                <a:stretch>
                  <a:fillRect l="-1991" t="-3352" r="-1770" b="-1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A985A3-DCA4-5A92-CB9C-9221D1E78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365125"/>
            <a:ext cx="4892360" cy="3522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ACAF65-690A-7A69-BC17-070ED55A452E}"/>
              </a:ext>
            </a:extLst>
          </p:cNvPr>
          <p:cNvSpPr txBox="1"/>
          <p:nvPr/>
        </p:nvSpPr>
        <p:spPr>
          <a:xfrm>
            <a:off x="6475989" y="4046741"/>
            <a:ext cx="496398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dirty="0"/>
              <a:t>an </a:t>
            </a:r>
            <a:r>
              <a:rPr lang="en-AU" b="1" dirty="0"/>
              <a:t>octave</a:t>
            </a:r>
            <a:r>
              <a:rPr lang="en-AU" dirty="0"/>
              <a:t> refers to a group or level in a pyramid of </a:t>
            </a:r>
          </a:p>
          <a:p>
            <a:r>
              <a:rPr lang="en-AU" dirty="0"/>
              <a:t>images where the image resolution is constant, </a:t>
            </a:r>
          </a:p>
          <a:p>
            <a:r>
              <a:rPr lang="en-AU" dirty="0"/>
              <a:t>but the amount of Gaussian blur applied to </a:t>
            </a:r>
          </a:p>
          <a:p>
            <a:r>
              <a:rPr lang="en-AU" dirty="0"/>
              <a:t>it increases progressively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3E365-711D-DBED-0B60-19A624B84C62}"/>
              </a:ext>
            </a:extLst>
          </p:cNvPr>
          <p:cNvSpPr txBox="1"/>
          <p:nvPr/>
        </p:nvSpPr>
        <p:spPr>
          <a:xfrm>
            <a:off x="6475989" y="5406188"/>
            <a:ext cx="4963988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A SIFT octave represents a doubling of the scale (blur) and a halving of the image dimensions </a:t>
            </a:r>
          </a:p>
          <a:p>
            <a:r>
              <a:rPr lang="en-AU" dirty="0"/>
              <a:t>(width and height divided by 2) relative to the previous octave.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87B7-A7DE-A28B-B3C4-5F7E4F87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651"/>
          </a:xfrm>
        </p:spPr>
        <p:txBody>
          <a:bodyPr/>
          <a:lstStyle/>
          <a:p>
            <a:r>
              <a:rPr lang="en-AU" b="1" dirty="0"/>
              <a:t>Step 2: </a:t>
            </a:r>
            <a:r>
              <a:rPr lang="en-AU" b="1" dirty="0" err="1"/>
              <a:t>Keypoint</a:t>
            </a:r>
            <a:r>
              <a:rPr lang="en-AU" b="1" dirty="0"/>
              <a:t> localization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E582-43D5-AC76-3B43-F4F8C9580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72482" cy="4306235"/>
          </a:xfrm>
        </p:spPr>
        <p:txBody>
          <a:bodyPr>
            <a:normAutofit/>
          </a:bodyPr>
          <a:lstStyle/>
          <a:p>
            <a:r>
              <a:rPr lang="en-AU" dirty="0"/>
              <a:t>Not all candidate </a:t>
            </a:r>
            <a:r>
              <a:rPr lang="en-AU" dirty="0" err="1"/>
              <a:t>keypoints</a:t>
            </a:r>
            <a:r>
              <a:rPr lang="en-AU" dirty="0"/>
              <a:t> are useful because some may be weak or unstable. </a:t>
            </a:r>
          </a:p>
          <a:p>
            <a:r>
              <a:rPr lang="en-AU" dirty="0"/>
              <a:t>SIFT uses </a:t>
            </a:r>
            <a:r>
              <a:rPr lang="en-AU" b="1" dirty="0"/>
              <a:t>Taylor Series Expansion</a:t>
            </a:r>
            <a:r>
              <a:rPr lang="en-AU" dirty="0"/>
              <a:t> to estimate the exact position of a </a:t>
            </a:r>
            <a:r>
              <a:rPr lang="en-AU" dirty="0" err="1"/>
              <a:t>keypoint</a:t>
            </a:r>
            <a:r>
              <a:rPr lang="en-AU" dirty="0"/>
              <a:t>. During this step, unreliable points are removed. </a:t>
            </a:r>
          </a:p>
          <a:p>
            <a:r>
              <a:rPr lang="en-AU" dirty="0" err="1"/>
              <a:t>Keypoints</a:t>
            </a:r>
            <a:r>
              <a:rPr lang="en-AU" dirty="0"/>
              <a:t> with low contrast, which blend into their surroundings, are discarded, as well as those that lie directly on edges, since they can shift too easily. </a:t>
            </a:r>
          </a:p>
          <a:p>
            <a:r>
              <a:rPr lang="en-AU" dirty="0"/>
              <a:t>This filtering step leaves behind only the most stable and distinctive </a:t>
            </a:r>
            <a:r>
              <a:rPr lang="en-AU" dirty="0" err="1"/>
              <a:t>keypoints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70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AAB9-443A-6480-78BA-46E2E13A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AU" b="1" dirty="0"/>
              <a:t>Low-Contrast </a:t>
            </a:r>
            <a:r>
              <a:rPr lang="en-AU" b="1" dirty="0" err="1"/>
              <a:t>Keypoint</a:t>
            </a:r>
            <a:r>
              <a:rPr lang="en-AU" b="1" dirty="0"/>
              <a:t> Rejection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45C13-44DB-0FCC-50E2-BB176D2FD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882" y="1272988"/>
                <a:ext cx="11223812" cy="5219886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In SIFT, initial </a:t>
                </a:r>
                <a:r>
                  <a:rPr lang="en-AU" dirty="0" err="1"/>
                  <a:t>keypoint</a:t>
                </a:r>
                <a:r>
                  <a:rPr lang="en-AU" dirty="0"/>
                  <a:t> candidates are detected as local extrema in a discrete Scale-Space represented by Difference-of-Gaussians (</a:t>
                </a:r>
                <a:r>
                  <a:rPr lang="en-AU" dirty="0" err="1"/>
                  <a:t>DoG</a:t>
                </a:r>
                <a:r>
                  <a:rPr lang="en-AU" dirty="0"/>
                  <a:t>) images. </a:t>
                </a:r>
              </a:p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AU" b="1" dirty="0"/>
                  <a:t>is Discrete (Integer Grid)</a:t>
                </a:r>
                <a:r>
                  <a:rPr lang="en-AU" dirty="0"/>
                  <a:t> </a:t>
                </a:r>
              </a:p>
              <a:p>
                <a:pPr lvl="1"/>
                <a:r>
                  <a:rPr lang="en-AU" dirty="0"/>
                  <a:t>Images and scale-space octaves are stored as 3D arrays of numbers (pixels across images at discrete Gaussian scale levels). </a:t>
                </a:r>
              </a:p>
              <a:p>
                <a:pPr lvl="1"/>
                <a:r>
                  <a:rPr lang="en-AU" dirty="0"/>
                  <a:t>A candidate point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can only have integer coordinates—such as pixel row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=102</m:t>
                    </m:r>
                  </m:oMath>
                </a14:m>
                <a:r>
                  <a:rPr lang="en-AU" dirty="0"/>
                  <a:t>, column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=54</m:t>
                    </m:r>
                  </m:oMath>
                </a14:m>
                <a:r>
                  <a:rPr lang="en-AU" dirty="0"/>
                  <a:t>, scale 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dirty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AU" b="1" dirty="0"/>
                  <a:t>is Continuous (Floating-Point Sub-Pixel Offset)</a:t>
                </a:r>
                <a:r>
                  <a:rPr lang="en-AU" dirty="0"/>
                  <a:t> 	</a:t>
                </a:r>
              </a:p>
              <a:p>
                <a:pPr lvl="1"/>
                <a:r>
                  <a:rPr lang="en-AU" dirty="0"/>
                  <a:t>In reality, light intensity changes continuously across the camera sensors. The true peak of a feature rarely falls precisely on an exact pixel </a:t>
                </a:r>
                <a:r>
                  <a:rPr lang="en-AU" dirty="0" err="1"/>
                  <a:t>center</a:t>
                </a:r>
                <a:r>
                  <a:rPr lang="en-AU" dirty="0"/>
                  <a:t> (as in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AU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/>
                  <a:t> represents a continuous offset—such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+0.23,−0.41,+0.12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AU" dirty="0"/>
                  <a:t>—calculated using the second-order surface curve fitted to those discrete pixels.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45C13-44DB-0FCC-50E2-BB176D2FD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882" y="1272988"/>
                <a:ext cx="11223812" cy="5219886"/>
              </a:xfrm>
              <a:blipFill>
                <a:blip r:embed="rId2"/>
                <a:stretch>
                  <a:fillRect l="-1018" t="-1942" r="-226" b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56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E289-6283-1A73-A908-CAA701F5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82A5-C15A-D259-C901-BAE207DF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Refinement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B9060-0CB6-CA7C-4DE7-7495D4292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0212"/>
                <a:ext cx="10515600" cy="4706751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The Taylor series expansion fits a smooth 3D paraboloid (a continuous curve) over the local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3×3×3</m:t>
                    </m:r>
                  </m:oMath>
                </a14:m>
                <a:r>
                  <a:rPr lang="en-AU" dirty="0"/>
                  <a:t>block of discrete pixel values around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/>
                  <a:t>.</a:t>
                </a:r>
              </a:p>
              <a:p>
                <a:r>
                  <a:rPr lang="en-AU" dirty="0"/>
                  <a:t>Instead of settling for the highest integer pixel: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/>
                      <m:t>Refined Position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discrete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offset</m:t>
                        </m:r>
                      </m:sub>
                    </m:sSub>
                  </m:oMath>
                </a14:m>
                <a:endParaRPr lang="en-AU" dirty="0"/>
              </a:p>
              <a:p>
                <a:pPr lvl="0"/>
                <a:r>
                  <a:rPr lang="en-AU" b="1" dirty="0"/>
                  <a:t>Discrete location 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b="1" dirty="0"/>
                  <a:t>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102,54,2</m:t>
                        </m:r>
                      </m:e>
                    </m:d>
                  </m:oMath>
                </a14:m>
                <a:r>
                  <a:rPr lang="en-AU" dirty="0"/>
                  <a:t>— </a:t>
                </a:r>
                <a:r>
                  <a:rPr lang="en-AU" i="1" dirty="0"/>
                  <a:t>The best pixel grid location available.</a:t>
                </a:r>
                <a:endParaRPr lang="en-AU" dirty="0"/>
              </a:p>
              <a:p>
                <a:pPr lvl="0"/>
                <a:r>
                  <a:rPr lang="en-AU" b="1" dirty="0"/>
                  <a:t>Sub-pixel offset (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b="1" dirty="0"/>
                  <a:t>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+0.23,−0.41,+0.12</m:t>
                        </m:r>
                      </m:e>
                    </m:d>
                  </m:oMath>
                </a14:m>
                <a:r>
                  <a:rPr lang="en-AU" dirty="0"/>
                  <a:t>— </a:t>
                </a:r>
                <a:r>
                  <a:rPr lang="en-AU" i="1" dirty="0"/>
                  <a:t>The actual peak calculated along the continuous fitted surface.</a:t>
                </a:r>
                <a:endParaRPr lang="en-AU" dirty="0"/>
              </a:p>
              <a:p>
                <a:pPr lvl="0"/>
                <a:r>
                  <a:rPr lang="en-AU" b="1" dirty="0"/>
                  <a:t>Refined continuous coordinate: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102.23,53.59,2.12</m:t>
                        </m:r>
                      </m:e>
                    </m:d>
                  </m:oMath>
                </a14:m>
                <a:r>
                  <a:rPr lang="en-AU" dirty="0"/>
                  <a:t>— </a:t>
                </a:r>
                <a:r>
                  <a:rPr lang="en-AU" i="1" dirty="0"/>
                  <a:t>The actual continuous </a:t>
                </a:r>
                <a:r>
                  <a:rPr lang="en-AU" i="1" dirty="0" err="1"/>
                  <a:t>keypoint</a:t>
                </a:r>
                <a:r>
                  <a:rPr lang="en-AU" i="1" dirty="0"/>
                  <a:t> location used going forward.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B9060-0CB6-CA7C-4DE7-7495D4292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0212"/>
                <a:ext cx="10515600" cy="4706751"/>
              </a:xfrm>
              <a:blipFill>
                <a:blip r:embed="rId3"/>
                <a:stretch>
                  <a:fillRect l="-1086" t="-2151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586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AEB9-3D70-3215-6520-4C8AB5AE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7CDE-504B-8083-2612-452DA29D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9244"/>
          </a:xfrm>
        </p:spPr>
        <p:txBody>
          <a:bodyPr/>
          <a:lstStyle/>
          <a:p>
            <a:r>
              <a:rPr lang="en-AU" b="1" dirty="0"/>
              <a:t>Refinement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2BCE4D-FF6E-213F-8A50-50642F6ED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1600"/>
                <a:ext cx="10515600" cy="4805363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>
                    <a:effectLst/>
                  </a:rPr>
                  <a:t> (often written as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>
                    <a:effectLst/>
                  </a:rPr>
                  <a:t>) is the continuous sub-pixel offset point computed from the Taylor series expansion: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en-US" b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ˆ"/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</m:oMath>
                  </m:oMathPara>
                </a14:m>
                <a:endParaRPr lang="en-AU" dirty="0">
                  <a:effectLst/>
                </a:endParaRPr>
              </a:p>
              <a:p>
                <a:r>
                  <a:rPr lang="en-AU" dirty="0">
                    <a:effectLst/>
                  </a:rPr>
                  <a:t>This value reflects the true peak or trough height in continuous scale-space. It measures the strength of contrast/intensity change at that precise location.</a:t>
                </a:r>
              </a:p>
              <a:p>
                <a:r>
                  <a:rPr lang="en-AU" dirty="0">
                    <a:effectLst/>
                  </a:rPr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A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>
                    <a:effectLst/>
                  </a:rPr>
                  <a:t>is the continuous refinement of the discrete location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>
                    <a:effectLst/>
                  </a:rPr>
                  <a:t>, they represent the same candidate feature point</a:t>
                </a:r>
              </a:p>
              <a:p>
                <a:r>
                  <a:rPr lang="en-AU" dirty="0">
                    <a:effectLst/>
                  </a:rPr>
                  <a:t>Discard rule:</a:t>
                </a:r>
              </a:p>
              <a:p>
                <a:pPr lvl="1"/>
                <a:r>
                  <a:rPr lang="en-AU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ˆ"/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|≥0.03</m:t>
                    </m:r>
                  </m:oMath>
                </a14:m>
                <a:r>
                  <a:rPr lang="en-AU" b="1" dirty="0">
                    <a:effectLst/>
                  </a:rPr>
                  <a:t>:</a:t>
                </a:r>
                <a:r>
                  <a:rPr lang="en-AU" dirty="0">
                    <a:effectLst/>
                  </a:rPr>
                  <a:t> We </a:t>
                </a:r>
                <a:r>
                  <a:rPr lang="en-AU" b="1" dirty="0">
                    <a:effectLst/>
                  </a:rPr>
                  <a:t>keep</a:t>
                </a:r>
                <a:r>
                  <a:rPr lang="en-AU" dirty="0">
                    <a:effectLst/>
                  </a:rPr>
                  <a:t> the refined position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>
                    <a:effectLst/>
                  </a:rPr>
                  <a:t> as the true </a:t>
                </a:r>
                <a:r>
                  <a:rPr lang="en-AU" dirty="0" err="1">
                    <a:effectLst/>
                  </a:rPr>
                  <a:t>keypoint</a:t>
                </a:r>
                <a:r>
                  <a:rPr lang="en-AU" dirty="0">
                    <a:effectLst/>
                  </a:rPr>
                  <a:t> coordinates and discard the rough discrete coordinate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>
                    <a:effectLst/>
                  </a:rPr>
                  <a:t>.</a:t>
                </a:r>
              </a:p>
              <a:p>
                <a:pPr lvl="1"/>
                <a:r>
                  <a:rPr lang="en-AU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ˆ"/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|&lt;0.03</m:t>
                    </m:r>
                  </m:oMath>
                </a14:m>
                <a:r>
                  <a:rPr lang="en-AU" b="1" dirty="0">
                    <a:effectLst/>
                  </a:rPr>
                  <a:t>:</a:t>
                </a:r>
                <a:r>
                  <a:rPr lang="en-AU" dirty="0">
                    <a:effectLst/>
                  </a:rPr>
                  <a:t> The feature is considered too weak/low-contrast. We </a:t>
                </a:r>
                <a:r>
                  <a:rPr lang="en-AU" b="1" dirty="0">
                    <a:effectLst/>
                  </a:rPr>
                  <a:t>discard the point entirely</a:t>
                </a:r>
                <a:r>
                  <a:rPr lang="en-AU" dirty="0">
                    <a:effectLst/>
                  </a:rPr>
                  <a:t> from our list of </a:t>
                </a:r>
                <a:r>
                  <a:rPr lang="en-AU" dirty="0" err="1">
                    <a:effectLst/>
                  </a:rPr>
                  <a:t>keypoints</a:t>
                </a:r>
                <a:r>
                  <a:rPr lang="en-AU" dirty="0">
                    <a:effectLst/>
                  </a:rPr>
                  <a:t>—meaning neither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>
                    <a:effectLst/>
                  </a:rPr>
                  <a:t> nor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AU" dirty="0">
                    <a:effectLst/>
                  </a:rPr>
                  <a:t> moves forward to subsequent processing steps.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2BCE4D-FF6E-213F-8A50-50642F6ED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1600"/>
                <a:ext cx="10515600" cy="4805363"/>
              </a:xfrm>
              <a:blipFill>
                <a:blip r:embed="rId3"/>
                <a:stretch>
                  <a:fillRect l="-965" t="-3430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36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D993-943A-8055-56A0-DD0886E5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D827-4C8D-F2C9-332B-32463EF3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3029"/>
          </a:xfrm>
        </p:spPr>
        <p:txBody>
          <a:bodyPr/>
          <a:lstStyle/>
          <a:p>
            <a:r>
              <a:rPr lang="en-AU" b="1" dirty="0"/>
              <a:t>Gradient vector</a:t>
            </a:r>
            <a:r>
              <a:rPr lang="en-AU" dirty="0"/>
              <a:t> of the </a:t>
            </a:r>
            <a:r>
              <a:rPr lang="en-AU" dirty="0" err="1"/>
              <a:t>DoG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45852-ECA7-99B7-2F49-D9A8325A0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𝐠</m:t>
                    </m:r>
                  </m:oMath>
                </a14:m>
                <a:r>
                  <a:rPr lang="en-AU" dirty="0"/>
                  <a:t> represents the </a:t>
                </a:r>
                <a:r>
                  <a:rPr lang="en-AU" b="1" dirty="0"/>
                  <a:t>gradient vector</a:t>
                </a:r>
                <a:r>
                  <a:rPr lang="en-AU" dirty="0"/>
                  <a:t> of the </a:t>
                </a:r>
                <a:r>
                  <a:rPr lang="en-AU" dirty="0" err="1"/>
                  <a:t>DoG</a:t>
                </a:r>
                <a:r>
                  <a:rPr lang="en-AU" dirty="0"/>
                  <a:t> scale-space function evaluated at the candidate pixel point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AU" dirty="0"/>
                  <a:t>.</a:t>
                </a:r>
              </a:p>
              <a:p>
                <a:r>
                  <a:rPr lang="en-AU" dirty="0"/>
                  <a:t>In SIFT, initial </a:t>
                </a:r>
                <a:r>
                  <a:rPr lang="en-AU" dirty="0" err="1"/>
                  <a:t>keypoint</a:t>
                </a:r>
                <a:r>
                  <a:rPr lang="en-AU" dirty="0"/>
                  <a:t> candidates are detected as local extrema in a discrete Scale-Space represented by Difference-of-Gaussians (</a:t>
                </a:r>
                <a:r>
                  <a:rPr lang="en-AU" dirty="0" err="1"/>
                  <a:t>DoG</a:t>
                </a:r>
                <a:r>
                  <a:rPr lang="en-AU" dirty="0"/>
                  <a:t>) images. </a:t>
                </a:r>
              </a:p>
              <a:p>
                <a:r>
                  <a:rPr lang="en-AU" dirty="0"/>
                  <a:t>To refine the positions, SIFT fits a 3D quadratic function to the local sample points using a second-order Taylor series expansion.</a:t>
                </a:r>
              </a:p>
              <a:p>
                <a:r>
                  <a:rPr lang="en-AU" dirty="0"/>
                  <a:t>Our candidate </a:t>
                </a:r>
                <a:r>
                  <a:rPr lang="en-AU" dirty="0" err="1"/>
                  <a:t>keypoint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whose </a:t>
                </a:r>
                <a:r>
                  <a:rPr lang="en-US" dirty="0" err="1"/>
                  <a:t>DoG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. We estimate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which the </a:t>
                </a:r>
                <a:r>
                  <a:rPr lang="en-US" dirty="0" err="1"/>
                  <a:t>DoG</a:t>
                </a:r>
                <a:r>
                  <a:rPr lang="en-US" dirty="0"/>
                  <a:t> of the point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45852-ECA7-99B7-2F49-D9A8325A0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  <a:blipFill>
                <a:blip r:embed="rId2"/>
                <a:stretch>
                  <a:fillRect l="-1086" t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282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C8E3-BDD3-80FD-C26F-B8AE046C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Step 3: Orientation assignment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03CA-EDC4-5500-6963-4572BCF3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SIFT makes the stable </a:t>
            </a:r>
            <a:r>
              <a:rPr lang="en-AU" dirty="0" err="1"/>
              <a:t>keypoints</a:t>
            </a:r>
            <a:r>
              <a:rPr lang="en-AU" dirty="0"/>
              <a:t> rotation invariant, which means they can still be matched even if the image is turned sideways or upside down. </a:t>
            </a:r>
          </a:p>
          <a:p>
            <a:r>
              <a:rPr lang="en-AU" dirty="0"/>
              <a:t>To do this, SIFT </a:t>
            </a:r>
            <a:r>
              <a:rPr lang="en-AU" dirty="0" err="1"/>
              <a:t>analyzes</a:t>
            </a:r>
            <a:r>
              <a:rPr lang="en-AU" dirty="0"/>
              <a:t> how brightness changes (i.e., gradient) around each </a:t>
            </a:r>
            <a:r>
              <a:rPr lang="en-AU" dirty="0" err="1"/>
              <a:t>keypoint</a:t>
            </a:r>
            <a:r>
              <a:rPr lang="en-AU" dirty="0"/>
              <a:t>. </a:t>
            </a:r>
          </a:p>
          <a:p>
            <a:r>
              <a:rPr lang="en-AU" dirty="0"/>
              <a:t>For each </a:t>
            </a:r>
            <a:r>
              <a:rPr lang="en-AU" dirty="0" err="1"/>
              <a:t>keypoint</a:t>
            </a:r>
            <a:r>
              <a:rPr lang="en-AU" dirty="0"/>
              <a:t>, SIFT considers the gradients within a surrounding region and groups them into a histogram of orientations. </a:t>
            </a:r>
          </a:p>
          <a:p>
            <a:r>
              <a:rPr lang="en-AU" dirty="0"/>
              <a:t>The tallest peak in this histogram indicates the dominant direction of intensity change, which is then assigned as the </a:t>
            </a:r>
            <a:r>
              <a:rPr lang="en-AU" dirty="0" err="1"/>
              <a:t>keypoint’s</a:t>
            </a:r>
            <a:r>
              <a:rPr lang="en-AU" dirty="0"/>
              <a:t> orientation. </a:t>
            </a:r>
          </a:p>
          <a:p>
            <a:r>
              <a:rPr lang="en-AU" dirty="0"/>
              <a:t>If there are other peaks that are nearly as strong, SIFT assigns multiple orientations to the same </a:t>
            </a:r>
            <a:r>
              <a:rPr lang="en-AU" dirty="0" err="1"/>
              <a:t>keypoint</a:t>
            </a:r>
            <a:r>
              <a:rPr lang="en-AU" dirty="0"/>
              <a:t>. This prevents important features from being lost when objects appear at unusual angles. </a:t>
            </a:r>
          </a:p>
        </p:txBody>
      </p:sp>
    </p:spTree>
    <p:extLst>
      <p:ext uri="{BB962C8B-B14F-4D97-AF65-F5344CB8AC3E}">
        <p14:creationId xmlns:p14="http://schemas.microsoft.com/office/powerpoint/2010/main" val="2282680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735-6F95-9BB9-A72A-63E36FCA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5" y="365126"/>
            <a:ext cx="10685585" cy="818906"/>
          </a:xfrm>
        </p:spPr>
        <p:txBody>
          <a:bodyPr/>
          <a:lstStyle/>
          <a:p>
            <a:r>
              <a:rPr lang="en-AU" b="1" dirty="0"/>
              <a:t>Step 4: </a:t>
            </a:r>
            <a:r>
              <a:rPr lang="en-AU" b="1" dirty="0" err="1"/>
              <a:t>Keypoint</a:t>
            </a:r>
            <a:r>
              <a:rPr lang="en-AU" b="1" dirty="0"/>
              <a:t> descriptor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295F05-5C58-F43F-1A31-CC8BBEB9D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215" y="1324708"/>
                <a:ext cx="10685585" cy="485225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dirty="0"/>
                  <a:t>SIFT achieves this by looking at a small square patch around each </a:t>
                </a:r>
                <a:r>
                  <a:rPr lang="en-AU" dirty="0" err="1"/>
                  <a:t>keypoint</a:t>
                </a:r>
                <a:r>
                  <a:rPr lang="en-AU" dirty="0"/>
                  <a:t>, about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16 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16</m:t>
                    </m:r>
                  </m:oMath>
                </a14:m>
                <a:r>
                  <a:rPr lang="en-AU" dirty="0"/>
                  <a:t> pixels in size. </a:t>
                </a:r>
              </a:p>
              <a:p>
                <a:r>
                  <a:rPr lang="en-AU" dirty="0"/>
                  <a:t>This patch is first aligned to the </a:t>
                </a:r>
                <a:r>
                  <a:rPr lang="en-AU" dirty="0" err="1"/>
                  <a:t>keypoint’s</a:t>
                </a:r>
                <a:r>
                  <a:rPr lang="en-AU" dirty="0"/>
                  <a:t> orientation so rotation does not affect it. </a:t>
                </a:r>
              </a:p>
              <a:p>
                <a:r>
                  <a:rPr lang="en-AU" dirty="0"/>
                  <a:t>The patch is then divided into a grid of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4</m:t>
                    </m:r>
                  </m:oMath>
                </a14:m>
                <a:r>
                  <a:rPr lang="en-AU" dirty="0"/>
                  <a:t> smaller squares.</a:t>
                </a:r>
              </a:p>
              <a:p>
                <a:r>
                  <a:rPr lang="en-AU" dirty="0"/>
                  <a:t>In each small square, SIFT measures how the brightness changes in different directions. </a:t>
                </a:r>
              </a:p>
              <a:p>
                <a:r>
                  <a:rPr lang="en-AU" dirty="0"/>
                  <a:t>These changes are stored in a histogram. Each square gets its own histogram, and together the 16 squares produce 16 histograms.</a:t>
                </a:r>
              </a:p>
              <a:p>
                <a:r>
                  <a:rPr lang="en-AU" dirty="0"/>
                  <a:t>Finally, these histograms are combined into a single list of numbers, 128 in total. This list is called a feature vector, and it acts like a fingerprint for the </a:t>
                </a:r>
                <a:r>
                  <a:rPr lang="en-AU" dirty="0" err="1"/>
                  <a:t>keypoint</a:t>
                </a:r>
                <a:r>
                  <a:rPr lang="en-AU" dirty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295F05-5C58-F43F-1A31-CC8BBEB9D5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215" y="1324708"/>
                <a:ext cx="10685585" cy="4852255"/>
              </a:xfrm>
              <a:blipFill>
                <a:blip r:embed="rId2"/>
                <a:stretch>
                  <a:fillRect l="-830" t="-2350" r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206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overview of how SIFT works">
            <a:extLst>
              <a:ext uri="{FF2B5EF4-FFF2-40B4-BE49-F238E27FC236}">
                <a16:creationId xmlns:a16="http://schemas.microsoft.com/office/drawing/2014/main" id="{CA45B112-637F-A1DB-54BC-A062E72E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5750"/>
            <a:ext cx="10815485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44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6D6B-5D73-7374-D23E-3901DCFA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The Viola/Jones Face Detector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8E90-8284-BCB8-3C0B-81C2714E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Sliding Window Face Detection</a:t>
            </a:r>
          </a:p>
          <a:p>
            <a:r>
              <a:rPr lang="en-AU" sz="3200" dirty="0"/>
              <a:t>Training is slow, but detection is very fast</a:t>
            </a:r>
          </a:p>
          <a:p>
            <a:r>
              <a:rPr lang="en-AU" sz="3200" dirty="0"/>
              <a:t>Key components</a:t>
            </a:r>
          </a:p>
          <a:p>
            <a:pPr lvl="1"/>
            <a:r>
              <a:rPr lang="en-AU" sz="2800" b="1" i="1" dirty="0"/>
              <a:t>Haar-like Features:</a:t>
            </a:r>
            <a:r>
              <a:rPr lang="en-AU" sz="2800" i="1" dirty="0"/>
              <a:t> Identifying key facial patterns.</a:t>
            </a:r>
            <a:endParaRPr lang="en-AU" sz="2800" dirty="0"/>
          </a:p>
          <a:p>
            <a:pPr lvl="1"/>
            <a:r>
              <a:rPr lang="en-AU" sz="2800" b="1" i="1" dirty="0"/>
              <a:t>Integral Images:</a:t>
            </a:r>
            <a:r>
              <a:rPr lang="en-AU" sz="2800" i="1" dirty="0"/>
              <a:t> Speeding up calculations.</a:t>
            </a:r>
            <a:endParaRPr lang="en-AU" sz="2800" dirty="0"/>
          </a:p>
          <a:p>
            <a:pPr lvl="1"/>
            <a:r>
              <a:rPr lang="en-AU" sz="2800" b="1" i="1" dirty="0"/>
              <a:t>AdaBoost Classifier:</a:t>
            </a:r>
            <a:r>
              <a:rPr lang="en-AU" sz="2800" i="1" dirty="0"/>
              <a:t> Selecting the most relevant features.</a:t>
            </a:r>
            <a:endParaRPr lang="en-AU" sz="2800" dirty="0"/>
          </a:p>
          <a:p>
            <a:pPr lvl="1"/>
            <a:r>
              <a:rPr lang="en-AU" sz="2800" b="1" i="1" dirty="0"/>
              <a:t>Cascade Classifier:</a:t>
            </a:r>
            <a:r>
              <a:rPr lang="en-AU" sz="2800" i="1" dirty="0"/>
              <a:t> Making detection lightning-fast.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483924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AAFB-0C9E-60E1-6466-A866F4C0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Haar-like Features: Identifying Facial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4ADD5-8FE1-6168-A700-912EF2BC6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825625"/>
            <a:ext cx="6296026" cy="2074864"/>
          </a:xfrm>
        </p:spPr>
        <p:txBody>
          <a:bodyPr>
            <a:normAutofit/>
          </a:bodyPr>
          <a:lstStyle/>
          <a:p>
            <a:pPr lvl="0"/>
            <a:r>
              <a:rPr lang="en-AU" i="1" dirty="0"/>
              <a:t>A human eye is generally </a:t>
            </a:r>
            <a:r>
              <a:rPr lang="en-AU" b="1" i="1" dirty="0"/>
              <a:t>darker</a:t>
            </a:r>
            <a:r>
              <a:rPr lang="en-AU" i="1" dirty="0"/>
              <a:t> than the surrounding skin.</a:t>
            </a:r>
            <a:endParaRPr lang="en-AU" dirty="0"/>
          </a:p>
          <a:p>
            <a:pPr lvl="0"/>
            <a:r>
              <a:rPr lang="en-AU" i="1" dirty="0"/>
              <a:t>The bridge of the nose is usually </a:t>
            </a:r>
          </a:p>
          <a:p>
            <a:pPr marL="0" lvl="0" indent="0">
              <a:buNone/>
            </a:pPr>
            <a:r>
              <a:rPr lang="en-AU" b="1" i="1" dirty="0"/>
              <a:t>  brighter</a:t>
            </a:r>
            <a:r>
              <a:rPr lang="en-AU" i="1" dirty="0"/>
              <a:t> compared to the eye sockets.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7EBB12-DE12-FDCA-CAF2-E60B707A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24" y="3900489"/>
            <a:ext cx="1655763" cy="16091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8EAEC8-5C99-1B3A-267B-442070BF7D1D}"/>
              </a:ext>
            </a:extLst>
          </p:cNvPr>
          <p:cNvSpPr txBox="1"/>
          <p:nvPr/>
        </p:nvSpPr>
        <p:spPr>
          <a:xfrm>
            <a:off x="6253165" y="5893913"/>
            <a:ext cx="601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/>
              <a:t>Value = ∑ (pixels in white) – ∑ (pixels in black)</a:t>
            </a:r>
            <a:endParaRPr lang="en-AU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8F9E83-D42D-ADD3-1AE2-69ADB56D3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32"/>
          <a:stretch>
            <a:fillRect/>
          </a:stretch>
        </p:blipFill>
        <p:spPr>
          <a:xfrm>
            <a:off x="6438901" y="1690688"/>
            <a:ext cx="5505449" cy="4091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F470EB-18DB-138D-66AD-0BE798FF406D}"/>
              </a:ext>
            </a:extLst>
          </p:cNvPr>
          <p:cNvSpPr txBox="1"/>
          <p:nvPr/>
        </p:nvSpPr>
        <p:spPr>
          <a:xfrm>
            <a:off x="142875" y="5509611"/>
            <a:ext cx="5953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/>
              <a:t>These patterns can be represented as </a:t>
            </a:r>
          </a:p>
          <a:p>
            <a:r>
              <a:rPr lang="en-AU" sz="2400" b="1" i="1" dirty="0"/>
              <a:t>Haar-like features</a:t>
            </a:r>
            <a:r>
              <a:rPr lang="en-AU" sz="2400" i="1" dirty="0"/>
              <a:t>, which resemble </a:t>
            </a:r>
          </a:p>
          <a:p>
            <a:r>
              <a:rPr lang="en-AU" sz="2400" i="1" dirty="0"/>
              <a:t>black-and-white rectangles.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355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3F2439-2359-E119-4A25-B5E82D25F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92713"/>
            <a:ext cx="5567226" cy="5672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AA728-16D1-66A7-BAB4-91E5B98F1755}"/>
              </a:ext>
            </a:extLst>
          </p:cNvPr>
          <p:cNvSpPr txBox="1"/>
          <p:nvPr/>
        </p:nvSpPr>
        <p:spPr>
          <a:xfrm>
            <a:off x="528773" y="1000125"/>
            <a:ext cx="54576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i="1" dirty="0"/>
              <a:t>Consider a 24×24-pixel image. </a:t>
            </a:r>
          </a:p>
          <a:p>
            <a:r>
              <a:rPr lang="en-AU" sz="2800" i="1" dirty="0"/>
              <a:t>There are about </a:t>
            </a:r>
            <a:r>
              <a:rPr lang="en-AU" sz="2800" b="1" i="1" dirty="0"/>
              <a:t>160,000 Haar-like features</a:t>
            </a:r>
            <a:r>
              <a:rPr lang="en-AU" sz="2800" i="1" dirty="0"/>
              <a:t> in such an image. </a:t>
            </a:r>
          </a:p>
        </p:txBody>
      </p:sp>
    </p:spTree>
    <p:extLst>
      <p:ext uri="{BB962C8B-B14F-4D97-AF65-F5344CB8AC3E}">
        <p14:creationId xmlns:p14="http://schemas.microsoft.com/office/powerpoint/2010/main" val="3173381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3D13-5D63-8D8C-3F0A-27C0B909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D1BA26-CCDC-9A59-DA29-D57914F90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25294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38D21-50AF-FD8F-8BAB-DB0EC0A3A833}"/>
              </a:ext>
            </a:extLst>
          </p:cNvPr>
          <p:cNvSpPr/>
          <p:nvPr/>
        </p:nvSpPr>
        <p:spPr>
          <a:xfrm>
            <a:off x="867960" y="1690688"/>
            <a:ext cx="1417983" cy="1860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FA7DA-752D-7B53-18B0-805C6E620BE0}"/>
              </a:ext>
            </a:extLst>
          </p:cNvPr>
          <p:cNvSpPr/>
          <p:nvPr/>
        </p:nvSpPr>
        <p:spPr>
          <a:xfrm>
            <a:off x="2302451" y="1690688"/>
            <a:ext cx="1417983" cy="1860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45185-69F6-FFF3-10D8-4499CF7CC5BB}"/>
              </a:ext>
            </a:extLst>
          </p:cNvPr>
          <p:cNvSpPr/>
          <p:nvPr/>
        </p:nvSpPr>
        <p:spPr>
          <a:xfrm>
            <a:off x="3736942" y="1690688"/>
            <a:ext cx="1417983" cy="1860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95DF1-9D5A-92FF-491E-9937906D90DB}"/>
              </a:ext>
            </a:extLst>
          </p:cNvPr>
          <p:cNvSpPr txBox="1"/>
          <p:nvPr/>
        </p:nvSpPr>
        <p:spPr>
          <a:xfrm>
            <a:off x="9001268" y="1690688"/>
            <a:ext cx="283302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At each position, the </a:t>
            </a:r>
          </a:p>
          <a:p>
            <a:r>
              <a:rPr lang="en-AU" sz="2400" dirty="0"/>
              <a:t>algorithm asks:</a:t>
            </a:r>
          </a:p>
          <a:p>
            <a:r>
              <a:rPr lang="en-AU" sz="2400" dirty="0"/>
              <a:t> - Does this window </a:t>
            </a:r>
          </a:p>
          <a:p>
            <a:r>
              <a:rPr lang="en-AU" sz="2400" dirty="0"/>
              <a:t>       contain a face?</a:t>
            </a:r>
          </a:p>
          <a:p>
            <a:r>
              <a:rPr lang="en-AU" sz="2400" dirty="0"/>
              <a:t> - If yes, it records </a:t>
            </a:r>
          </a:p>
          <a:p>
            <a:r>
              <a:rPr lang="en-AU" sz="2400" dirty="0"/>
              <a:t>	a detection.</a:t>
            </a:r>
          </a:p>
          <a:p>
            <a:r>
              <a:rPr lang="en-AU" sz="2400" dirty="0"/>
              <a:t> - If no, it rejects </a:t>
            </a:r>
          </a:p>
          <a:p>
            <a:r>
              <a:rPr lang="en-AU" sz="2400" dirty="0"/>
              <a:t>	the window.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4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7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3119-A539-93E4-4CCD-DF559805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/>
          <a:lstStyle/>
          <a:p>
            <a:r>
              <a:rPr lang="en-AU" b="1" dirty="0"/>
              <a:t>Integral Images: Speeding Up Computations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60ACA-569D-F9DA-EA29-AEE632BA9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8750"/>
                <a:ext cx="10263188" cy="4748213"/>
              </a:xfrm>
            </p:spPr>
            <p:txBody>
              <a:bodyPr/>
              <a:lstStyle/>
              <a:p>
                <a:r>
                  <a:rPr lang="en-AU" dirty="0"/>
                  <a:t>The integral image stores cumulative pixel sums. For an image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sepChr m:val=",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AU" dirty="0"/>
                  <a:t>, the integral image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𝐼𝐼</m:t>
                    </m:r>
                    <m:d>
                      <m:dPr>
                        <m:sepChr m:val=",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AU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i="1"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AU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AU" i="0"/>
                            <m:t> 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AU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Every location in the integral image contains </a:t>
                </a:r>
                <a:r>
                  <a:rPr lang="en-AU" b="1" i="1" dirty="0"/>
                  <a:t>the sum of all pixels above and to the left of that location</a:t>
                </a:r>
                <a:r>
                  <a:rPr lang="en-AU" dirty="0"/>
                  <a:t>.</a:t>
                </a:r>
              </a:p>
              <a:p>
                <a:pPr marL="0" indent="0">
                  <a:buNone/>
                </a:pPr>
                <a:endParaRPr lang="en-AU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i="1"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A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𝐼𝐼</m:t>
                      </m:r>
                      <m:d>
                        <m:dPr>
                          <m:sepChr m:val=",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The subtraction is necessary because the upper-left region gets counted twice.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60ACA-569D-F9DA-EA29-AEE632BA9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8750"/>
                <a:ext cx="10263188" cy="4748213"/>
              </a:xfrm>
              <a:blipFill>
                <a:blip r:embed="rId2"/>
                <a:stretch>
                  <a:fillRect l="-1112" t="-1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68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EE41-378D-032B-3114-852EA6B1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Calculating Rectangle Sums Quickly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4B3F6-9F85-0A77-4C53-3057EE5A52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911350"/>
                <a:ext cx="9459912" cy="4062413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The rectangle sum formula is:</a:t>
                </a:r>
              </a:p>
              <a:p>
                <a:pPr marL="0" indent="0">
                  <a:buNone/>
                </a:pPr>
                <a:r>
                  <a:rPr lang="en-AU" sz="2200" dirty="0"/>
                  <a:t>Sum=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𝐼𝐼</m:t>
                    </m:r>
                    <m:d>
                      <m:dPr>
                        <m:ctrlPr>
                          <a:rPr lang="en-AU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𝐼𝐼</m:t>
                    </m:r>
                    <m:d>
                      <m:dPr>
                        <m:ctrlPr>
                          <a:rPr lang="en-AU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​−1,</m:t>
                        </m:r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𝐼𝐼</m:t>
                    </m:r>
                    <m:d>
                      <m:dPr>
                        <m:ctrlPr>
                          <a:rPr lang="en-AU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​−1</m:t>
                        </m:r>
                      </m:e>
                    </m:d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𝐼𝐼</m:t>
                    </m:r>
                    <m:d>
                      <m:dPr>
                        <m:ctrlPr>
                          <a:rPr lang="en-AU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​−1,</m:t>
                        </m:r>
                        <m:sSub>
                          <m:sSubPr>
                            <m:ctrlP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sz="22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200" i="1" dirty="0" smtClean="0">
                            <a:latin typeface="Cambria Math" panose="02040503050406030204" pitchFamily="18" charset="0"/>
                          </a:rPr>
                          <m:t>​−1</m:t>
                        </m:r>
                      </m:e>
                    </m:d>
                  </m:oMath>
                </a14:m>
                <a:endParaRPr lang="en-AU" sz="2200" dirty="0"/>
              </a:p>
              <a:p>
                <a:r>
                  <a:rPr lang="en-AU" dirty="0"/>
                  <a:t>Only:</a:t>
                </a:r>
              </a:p>
              <a:p>
                <a:pPr lvl="1"/>
                <a:r>
                  <a:rPr lang="en-AU" dirty="0"/>
                  <a:t>4 memory accesses </a:t>
                </a:r>
              </a:p>
              <a:p>
                <a:pPr lvl="1"/>
                <a:r>
                  <a:rPr lang="en-AU" dirty="0"/>
                  <a:t>3 arithmetic operations </a:t>
                </a:r>
              </a:p>
              <a:p>
                <a:r>
                  <a:rPr lang="en-AU" dirty="0"/>
                  <a:t>No matter whether the rectangle is 2 × 2, 20 × 20, or 200 × 200 pixels.</a:t>
                </a:r>
              </a:p>
              <a:p>
                <a:r>
                  <a:rPr lang="en-AU" b="1" dirty="0"/>
                  <a:t>The Key Principle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F4B3F6-9F85-0A77-4C53-3057EE5A52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911350"/>
                <a:ext cx="9459912" cy="4062413"/>
              </a:xfrm>
              <a:blipFill>
                <a:blip r:embed="rId2"/>
                <a:stretch>
                  <a:fillRect l="-1208" t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53612AC-5238-5361-CA5B-B46B57904D90}"/>
              </a:ext>
            </a:extLst>
          </p:cNvPr>
          <p:cNvSpPr txBox="1"/>
          <p:nvPr/>
        </p:nvSpPr>
        <p:spPr>
          <a:xfrm>
            <a:off x="9344024" y="585787"/>
            <a:ext cx="3128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Image coordinates:</a:t>
            </a:r>
          </a:p>
          <a:p>
            <a:endParaRPr lang="en-US" dirty="0"/>
          </a:p>
          <a:p>
            <a:r>
              <a:rPr lang="en-US" dirty="0"/>
              <a:t>(1,1) ----------- (2,1)</a:t>
            </a:r>
          </a:p>
          <a:p>
            <a:r>
              <a:rPr lang="en-US" dirty="0"/>
              <a:t>  |                       |</a:t>
            </a:r>
          </a:p>
          <a:p>
            <a:r>
              <a:rPr lang="en-US" dirty="0"/>
              <a:t>  |   Rectangle   |</a:t>
            </a:r>
          </a:p>
          <a:p>
            <a:r>
              <a:rPr lang="en-US" dirty="0"/>
              <a:t>  |                       |</a:t>
            </a:r>
          </a:p>
          <a:p>
            <a:r>
              <a:rPr lang="en-US" dirty="0"/>
              <a:t>(1,2) ----------- (2,2)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0F484-1ADE-9647-245E-CAAC5C80A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13" y="5099050"/>
            <a:ext cx="63754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9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7011-4EC3-965A-16F9-41BBD659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AdaBoost: Selecting the Best Features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FC511-A109-D5E6-E0D9-B46F70609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b="1" i="1" dirty="0"/>
              <a:t>Train weak classifiers</a:t>
            </a:r>
            <a:r>
              <a:rPr lang="en-AU" i="1" dirty="0"/>
              <a:t>: Each weak classifier looks at a single Haar-like feature.</a:t>
            </a:r>
            <a:endParaRPr lang="en-AU" dirty="0"/>
          </a:p>
          <a:p>
            <a:pPr lvl="0"/>
            <a:r>
              <a:rPr lang="en-AU" b="1" i="1" dirty="0"/>
              <a:t>Weight updates</a:t>
            </a:r>
            <a:r>
              <a:rPr lang="en-AU" i="1" dirty="0"/>
              <a:t>: Features that perform well are given higher weights.</a:t>
            </a:r>
            <a:endParaRPr lang="en-AU" dirty="0"/>
          </a:p>
          <a:p>
            <a:pPr lvl="0"/>
            <a:r>
              <a:rPr lang="en-AU" b="1" i="1" dirty="0"/>
              <a:t>Boosting</a:t>
            </a:r>
            <a:r>
              <a:rPr lang="en-AU" i="1" dirty="0"/>
              <a:t>: The best-performing features are combined into a single, strong classifier.</a:t>
            </a: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13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29C2-2B4D-D640-939E-6935CB02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Cascade Classifier: The Secret to Speed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F8B5-0264-E47C-93AC-1EB60AD0D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4950"/>
          </a:xfrm>
        </p:spPr>
        <p:txBody>
          <a:bodyPr/>
          <a:lstStyle/>
          <a:p>
            <a:pPr lvl="0"/>
            <a:r>
              <a:rPr lang="en-AU" dirty="0"/>
              <a:t>Strong features are formed into a binary classifier: </a:t>
            </a:r>
          </a:p>
          <a:p>
            <a:pPr lvl="1"/>
            <a:r>
              <a:rPr lang="en-AU" dirty="0"/>
              <a:t>Positive matches are sent along to the next feature. </a:t>
            </a:r>
          </a:p>
          <a:p>
            <a:pPr lvl="1"/>
            <a:r>
              <a:rPr lang="en-AU" dirty="0"/>
              <a:t>Negative matches are rejected and exit computation.</a:t>
            </a:r>
          </a:p>
          <a:p>
            <a:pPr lvl="0"/>
            <a:r>
              <a:rPr lang="en-AU" dirty="0"/>
              <a:t>Reduces the amount of computation time spent on false windows.</a:t>
            </a:r>
          </a:p>
          <a:p>
            <a:pPr lvl="0"/>
            <a:r>
              <a:rPr lang="en-AU" dirty="0"/>
              <a:t>Threshold values might be adjusted to tune accuracy. Lower threshold yield higher detection rated and more false positives.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(Image by author) Inspired (https://www.researchgate.net/figure/Cascade-classifier-illustration-2_fig2_323057610)">
            <a:extLst>
              <a:ext uri="{FF2B5EF4-FFF2-40B4-BE49-F238E27FC236}">
                <a16:creationId xmlns:a16="http://schemas.microsoft.com/office/drawing/2014/main" id="{AF7D3C0B-E944-69B6-14B2-8B212DF87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261" y="4211642"/>
            <a:ext cx="5353691" cy="277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95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9E72-7036-639F-4E71-169CF19C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 and DL for CV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B3FE3-DBC8-212D-F4CD-D85CC4042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60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D721-AA8F-CDBF-C5AE-E94AD9CE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Traditional recognition approach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375AFE-9E68-0C7B-5905-76504C19D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527" y="2495550"/>
            <a:ext cx="88519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49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A50D-E482-F88E-448F-D7D0200E1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classification using HOG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BEDE2-C7CF-4E97-957B-FC28D21E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https://www.kaggle.com/code/zahidbd/lecture11-classification-hog-nb1/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419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9ED8-542F-F005-F83D-AD095283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Face detection using SIFT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3FC62-4338-A9B6-8CE7-9B4ED33B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https://www.kaggle.com/code/zahidbd/lecture11-classification-sift-nb2/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59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9D6E-77D9-EDF4-C0CC-641D00DB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classification using HAAR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A8590-B5A1-BE3F-CCA7-4D89F5B4B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https://www.kaggle.com/code/zahidbd/lecture11-classification-lj-nb3/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99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DD74-5FB5-6546-02EF-0AE1B066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8567"/>
          </a:xfrm>
        </p:spPr>
        <p:txBody>
          <a:bodyPr/>
          <a:lstStyle/>
          <a:p>
            <a:r>
              <a:rPr lang="en-US" b="1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408-0329-138A-87FD-E29997D49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493"/>
            <a:ext cx="10873154" cy="490024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hlinkClick r:id="rId3"/>
              </a:rPr>
              <a:t>https://cvl-umass.github.io/intro-cv-spring-2025/assets/notes/localfeatures.pdf</a:t>
            </a:r>
            <a:endParaRPr lang="en-US" sz="2200" dirty="0"/>
          </a:p>
          <a:p>
            <a:pPr lvl="1"/>
            <a:r>
              <a:rPr lang="en-US" b="1" dirty="0"/>
              <a:t>Section: 6</a:t>
            </a:r>
          </a:p>
          <a:p>
            <a:r>
              <a:rPr lang="en-US" sz="2200" b="1" dirty="0"/>
              <a:t>SIFT</a:t>
            </a:r>
            <a:r>
              <a:rPr lang="en-US" sz="2200" dirty="0"/>
              <a:t>: </a:t>
            </a:r>
          </a:p>
          <a:p>
            <a:pPr lvl="1"/>
            <a:r>
              <a:rPr lang="en-US" sz="1800" dirty="0">
                <a:hlinkClick r:id="rId4"/>
              </a:rPr>
              <a:t>https://www.ultralytics.com/blog/what-is-the-scale-invariant-feature-transform-sift#resilience-to-other-image-variations</a:t>
            </a:r>
            <a:endParaRPr lang="en-US" sz="1800" dirty="0"/>
          </a:p>
          <a:p>
            <a:pPr lvl="1"/>
            <a:r>
              <a:rPr lang="en-US" sz="1800" dirty="0">
                <a:hlinkClick r:id="rId5"/>
              </a:rPr>
              <a:t>https://blog.roboflow.com/sift/</a:t>
            </a:r>
            <a:endParaRPr lang="en-US" sz="1800" dirty="0"/>
          </a:p>
          <a:p>
            <a:r>
              <a:rPr lang="en-US" sz="2200" b="1" dirty="0"/>
              <a:t>VJ Method: </a:t>
            </a:r>
          </a:p>
          <a:p>
            <a:pPr lvl="1"/>
            <a:r>
              <a:rPr lang="en-US" sz="1800" dirty="0">
                <a:hlinkClick r:id="rId6"/>
              </a:rPr>
              <a:t>https://pub.towardsai.net/the-magic-behind-face-detection-a-deep-dive-into-the-viola-jones-algorithm-51f323f16cd2</a:t>
            </a:r>
            <a:endParaRPr lang="en-US" sz="1800" dirty="0"/>
          </a:p>
          <a:p>
            <a:pPr lvl="1"/>
            <a:r>
              <a:rPr lang="en-US" sz="1800" dirty="0">
                <a:hlinkClick r:id="rId7"/>
              </a:rPr>
              <a:t>https://towardsdatascience.com/viola-jones-algorithm-and-haar-cascade-classifier-ee3bfb19f7d8/</a:t>
            </a:r>
            <a:endParaRPr lang="en-US" sz="1800" dirty="0"/>
          </a:p>
          <a:p>
            <a:r>
              <a:rPr lang="en-US" sz="2200" dirty="0"/>
              <a:t>Notebooks: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https://www.kaggle.com/code/zahidbd/lecture11-classification-hog-nb1/</a:t>
            </a:r>
            <a:endParaRPr lang="en-US" dirty="0"/>
          </a:p>
          <a:p>
            <a:pPr lvl="1"/>
            <a:r>
              <a:rPr lang="en-US" dirty="0">
                <a:hlinkClick r:id="rId9"/>
              </a:rPr>
              <a:t>https://www.kaggle.com/code/zahidbd/lecture11-classification-sift-nb2/</a:t>
            </a:r>
            <a:endParaRPr lang="en-US" dirty="0"/>
          </a:p>
          <a:p>
            <a:pPr lvl="1"/>
            <a:r>
              <a:rPr lang="en-US" dirty="0">
                <a:hlinkClick r:id="rId10"/>
              </a:rPr>
              <a:t>https://www.kaggle.com/code/zahidbd/lecture11-classification-lj-nb3/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37136</TotalTime>
  <Words>2316</Words>
  <Application>Microsoft Macintosh PowerPoint</Application>
  <PresentationFormat>Widescreen</PresentationFormat>
  <Paragraphs>201</Paragraphs>
  <Slides>34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Office Theme</vt:lpstr>
      <vt:lpstr>COMPUTER VISION</vt:lpstr>
      <vt:lpstr>From Feature Detection to Description</vt:lpstr>
      <vt:lpstr>Patch Comparison Methods </vt:lpstr>
      <vt:lpstr>SIFT</vt:lpstr>
      <vt:lpstr> Scale Invariance</vt:lpstr>
      <vt:lpstr>Rotation invariance</vt:lpstr>
      <vt:lpstr>Other image variations</vt:lpstr>
      <vt:lpstr>PowerPoint Presentation</vt:lpstr>
      <vt:lpstr>SIFT – Scale Invariant Feature Transform</vt:lpstr>
      <vt:lpstr>Step 1: Scale-space extrema detection</vt:lpstr>
      <vt:lpstr>Difference of Gaussians (DoG)</vt:lpstr>
      <vt:lpstr>Scale-space Extrema Detection</vt:lpstr>
      <vt:lpstr>Step 2: Keypoint localization</vt:lpstr>
      <vt:lpstr>Low-Contrast Keypoint Rejection</vt:lpstr>
      <vt:lpstr>Refinement</vt:lpstr>
      <vt:lpstr>Refinement</vt:lpstr>
      <vt:lpstr>Gradient vector of the DoG</vt:lpstr>
      <vt:lpstr>Step 3: Orientation assignment</vt:lpstr>
      <vt:lpstr>Step 4: Keypoint descriptor</vt:lpstr>
      <vt:lpstr>PowerPoint Presentation</vt:lpstr>
      <vt:lpstr>The Viola/Jones Face Detector</vt:lpstr>
      <vt:lpstr>Haar-like Features: Identifying Facial Patterns</vt:lpstr>
      <vt:lpstr>PowerPoint Presentation</vt:lpstr>
      <vt:lpstr>HAAR</vt:lpstr>
      <vt:lpstr>Integral Images: Speeding Up Computations</vt:lpstr>
      <vt:lpstr>Calculating Rectangle Sums Quickly</vt:lpstr>
      <vt:lpstr>AdaBoost: Selecting the Best Features</vt:lpstr>
      <vt:lpstr>Cascade Classifier: The Secret to Speed</vt:lpstr>
      <vt:lpstr>ML and DL for CV</vt:lpstr>
      <vt:lpstr>Traditional recognition approach</vt:lpstr>
      <vt:lpstr>Image classification using HOG</vt:lpstr>
      <vt:lpstr>Face detection using SIFT</vt:lpstr>
      <vt:lpstr>Image classification using HAAR</vt:lpstr>
      <vt:lpstr>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1025</cp:revision>
  <dcterms:created xsi:type="dcterms:W3CDTF">2026-08-04T00:11:14Z</dcterms:created>
  <dcterms:modified xsi:type="dcterms:W3CDTF">2026-09-17T17:36:32Z</dcterms:modified>
</cp:coreProperties>
</file>