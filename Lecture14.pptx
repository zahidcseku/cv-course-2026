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6" r:id="rId1"/>
  </p:sldMasterIdLst>
  <p:notesMasterIdLst>
    <p:notesMasterId r:id="rId24"/>
  </p:notesMasterIdLst>
  <p:sldIdLst>
    <p:sldId id="256" r:id="rId2"/>
    <p:sldId id="289" r:id="rId3"/>
    <p:sldId id="290" r:id="rId4"/>
    <p:sldId id="286" r:id="rId5"/>
    <p:sldId id="304" r:id="rId6"/>
    <p:sldId id="291" r:id="rId7"/>
    <p:sldId id="292" r:id="rId8"/>
    <p:sldId id="293" r:id="rId9"/>
    <p:sldId id="294" r:id="rId10"/>
    <p:sldId id="295" r:id="rId11"/>
    <p:sldId id="296" r:id="rId12"/>
    <p:sldId id="297" r:id="rId13"/>
    <p:sldId id="298" r:id="rId14"/>
    <p:sldId id="305" r:id="rId15"/>
    <p:sldId id="299" r:id="rId16"/>
    <p:sldId id="301" r:id="rId17"/>
    <p:sldId id="300" r:id="rId18"/>
    <p:sldId id="307" r:id="rId19"/>
    <p:sldId id="302" r:id="rId20"/>
    <p:sldId id="303" r:id="rId21"/>
    <p:sldId id="306" r:id="rId22"/>
    <p:sldId id="28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6"/>
    <p:restoredTop sz="82993"/>
  </p:normalViewPr>
  <p:slideViewPr>
    <p:cSldViewPr snapToGrid="0">
      <p:cViewPr varScale="1">
        <p:scale>
          <a:sx n="101" d="100"/>
          <a:sy n="101" d="100"/>
        </p:scale>
        <p:origin x="1176" y="184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F69E75-2F2A-4340-80BD-3C270EF90E93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A5E430-97AE-C04C-BB4B-47DC21A04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297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3912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last layer usually learns high level features and then classifies the input object based on the obtained knowledge.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8716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Activation layer and activation function are the same thing.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9704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batch is a small set of images from the input that is used for loss calculation for one step for gradient calculation.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9327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FA19C-6D48-1AAE-FB18-E0B9FED23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7456C3-0873-0E13-C7F8-9CEBD5D95A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01DD09-A68C-C217-C735-396B0C6116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batch is a small set of images from the input that is used for loss calculation for one step for gradient calculation.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EC9569-8ECA-E4CE-0392-7D4B28C72E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864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0725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AC1FB-32F5-BAAD-65E8-D0127AA4E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E76FC0-9F5E-7B2B-4030-77DC3D25E8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3508B2-D26C-5BEE-45DD-FD8CB443F6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ECE797-BFED-2B6D-743B-F9B4EC05A5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1476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10ABA-4290-90CD-CC55-F20491E400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F24B89-364B-EE61-91C7-B9F06B42CD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F63DC-9861-DCAD-6ABF-69C738D52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14E29-F2F6-0C59-6484-F3A7E29D6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CAEEB-1E1D-36B5-14CA-0489A1229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520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AF66E-2238-2945-30ED-0D5D903A9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16DA5-3118-31B7-4826-91DCF9749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A64AF0-DB24-1918-D680-D607CC937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68A90F-2980-A2E6-466C-5402C1FC4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68EC3-A8B5-7BBB-739B-70BA6D09F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852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7C189-E67A-DEEB-8B84-7C335EFE0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4ED7FA-A772-AA86-E957-C377B2176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76E92-A603-E836-46A2-21459F703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73A2D-7527-2749-6AC2-791551C54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646D8-F5E0-55C9-DFA9-AE038A783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23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4EC26-3DD7-E942-7FD3-AD4642215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AE2B3-6415-0C9F-2B63-AAD8FE7CB5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4849E-962A-A5CF-1EFF-A5D9F6D2D6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A4F206-C4C3-7740-140B-91013CDDE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950921-80EB-4B2D-95C6-1C999B360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CF45F9-5E9B-8C6E-6D1D-0A82EC8FE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7694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95D9A-3AD0-657C-C3CB-A50C23979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9496E7-6FDA-8F23-1869-AFDF16E7DF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61602A-B874-4D33-8037-C166D9D32A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8C1A-755F-F467-FB5F-2740E9A8A6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968491-33EA-3F5E-3142-9D822916CD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6F0A4D-B479-3C8E-68BA-F49180D7D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EA6669-6B95-0CBE-1D95-890C54EE8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4083EE-4D9B-D81A-FD71-5D6A16DDF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772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E6E9B-AD06-B997-1AE7-3073AFFCB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726203-6C54-59B6-ADFE-EA8A4741E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FE622D-800D-BD21-04BE-E0E9D2C39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B3FC2C-3FA0-9A58-0F7D-02622CA35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367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F2467D-6BE5-9E50-E767-5B64065B9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5DD547-4603-D852-B1B3-A5C380C67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A6508D-341E-E5BD-C22D-E2BF3A6A6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879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61ED0-75A3-6E0F-3006-4E70B9C79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213C3-01A6-E614-D555-D3BC4C59D2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1C72D1-C96F-3382-A48C-F0612B2997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C90C82-959E-DF3F-38A5-159F3E4EE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569977-4322-D261-2170-1A0B6CD76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E4B5F3-686B-5E91-86E8-81B85A122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304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30422-F15A-4C2C-3C8A-BB5AFE652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3BD814-F5EA-2E89-F8F7-F916825568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345475-4926-2118-0A8D-7E5E64E202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CE74AE-202B-63F1-CC92-B6A0B149A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385DEF-4986-D816-B5EC-52508C747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0C0EB8-9FF8-3665-DFC3-2A23C436C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2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4349C-55F4-8DD2-B5B3-F25C3269E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961ACD-3ECA-19BE-9063-F5AAB3BE80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46CB2-8338-345D-B066-B1D7BFD27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EA996-1CE2-090B-003F-5B7EB5205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D362C-DC52-130E-3EDD-CFC6E2487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68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A7662E-7958-3ADE-A998-F33C75EF65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26EE86-C6DB-34C8-839F-4C05EA0D8B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B12CF-5E36-6937-CC03-FD4DAFCCF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791FE-5CDC-76E7-1D6A-CFFC7D502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481ADC-D743-398A-851E-E742E36C1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783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32BC51-9F87-6890-45C0-643E6F552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906F5-F306-E89C-5151-AA5BF69AA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A6B21F-4F09-4E1F-433A-CF40F62B9D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2909DE-CA0F-77A5-6135-84F8389D9B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56ADA-A62D-616A-836C-0D9BA5F7E5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103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7" r:id="rId1"/>
    <p:sldLayoutId id="2147483848" r:id="rId2"/>
    <p:sldLayoutId id="2147483849" r:id="rId3"/>
    <p:sldLayoutId id="2147483850" r:id="rId4"/>
    <p:sldLayoutId id="2147483851" r:id="rId5"/>
    <p:sldLayoutId id="2147483852" r:id="rId6"/>
    <p:sldLayoutId id="2147483853" r:id="rId7"/>
    <p:sldLayoutId id="2147483854" r:id="rId8"/>
    <p:sldLayoutId id="2147483855" r:id="rId9"/>
    <p:sldLayoutId id="2147483856" r:id="rId10"/>
    <p:sldLayoutId id="214748385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code/zahidbd/lecture14-cnn-basic-nb1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89241-48AD-583C-9840-CDD40301C0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COMPUTER VISION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F2094C-5F63-31E5-6117-5B63798264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Week 9</a:t>
            </a:r>
          </a:p>
          <a:p>
            <a:r>
              <a:rPr lang="en-US" dirty="0"/>
              <a:t>Lecture 14 (</a:t>
            </a:r>
            <a:r>
              <a:rPr lang="en-US" b="1" dirty="0"/>
              <a:t>24/09/2026</a:t>
            </a:r>
            <a:r>
              <a:rPr lang="en-US" dirty="0"/>
              <a:t>)</a:t>
            </a:r>
          </a:p>
          <a:p>
            <a:r>
              <a:rPr lang="en-US" dirty="0"/>
              <a:t>0714 02 CSE 4239</a:t>
            </a:r>
          </a:p>
        </p:txBody>
      </p:sp>
    </p:spTree>
    <p:extLst>
      <p:ext uri="{BB962C8B-B14F-4D97-AF65-F5344CB8AC3E}">
        <p14:creationId xmlns:p14="http://schemas.microsoft.com/office/powerpoint/2010/main" val="3060475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45830-38A0-D9A0-46AD-D32648CAA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2D Convolution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7A37EA-87FF-F44E-2A70-95369C2D08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4113" t="19337" b="2152"/>
          <a:stretch>
            <a:fillRect/>
          </a:stretch>
        </p:blipFill>
        <p:spPr>
          <a:xfrm>
            <a:off x="1226215" y="1841499"/>
            <a:ext cx="9739569" cy="3416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591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4790E-2B61-8D9D-2F39-39B9F5E2D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3D Convolution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516C33-C2E9-130B-19F2-561AC9F0CB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7331" y="1825625"/>
            <a:ext cx="101573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344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ED721-AA8F-CDBF-C5AE-E94AD9CE1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Before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7514D7-37D8-B9F9-9A70-B9DBADEAD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210" y="1963271"/>
            <a:ext cx="9311769" cy="3550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349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ED5BD-4316-DC2C-BC53-21C758728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B47A0-162F-F757-5197-D605F98E0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Now CNN</a:t>
            </a: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BB1B69-995F-CCD5-EF2D-7D5CB5A3D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42246"/>
            <a:ext cx="9953439" cy="3794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63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87F38-4FF9-46C4-BA08-48B45A9DB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layers in CNN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CDB18-F014-A5AC-FB0B-9A554B4A2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Commonly used types of layers in CNN</a:t>
            </a:r>
          </a:p>
          <a:p>
            <a:pPr lvl="1"/>
            <a:r>
              <a:rPr lang="en-US" dirty="0"/>
              <a:t>Fully connected layer</a:t>
            </a:r>
          </a:p>
          <a:p>
            <a:pPr lvl="1"/>
            <a:r>
              <a:rPr lang="en-US" dirty="0"/>
              <a:t>Activation layer</a:t>
            </a:r>
          </a:p>
          <a:p>
            <a:pPr lvl="1"/>
            <a:r>
              <a:rPr lang="en-US" dirty="0"/>
              <a:t>Pooling layer</a:t>
            </a:r>
          </a:p>
          <a:p>
            <a:pPr lvl="1"/>
            <a:r>
              <a:rPr lang="en-US" dirty="0"/>
              <a:t>Convolutional layer</a:t>
            </a:r>
          </a:p>
          <a:p>
            <a:pPr lvl="1"/>
            <a:r>
              <a:rPr lang="en-US" dirty="0"/>
              <a:t>Batch normalization</a:t>
            </a:r>
          </a:p>
        </p:txBody>
      </p:sp>
    </p:spTree>
    <p:extLst>
      <p:ext uri="{BB962C8B-B14F-4D97-AF65-F5344CB8AC3E}">
        <p14:creationId xmlns:p14="http://schemas.microsoft.com/office/powerpoint/2010/main" val="2290217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DFFBA-D44B-533F-5846-9666165D0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Fully connected layer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ED706A-8AA2-77A0-A98C-7DE42E1247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299200" cy="4351338"/>
              </a:xfrm>
            </p:spPr>
            <p:txBody>
              <a:bodyPr/>
              <a:lstStyle/>
              <a:p>
                <a:r>
                  <a:rPr lang="en-US" dirty="0"/>
                  <a:t>Output is a matrix multiplication followed by a bias addition.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  <m:oMath>
                      <m:sSub>
                        <m:sSub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A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𝑊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A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A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ED706A-8AA2-77A0-A98C-7DE42E1247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299200" cy="4351338"/>
              </a:xfrm>
              <a:blipFill>
                <a:blip r:embed="rId3"/>
                <a:stretch>
                  <a:fillRect l="-1811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1.17. Neural network models (supervised) — scikit-learn 1.9.1 documentation">
            <a:extLst>
              <a:ext uri="{FF2B5EF4-FFF2-40B4-BE49-F238E27FC236}">
                <a16:creationId xmlns:a16="http://schemas.microsoft.com/office/drawing/2014/main" id="{5077C5BA-9A7D-EBA4-E81B-831397F45A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5100" y="1279525"/>
            <a:ext cx="35687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937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2707B-FD84-249F-6ED8-450069A43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0575"/>
          </a:xfrm>
        </p:spPr>
        <p:txBody>
          <a:bodyPr/>
          <a:lstStyle/>
          <a:p>
            <a:r>
              <a:rPr lang="en-US" b="1" dirty="0"/>
              <a:t>Activation layer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FE6E98-BD27-84B1-E4A9-4EA6B4F2F6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19544" b="12215"/>
          <a:stretch>
            <a:fillRect/>
          </a:stretch>
        </p:blipFill>
        <p:spPr>
          <a:xfrm>
            <a:off x="838200" y="1155700"/>
            <a:ext cx="10515600" cy="253441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F595E0B-A8F6-6595-62C2-D8E5425D565E}"/>
                  </a:ext>
                </a:extLst>
              </p:cNvPr>
              <p:cNvSpPr txBox="1"/>
              <p:nvPr/>
            </p:nvSpPr>
            <p:spPr>
              <a:xfrm>
                <a:off x="444500" y="4184551"/>
                <a:ext cx="6769100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Output of the activation layer is the same dimension as the input but the range of values are changed according to the activation function. </a:t>
                </a:r>
              </a:p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</m:e>
                      </m:d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−∞,</m:t>
                          </m:r>
                          <m:r>
                            <a:rPr lang="en-AU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e>
                      </m:d>
                      <m:sSub>
                        <m:sSubPr>
                          <m:ctrlP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AU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AU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AU" sz="2400" b="0" dirty="0">
                  <a:ea typeface="Cambria Math" panose="02040503050406030204" pitchFamily="18" charset="0"/>
                </a:endParaRPr>
              </a:p>
              <a:p>
                <a:r>
                  <a:rPr lang="en-US" sz="2400" dirty="0"/>
                  <a:t>The values of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A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A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A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sz="2400" dirty="0"/>
                  <a:t> is determined by the activation function. 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F595E0B-A8F6-6595-62C2-D8E5425D56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500" y="4184551"/>
                <a:ext cx="6769100" cy="2308324"/>
              </a:xfrm>
              <a:prstGeom prst="rect">
                <a:avLst/>
              </a:prstGeom>
              <a:blipFill>
                <a:blip r:embed="rId4"/>
                <a:stretch>
                  <a:fillRect l="-1501" t="-2186" r="-938" b="-43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1A06D6E7-7504-CB18-8D6A-5626A8D23CA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78708631"/>
                  </p:ext>
                </p:extLst>
              </p:nvPr>
            </p:nvGraphicFramePr>
            <p:xfrm>
              <a:off x="8064500" y="4271313"/>
              <a:ext cx="3683000" cy="2134800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2336800">
                      <a:extLst>
                        <a:ext uri="{9D8B030D-6E8A-4147-A177-3AD203B41FA5}">
                          <a16:colId xmlns:a16="http://schemas.microsoft.com/office/drawing/2014/main" val="3089124770"/>
                        </a:ext>
                      </a:extLst>
                    </a:gridCol>
                    <a:gridCol w="1346200">
                      <a:extLst>
                        <a:ext uri="{9D8B030D-6E8A-4147-A177-3AD203B41FA5}">
                          <a16:colId xmlns:a16="http://schemas.microsoft.com/office/drawing/2014/main" val="3486331491"/>
                        </a:ext>
                      </a:extLst>
                    </a:gridCol>
                  </a:tblGrid>
                  <a:tr h="426960">
                    <a:tc>
                      <a:txBody>
                        <a:bodyPr/>
                        <a:lstStyle/>
                        <a:p>
                          <a:pPr marL="0" marR="0"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AU" b="1" dirty="0">
                              <a:effectLst/>
                            </a:rPr>
                            <a:t>Activation Function</a:t>
                          </a:r>
                          <a:endParaRPr lang="en-AU" b="1" dirty="0"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AU" b="1" dirty="0">
                              <a:effectLst/>
                            </a:rPr>
                            <a:t>Interval</a:t>
                          </a:r>
                          <a:endParaRPr lang="en-AU" b="1" dirty="0"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val="2123505565"/>
                      </a:ext>
                    </a:extLst>
                  </a:tr>
                  <a:tr h="426960">
                    <a:tc>
                      <a:txBody>
                        <a:bodyPr/>
                        <a:lstStyle/>
                        <a:p>
                          <a:pPr marL="0" marR="0"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AU" dirty="0">
                              <a:effectLst/>
                            </a:rPr>
                            <a:t>Sigmoid (</a:t>
                          </a:r>
                          <a14:m>
                            <m:oMath xmlns:m="http://schemas.openxmlformats.org/officeDocument/2006/math">
                              <m:r>
                                <a:rPr lang="en-US" smtClean="0"/>
                                <m:t>𝜎</m:t>
                              </m:r>
                            </m:oMath>
                          </a14:m>
                          <a:r>
                            <a:rPr lang="en-AU" dirty="0">
                              <a:effectLst/>
                            </a:rPr>
                            <a:t>)</a:t>
                          </a:r>
                          <a:endParaRPr lang="en-AU" dirty="0"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US"/>
                                    </m:ctrlPr>
                                  </m:dPr>
                                  <m:e>
                                    <m:r>
                                      <a:rPr lang="en-US"/>
                                      <m:t>0,1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AU" dirty="0"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val="652674812"/>
                      </a:ext>
                    </a:extLst>
                  </a:tr>
                  <a:tr h="426960">
                    <a:tc>
                      <a:txBody>
                        <a:bodyPr/>
                        <a:lstStyle/>
                        <a:p>
                          <a:pPr marL="0" marR="0"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AU">
                              <a:effectLst/>
                            </a:rPr>
                            <a:t>Tanh</a:t>
                          </a:r>
                          <a:endParaRPr lang="en-AU"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US"/>
                                    </m:ctrlPr>
                                  </m:dPr>
                                  <m:e>
                                    <m:r>
                                      <a:rPr lang="en-US"/>
                                      <m:t>−1,1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AU" dirty="0"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val="2320795523"/>
                      </a:ext>
                    </a:extLst>
                  </a:tr>
                  <a:tr h="426960">
                    <a:tc>
                      <a:txBody>
                        <a:bodyPr/>
                        <a:lstStyle/>
                        <a:p>
                          <a:pPr marL="0" marR="0"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AU" dirty="0" err="1"/>
                            <a:t>ReLU</a:t>
                          </a:r>
                          <a:endParaRPr lang="en-AU" dirty="0"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kern="1200" smtClean="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[</m:t>
                                </m:r>
                                <m:r>
                                  <a:rPr lang="en-US" sz="18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0,∞)</m:t>
                                </m:r>
                              </m:oMath>
                            </m:oMathPara>
                          </a14:m>
                          <a:endParaRPr lang="en-AU" dirty="0"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val="760009277"/>
                      </a:ext>
                    </a:extLst>
                  </a:tr>
                  <a:tr h="426960">
                    <a:tc>
                      <a:txBody>
                        <a:bodyPr/>
                        <a:lstStyle/>
                        <a:p>
                          <a:pPr marL="0" marR="0"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AU" dirty="0"/>
                            <a:t>Leaky </a:t>
                          </a:r>
                          <a:r>
                            <a:rPr lang="en-AU" dirty="0" err="1"/>
                            <a:t>ReLU</a:t>
                          </a:r>
                          <a:endParaRPr lang="en-AU" dirty="0"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US" sz="1800" i="0" kern="1200">
                                        <a:solidFill>
                                          <a:schemeClr val="tx1"/>
                                        </a:solidFill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0" kern="1200">
                                        <a:solidFill>
                                          <a:schemeClr val="tx1"/>
                                        </a:solidFill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−∞,∞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AU" dirty="0"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val="337888269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1A06D6E7-7504-CB18-8D6A-5626A8D23CA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78708631"/>
                  </p:ext>
                </p:extLst>
              </p:nvPr>
            </p:nvGraphicFramePr>
            <p:xfrm>
              <a:off x="8064500" y="4271313"/>
              <a:ext cx="3683000" cy="2134800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2336800">
                      <a:extLst>
                        <a:ext uri="{9D8B030D-6E8A-4147-A177-3AD203B41FA5}">
                          <a16:colId xmlns:a16="http://schemas.microsoft.com/office/drawing/2014/main" val="3089124770"/>
                        </a:ext>
                      </a:extLst>
                    </a:gridCol>
                    <a:gridCol w="1346200">
                      <a:extLst>
                        <a:ext uri="{9D8B030D-6E8A-4147-A177-3AD203B41FA5}">
                          <a16:colId xmlns:a16="http://schemas.microsoft.com/office/drawing/2014/main" val="3486331491"/>
                        </a:ext>
                      </a:extLst>
                    </a:gridCol>
                  </a:tblGrid>
                  <a:tr h="426960">
                    <a:tc>
                      <a:txBody>
                        <a:bodyPr/>
                        <a:lstStyle/>
                        <a:p>
                          <a:pPr marL="0" marR="0"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AU" b="1" dirty="0">
                              <a:effectLst/>
                            </a:rPr>
                            <a:t>Activation Function</a:t>
                          </a:r>
                          <a:endParaRPr lang="en-AU" b="1" dirty="0"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AU" b="1" dirty="0">
                              <a:effectLst/>
                            </a:rPr>
                            <a:t>Interval</a:t>
                          </a:r>
                          <a:endParaRPr lang="en-AU" b="1" dirty="0"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val="2123505565"/>
                      </a:ext>
                    </a:extLst>
                  </a:tr>
                  <a:tr h="4269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4300" marR="114300" marT="76200" marB="76200" anchor="ctr">
                        <a:blipFill>
                          <a:blip r:embed="rId5"/>
                          <a:stretch>
                            <a:fillRect l="-543" t="-102941" r="-58696" b="-31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4300" marR="114300" marT="76200" marB="76200" anchor="ctr">
                        <a:blipFill>
                          <a:blip r:embed="rId5"/>
                          <a:stretch>
                            <a:fillRect l="-174528" t="-102941" r="-1887" b="-3147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52674812"/>
                      </a:ext>
                    </a:extLst>
                  </a:tr>
                  <a:tr h="426960">
                    <a:tc>
                      <a:txBody>
                        <a:bodyPr/>
                        <a:lstStyle/>
                        <a:p>
                          <a:pPr marL="0" marR="0"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AU">
                              <a:effectLst/>
                            </a:rPr>
                            <a:t>Tanh</a:t>
                          </a:r>
                          <a:endParaRPr lang="en-AU"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4300" marR="114300" marT="76200" marB="76200" anchor="ctr">
                        <a:blipFill>
                          <a:blip r:embed="rId5"/>
                          <a:stretch>
                            <a:fillRect l="-174528" t="-209091" r="-1887" b="-2242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20795523"/>
                      </a:ext>
                    </a:extLst>
                  </a:tr>
                  <a:tr h="426960">
                    <a:tc>
                      <a:txBody>
                        <a:bodyPr/>
                        <a:lstStyle/>
                        <a:p>
                          <a:pPr marL="0" marR="0"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AU" dirty="0" err="1"/>
                            <a:t>ReLU</a:t>
                          </a:r>
                          <a:endParaRPr lang="en-AU" dirty="0"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4300" marR="114300" marT="76200" marB="76200" anchor="ctr">
                        <a:blipFill>
                          <a:blip r:embed="rId5"/>
                          <a:stretch>
                            <a:fillRect l="-174528" t="-300000" r="-1887" b="-1176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60009277"/>
                      </a:ext>
                    </a:extLst>
                  </a:tr>
                  <a:tr h="426960">
                    <a:tc>
                      <a:txBody>
                        <a:bodyPr/>
                        <a:lstStyle/>
                        <a:p>
                          <a:pPr marL="0" marR="0"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AU" dirty="0"/>
                            <a:t>Leaky </a:t>
                          </a:r>
                          <a:r>
                            <a:rPr lang="en-AU" dirty="0" err="1"/>
                            <a:t>ReLU</a:t>
                          </a:r>
                          <a:endParaRPr lang="en-AU" dirty="0"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4300" marR="114300" marT="76200" marB="76200" anchor="ctr">
                        <a:blipFill>
                          <a:blip r:embed="rId5"/>
                          <a:stretch>
                            <a:fillRect l="-174528" t="-400000" r="-1887" b="-176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888269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9611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A8A87-C85D-4A0C-9D98-6BEEE2AED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4875"/>
          </a:xfrm>
        </p:spPr>
        <p:txBody>
          <a:bodyPr/>
          <a:lstStyle/>
          <a:p>
            <a:r>
              <a:rPr lang="en-US" b="1" dirty="0"/>
              <a:t>Convolutional layer: INPUT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6D5062F-24E7-0DD1-F2B3-C6888B52F4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0000"/>
            <a:ext cx="5880100" cy="4906963"/>
          </a:xfrm>
        </p:spPr>
        <p:txBody>
          <a:bodyPr/>
          <a:lstStyle/>
          <a:p>
            <a:r>
              <a:rPr lang="en-US" dirty="0"/>
              <a:t>CNNs operate on 2D data.</a:t>
            </a:r>
          </a:p>
          <a:p>
            <a:r>
              <a:rPr lang="en-US" dirty="0"/>
              <a:t>Inputs to a CNN layers is a 3D tensor</a:t>
            </a:r>
          </a:p>
          <a:p>
            <a:pPr lvl="1"/>
            <a:r>
              <a:rPr lang="en-US" dirty="0"/>
              <a:t>Height: H</a:t>
            </a:r>
          </a:p>
          <a:p>
            <a:pPr lvl="1"/>
            <a:r>
              <a:rPr lang="en-US" dirty="0"/>
              <a:t>Width: W</a:t>
            </a:r>
          </a:p>
          <a:p>
            <a:pPr lvl="1"/>
            <a:r>
              <a:rPr lang="en-US" dirty="0"/>
              <a:t>Channel: C</a:t>
            </a:r>
          </a:p>
          <a:p>
            <a:r>
              <a:rPr lang="en-US" dirty="0"/>
              <a:t>H and W are called spatial resolution and C is called the depth. </a:t>
            </a:r>
          </a:p>
          <a:p>
            <a:r>
              <a:rPr lang="en-US" dirty="0"/>
              <a:t>The outputs of a CNN layer is called feature maps or activation maps. </a:t>
            </a:r>
          </a:p>
          <a:p>
            <a:r>
              <a:rPr lang="en-US" dirty="0"/>
              <a:t>Input and output of a CNN layer are both feature maps</a:t>
            </a:r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DE6272A0-048E-A9B6-C12B-36D025C4BA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10" t="25334" r="61403" b="1180"/>
          <a:stretch>
            <a:fillRect/>
          </a:stretch>
        </p:blipFill>
        <p:spPr>
          <a:xfrm>
            <a:off x="8407400" y="1810302"/>
            <a:ext cx="3124200" cy="3237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403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6A56F-E547-C2E9-A06D-7FB6321D3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Convolutional layer: KERNEL 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D3AE9A07-37E6-F9C3-40C2-5DEF3B6834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87500"/>
                <a:ext cx="8407400" cy="508000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Each CNN layer consists of several kernels</a:t>
                </a:r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Important</a:t>
                </a: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Kernels have same depth or channels as the input</a:t>
                </a: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Some block diagrams do not mention kernel depths</a:t>
                </a:r>
              </a:p>
              <a:p>
                <a:r>
                  <a:rPr lang="en-US" b="1" dirty="0"/>
                  <a:t>Kernel Depth = Input Channels</a:t>
                </a:r>
              </a:p>
              <a:p>
                <a:r>
                  <a:rPr lang="en-US" dirty="0"/>
                  <a:t>When we say a filter has a spatial size of 3×3, its complete shape is actually 3D:</a:t>
                </a:r>
              </a:p>
              <a:p>
                <a:pPr lvl="1"/>
                <a:r>
                  <a:rPr lang="en-US" dirty="0"/>
                  <a:t>"Kernel Shape”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AU" b="0" i="1" smtClean="0">
                        <a:latin typeface="Cambria Math" panose="02040503050406030204" pitchFamily="18" charset="0"/>
                      </a:rPr>
                      <m:t>=3×3×</m:t>
                    </m:r>
                    <m:sSub>
                      <m:sSub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AU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</a:p>
              <a:p>
                <a:pPr lvl="1"/>
                <a:r>
                  <a:rPr lang="en-US" b="1" dirty="0"/>
                  <a:t>Input Image (RGB)</a:t>
                </a:r>
                <a:r>
                  <a:rPr lang="en-US" dirty="0"/>
                  <a:t>: Shape is 𝐻×𝑊×3. Therefore, a 3×3kernel must have shape 3×3×3(depth = 3).</a:t>
                </a:r>
              </a:p>
              <a:p>
                <a:pPr lvl="1"/>
                <a:r>
                  <a:rPr lang="en-US" b="1" dirty="0"/>
                  <a:t>Intermediate Feature Map</a:t>
                </a:r>
                <a:r>
                  <a:rPr lang="en-US" dirty="0"/>
                  <a:t>: If the previous layer outputs a volume of 28×28×16(16 channels), any subsequent 5×5 kernel must have shape 5×5×16(depth = 16).</a:t>
                </a:r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D3AE9A07-37E6-F9C3-40C2-5DEF3B6834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87500"/>
                <a:ext cx="8407400" cy="5080000"/>
              </a:xfrm>
              <a:blipFill>
                <a:blip r:embed="rId2"/>
                <a:stretch>
                  <a:fillRect l="-1357" t="-2736" r="-10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17893B21-6719-F771-119E-004C4566C5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284" t="20145" r="34701"/>
          <a:stretch>
            <a:fillRect/>
          </a:stretch>
        </p:blipFill>
        <p:spPr>
          <a:xfrm>
            <a:off x="9245600" y="1372113"/>
            <a:ext cx="2781300" cy="4920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639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676F1-4E35-26C5-9ED9-79098D69E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Convolutional layer: KERNEL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B373D-BE09-221D-0ABD-D0D001D5DC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70600" cy="4351338"/>
          </a:xfrm>
        </p:spPr>
        <p:txBody>
          <a:bodyPr/>
          <a:lstStyle/>
          <a:p>
            <a:r>
              <a:rPr lang="en-US" dirty="0"/>
              <a:t>Each kernel/filter produces one channel in the output. </a:t>
            </a:r>
          </a:p>
          <a:p>
            <a:r>
              <a:rPr lang="en-US" dirty="0"/>
              <a:t>Also recall</a:t>
            </a:r>
          </a:p>
          <a:p>
            <a:pPr lvl="1"/>
            <a:r>
              <a:rPr lang="en-US" dirty="0"/>
              <a:t>There are STRIDE and PADDING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DAF69A-6CAE-C6B7-CED4-1C318C4568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568" t="18460" r="3268" b="3811"/>
          <a:stretch>
            <a:fillRect/>
          </a:stretch>
        </p:blipFill>
        <p:spPr>
          <a:xfrm>
            <a:off x="7059790" y="1690688"/>
            <a:ext cx="4827410" cy="364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040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03D30-1D27-0476-19D6-749EB0C2D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Pooling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415C9-3F11-7B4E-28C7-5DE3A10FF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Limitation of Conv operation</a:t>
            </a:r>
          </a:p>
          <a:p>
            <a:pPr lvl="1"/>
            <a:r>
              <a:rPr lang="en-US" dirty="0"/>
              <a:t>The output depends on the precise location of the features in the input</a:t>
            </a:r>
          </a:p>
          <a:p>
            <a:pPr lvl="1"/>
            <a:r>
              <a:rPr lang="en-US" dirty="0"/>
              <a:t>Changing the position or angle of objects will results in a different feature map</a:t>
            </a:r>
          </a:p>
          <a:p>
            <a:r>
              <a:rPr lang="en-US" dirty="0"/>
              <a:t>Solution: down sample the image. </a:t>
            </a:r>
          </a:p>
          <a:p>
            <a:pPr lvl="1"/>
            <a:r>
              <a:rPr lang="en-US" dirty="0"/>
              <a:t>We will get a lower resolution version of the image that will still contain the large or important structural elements and it will suppress the non-important elements.</a:t>
            </a:r>
          </a:p>
          <a:p>
            <a:r>
              <a:rPr lang="en-US" dirty="0"/>
              <a:t>Pooling layer is a down sampling method that retains important elements and suppress unimportant elements in images. </a:t>
            </a:r>
          </a:p>
        </p:txBody>
      </p:sp>
    </p:spTree>
    <p:extLst>
      <p:ext uri="{BB962C8B-B14F-4D97-AF65-F5344CB8AC3E}">
        <p14:creationId xmlns:p14="http://schemas.microsoft.com/office/powerpoint/2010/main" val="18179423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50C90-CE20-C81F-2EA2-ED240B4E3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3370729" cy="966134"/>
          </a:xfrm>
        </p:spPr>
        <p:txBody>
          <a:bodyPr/>
          <a:lstStyle/>
          <a:p>
            <a:r>
              <a:rPr lang="en-US" b="1" dirty="0"/>
              <a:t>Pooling Layer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8AF68-D4B5-998C-4603-2AD24D80F9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58458" cy="4351338"/>
          </a:xfrm>
        </p:spPr>
        <p:txBody>
          <a:bodyPr/>
          <a:lstStyle/>
          <a:p>
            <a:r>
              <a:rPr lang="en-US" dirty="0"/>
              <a:t>Decreases the number of parameters and computations in the network. </a:t>
            </a:r>
          </a:p>
          <a:p>
            <a:r>
              <a:rPr lang="en-US" dirty="0"/>
              <a:t>Pooling layer also has kernel size and stride.</a:t>
            </a:r>
          </a:p>
          <a:p>
            <a:r>
              <a:rPr lang="en-US" dirty="0"/>
              <a:t>It does not have any trainable parameter.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5A3D99-10AD-ECA5-F086-DC6F50B98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949" y="365125"/>
            <a:ext cx="4935450" cy="21113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248BFF-201F-E4AC-DB63-761E2E650E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372" r="9566" b="15401"/>
          <a:stretch>
            <a:fillRect/>
          </a:stretch>
        </p:blipFill>
        <p:spPr>
          <a:xfrm>
            <a:off x="7277100" y="2588419"/>
            <a:ext cx="3937000" cy="18022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4163F8-6D58-12E2-497E-6EF332E0899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169" r="7687" b="12764"/>
          <a:stretch>
            <a:fillRect/>
          </a:stretch>
        </p:blipFill>
        <p:spPr>
          <a:xfrm>
            <a:off x="7277100" y="4568430"/>
            <a:ext cx="4187333" cy="1949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729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39D70-FB4D-5C71-2CFA-4FE6E5F2A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Pooling Layer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3D3642-99A6-1104-E59F-8AEFB6DD17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89613" y="708320"/>
            <a:ext cx="7168776" cy="5441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8711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67B5D-7111-65B8-6E7D-5D32FB300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Batch Normalization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D7592-A26B-FA8E-DCE7-85068737A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300" y="1901825"/>
            <a:ext cx="6781800" cy="4351338"/>
          </a:xfrm>
        </p:spPr>
        <p:txBody>
          <a:bodyPr>
            <a:normAutofit/>
          </a:bodyPr>
          <a:lstStyle/>
          <a:p>
            <a:r>
              <a:rPr lang="en-US" dirty="0"/>
              <a:t>Used in almost all CNNs.</a:t>
            </a:r>
          </a:p>
          <a:p>
            <a:r>
              <a:rPr lang="en-US" dirty="0"/>
              <a:t>What is a batch again?</a:t>
            </a:r>
          </a:p>
          <a:p>
            <a:r>
              <a:rPr lang="en-US" dirty="0"/>
              <a:t>Applies zero mean and unit variance to deep learning layers.</a:t>
            </a:r>
          </a:p>
          <a:p>
            <a:r>
              <a:rPr lang="en-US" dirty="0"/>
              <a:t>Usually applied to the outputs of convolutional and fully connected layers. </a:t>
            </a:r>
          </a:p>
          <a:p>
            <a:r>
              <a:rPr lang="en-US" dirty="0"/>
              <a:t>Batch Norm in CNNs normalizes per channel across all images and all spatial locations simultaneously.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249A048-55BF-2148-AB63-42FCF0F85C07}"/>
                  </a:ext>
                </a:extLst>
              </p:cNvPr>
              <p:cNvSpPr txBox="1"/>
              <p:nvPr/>
            </p:nvSpPr>
            <p:spPr>
              <a:xfrm>
                <a:off x="8953500" y="2046874"/>
                <a:ext cx="2016191" cy="203062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AU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</m:oMath>
                    <m:oMath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𝑑𝑎𝑡𝑎</m:t>
                      </m:r>
                    </m:oMath>
                    <m:oMath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𝑚𝑒𝑎𝑛</m:t>
                      </m:r>
                    </m:oMath>
                    <m:oMath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𝑠𝑡𝑑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𝑑𝑒𝑣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249A048-55BF-2148-AB63-42FCF0F85C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3500" y="2046874"/>
                <a:ext cx="2016191" cy="2030620"/>
              </a:xfrm>
              <a:prstGeom prst="rect">
                <a:avLst/>
              </a:prstGeom>
              <a:blipFill>
                <a:blip r:embed="rId3"/>
                <a:stretch>
                  <a:fillRect l="-3774" t="-621" r="-3774" b="-6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72041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362EA-1506-6947-B3F4-6288B324D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89295-AA60-8653-0702-3E7418076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Batch Normalization Layer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5FBD6EE5-E1C3-1964-0E75-E29E37C9F01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15522"/>
                <a:ext cx="6553200" cy="477201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AU" sz="2400" dirty="0"/>
                  <a:t>For a single channel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24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1,…,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AU" sz="2400" dirty="0"/>
                  <a:t>:</a:t>
                </a:r>
              </a:p>
              <a:p>
                <a:pPr marL="0" lvl="0" indent="0">
                  <a:buNone/>
                </a:pPr>
                <a:r>
                  <a:rPr lang="en-AU" sz="2400" b="1" dirty="0"/>
                  <a:t>Total values pool size (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AU" sz="2400" b="1" dirty="0"/>
                  <a:t>):</a:t>
                </a:r>
                <a:r>
                  <a:rPr lang="en-AU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en-AU" sz="2400" dirty="0"/>
              </a:p>
              <a:p>
                <a:pPr marL="0" lvl="0" indent="0">
                  <a:buNone/>
                </a:pPr>
                <a:r>
                  <a:rPr lang="en-AU" sz="2400" b="1" dirty="0"/>
                  <a:t>Channel Mean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AU" sz="2400" b="1" dirty="0"/>
                  <a:t>):</a:t>
                </a:r>
                <a:endParaRPr lang="en-AU" sz="2400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0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d>
                                        <m:d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200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  <m:r>
                                            <a:rPr lang="en-US" sz="200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ℎ</m:t>
                                          </m:r>
                                          <m:r>
                                            <a:rPr lang="en-US" sz="200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</m:d>
                                    </m:sub>
                                  </m:sSub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 lang="en-AU" dirty="0"/>
              </a:p>
              <a:p>
                <a:pPr marL="0" lvl="0" indent="0">
                  <a:buNone/>
                </a:pPr>
                <a:r>
                  <a:rPr lang="en-AU" sz="2400" b="1" dirty="0"/>
                  <a:t>Channel Variance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en-US" sz="24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AU" sz="2400" b="1" dirty="0"/>
                  <a:t>):</a:t>
                </a:r>
                <a:endParaRPr lang="en-AU" sz="2400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0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  <m:sub>
                                              <m:d>
                                                <m:dPr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𝑛</m:t>
                                                  </m:r>
                                                  <m:r>
                                                    <a:rPr lang="en-US" sz="2000">
                                                      <a:latin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𝑐</m:t>
                                                  </m:r>
                                                  <m:r>
                                                    <a:rPr lang="en-US" sz="2000">
                                                      <a:latin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ℎ</m:t>
                                                  </m:r>
                                                  <m:r>
                                                    <a:rPr lang="en-US" sz="2000">
                                                      <a:latin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𝑤</m:t>
                                                  </m:r>
                                                </m:e>
                                              </m:d>
                                            </m:sub>
                                          </m:sSub>
                                          <m:r>
                                            <a:rPr lang="en-US" sz="200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𝜇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𝑐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00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 lang="en-AU" dirty="0"/>
              </a:p>
              <a:p>
                <a:r>
                  <a:rPr lang="en-AU" sz="2400" dirty="0"/>
                  <a:t>Every pixel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a:rPr lang="en-US" sz="24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r>
                  <a:rPr lang="en-AU" sz="2400" dirty="0"/>
                  <a:t>across every image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AU" sz="2400" dirty="0"/>
                  <a:t> in the batch contributes to the exact same scalar pair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  <m:sup>
                            <m:r>
                              <a:rPr lang="en-US" sz="2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AU" sz="2400" dirty="0"/>
                  <a:t>.</a:t>
                </a:r>
              </a:p>
            </p:txBody>
          </p:sp>
        </mc:Choice>
        <mc:Fallback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5FBD6EE5-E1C3-1964-0E75-E29E37C9F0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15522"/>
                <a:ext cx="6553200" cy="4772016"/>
              </a:xfrm>
              <a:prstGeom prst="rect">
                <a:avLst/>
              </a:prstGeom>
              <a:blipFill>
                <a:blip r:embed="rId3"/>
                <a:stretch>
                  <a:fillRect l="-1547" t="-1596" b="-13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811CA33-A508-F05E-0DB6-64BE0927102F}"/>
                  </a:ext>
                </a:extLst>
              </p:cNvPr>
              <p:cNvSpPr txBox="1"/>
              <p:nvPr/>
            </p:nvSpPr>
            <p:spPr>
              <a:xfrm>
                <a:off x="7040308" y="1301504"/>
                <a:ext cx="4572000" cy="24660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There are two learnable parameters to avoid any adverse effect due to this normalization operation.</a:t>
                </a:r>
              </a:p>
              <a:p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Scale parameter</a:t>
                </a:r>
              </a:p>
              <a:p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AU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000" dirty="0"/>
                  <a:t>Offset parameter</a:t>
                </a:r>
              </a:p>
              <a:p>
                <a:endParaRPr lang="en-AU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acc>
                        <m:accPr>
                          <m:chr m:val="̂"/>
                          <m:ctrlPr>
                            <a:rPr lang="en-AU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AU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AU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𝛾</m:t>
                      </m:r>
                      <m:f>
                        <m:fPr>
                          <m:ctrlPr>
                            <a:rPr lang="en-AU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2000" i="1"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en-AU" sz="2000" i="1"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AU" sz="20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811CA33-A508-F05E-0DB6-64BE092710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0308" y="1301504"/>
                <a:ext cx="4572000" cy="2466060"/>
              </a:xfrm>
              <a:prstGeom prst="rect">
                <a:avLst/>
              </a:prstGeom>
              <a:blipFill>
                <a:blip r:embed="rId4"/>
                <a:stretch>
                  <a:fillRect l="-1385" t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4128FCB9-5FFA-6F32-A25F-04BEBBF5AC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1400" y="3986905"/>
            <a:ext cx="1697514" cy="236041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4986ED3-2F35-9AE1-8536-7A14522BCA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3900" y="4026814"/>
            <a:ext cx="1739900" cy="241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0085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78075-ECD6-3321-E04F-2CE7A99E0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6475"/>
          </a:xfrm>
        </p:spPr>
        <p:txBody>
          <a:bodyPr/>
          <a:lstStyle/>
          <a:p>
            <a:r>
              <a:rPr lang="en-AU" b="1" dirty="0"/>
              <a:t>CNN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7989C3-5488-212D-DA88-399DC7D9F7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1026" y="1461021"/>
            <a:ext cx="8109948" cy="5031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2489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597FF-6048-FA7F-1E27-E70DAA615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5624D-A5CA-E6FE-3307-9ABE0E2F2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44" y="454025"/>
            <a:ext cx="4112356" cy="993775"/>
          </a:xfrm>
        </p:spPr>
        <p:txBody>
          <a:bodyPr/>
          <a:lstStyle/>
          <a:p>
            <a:r>
              <a:rPr lang="en-AU" b="1" dirty="0"/>
              <a:t>CNN Architecture</a:t>
            </a:r>
            <a:endParaRPr lang="en-US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A37997-8E57-1305-89E6-005B79728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44" y="1447800"/>
            <a:ext cx="10967911" cy="466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076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02DF3-63A7-6313-93FB-8C836237E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Kernels and Filters in Conv Layer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41393A-B331-E91F-AA5F-36EC2137F9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54254" y="1744476"/>
            <a:ext cx="10383111" cy="4972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981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2F587-7EA2-14C5-702F-122DF514E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96779-361C-1DA4-5CD2-64B2C283B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Kernels and Filters in Conv Layer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D1F0F10-D08B-9EBB-E18B-AD4985209D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81228" y="1715993"/>
            <a:ext cx="11229543" cy="4844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2859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28C1A66-B8A3-FDF4-B4E9-151034AD6C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141" y="444780"/>
            <a:ext cx="11897717" cy="5995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6410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6E604-F538-675B-C1F5-6717F0D3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Readings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8A7CC-0FE2-2F60-54BB-EFF5EEA7B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257675"/>
          </a:xfrm>
        </p:spPr>
        <p:txBody>
          <a:bodyPr/>
          <a:lstStyle/>
          <a:p>
            <a:r>
              <a:rPr lang="en-AU" dirty="0"/>
              <a:t>Deep Learning for Vision Systems, MOHAMED ELGENDY</a:t>
            </a:r>
          </a:p>
          <a:p>
            <a:pPr lvl="1"/>
            <a:r>
              <a:rPr lang="en-US" dirty="0"/>
              <a:t>Chapter 3: up to 3.5 (must </a:t>
            </a:r>
            <a:r>
              <a:rPr lang="en-US"/>
              <a:t>read all)</a:t>
            </a:r>
            <a:endParaRPr lang="en-US" dirty="0"/>
          </a:p>
          <a:p>
            <a:r>
              <a:rPr lang="en-US" dirty="0"/>
              <a:t>Notebooks:</a:t>
            </a:r>
          </a:p>
          <a:p>
            <a:pPr lvl="1"/>
            <a:r>
              <a:rPr lang="en-US" dirty="0">
                <a:hlinkClick r:id="rId2"/>
              </a:rPr>
              <a:t>https://www.kaggle.com/code/zahidbd/lecture14-cnn-basic-nb1/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0756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40730</TotalTime>
  <Words>775</Words>
  <Application>Microsoft Macintosh PowerPoint</Application>
  <PresentationFormat>Widescreen</PresentationFormat>
  <Paragraphs>107</Paragraphs>
  <Slides>22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Cambria Math</vt:lpstr>
      <vt:lpstr>Google Sans Text</vt:lpstr>
      <vt:lpstr>Office Theme</vt:lpstr>
      <vt:lpstr>COMPUTER VISION</vt:lpstr>
      <vt:lpstr>2D Convolution</vt:lpstr>
      <vt:lpstr>3D Convolution</vt:lpstr>
      <vt:lpstr>Before</vt:lpstr>
      <vt:lpstr>Now CNN</vt:lpstr>
      <vt:lpstr>Types of layers in CNN</vt:lpstr>
      <vt:lpstr>Fully connected layer</vt:lpstr>
      <vt:lpstr>Activation layer</vt:lpstr>
      <vt:lpstr>Convolutional layer: INPUT</vt:lpstr>
      <vt:lpstr>Convolutional layer: KERNEL </vt:lpstr>
      <vt:lpstr>Convolutional layer: KERNEL</vt:lpstr>
      <vt:lpstr>Pooling Layer</vt:lpstr>
      <vt:lpstr>Pooling Layer</vt:lpstr>
      <vt:lpstr>Pooling Layer</vt:lpstr>
      <vt:lpstr>Batch Normalization Layer</vt:lpstr>
      <vt:lpstr>Batch Normalization Layer</vt:lpstr>
      <vt:lpstr>CNN Architecture</vt:lpstr>
      <vt:lpstr>CNN Architecture</vt:lpstr>
      <vt:lpstr>Kernels and Filters in Conv Layer</vt:lpstr>
      <vt:lpstr>Kernels and Filters in Conv Layer</vt:lpstr>
      <vt:lpstr>PowerPoint Presentation</vt:lpstr>
      <vt:lpstr>Readings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 Zahidul Islam</dc:creator>
  <cp:lastModifiedBy>Md Zahidul Islam</cp:lastModifiedBy>
  <cp:revision>1206</cp:revision>
  <dcterms:created xsi:type="dcterms:W3CDTF">2026-08-04T00:11:14Z</dcterms:created>
  <dcterms:modified xsi:type="dcterms:W3CDTF">2026-09-24T07:32:27Z</dcterms:modified>
</cp:coreProperties>
</file>