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6" r:id="rId1"/>
  </p:sldMasterIdLst>
  <p:notesMasterIdLst>
    <p:notesMasterId r:id="rId32"/>
  </p:notesMasterIdLst>
  <p:sldIdLst>
    <p:sldId id="256" r:id="rId2"/>
    <p:sldId id="286" r:id="rId3"/>
    <p:sldId id="267" r:id="rId4"/>
    <p:sldId id="298" r:id="rId5"/>
    <p:sldId id="289" r:id="rId6"/>
    <p:sldId id="290" r:id="rId7"/>
    <p:sldId id="287" r:id="rId8"/>
    <p:sldId id="300" r:id="rId9"/>
    <p:sldId id="301" r:id="rId10"/>
    <p:sldId id="302" r:id="rId11"/>
    <p:sldId id="303" r:id="rId12"/>
    <p:sldId id="305" r:id="rId13"/>
    <p:sldId id="306" r:id="rId14"/>
    <p:sldId id="307" r:id="rId15"/>
    <p:sldId id="308" r:id="rId16"/>
    <p:sldId id="309" r:id="rId17"/>
    <p:sldId id="310" r:id="rId18"/>
    <p:sldId id="311" r:id="rId19"/>
    <p:sldId id="312" r:id="rId20"/>
    <p:sldId id="313" r:id="rId21"/>
    <p:sldId id="291" r:id="rId22"/>
    <p:sldId id="292" r:id="rId23"/>
    <p:sldId id="293" r:id="rId24"/>
    <p:sldId id="294" r:id="rId25"/>
    <p:sldId id="295" r:id="rId26"/>
    <p:sldId id="296" r:id="rId27"/>
    <p:sldId id="297" r:id="rId28"/>
    <p:sldId id="270" r:id="rId29"/>
    <p:sldId id="299" r:id="rId30"/>
    <p:sldId id="288"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357"/>
    <p:restoredTop sz="82993"/>
  </p:normalViewPr>
  <p:slideViewPr>
    <p:cSldViewPr snapToGrid="0">
      <p:cViewPr varScale="1">
        <p:scale>
          <a:sx n="101" d="100"/>
          <a:sy n="101" d="100"/>
        </p:scale>
        <p:origin x="1176" y="184"/>
      </p:cViewPr>
      <p:guideLst/>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F69E75-2F2A-4340-80BD-3C270EF90E93}" type="datetimeFigureOut">
              <a:rPr lang="en-US" smtClean="0"/>
              <a:t>9/23/26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A5E430-97AE-C04C-BB4B-47DC21A043A5}" type="slidenum">
              <a:rPr lang="en-US" smtClean="0"/>
              <a:t>‹#›</a:t>
            </a:fld>
            <a:endParaRPr lang="en-US"/>
          </a:p>
        </p:txBody>
      </p:sp>
    </p:spTree>
    <p:extLst>
      <p:ext uri="{BB962C8B-B14F-4D97-AF65-F5344CB8AC3E}">
        <p14:creationId xmlns:p14="http://schemas.microsoft.com/office/powerpoint/2010/main" val="10912976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A5E430-97AE-C04C-BB4B-47DC21A043A5}" type="slidenum">
              <a:rPr lang="en-US" smtClean="0"/>
              <a:t>1</a:t>
            </a:fld>
            <a:endParaRPr lang="en-US"/>
          </a:p>
        </p:txBody>
      </p:sp>
    </p:spTree>
    <p:extLst>
      <p:ext uri="{BB962C8B-B14F-4D97-AF65-F5344CB8AC3E}">
        <p14:creationId xmlns:p14="http://schemas.microsoft.com/office/powerpoint/2010/main" val="28223912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A5E430-97AE-C04C-BB4B-47DC21A043A5}" type="slidenum">
              <a:rPr lang="en-US" smtClean="0"/>
              <a:t>17</a:t>
            </a:fld>
            <a:endParaRPr lang="en-US"/>
          </a:p>
        </p:txBody>
      </p:sp>
    </p:spTree>
    <p:extLst>
      <p:ext uri="{BB962C8B-B14F-4D97-AF65-F5344CB8AC3E}">
        <p14:creationId xmlns:p14="http://schemas.microsoft.com/office/powerpoint/2010/main" val="23794825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lvl="0" indent="-228600">
              <a:buFont typeface="Arial" panose="020B0604020202020204" pitchFamily="34" charset="0"/>
              <a:buChar char="•"/>
            </a:pPr>
            <a:r>
              <a:rPr lang="en-AU" dirty="0"/>
              <a:t>It is recommended that you use </a:t>
            </a:r>
            <a:r>
              <a:rPr lang="en-AU" dirty="0" err="1"/>
              <a:t>ReLU</a:t>
            </a:r>
            <a:r>
              <a:rPr lang="en-AU" dirty="0"/>
              <a:t> activation in the hidden layers and </a:t>
            </a:r>
            <a:r>
              <a:rPr lang="en-AU" dirty="0" err="1"/>
              <a:t>Softmax</a:t>
            </a:r>
            <a:r>
              <a:rPr lang="en-AU" dirty="0"/>
              <a:t> for the output layer (you will see how this is implemented in most projects in this book).</a:t>
            </a: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dirty="0"/>
              <a:t>A good default for batch size might be 32. Also try 64, 128, 256, and so on.</a:t>
            </a: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dirty="0"/>
              <a:t>Increase the number of epochs until the validation accuracy starts decreasing even when training accuracy is increasing (overfitting).</a:t>
            </a:r>
          </a:p>
          <a:p>
            <a:pPr marL="228600" lvl="0" indent="-22860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21A5E430-97AE-C04C-BB4B-47DC21A043A5}" type="slidenum">
              <a:rPr lang="en-US" smtClean="0"/>
              <a:t>29</a:t>
            </a:fld>
            <a:endParaRPr lang="en-US"/>
          </a:p>
        </p:txBody>
      </p:sp>
    </p:spTree>
    <p:extLst>
      <p:ext uri="{BB962C8B-B14F-4D97-AF65-F5344CB8AC3E}">
        <p14:creationId xmlns:p14="http://schemas.microsoft.com/office/powerpoint/2010/main" val="20128825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10ABA-4290-90CD-CC55-F20491E4001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67F24B89-364B-EE61-91C7-B9F06B42CD1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FEBF63DC-9861-DCAD-6ABF-69C738D52412}"/>
              </a:ext>
            </a:extLst>
          </p:cNvPr>
          <p:cNvSpPr>
            <a:spLocks noGrp="1"/>
          </p:cNvSpPr>
          <p:nvPr>
            <p:ph type="dt" sz="half" idx="10"/>
          </p:nvPr>
        </p:nvSpPr>
        <p:spPr/>
        <p:txBody>
          <a:bodyPr/>
          <a:lstStyle/>
          <a:p>
            <a:fld id="{B61BEF0D-F0BB-DE4B-95CE-6DB70DBA9567}" type="datetimeFigureOut">
              <a:rPr lang="en-US" smtClean="0"/>
              <a:pPr/>
              <a:t>9/23/26</a:t>
            </a:fld>
            <a:endParaRPr lang="en-US" dirty="0"/>
          </a:p>
        </p:txBody>
      </p:sp>
      <p:sp>
        <p:nvSpPr>
          <p:cNvPr id="5" name="Footer Placeholder 4">
            <a:extLst>
              <a:ext uri="{FF2B5EF4-FFF2-40B4-BE49-F238E27FC236}">
                <a16:creationId xmlns:a16="http://schemas.microsoft.com/office/drawing/2014/main" id="{12614E29-F2F6-0C59-6484-F3A7E29D6B6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7BCAEEB-1E1D-36B5-14CA-0489A1229892}"/>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235207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AF66E-2238-2945-30ED-0D5D903A9A7D}"/>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E216DA5-3118-31B7-4826-91DCF97495C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6A64AF0-DB24-1918-D680-D607CC937796}"/>
              </a:ext>
            </a:extLst>
          </p:cNvPr>
          <p:cNvSpPr>
            <a:spLocks noGrp="1"/>
          </p:cNvSpPr>
          <p:nvPr>
            <p:ph type="dt" sz="half" idx="10"/>
          </p:nvPr>
        </p:nvSpPr>
        <p:spPr/>
        <p:txBody>
          <a:bodyPr/>
          <a:lstStyle/>
          <a:p>
            <a:fld id="{B61BEF0D-F0BB-DE4B-95CE-6DB70DBA9567}" type="datetimeFigureOut">
              <a:rPr lang="en-US" smtClean="0"/>
              <a:pPr/>
              <a:t>9/23/26</a:t>
            </a:fld>
            <a:endParaRPr lang="en-US" dirty="0"/>
          </a:p>
        </p:txBody>
      </p:sp>
      <p:sp>
        <p:nvSpPr>
          <p:cNvPr id="5" name="Footer Placeholder 4">
            <a:extLst>
              <a:ext uri="{FF2B5EF4-FFF2-40B4-BE49-F238E27FC236}">
                <a16:creationId xmlns:a16="http://schemas.microsoft.com/office/drawing/2014/main" id="{0268A90F-2980-A2E6-466C-5402C1FC4D9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7868EC3-A8B5-7BBB-739B-70BA6D09F966}"/>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378526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7C189-E67A-DEEB-8B84-7C335EFE0C4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24ED7FA-A772-AA86-E957-C377B21763E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8FC76E92-A603-E836-46A2-21459F70329C}"/>
              </a:ext>
            </a:extLst>
          </p:cNvPr>
          <p:cNvSpPr>
            <a:spLocks noGrp="1"/>
          </p:cNvSpPr>
          <p:nvPr>
            <p:ph type="dt" sz="half" idx="10"/>
          </p:nvPr>
        </p:nvSpPr>
        <p:spPr/>
        <p:txBody>
          <a:bodyPr/>
          <a:lstStyle/>
          <a:p>
            <a:fld id="{B61BEF0D-F0BB-DE4B-95CE-6DB70DBA9567}" type="datetimeFigureOut">
              <a:rPr lang="en-US" smtClean="0"/>
              <a:pPr/>
              <a:t>9/23/26</a:t>
            </a:fld>
            <a:endParaRPr lang="en-US" dirty="0"/>
          </a:p>
        </p:txBody>
      </p:sp>
      <p:sp>
        <p:nvSpPr>
          <p:cNvPr id="5" name="Footer Placeholder 4">
            <a:extLst>
              <a:ext uri="{FF2B5EF4-FFF2-40B4-BE49-F238E27FC236}">
                <a16:creationId xmlns:a16="http://schemas.microsoft.com/office/drawing/2014/main" id="{D2E73A2D-7527-2749-6AC2-791551C544E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E2646D8-F5E0-55C9-DFA9-AE038A78394F}"/>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24231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4EC26-3DD7-E942-7FD3-AD4642215FD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C8AE2B3-6415-0C9F-2B63-AAD8FE7CB5D6}"/>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DD4849E-962A-A5CF-1EFF-A5D9F6D2D63C}"/>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98A4F206-C4C3-7740-140B-91013CDDE4E5}"/>
              </a:ext>
            </a:extLst>
          </p:cNvPr>
          <p:cNvSpPr>
            <a:spLocks noGrp="1"/>
          </p:cNvSpPr>
          <p:nvPr>
            <p:ph type="dt" sz="half" idx="10"/>
          </p:nvPr>
        </p:nvSpPr>
        <p:spPr/>
        <p:txBody>
          <a:bodyPr/>
          <a:lstStyle/>
          <a:p>
            <a:fld id="{B61BEF0D-F0BB-DE4B-95CE-6DB70DBA9567}" type="datetimeFigureOut">
              <a:rPr lang="en-US" smtClean="0"/>
              <a:pPr/>
              <a:t>9/23/26</a:t>
            </a:fld>
            <a:endParaRPr lang="en-US" dirty="0"/>
          </a:p>
        </p:txBody>
      </p:sp>
      <p:sp>
        <p:nvSpPr>
          <p:cNvPr id="6" name="Footer Placeholder 5">
            <a:extLst>
              <a:ext uri="{FF2B5EF4-FFF2-40B4-BE49-F238E27FC236}">
                <a16:creationId xmlns:a16="http://schemas.microsoft.com/office/drawing/2014/main" id="{AF950921-80EB-4B2D-95C6-1C999B36057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3CF45F9-5E9B-8C6E-6D1D-0A82EC8FE6F3}"/>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976941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95D9A-3AD0-657C-C3CB-A50C23979097}"/>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B9496E7-6FDA-8F23-1869-AFDF16E7DF5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3661602A-B874-4D33-8037-C166D9D32A80}"/>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06538C1A-755F-F467-FB5F-2740E9A8A6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29968491-33EA-3F5E-3142-9D822916CDBA}"/>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8E6F0A4D-B479-3C8E-68BA-F49180D7D4A7}"/>
              </a:ext>
            </a:extLst>
          </p:cNvPr>
          <p:cNvSpPr>
            <a:spLocks noGrp="1"/>
          </p:cNvSpPr>
          <p:nvPr>
            <p:ph type="dt" sz="half" idx="10"/>
          </p:nvPr>
        </p:nvSpPr>
        <p:spPr/>
        <p:txBody>
          <a:bodyPr/>
          <a:lstStyle/>
          <a:p>
            <a:fld id="{B61BEF0D-F0BB-DE4B-95CE-6DB70DBA9567}" type="datetimeFigureOut">
              <a:rPr lang="en-US" smtClean="0"/>
              <a:pPr/>
              <a:t>9/23/26</a:t>
            </a:fld>
            <a:endParaRPr lang="en-US" dirty="0"/>
          </a:p>
        </p:txBody>
      </p:sp>
      <p:sp>
        <p:nvSpPr>
          <p:cNvPr id="8" name="Footer Placeholder 7">
            <a:extLst>
              <a:ext uri="{FF2B5EF4-FFF2-40B4-BE49-F238E27FC236}">
                <a16:creationId xmlns:a16="http://schemas.microsoft.com/office/drawing/2014/main" id="{EFEA6669-6B95-0CBE-1D95-890C54EE827C}"/>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F44083EE-4D9B-D81A-FD71-5D6A16DDF182}"/>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607729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E6E9B-AD06-B997-1AE7-3073AFFCB840}"/>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17726203-6C54-59B6-ADFE-EA8A4741EDA9}"/>
              </a:ext>
            </a:extLst>
          </p:cNvPr>
          <p:cNvSpPr>
            <a:spLocks noGrp="1"/>
          </p:cNvSpPr>
          <p:nvPr>
            <p:ph type="dt" sz="half" idx="10"/>
          </p:nvPr>
        </p:nvSpPr>
        <p:spPr/>
        <p:txBody>
          <a:bodyPr/>
          <a:lstStyle/>
          <a:p>
            <a:fld id="{B61BEF0D-F0BB-DE4B-95CE-6DB70DBA9567}" type="datetimeFigureOut">
              <a:rPr lang="en-US" smtClean="0"/>
              <a:pPr/>
              <a:t>9/23/26</a:t>
            </a:fld>
            <a:endParaRPr lang="en-US" dirty="0"/>
          </a:p>
        </p:txBody>
      </p:sp>
      <p:sp>
        <p:nvSpPr>
          <p:cNvPr id="4" name="Footer Placeholder 3">
            <a:extLst>
              <a:ext uri="{FF2B5EF4-FFF2-40B4-BE49-F238E27FC236}">
                <a16:creationId xmlns:a16="http://schemas.microsoft.com/office/drawing/2014/main" id="{B0FE622D-800D-BD21-04BE-E0E9D2C3969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3B3FC2C-3FA0-9A58-0F7D-02622CA35CF8}"/>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603674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5F2467D-6BE5-9E50-E767-5B64065B9B61}"/>
              </a:ext>
            </a:extLst>
          </p:cNvPr>
          <p:cNvSpPr>
            <a:spLocks noGrp="1"/>
          </p:cNvSpPr>
          <p:nvPr>
            <p:ph type="dt" sz="half" idx="10"/>
          </p:nvPr>
        </p:nvSpPr>
        <p:spPr/>
        <p:txBody>
          <a:bodyPr/>
          <a:lstStyle/>
          <a:p>
            <a:fld id="{B61BEF0D-F0BB-DE4B-95CE-6DB70DBA9567}" type="datetimeFigureOut">
              <a:rPr lang="en-US" smtClean="0"/>
              <a:pPr/>
              <a:t>9/23/26</a:t>
            </a:fld>
            <a:endParaRPr lang="en-US" dirty="0"/>
          </a:p>
        </p:txBody>
      </p:sp>
      <p:sp>
        <p:nvSpPr>
          <p:cNvPr id="3" name="Footer Placeholder 2">
            <a:extLst>
              <a:ext uri="{FF2B5EF4-FFF2-40B4-BE49-F238E27FC236}">
                <a16:creationId xmlns:a16="http://schemas.microsoft.com/office/drawing/2014/main" id="{2D5DD547-4603-D852-B1B3-A5C380C6748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ABA6508D-341E-E5BD-C22D-E2BF3A6A6B64}"/>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38792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61ED0-75A3-6E0F-3006-4E70B9C79DC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61213C3-01A6-E614-D555-D3BC4C59D2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4C1C72D1-C96F-3382-A48C-F0612B2997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DC90C82-959E-DF3F-38A5-159F3E4EE801}"/>
              </a:ext>
            </a:extLst>
          </p:cNvPr>
          <p:cNvSpPr>
            <a:spLocks noGrp="1"/>
          </p:cNvSpPr>
          <p:nvPr>
            <p:ph type="dt" sz="half" idx="10"/>
          </p:nvPr>
        </p:nvSpPr>
        <p:spPr/>
        <p:txBody>
          <a:bodyPr/>
          <a:lstStyle/>
          <a:p>
            <a:fld id="{B61BEF0D-F0BB-DE4B-95CE-6DB70DBA9567}" type="datetimeFigureOut">
              <a:rPr lang="en-US" smtClean="0"/>
              <a:pPr/>
              <a:t>9/23/26</a:t>
            </a:fld>
            <a:endParaRPr lang="en-US" dirty="0"/>
          </a:p>
        </p:txBody>
      </p:sp>
      <p:sp>
        <p:nvSpPr>
          <p:cNvPr id="6" name="Footer Placeholder 5">
            <a:extLst>
              <a:ext uri="{FF2B5EF4-FFF2-40B4-BE49-F238E27FC236}">
                <a16:creationId xmlns:a16="http://schemas.microsoft.com/office/drawing/2014/main" id="{57569977-4322-D261-2170-1A0B6CD763D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3E4B5F3-686B-5E91-86E8-81B85A12262C}"/>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063041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30422-F15A-4C2C-3C8A-BB5AFE652DB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B63BD814-F5EA-2E89-F8F7-F916825568F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5345475-4926-2118-0A8D-7E5E64E202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1CE74AE-202B-63F1-CC92-B6A0B149A619}"/>
              </a:ext>
            </a:extLst>
          </p:cNvPr>
          <p:cNvSpPr>
            <a:spLocks noGrp="1"/>
          </p:cNvSpPr>
          <p:nvPr>
            <p:ph type="dt" sz="half" idx="10"/>
          </p:nvPr>
        </p:nvSpPr>
        <p:spPr/>
        <p:txBody>
          <a:bodyPr/>
          <a:lstStyle/>
          <a:p>
            <a:fld id="{B61BEF0D-F0BB-DE4B-95CE-6DB70DBA9567}" type="datetimeFigureOut">
              <a:rPr lang="en-US" smtClean="0"/>
              <a:pPr/>
              <a:t>9/23/26</a:t>
            </a:fld>
            <a:endParaRPr lang="en-US" dirty="0"/>
          </a:p>
        </p:txBody>
      </p:sp>
      <p:sp>
        <p:nvSpPr>
          <p:cNvPr id="6" name="Footer Placeholder 5">
            <a:extLst>
              <a:ext uri="{FF2B5EF4-FFF2-40B4-BE49-F238E27FC236}">
                <a16:creationId xmlns:a16="http://schemas.microsoft.com/office/drawing/2014/main" id="{D0385DEF-4986-D816-B5EC-52508C7475E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C0C0EB8-9FF8-3665-DFC3-2A23C436C1B0}"/>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425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4349C-55F4-8DD2-B5B3-F25C3269E19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7961ACD-3ECA-19BE-9063-F5AAB3BE8017}"/>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7746CB2-8338-345D-B066-B1D7BFD27E92}"/>
              </a:ext>
            </a:extLst>
          </p:cNvPr>
          <p:cNvSpPr>
            <a:spLocks noGrp="1"/>
          </p:cNvSpPr>
          <p:nvPr>
            <p:ph type="dt" sz="half" idx="10"/>
          </p:nvPr>
        </p:nvSpPr>
        <p:spPr/>
        <p:txBody>
          <a:bodyPr/>
          <a:lstStyle/>
          <a:p>
            <a:fld id="{B61BEF0D-F0BB-DE4B-95CE-6DB70DBA9567}" type="datetimeFigureOut">
              <a:rPr lang="en-US" smtClean="0"/>
              <a:pPr/>
              <a:t>9/23/26</a:t>
            </a:fld>
            <a:endParaRPr lang="en-US" dirty="0"/>
          </a:p>
        </p:txBody>
      </p:sp>
      <p:sp>
        <p:nvSpPr>
          <p:cNvPr id="5" name="Footer Placeholder 4">
            <a:extLst>
              <a:ext uri="{FF2B5EF4-FFF2-40B4-BE49-F238E27FC236}">
                <a16:creationId xmlns:a16="http://schemas.microsoft.com/office/drawing/2014/main" id="{68CEA996-1CE2-090B-003F-5B7EB520599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51D362C-DC52-130E-3EDD-CFC6E2487556}"/>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05683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1A7662E-7958-3ADE-A998-F33C75EF65AB}"/>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3826EE86-C6DB-34C8-839F-4C05EA0D8B2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8AB12CF-5E36-6937-CC03-FD4DAFCCF839}"/>
              </a:ext>
            </a:extLst>
          </p:cNvPr>
          <p:cNvSpPr>
            <a:spLocks noGrp="1"/>
          </p:cNvSpPr>
          <p:nvPr>
            <p:ph type="dt" sz="half" idx="10"/>
          </p:nvPr>
        </p:nvSpPr>
        <p:spPr/>
        <p:txBody>
          <a:bodyPr/>
          <a:lstStyle/>
          <a:p>
            <a:fld id="{B61BEF0D-F0BB-DE4B-95CE-6DB70DBA9567}" type="datetimeFigureOut">
              <a:rPr lang="en-US" smtClean="0"/>
              <a:pPr/>
              <a:t>9/23/26</a:t>
            </a:fld>
            <a:endParaRPr lang="en-US" dirty="0"/>
          </a:p>
        </p:txBody>
      </p:sp>
      <p:sp>
        <p:nvSpPr>
          <p:cNvPr id="5" name="Footer Placeholder 4">
            <a:extLst>
              <a:ext uri="{FF2B5EF4-FFF2-40B4-BE49-F238E27FC236}">
                <a16:creationId xmlns:a16="http://schemas.microsoft.com/office/drawing/2014/main" id="{B3A791FE-5CDC-76E7-1D6A-CFFC7D50249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B481ADC-D743-398A-851E-E742E36C1CD7}"/>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517831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532BC51-9F87-6890-45C0-643E6F552DB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1F1906F5-F306-E89C-5151-AA5BF69AA1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1A6B21F-4F09-4E1F-433A-CF40F62B9DE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9/23/26</a:t>
            </a:fld>
            <a:endParaRPr lang="en-US" dirty="0"/>
          </a:p>
        </p:txBody>
      </p:sp>
      <p:sp>
        <p:nvSpPr>
          <p:cNvPr id="5" name="Footer Placeholder 4">
            <a:extLst>
              <a:ext uri="{FF2B5EF4-FFF2-40B4-BE49-F238E27FC236}">
                <a16:creationId xmlns:a16="http://schemas.microsoft.com/office/drawing/2014/main" id="{392909DE-CA0F-77A5-6135-84F8389D9BC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22256ADA-A62D-616A-836C-0D9BA5F7E55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23103942"/>
      </p:ext>
    </p:extLst>
  </p:cSld>
  <p:clrMap bg1="lt1" tx1="dk1" bg2="lt2" tx2="dk2" accent1="accent1" accent2="accent2" accent3="accent3" accent4="accent4" accent5="accent5" accent6="accent6" hlink="hlink" folHlink="folHlink"/>
  <p:sldLayoutIdLst>
    <p:sldLayoutId id="2147483847" r:id="rId1"/>
    <p:sldLayoutId id="2147483848" r:id="rId2"/>
    <p:sldLayoutId id="2147483849" r:id="rId3"/>
    <p:sldLayoutId id="2147483850" r:id="rId4"/>
    <p:sldLayoutId id="2147483851" r:id="rId5"/>
    <p:sldLayoutId id="2147483852" r:id="rId6"/>
    <p:sldLayoutId id="2147483853" r:id="rId7"/>
    <p:sldLayoutId id="2147483854" r:id="rId8"/>
    <p:sldLayoutId id="2147483855" r:id="rId9"/>
    <p:sldLayoutId id="2147483856" r:id="rId10"/>
    <p:sldLayoutId id="214748385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www.kaggle.com/code/zahidbd/lecture13-classification-nn-nb2/"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www.kaggle.com/code/zahidbd/lecture13-nn-basic-nb1" TargetMode="External"/><Relationship Id="rId2" Type="http://schemas.openxmlformats.org/officeDocument/2006/relationships/hyperlink" Target="https://cvl-umass.github.io/compsci682-fall-2024/notes/neural-networks-1/" TargetMode="External"/><Relationship Id="rId1" Type="http://schemas.openxmlformats.org/officeDocument/2006/relationships/slideLayout" Target="../slideLayouts/slideLayout2.xml"/><Relationship Id="rId4" Type="http://schemas.openxmlformats.org/officeDocument/2006/relationships/hyperlink" Target="https://www.kaggle.com/code/zahidbd/lecture13-classification-nn-nb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89241-48AD-583C-9840-CDD40301C01C}"/>
              </a:ext>
            </a:extLst>
          </p:cNvPr>
          <p:cNvSpPr>
            <a:spLocks noGrp="1"/>
          </p:cNvSpPr>
          <p:nvPr>
            <p:ph type="ctrTitle"/>
          </p:nvPr>
        </p:nvSpPr>
        <p:spPr/>
        <p:txBody>
          <a:bodyPr/>
          <a:lstStyle/>
          <a:p>
            <a:r>
              <a:rPr lang="en-US" b="1" dirty="0"/>
              <a:t>COMPUTER VISION</a:t>
            </a:r>
          </a:p>
        </p:txBody>
      </p:sp>
      <p:sp>
        <p:nvSpPr>
          <p:cNvPr id="3" name="Subtitle 2">
            <a:extLst>
              <a:ext uri="{FF2B5EF4-FFF2-40B4-BE49-F238E27FC236}">
                <a16:creationId xmlns:a16="http://schemas.microsoft.com/office/drawing/2014/main" id="{B1F2094C-5F63-31E5-6117-5B63798264D5}"/>
              </a:ext>
            </a:extLst>
          </p:cNvPr>
          <p:cNvSpPr>
            <a:spLocks noGrp="1"/>
          </p:cNvSpPr>
          <p:nvPr>
            <p:ph type="subTitle" idx="1"/>
          </p:nvPr>
        </p:nvSpPr>
        <p:spPr/>
        <p:txBody>
          <a:bodyPr/>
          <a:lstStyle/>
          <a:p>
            <a:r>
              <a:rPr lang="en-US" b="1" dirty="0"/>
              <a:t>Week 9</a:t>
            </a:r>
          </a:p>
          <a:p>
            <a:r>
              <a:rPr lang="en-US" dirty="0"/>
              <a:t>Lecture </a:t>
            </a:r>
            <a:r>
              <a:rPr lang="en-US"/>
              <a:t>13 (</a:t>
            </a:r>
            <a:r>
              <a:rPr lang="en-US" b="1"/>
              <a:t>22/09/2026</a:t>
            </a:r>
            <a:r>
              <a:rPr lang="en-US" dirty="0"/>
              <a:t>)</a:t>
            </a:r>
          </a:p>
          <a:p>
            <a:r>
              <a:rPr lang="en-US" dirty="0"/>
              <a:t>0714 02 CSE 4239</a:t>
            </a:r>
          </a:p>
        </p:txBody>
      </p:sp>
    </p:spTree>
    <p:extLst>
      <p:ext uri="{BB962C8B-B14F-4D97-AF65-F5344CB8AC3E}">
        <p14:creationId xmlns:p14="http://schemas.microsoft.com/office/powerpoint/2010/main" val="30604754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ED721-AA8F-CDBF-C5AE-E94AD9CE1F47}"/>
              </a:ext>
            </a:extLst>
          </p:cNvPr>
          <p:cNvSpPr>
            <a:spLocks noGrp="1"/>
          </p:cNvSpPr>
          <p:nvPr>
            <p:ph type="title"/>
          </p:nvPr>
        </p:nvSpPr>
        <p:spPr/>
        <p:txBody>
          <a:bodyPr/>
          <a:lstStyle/>
          <a:p>
            <a:r>
              <a:rPr lang="en-AU" b="1" dirty="0"/>
              <a:t>Traditional recognition approach</a:t>
            </a:r>
            <a:endParaRPr lang="en-US" b="1" dirty="0"/>
          </a:p>
        </p:txBody>
      </p:sp>
      <p:pic>
        <p:nvPicPr>
          <p:cNvPr id="5" name="Content Placeholder 4">
            <a:extLst>
              <a:ext uri="{FF2B5EF4-FFF2-40B4-BE49-F238E27FC236}">
                <a16:creationId xmlns:a16="http://schemas.microsoft.com/office/drawing/2014/main" id="{22375AFE-9E68-0C7B-5905-76504C19D196}"/>
              </a:ext>
            </a:extLst>
          </p:cNvPr>
          <p:cNvPicPr>
            <a:picLocks noGrp="1" noChangeAspect="1"/>
          </p:cNvPicPr>
          <p:nvPr>
            <p:ph idx="1"/>
          </p:nvPr>
        </p:nvPicPr>
        <p:blipFill>
          <a:blip r:embed="rId2"/>
          <a:stretch>
            <a:fillRect/>
          </a:stretch>
        </p:blipFill>
        <p:spPr>
          <a:xfrm>
            <a:off x="1353527" y="2495550"/>
            <a:ext cx="8851900" cy="1866900"/>
          </a:xfrm>
          <a:prstGeom prst="rect">
            <a:avLst/>
          </a:prstGeom>
        </p:spPr>
      </p:pic>
    </p:spTree>
    <p:extLst>
      <p:ext uri="{BB962C8B-B14F-4D97-AF65-F5344CB8AC3E}">
        <p14:creationId xmlns:p14="http://schemas.microsoft.com/office/powerpoint/2010/main" val="13453491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989D9-F619-EF75-76FC-44ED82820D18}"/>
              </a:ext>
            </a:extLst>
          </p:cNvPr>
          <p:cNvSpPr>
            <a:spLocks noGrp="1"/>
          </p:cNvSpPr>
          <p:nvPr>
            <p:ph type="title"/>
          </p:nvPr>
        </p:nvSpPr>
        <p:spPr/>
        <p:txBody>
          <a:bodyPr/>
          <a:lstStyle/>
          <a:p>
            <a:r>
              <a:rPr lang="en-US" b="1" dirty="0"/>
              <a:t>Introduction to Neural Network</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8C8E826-50CB-D667-46FC-E62A94A12DF6}"/>
                  </a:ext>
                </a:extLst>
              </p:cNvPr>
              <p:cNvSpPr>
                <a:spLocks noGrp="1"/>
              </p:cNvSpPr>
              <p:nvPr>
                <p:ph idx="1"/>
              </p:nvPr>
            </p:nvSpPr>
            <p:spPr>
              <a:xfrm>
                <a:off x="838200" y="1825625"/>
                <a:ext cx="10515600" cy="4667250"/>
              </a:xfrm>
            </p:spPr>
            <p:txBody>
              <a:bodyPr/>
              <a:lstStyle/>
              <a:p>
                <a:r>
                  <a:rPr lang="en-AU" dirty="0"/>
                  <a:t>The original linear classifier</a:t>
                </a:r>
              </a:p>
              <a:p>
                <a:pPr marL="0" indent="0" algn="ctr">
                  <a:buNone/>
                </a:pPr>
                <a14:m>
                  <m:oMath xmlns:m="http://schemas.openxmlformats.org/officeDocument/2006/math">
                    <m:r>
                      <a:rPr lang="en-AU" b="0" i="1" smtClean="0">
                        <a:latin typeface="Cambria Math" panose="02040503050406030204" pitchFamily="18" charset="0"/>
                      </a:rPr>
                      <m:t>𝑓</m:t>
                    </m:r>
                    <m:r>
                      <a:rPr lang="en-AU" b="0" i="1" smtClean="0">
                        <a:latin typeface="Cambria Math" panose="02040503050406030204" pitchFamily="18" charset="0"/>
                      </a:rPr>
                      <m:t>=</m:t>
                    </m:r>
                    <m:r>
                      <a:rPr lang="en-AU" b="0" i="1" smtClean="0">
                        <a:latin typeface="Cambria Math" panose="02040503050406030204" pitchFamily="18" charset="0"/>
                      </a:rPr>
                      <m:t>𝑊𝑥</m:t>
                    </m:r>
                  </m:oMath>
                </a14:m>
                <a:r>
                  <a:rPr lang="en-AU" dirty="0"/>
                  <a:t>, where </a:t>
                </a:r>
                <a14:m>
                  <m:oMath xmlns:m="http://schemas.openxmlformats.org/officeDocument/2006/math">
                    <m:r>
                      <a:rPr lang="en-AU" b="0" i="1" smtClean="0">
                        <a:latin typeface="Cambria Math" panose="02040503050406030204" pitchFamily="18" charset="0"/>
                      </a:rPr>
                      <m:t>𝑥</m:t>
                    </m:r>
                    <m:r>
                      <a:rPr lang="en-AU" b="0" i="1" smtClean="0">
                        <a:latin typeface="Cambria Math" panose="02040503050406030204" pitchFamily="18" charset="0"/>
                      </a:rPr>
                      <m:t>∈</m:t>
                    </m:r>
                    <m:sSup>
                      <m:sSupPr>
                        <m:ctrlPr>
                          <a:rPr lang="en-AU" b="0" i="1" smtClean="0">
                            <a:latin typeface="Cambria Math" panose="02040503050406030204" pitchFamily="18" charset="0"/>
                            <a:ea typeface="Cambria Math" panose="02040503050406030204" pitchFamily="18" charset="0"/>
                          </a:rPr>
                        </m:ctrlPr>
                      </m:sSupPr>
                      <m:e>
                        <m:r>
                          <a:rPr lang="en-AU" b="0" i="1" smtClean="0">
                            <a:latin typeface="Cambria Math" panose="02040503050406030204" pitchFamily="18" charset="0"/>
                            <a:ea typeface="Cambria Math" panose="02040503050406030204" pitchFamily="18" charset="0"/>
                          </a:rPr>
                          <m:t>ℝ</m:t>
                        </m:r>
                      </m:e>
                      <m:sup>
                        <m:r>
                          <a:rPr lang="en-AU" b="0" i="1" smtClean="0">
                            <a:latin typeface="Cambria Math" panose="02040503050406030204" pitchFamily="18" charset="0"/>
                            <a:ea typeface="Cambria Math" panose="02040503050406030204" pitchFamily="18" charset="0"/>
                          </a:rPr>
                          <m:t>𝐷</m:t>
                        </m:r>
                      </m:sup>
                    </m:sSup>
                    <m:r>
                      <a:rPr lang="en-AU" b="0" i="1" smtClean="0">
                        <a:latin typeface="Cambria Math" panose="02040503050406030204" pitchFamily="18" charset="0"/>
                        <a:ea typeface="Cambria Math" panose="02040503050406030204" pitchFamily="18" charset="0"/>
                      </a:rPr>
                      <m:t>,</m:t>
                    </m:r>
                    <m:r>
                      <a:rPr lang="en-AU" i="1">
                        <a:latin typeface="Cambria Math" panose="02040503050406030204" pitchFamily="18" charset="0"/>
                      </a:rPr>
                      <m:t>𝑊</m:t>
                    </m:r>
                    <m:r>
                      <a:rPr lang="en-AU" b="0" i="1" smtClean="0">
                        <a:latin typeface="Cambria Math" panose="02040503050406030204" pitchFamily="18" charset="0"/>
                      </a:rPr>
                      <m:t>∈</m:t>
                    </m:r>
                    <m:sSup>
                      <m:sSupPr>
                        <m:ctrlPr>
                          <a:rPr lang="en-AU" i="1">
                            <a:latin typeface="Cambria Math" panose="02040503050406030204" pitchFamily="18" charset="0"/>
                            <a:ea typeface="Cambria Math" panose="02040503050406030204" pitchFamily="18" charset="0"/>
                          </a:rPr>
                        </m:ctrlPr>
                      </m:sSupPr>
                      <m:e>
                        <m:r>
                          <a:rPr lang="en-AU" i="1">
                            <a:latin typeface="Cambria Math" panose="02040503050406030204" pitchFamily="18" charset="0"/>
                            <a:ea typeface="Cambria Math" panose="02040503050406030204" pitchFamily="18" charset="0"/>
                          </a:rPr>
                          <m:t>ℝ</m:t>
                        </m:r>
                      </m:e>
                      <m:sup>
                        <m:r>
                          <a:rPr lang="en-AU" b="0" i="1" smtClean="0">
                            <a:latin typeface="Cambria Math" panose="02040503050406030204" pitchFamily="18" charset="0"/>
                            <a:ea typeface="Cambria Math" panose="02040503050406030204" pitchFamily="18" charset="0"/>
                          </a:rPr>
                          <m:t>𝐶</m:t>
                        </m:r>
                        <m:r>
                          <a:rPr lang="en-AU" b="0" i="1" smtClean="0">
                            <a:latin typeface="Cambria Math" panose="02040503050406030204" pitchFamily="18" charset="0"/>
                            <a:ea typeface="Cambria Math" panose="02040503050406030204" pitchFamily="18" charset="0"/>
                          </a:rPr>
                          <m:t>×</m:t>
                        </m:r>
                        <m:r>
                          <a:rPr lang="en-AU" i="1">
                            <a:latin typeface="Cambria Math" panose="02040503050406030204" pitchFamily="18" charset="0"/>
                            <a:ea typeface="Cambria Math" panose="02040503050406030204" pitchFamily="18" charset="0"/>
                          </a:rPr>
                          <m:t>𝐷</m:t>
                        </m:r>
                      </m:sup>
                    </m:sSup>
                  </m:oMath>
                </a14:m>
                <a:endParaRPr lang="en-AU" dirty="0"/>
              </a:p>
              <a:p>
                <a:r>
                  <a:rPr lang="en-AU" dirty="0"/>
                  <a:t>2-layer Neural Network</a:t>
                </a:r>
              </a:p>
              <a:p>
                <a:pPr marL="0" indent="0" algn="ctr">
                  <a:buNone/>
                </a:pPr>
                <a14:m>
                  <m:oMath xmlns:m="http://schemas.openxmlformats.org/officeDocument/2006/math">
                    <m:r>
                      <a:rPr lang="en-AU" i="1">
                        <a:latin typeface="Cambria Math" panose="02040503050406030204" pitchFamily="18" charset="0"/>
                      </a:rPr>
                      <m:t>𝑓</m:t>
                    </m:r>
                    <m:r>
                      <a:rPr lang="en-AU" i="1">
                        <a:latin typeface="Cambria Math" panose="02040503050406030204" pitchFamily="18" charset="0"/>
                      </a:rPr>
                      <m:t>=</m:t>
                    </m:r>
                    <m:sSub>
                      <m:sSubPr>
                        <m:ctrlPr>
                          <a:rPr lang="en-AU" b="0" i="1" smtClean="0">
                            <a:latin typeface="Cambria Math" panose="02040503050406030204" pitchFamily="18" charset="0"/>
                          </a:rPr>
                        </m:ctrlPr>
                      </m:sSubPr>
                      <m:e>
                        <m:r>
                          <a:rPr lang="en-AU" b="0" i="1" smtClean="0">
                            <a:latin typeface="Cambria Math" panose="02040503050406030204" pitchFamily="18" charset="0"/>
                          </a:rPr>
                          <m:t>𝑊</m:t>
                        </m:r>
                      </m:e>
                      <m:sub>
                        <m:r>
                          <a:rPr lang="en-AU" b="0" i="1" smtClean="0">
                            <a:latin typeface="Cambria Math" panose="02040503050406030204" pitchFamily="18" charset="0"/>
                          </a:rPr>
                          <m:t>2</m:t>
                        </m:r>
                      </m:sub>
                    </m:sSub>
                    <m:r>
                      <m:rPr>
                        <m:sty m:val="p"/>
                      </m:rPr>
                      <a:rPr lang="en-AU" b="0" i="1" smtClean="0">
                        <a:latin typeface="Cambria Math" panose="02040503050406030204" pitchFamily="18" charset="0"/>
                      </a:rPr>
                      <m:t>max</m:t>
                    </m:r>
                    <m:r>
                      <a:rPr lang="en-AU" b="0" i="1" smtClean="0">
                        <a:latin typeface="Cambria Math" panose="02040503050406030204" pitchFamily="18" charset="0"/>
                      </a:rPr>
                      <m:t>(0,</m:t>
                    </m:r>
                    <m:sSub>
                      <m:sSubPr>
                        <m:ctrlPr>
                          <a:rPr lang="en-AU" b="0" i="1" smtClean="0">
                            <a:latin typeface="Cambria Math" panose="02040503050406030204" pitchFamily="18" charset="0"/>
                          </a:rPr>
                        </m:ctrlPr>
                      </m:sSubPr>
                      <m:e>
                        <m:r>
                          <a:rPr lang="en-AU" b="0" i="1" smtClean="0">
                            <a:latin typeface="Cambria Math" panose="02040503050406030204" pitchFamily="18" charset="0"/>
                          </a:rPr>
                          <m:t>𝑊</m:t>
                        </m:r>
                      </m:e>
                      <m:sub>
                        <m:r>
                          <a:rPr lang="en-AU" b="0" i="1" smtClean="0">
                            <a:latin typeface="Cambria Math" panose="02040503050406030204" pitchFamily="18" charset="0"/>
                          </a:rPr>
                          <m:t>1</m:t>
                        </m:r>
                      </m:sub>
                    </m:sSub>
                    <m:r>
                      <a:rPr lang="en-AU" b="0" i="1" smtClean="0">
                        <a:latin typeface="Cambria Math" panose="02040503050406030204" pitchFamily="18" charset="0"/>
                      </a:rPr>
                      <m:t>𝑥</m:t>
                    </m:r>
                    <m:r>
                      <a:rPr lang="en-AU" b="0" i="1" smtClean="0">
                        <a:latin typeface="Cambria Math" panose="02040503050406030204" pitchFamily="18" charset="0"/>
                      </a:rPr>
                      <m:t>)</m:t>
                    </m:r>
                  </m:oMath>
                </a14:m>
                <a:r>
                  <a:rPr lang="en-AU" dirty="0"/>
                  <a:t> where </a:t>
                </a:r>
                <a14:m>
                  <m:oMath xmlns:m="http://schemas.openxmlformats.org/officeDocument/2006/math">
                    <m:r>
                      <a:rPr lang="en-AU" i="1">
                        <a:latin typeface="Cambria Math" panose="02040503050406030204" pitchFamily="18" charset="0"/>
                      </a:rPr>
                      <m:t>𝑥</m:t>
                    </m:r>
                    <m:r>
                      <a:rPr lang="en-AU" i="1">
                        <a:latin typeface="Cambria Math" panose="02040503050406030204" pitchFamily="18" charset="0"/>
                      </a:rPr>
                      <m:t>∈</m:t>
                    </m:r>
                    <m:sSup>
                      <m:sSupPr>
                        <m:ctrlPr>
                          <a:rPr lang="en-AU" i="1">
                            <a:latin typeface="Cambria Math" panose="02040503050406030204" pitchFamily="18" charset="0"/>
                            <a:ea typeface="Cambria Math" panose="02040503050406030204" pitchFamily="18" charset="0"/>
                          </a:rPr>
                        </m:ctrlPr>
                      </m:sSupPr>
                      <m:e>
                        <m:r>
                          <a:rPr lang="en-AU" i="1">
                            <a:latin typeface="Cambria Math" panose="02040503050406030204" pitchFamily="18" charset="0"/>
                            <a:ea typeface="Cambria Math" panose="02040503050406030204" pitchFamily="18" charset="0"/>
                          </a:rPr>
                          <m:t>ℝ</m:t>
                        </m:r>
                      </m:e>
                      <m:sup>
                        <m:r>
                          <a:rPr lang="en-AU" i="1">
                            <a:latin typeface="Cambria Math" panose="02040503050406030204" pitchFamily="18" charset="0"/>
                            <a:ea typeface="Cambria Math" panose="02040503050406030204" pitchFamily="18" charset="0"/>
                          </a:rPr>
                          <m:t>𝐷</m:t>
                        </m:r>
                      </m:sup>
                    </m:sSup>
                    <m:r>
                      <a:rPr lang="en-AU" i="1">
                        <a:latin typeface="Cambria Math" panose="02040503050406030204" pitchFamily="18" charset="0"/>
                        <a:ea typeface="Cambria Math" panose="02040503050406030204" pitchFamily="18" charset="0"/>
                      </a:rPr>
                      <m:t>,</m:t>
                    </m:r>
                    <m:sSub>
                      <m:sSubPr>
                        <m:ctrlPr>
                          <a:rPr lang="en-AU" i="1">
                            <a:latin typeface="Cambria Math" panose="02040503050406030204" pitchFamily="18" charset="0"/>
                          </a:rPr>
                        </m:ctrlPr>
                      </m:sSubPr>
                      <m:e>
                        <m:r>
                          <a:rPr lang="en-AU" i="1">
                            <a:latin typeface="Cambria Math" panose="02040503050406030204" pitchFamily="18" charset="0"/>
                          </a:rPr>
                          <m:t>𝑊</m:t>
                        </m:r>
                      </m:e>
                      <m:sub>
                        <m:r>
                          <a:rPr lang="en-AU" b="0" i="1" smtClean="0">
                            <a:latin typeface="Cambria Math" panose="02040503050406030204" pitchFamily="18" charset="0"/>
                          </a:rPr>
                          <m:t>1</m:t>
                        </m:r>
                      </m:sub>
                    </m:sSub>
                    <m:r>
                      <a:rPr lang="en-AU" i="1">
                        <a:latin typeface="Cambria Math" panose="02040503050406030204" pitchFamily="18" charset="0"/>
                      </a:rPr>
                      <m:t>∈</m:t>
                    </m:r>
                    <m:sSup>
                      <m:sSupPr>
                        <m:ctrlPr>
                          <a:rPr lang="en-AU" i="1">
                            <a:latin typeface="Cambria Math" panose="02040503050406030204" pitchFamily="18" charset="0"/>
                            <a:ea typeface="Cambria Math" panose="02040503050406030204" pitchFamily="18" charset="0"/>
                          </a:rPr>
                        </m:ctrlPr>
                      </m:sSupPr>
                      <m:e>
                        <m:r>
                          <a:rPr lang="en-AU" i="1">
                            <a:latin typeface="Cambria Math" panose="02040503050406030204" pitchFamily="18" charset="0"/>
                            <a:ea typeface="Cambria Math" panose="02040503050406030204" pitchFamily="18" charset="0"/>
                          </a:rPr>
                          <m:t>ℝ</m:t>
                        </m:r>
                      </m:e>
                      <m:sup>
                        <m:r>
                          <a:rPr lang="en-AU" b="0" i="1" smtClean="0">
                            <a:latin typeface="Cambria Math" panose="02040503050406030204" pitchFamily="18" charset="0"/>
                            <a:ea typeface="Cambria Math" panose="02040503050406030204" pitchFamily="18" charset="0"/>
                          </a:rPr>
                          <m:t>𝐻</m:t>
                        </m:r>
                        <m:r>
                          <a:rPr lang="en-AU" i="1">
                            <a:latin typeface="Cambria Math" panose="02040503050406030204" pitchFamily="18" charset="0"/>
                            <a:ea typeface="Cambria Math" panose="02040503050406030204" pitchFamily="18" charset="0"/>
                          </a:rPr>
                          <m:t>×</m:t>
                        </m:r>
                        <m:r>
                          <a:rPr lang="en-AU" i="1">
                            <a:latin typeface="Cambria Math" panose="02040503050406030204" pitchFamily="18" charset="0"/>
                            <a:ea typeface="Cambria Math" panose="02040503050406030204" pitchFamily="18" charset="0"/>
                          </a:rPr>
                          <m:t>𝐷</m:t>
                        </m:r>
                      </m:sup>
                    </m:sSup>
                    <m:r>
                      <a:rPr lang="en-AU" i="1">
                        <a:latin typeface="Cambria Math" panose="02040503050406030204" pitchFamily="18" charset="0"/>
                        <a:ea typeface="Cambria Math" panose="02040503050406030204" pitchFamily="18" charset="0"/>
                      </a:rPr>
                      <m:t>,</m:t>
                    </m:r>
                    <m:sSub>
                      <m:sSubPr>
                        <m:ctrlPr>
                          <a:rPr lang="en-AU" i="1">
                            <a:latin typeface="Cambria Math" panose="02040503050406030204" pitchFamily="18" charset="0"/>
                          </a:rPr>
                        </m:ctrlPr>
                      </m:sSubPr>
                      <m:e>
                        <m:r>
                          <a:rPr lang="en-AU" i="1">
                            <a:latin typeface="Cambria Math" panose="02040503050406030204" pitchFamily="18" charset="0"/>
                          </a:rPr>
                          <m:t>𝑊</m:t>
                        </m:r>
                      </m:e>
                      <m:sub>
                        <m:r>
                          <a:rPr lang="en-AU" b="0" i="1" smtClean="0">
                            <a:latin typeface="Cambria Math" panose="02040503050406030204" pitchFamily="18" charset="0"/>
                          </a:rPr>
                          <m:t>2</m:t>
                        </m:r>
                      </m:sub>
                    </m:sSub>
                    <m:r>
                      <a:rPr lang="en-AU" i="1">
                        <a:latin typeface="Cambria Math" panose="02040503050406030204" pitchFamily="18" charset="0"/>
                      </a:rPr>
                      <m:t>∈</m:t>
                    </m:r>
                    <m:sSup>
                      <m:sSupPr>
                        <m:ctrlPr>
                          <a:rPr lang="en-AU" i="1">
                            <a:latin typeface="Cambria Math" panose="02040503050406030204" pitchFamily="18" charset="0"/>
                            <a:ea typeface="Cambria Math" panose="02040503050406030204" pitchFamily="18" charset="0"/>
                          </a:rPr>
                        </m:ctrlPr>
                      </m:sSupPr>
                      <m:e>
                        <m:r>
                          <a:rPr lang="en-AU" i="1">
                            <a:latin typeface="Cambria Math" panose="02040503050406030204" pitchFamily="18" charset="0"/>
                            <a:ea typeface="Cambria Math" panose="02040503050406030204" pitchFamily="18" charset="0"/>
                          </a:rPr>
                          <m:t>ℝ</m:t>
                        </m:r>
                      </m:e>
                      <m:sup>
                        <m:r>
                          <a:rPr lang="en-AU" b="0" i="1" smtClean="0">
                            <a:latin typeface="Cambria Math" panose="02040503050406030204" pitchFamily="18" charset="0"/>
                            <a:ea typeface="Cambria Math" panose="02040503050406030204" pitchFamily="18" charset="0"/>
                          </a:rPr>
                          <m:t>𝐶</m:t>
                        </m:r>
                        <m:r>
                          <a:rPr lang="en-AU" i="1">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𝐻</m:t>
                        </m:r>
                      </m:sup>
                    </m:sSup>
                  </m:oMath>
                </a14:m>
                <a:endParaRPr lang="en-US" dirty="0"/>
              </a:p>
              <a:p>
                <a:r>
                  <a:rPr lang="en-AU" dirty="0"/>
                  <a:t>This simple “Neural Network” is often called “fully-connected networks” or sometimes “multi-layer </a:t>
                </a:r>
                <a:r>
                  <a:rPr lang="en-AU" dirty="0" err="1"/>
                  <a:t>perceptrons</a:t>
                </a:r>
                <a:r>
                  <a:rPr lang="en-AU" dirty="0"/>
                  <a:t>” (MLP)</a:t>
                </a:r>
              </a:p>
              <a:p>
                <a:r>
                  <a:rPr lang="en-AU" dirty="0"/>
                  <a:t>The outputs of NNs are called </a:t>
                </a:r>
                <a:r>
                  <a:rPr lang="en-AU" b="1" dirty="0"/>
                  <a:t>logits</a:t>
                </a:r>
                <a:r>
                  <a:rPr lang="en-AU" dirty="0"/>
                  <a:t>. </a:t>
                </a:r>
              </a:p>
              <a:p>
                <a:r>
                  <a:rPr lang="en-AU" dirty="0"/>
                  <a:t>The function </a:t>
                </a:r>
                <a14:m>
                  <m:oMath xmlns:m="http://schemas.openxmlformats.org/officeDocument/2006/math">
                    <m:func>
                      <m:funcPr>
                        <m:ctrlPr>
                          <a:rPr lang="en-AU" b="0" i="0" smtClean="0">
                            <a:latin typeface="Cambria Math" panose="02040503050406030204" pitchFamily="18" charset="0"/>
                          </a:rPr>
                        </m:ctrlPr>
                      </m:funcPr>
                      <m:fName>
                        <m:r>
                          <m:rPr>
                            <m:sty m:val="p"/>
                          </m:rPr>
                          <a:rPr lang="en-AU" b="0" i="0" smtClean="0">
                            <a:latin typeface="Cambria Math" panose="02040503050406030204" pitchFamily="18" charset="0"/>
                          </a:rPr>
                          <m:t>max</m:t>
                        </m:r>
                      </m:fName>
                      <m:e>
                        <m:r>
                          <a:rPr lang="en-AU" b="0" i="1" smtClean="0">
                            <a:latin typeface="Cambria Math" panose="02040503050406030204" pitchFamily="18" charset="0"/>
                          </a:rPr>
                          <m:t>(0, </m:t>
                        </m:r>
                        <m:r>
                          <a:rPr lang="en-AU" b="0" i="1" smtClean="0">
                            <a:latin typeface="Cambria Math" panose="02040503050406030204" pitchFamily="18" charset="0"/>
                          </a:rPr>
                          <m:t>𝑧</m:t>
                        </m:r>
                        <m:r>
                          <a:rPr lang="en-AU" b="0" i="1" smtClean="0">
                            <a:latin typeface="Cambria Math" panose="02040503050406030204" pitchFamily="18" charset="0"/>
                          </a:rPr>
                          <m:t>)</m:t>
                        </m:r>
                      </m:e>
                    </m:func>
                    <m:r>
                      <a:rPr lang="en-AU" b="0" i="1" smtClean="0">
                        <a:latin typeface="Cambria Math" panose="02040503050406030204" pitchFamily="18" charset="0"/>
                      </a:rPr>
                      <m:t> </m:t>
                    </m:r>
                  </m:oMath>
                </a14:m>
                <a:r>
                  <a:rPr lang="en-AU" dirty="0"/>
                  <a:t>is called the </a:t>
                </a:r>
                <a:r>
                  <a:rPr lang="en-AU" b="1" dirty="0"/>
                  <a:t>activation function.</a:t>
                </a:r>
                <a:endParaRPr lang="en-AU" dirty="0"/>
              </a:p>
              <a:p>
                <a:r>
                  <a:rPr lang="en-AU" dirty="0"/>
                  <a:t>Activation functions add non-linearity in NNs. </a:t>
                </a:r>
              </a:p>
              <a:p>
                <a:endParaRPr lang="en-AU" dirty="0"/>
              </a:p>
            </p:txBody>
          </p:sp>
        </mc:Choice>
        <mc:Fallback xmlns="">
          <p:sp>
            <p:nvSpPr>
              <p:cNvPr id="3" name="Content Placeholder 2">
                <a:extLst>
                  <a:ext uri="{FF2B5EF4-FFF2-40B4-BE49-F238E27FC236}">
                    <a16:creationId xmlns:a16="http://schemas.microsoft.com/office/drawing/2014/main" id="{C8C8E826-50CB-D667-46FC-E62A94A12DF6}"/>
                  </a:ext>
                </a:extLst>
              </p:cNvPr>
              <p:cNvSpPr>
                <a:spLocks noGrp="1" noRot="1" noChangeAspect="1" noMove="1" noResize="1" noEditPoints="1" noAdjustHandles="1" noChangeArrowheads="1" noChangeShapeType="1" noTextEdit="1"/>
              </p:cNvSpPr>
              <p:nvPr>
                <p:ph idx="1"/>
              </p:nvPr>
            </p:nvSpPr>
            <p:spPr>
              <a:xfrm>
                <a:off x="838200" y="1825625"/>
                <a:ext cx="10515600" cy="4667250"/>
              </a:xfrm>
              <a:blipFill>
                <a:blip r:embed="rId2"/>
                <a:stretch>
                  <a:fillRect l="-1086" t="-2168"/>
                </a:stretch>
              </a:blipFill>
            </p:spPr>
            <p:txBody>
              <a:bodyPr/>
              <a:lstStyle/>
              <a:p>
                <a:r>
                  <a:rPr lang="en-US">
                    <a:noFill/>
                  </a:rPr>
                  <a:t> </a:t>
                </a:r>
              </a:p>
            </p:txBody>
          </p:sp>
        </mc:Fallback>
      </mc:AlternateContent>
    </p:spTree>
    <p:extLst>
      <p:ext uri="{BB962C8B-B14F-4D97-AF65-F5344CB8AC3E}">
        <p14:creationId xmlns:p14="http://schemas.microsoft.com/office/powerpoint/2010/main" val="39792551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5DBCD-D520-360E-C1D6-644600FD93AF}"/>
              </a:ext>
            </a:extLst>
          </p:cNvPr>
          <p:cNvSpPr>
            <a:spLocks noGrp="1"/>
          </p:cNvSpPr>
          <p:nvPr>
            <p:ph type="title"/>
          </p:nvPr>
        </p:nvSpPr>
        <p:spPr/>
        <p:txBody>
          <a:bodyPr>
            <a:normAutofit/>
          </a:bodyPr>
          <a:lstStyle/>
          <a:p>
            <a:r>
              <a:rPr lang="en-AU" b="1" dirty="0"/>
              <a:t>Main components NN</a:t>
            </a:r>
            <a:endParaRPr lang="en-US" b="1" dirty="0"/>
          </a:p>
        </p:txBody>
      </p:sp>
      <p:sp>
        <p:nvSpPr>
          <p:cNvPr id="3" name="Content Placeholder 2">
            <a:extLst>
              <a:ext uri="{FF2B5EF4-FFF2-40B4-BE49-F238E27FC236}">
                <a16:creationId xmlns:a16="http://schemas.microsoft.com/office/drawing/2014/main" id="{5B6D7BAF-C7DC-E322-0780-881B6E841D53}"/>
              </a:ext>
            </a:extLst>
          </p:cNvPr>
          <p:cNvSpPr>
            <a:spLocks noGrp="1"/>
          </p:cNvSpPr>
          <p:nvPr>
            <p:ph idx="1"/>
          </p:nvPr>
        </p:nvSpPr>
        <p:spPr/>
        <p:txBody>
          <a:bodyPr>
            <a:normAutofit/>
          </a:bodyPr>
          <a:lstStyle/>
          <a:p>
            <a:r>
              <a:rPr lang="en-AU" b="1" dirty="0"/>
              <a:t>Input layer</a:t>
            </a:r>
            <a:r>
              <a:rPr lang="en-AU" dirty="0"/>
              <a:t>—Contains the feature vector.</a:t>
            </a:r>
          </a:p>
          <a:p>
            <a:r>
              <a:rPr lang="en-AU" b="1" dirty="0"/>
              <a:t>Hidden layers</a:t>
            </a:r>
            <a:r>
              <a:rPr lang="en-AU" dirty="0"/>
              <a:t>—The neurons are stacked on top of each other in hidden layers. </a:t>
            </a:r>
          </a:p>
          <a:p>
            <a:pPr lvl="1"/>
            <a:r>
              <a:rPr lang="en-AU" dirty="0"/>
              <a:t>“hidden”: because we don’t see or control the input going into these layers or the output. </a:t>
            </a:r>
          </a:p>
          <a:p>
            <a:r>
              <a:rPr lang="en-AU" b="1" dirty="0"/>
              <a:t>Weight connections</a:t>
            </a:r>
            <a:r>
              <a:rPr lang="en-AU" dirty="0"/>
              <a:t> (edges)—Weights are assigned to each connection between the nodes to reflect the importance of their influence on the final output prediction. </a:t>
            </a:r>
          </a:p>
          <a:p>
            <a:r>
              <a:rPr lang="en-AU" b="1" dirty="0"/>
              <a:t>Output layer</a:t>
            </a:r>
            <a:r>
              <a:rPr lang="en-AU" dirty="0"/>
              <a:t>—We get the prediction from the output layer. </a:t>
            </a:r>
            <a:endParaRPr lang="en-US" dirty="0"/>
          </a:p>
        </p:txBody>
      </p:sp>
    </p:spTree>
    <p:extLst>
      <p:ext uri="{BB962C8B-B14F-4D97-AF65-F5344CB8AC3E}">
        <p14:creationId xmlns:p14="http://schemas.microsoft.com/office/powerpoint/2010/main" val="33467627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CED25-CFA6-9FB9-18F3-A41DF9C9A6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98DECD-83C1-0F62-5421-2B350B853361}"/>
              </a:ext>
            </a:extLst>
          </p:cNvPr>
          <p:cNvSpPr>
            <a:spLocks noGrp="1"/>
          </p:cNvSpPr>
          <p:nvPr>
            <p:ph type="title"/>
          </p:nvPr>
        </p:nvSpPr>
        <p:spPr>
          <a:xfrm>
            <a:off x="838200" y="365125"/>
            <a:ext cx="4926496" cy="1325563"/>
          </a:xfrm>
        </p:spPr>
        <p:txBody>
          <a:bodyPr/>
          <a:lstStyle/>
          <a:p>
            <a:r>
              <a:rPr lang="en-US" b="1" dirty="0"/>
              <a:t>NN notations</a:t>
            </a:r>
            <a:endParaRPr lang="en-US" dirty="0"/>
          </a:p>
        </p:txBody>
      </p:sp>
      <mc:AlternateContent xmlns:mc="http://schemas.openxmlformats.org/markup-compatibility/2006" xmlns:a14="http://schemas.microsoft.com/office/drawing/2010/main">
        <mc:Choice Requires="a14">
          <p:sp>
            <p:nvSpPr>
              <p:cNvPr id="8" name="Content Placeholder 7">
                <a:extLst>
                  <a:ext uri="{FF2B5EF4-FFF2-40B4-BE49-F238E27FC236}">
                    <a16:creationId xmlns:a16="http://schemas.microsoft.com/office/drawing/2014/main" id="{ACF8220B-659E-3549-63D9-9AC65169F9BB}"/>
                  </a:ext>
                </a:extLst>
              </p:cNvPr>
              <p:cNvSpPr>
                <a:spLocks noGrp="1"/>
              </p:cNvSpPr>
              <p:nvPr>
                <p:ph idx="1"/>
              </p:nvPr>
            </p:nvSpPr>
            <p:spPr>
              <a:xfrm>
                <a:off x="484777" y="1835702"/>
                <a:ext cx="3230217" cy="4351338"/>
              </a:xfrm>
            </p:spPr>
            <p:txBody>
              <a:bodyPr>
                <a:normAutofit fontScale="85000" lnSpcReduction="20000"/>
              </a:bodyPr>
              <a:lstStyle/>
              <a:p>
                <a:r>
                  <a:rPr lang="en-AU" b="1" dirty="0"/>
                  <a:t>Input</a:t>
                </a:r>
                <a:r>
                  <a:rPr lang="en-AU" dirty="0"/>
                  <a:t>: </a:t>
                </a:r>
                <a14:m>
                  <m:oMath xmlns:m="http://schemas.openxmlformats.org/officeDocument/2006/math">
                    <m:r>
                      <a:rPr lang="en-AU" b="0" i="1" smtClean="0">
                        <a:latin typeface="Cambria Math" panose="02040503050406030204" pitchFamily="18" charset="0"/>
                      </a:rPr>
                      <m:t>𝑥</m:t>
                    </m:r>
                  </m:oMath>
                </a14:m>
                <a:endParaRPr lang="en-AU" b="0" dirty="0"/>
              </a:p>
              <a:p>
                <a:r>
                  <a:rPr lang="en-US" b="1" dirty="0"/>
                  <a:t>Output</a:t>
                </a:r>
                <a:r>
                  <a:rPr lang="en-US" dirty="0"/>
                  <a:t>: </a:t>
                </a:r>
                <a14:m>
                  <m:oMath xmlns:m="http://schemas.openxmlformats.org/officeDocument/2006/math">
                    <m:r>
                      <a:rPr lang="en-AU" b="0" i="1" dirty="0" smtClean="0">
                        <a:latin typeface="Cambria Math" panose="02040503050406030204" pitchFamily="18" charset="0"/>
                      </a:rPr>
                      <m:t> </m:t>
                    </m:r>
                    <m:acc>
                      <m:accPr>
                        <m:chr m:val="̂"/>
                        <m:ctrlPr>
                          <a:rPr lang="en-US" i="1">
                            <a:latin typeface="Cambria Math" panose="02040503050406030204" pitchFamily="18" charset="0"/>
                          </a:rPr>
                        </m:ctrlPr>
                      </m:accPr>
                      <m:e>
                        <m:r>
                          <a:rPr lang="en-US" i="1">
                            <a:latin typeface="Cambria Math" panose="02040503050406030204" pitchFamily="18" charset="0"/>
                          </a:rPr>
                          <m:t>𝑦</m:t>
                        </m:r>
                      </m:e>
                    </m:acc>
                  </m:oMath>
                </a14:m>
                <a:endParaRPr lang="en-US" dirty="0"/>
              </a:p>
              <a:p>
                <a:r>
                  <a:rPr lang="en-US" b="1" dirty="0"/>
                  <a:t>Layer 1</a:t>
                </a:r>
                <a:r>
                  <a:rPr lang="en-US" dirty="0"/>
                  <a:t>:</a:t>
                </a:r>
              </a:p>
              <a:p>
                <a:pPr lvl="1"/>
                <a:r>
                  <a:rPr lang="en-US" dirty="0"/>
                  <a:t>Node H1:</a:t>
                </a:r>
              </a:p>
              <a:p>
                <a:pPr lvl="2"/>
                <a:r>
                  <a:rPr lang="en-US" dirty="0"/>
                  <a:t>Weight: </a:t>
                </a:r>
                <a14:m>
                  <m:oMath xmlns:m="http://schemas.openxmlformats.org/officeDocument/2006/math">
                    <m:sSubSup>
                      <m:sSubSupPr>
                        <m:ctrlPr>
                          <a:rPr lang="en-AU" b="0" i="1" smtClean="0">
                            <a:latin typeface="Cambria Math" panose="02040503050406030204" pitchFamily="18" charset="0"/>
                          </a:rPr>
                        </m:ctrlPr>
                      </m:sSubSupPr>
                      <m:e>
                        <m:r>
                          <a:rPr lang="en-AU" b="0" i="1" smtClean="0">
                            <a:latin typeface="Cambria Math" panose="02040503050406030204" pitchFamily="18" charset="0"/>
                          </a:rPr>
                          <m:t>𝑤</m:t>
                        </m:r>
                      </m:e>
                      <m:sub>
                        <m:r>
                          <a:rPr lang="en-AU" b="0" i="1" smtClean="0">
                            <a:latin typeface="Cambria Math" panose="02040503050406030204" pitchFamily="18" charset="0"/>
                          </a:rPr>
                          <m:t>11</m:t>
                        </m:r>
                      </m:sub>
                      <m:sup>
                        <m:r>
                          <a:rPr lang="en-AU" b="0" i="1" smtClean="0">
                            <a:latin typeface="Cambria Math" panose="02040503050406030204" pitchFamily="18" charset="0"/>
                          </a:rPr>
                          <m:t>[1]</m:t>
                        </m:r>
                      </m:sup>
                    </m:sSubSup>
                  </m:oMath>
                </a14:m>
                <a:endParaRPr lang="en-US" dirty="0"/>
              </a:p>
              <a:p>
                <a:pPr lvl="2"/>
                <a:r>
                  <a:rPr lang="en-US" dirty="0"/>
                  <a:t>Bias: </a:t>
                </a:r>
                <a14:m>
                  <m:oMath xmlns:m="http://schemas.openxmlformats.org/officeDocument/2006/math">
                    <m:sSubSup>
                      <m:sSubSupPr>
                        <m:ctrlPr>
                          <a:rPr lang="en-AU" b="0" i="1" smtClean="0">
                            <a:latin typeface="Cambria Math" panose="02040503050406030204" pitchFamily="18" charset="0"/>
                          </a:rPr>
                        </m:ctrlPr>
                      </m:sSubSupPr>
                      <m:e>
                        <m:r>
                          <a:rPr lang="en-AU" b="0" i="1" smtClean="0">
                            <a:latin typeface="Cambria Math" panose="02040503050406030204" pitchFamily="18" charset="0"/>
                          </a:rPr>
                          <m:t>𝑏</m:t>
                        </m:r>
                      </m:e>
                      <m:sub>
                        <m:r>
                          <a:rPr lang="en-AU" i="1">
                            <a:latin typeface="Cambria Math" panose="02040503050406030204" pitchFamily="18" charset="0"/>
                          </a:rPr>
                          <m:t>1</m:t>
                        </m:r>
                      </m:sub>
                      <m:sup>
                        <m:r>
                          <a:rPr lang="en-AU" i="1">
                            <a:latin typeface="Cambria Math" panose="02040503050406030204" pitchFamily="18" charset="0"/>
                          </a:rPr>
                          <m:t>[1]</m:t>
                        </m:r>
                      </m:sup>
                    </m:sSubSup>
                  </m:oMath>
                </a14:m>
                <a:endParaRPr lang="en-US" dirty="0"/>
              </a:p>
              <a:p>
                <a:pPr lvl="1"/>
                <a:r>
                  <a:rPr lang="en-US" dirty="0"/>
                  <a:t>Node H2:</a:t>
                </a:r>
              </a:p>
              <a:p>
                <a:pPr lvl="2"/>
                <a:r>
                  <a:rPr lang="en-US" dirty="0"/>
                  <a:t>Weight: </a:t>
                </a:r>
                <a14:m>
                  <m:oMath xmlns:m="http://schemas.openxmlformats.org/officeDocument/2006/math">
                    <m:sSubSup>
                      <m:sSubSupPr>
                        <m:ctrlPr>
                          <a:rPr lang="en-AU" i="1">
                            <a:latin typeface="Cambria Math" panose="02040503050406030204" pitchFamily="18" charset="0"/>
                          </a:rPr>
                        </m:ctrlPr>
                      </m:sSubSupPr>
                      <m:e>
                        <m:r>
                          <a:rPr lang="en-AU" i="1">
                            <a:latin typeface="Cambria Math" panose="02040503050406030204" pitchFamily="18" charset="0"/>
                          </a:rPr>
                          <m:t>𝑤</m:t>
                        </m:r>
                      </m:e>
                      <m:sub>
                        <m:r>
                          <a:rPr lang="en-AU" b="0" i="1" smtClean="0">
                            <a:latin typeface="Cambria Math" panose="02040503050406030204" pitchFamily="18" charset="0"/>
                          </a:rPr>
                          <m:t>2</m:t>
                        </m:r>
                        <m:r>
                          <a:rPr lang="en-AU" i="1">
                            <a:latin typeface="Cambria Math" panose="02040503050406030204" pitchFamily="18" charset="0"/>
                          </a:rPr>
                          <m:t>1</m:t>
                        </m:r>
                      </m:sub>
                      <m:sup>
                        <m:r>
                          <a:rPr lang="en-AU" i="1">
                            <a:latin typeface="Cambria Math" panose="02040503050406030204" pitchFamily="18" charset="0"/>
                          </a:rPr>
                          <m:t>[1]</m:t>
                        </m:r>
                      </m:sup>
                    </m:sSubSup>
                  </m:oMath>
                </a14:m>
                <a:endParaRPr lang="en-US" dirty="0"/>
              </a:p>
              <a:p>
                <a:pPr lvl="2"/>
                <a:r>
                  <a:rPr lang="en-US" dirty="0"/>
                  <a:t>Bias: </a:t>
                </a:r>
                <a14:m>
                  <m:oMath xmlns:m="http://schemas.openxmlformats.org/officeDocument/2006/math">
                    <m:sSubSup>
                      <m:sSubSupPr>
                        <m:ctrlPr>
                          <a:rPr lang="en-AU" i="1">
                            <a:latin typeface="Cambria Math" panose="02040503050406030204" pitchFamily="18" charset="0"/>
                          </a:rPr>
                        </m:ctrlPr>
                      </m:sSubSupPr>
                      <m:e>
                        <m:r>
                          <a:rPr lang="en-AU" i="1">
                            <a:latin typeface="Cambria Math" panose="02040503050406030204" pitchFamily="18" charset="0"/>
                          </a:rPr>
                          <m:t>𝑏</m:t>
                        </m:r>
                      </m:e>
                      <m:sub>
                        <m:r>
                          <a:rPr lang="en-AU" b="0" i="1" smtClean="0">
                            <a:latin typeface="Cambria Math" panose="02040503050406030204" pitchFamily="18" charset="0"/>
                          </a:rPr>
                          <m:t>2</m:t>
                        </m:r>
                      </m:sub>
                      <m:sup>
                        <m:r>
                          <a:rPr lang="en-AU" i="1">
                            <a:latin typeface="Cambria Math" panose="02040503050406030204" pitchFamily="18" charset="0"/>
                          </a:rPr>
                          <m:t>[1]</m:t>
                        </m:r>
                      </m:sup>
                    </m:sSubSup>
                  </m:oMath>
                </a14:m>
                <a:endParaRPr lang="en-US" dirty="0"/>
              </a:p>
              <a:p>
                <a:r>
                  <a:rPr lang="en-US" b="1" dirty="0"/>
                  <a:t>Layer 2</a:t>
                </a:r>
                <a:r>
                  <a:rPr lang="en-US" dirty="0"/>
                  <a:t>:</a:t>
                </a:r>
              </a:p>
              <a:p>
                <a:pPr lvl="1"/>
                <a:r>
                  <a:rPr lang="en-US" dirty="0"/>
                  <a:t>Output node:</a:t>
                </a:r>
              </a:p>
              <a:p>
                <a:pPr lvl="2"/>
                <a:r>
                  <a:rPr lang="en-US" dirty="0"/>
                  <a:t>Weights: </a:t>
                </a:r>
                <a14:m>
                  <m:oMath xmlns:m="http://schemas.openxmlformats.org/officeDocument/2006/math">
                    <m:sSubSup>
                      <m:sSubSupPr>
                        <m:ctrlPr>
                          <a:rPr lang="en-AU" i="1">
                            <a:latin typeface="Cambria Math" panose="02040503050406030204" pitchFamily="18" charset="0"/>
                          </a:rPr>
                        </m:ctrlPr>
                      </m:sSubSupPr>
                      <m:e>
                        <m:r>
                          <a:rPr lang="en-AU" i="1">
                            <a:latin typeface="Cambria Math" panose="02040503050406030204" pitchFamily="18" charset="0"/>
                          </a:rPr>
                          <m:t>𝑤</m:t>
                        </m:r>
                      </m:e>
                      <m:sub>
                        <m:r>
                          <a:rPr lang="en-AU" i="1">
                            <a:latin typeface="Cambria Math" panose="02040503050406030204" pitchFamily="18" charset="0"/>
                          </a:rPr>
                          <m:t>11</m:t>
                        </m:r>
                      </m:sub>
                      <m:sup>
                        <m:r>
                          <a:rPr lang="en-AU" i="1">
                            <a:latin typeface="Cambria Math" panose="02040503050406030204" pitchFamily="18" charset="0"/>
                          </a:rPr>
                          <m:t>[</m:t>
                        </m:r>
                        <m:r>
                          <a:rPr lang="en-AU" b="0" i="1" smtClean="0">
                            <a:latin typeface="Cambria Math" panose="02040503050406030204" pitchFamily="18" charset="0"/>
                          </a:rPr>
                          <m:t>2</m:t>
                        </m:r>
                        <m:r>
                          <a:rPr lang="en-AU" i="1">
                            <a:latin typeface="Cambria Math" panose="02040503050406030204" pitchFamily="18" charset="0"/>
                          </a:rPr>
                          <m:t>]</m:t>
                        </m:r>
                      </m:sup>
                    </m:sSubSup>
                  </m:oMath>
                </a14:m>
                <a:r>
                  <a:rPr lang="en-US" dirty="0"/>
                  <a:t>, </a:t>
                </a:r>
                <a14:m>
                  <m:oMath xmlns:m="http://schemas.openxmlformats.org/officeDocument/2006/math">
                    <m:sSubSup>
                      <m:sSubSupPr>
                        <m:ctrlPr>
                          <a:rPr lang="en-AU" i="1">
                            <a:latin typeface="Cambria Math" panose="02040503050406030204" pitchFamily="18" charset="0"/>
                          </a:rPr>
                        </m:ctrlPr>
                      </m:sSubSupPr>
                      <m:e>
                        <m:r>
                          <a:rPr lang="en-AU" i="1">
                            <a:latin typeface="Cambria Math" panose="02040503050406030204" pitchFamily="18" charset="0"/>
                          </a:rPr>
                          <m:t>𝑤</m:t>
                        </m:r>
                      </m:e>
                      <m:sub>
                        <m:r>
                          <a:rPr lang="en-AU" i="1">
                            <a:latin typeface="Cambria Math" panose="02040503050406030204" pitchFamily="18" charset="0"/>
                          </a:rPr>
                          <m:t>1</m:t>
                        </m:r>
                        <m:r>
                          <a:rPr lang="en-AU" b="0" i="1" smtClean="0">
                            <a:latin typeface="Cambria Math" panose="02040503050406030204" pitchFamily="18" charset="0"/>
                          </a:rPr>
                          <m:t>2</m:t>
                        </m:r>
                      </m:sub>
                      <m:sup>
                        <m:r>
                          <a:rPr lang="en-AU" i="1">
                            <a:latin typeface="Cambria Math" panose="02040503050406030204" pitchFamily="18" charset="0"/>
                          </a:rPr>
                          <m:t>[2]</m:t>
                        </m:r>
                      </m:sup>
                    </m:sSubSup>
                  </m:oMath>
                </a14:m>
                <a:endParaRPr lang="en-US" dirty="0"/>
              </a:p>
              <a:p>
                <a:pPr lvl="2"/>
                <a:r>
                  <a:rPr lang="en-US" dirty="0"/>
                  <a:t>Bias: </a:t>
                </a:r>
                <a14:m>
                  <m:oMath xmlns:m="http://schemas.openxmlformats.org/officeDocument/2006/math">
                    <m:sSubSup>
                      <m:sSubSupPr>
                        <m:ctrlPr>
                          <a:rPr lang="en-AU" i="1">
                            <a:latin typeface="Cambria Math" panose="02040503050406030204" pitchFamily="18" charset="0"/>
                          </a:rPr>
                        </m:ctrlPr>
                      </m:sSubSupPr>
                      <m:e>
                        <m:r>
                          <a:rPr lang="en-AU" i="1">
                            <a:latin typeface="Cambria Math" panose="02040503050406030204" pitchFamily="18" charset="0"/>
                          </a:rPr>
                          <m:t>𝑏</m:t>
                        </m:r>
                      </m:e>
                      <m:sub>
                        <m:r>
                          <a:rPr lang="en-AU" i="1">
                            <a:latin typeface="Cambria Math" panose="02040503050406030204" pitchFamily="18" charset="0"/>
                          </a:rPr>
                          <m:t>1</m:t>
                        </m:r>
                      </m:sub>
                      <m:sup>
                        <m:r>
                          <a:rPr lang="en-AU" i="1">
                            <a:latin typeface="Cambria Math" panose="02040503050406030204" pitchFamily="18" charset="0"/>
                          </a:rPr>
                          <m:t>[</m:t>
                        </m:r>
                        <m:r>
                          <a:rPr lang="en-AU" b="0" i="1" smtClean="0">
                            <a:latin typeface="Cambria Math" panose="02040503050406030204" pitchFamily="18" charset="0"/>
                          </a:rPr>
                          <m:t>2</m:t>
                        </m:r>
                        <m:r>
                          <a:rPr lang="en-AU" i="1">
                            <a:latin typeface="Cambria Math" panose="02040503050406030204" pitchFamily="18" charset="0"/>
                          </a:rPr>
                          <m:t>]</m:t>
                        </m:r>
                      </m:sup>
                    </m:sSubSup>
                  </m:oMath>
                </a14:m>
                <a:endParaRPr lang="en-US" dirty="0"/>
              </a:p>
            </p:txBody>
          </p:sp>
        </mc:Choice>
        <mc:Fallback xmlns="">
          <p:sp>
            <p:nvSpPr>
              <p:cNvPr id="8" name="Content Placeholder 7">
                <a:extLst>
                  <a:ext uri="{FF2B5EF4-FFF2-40B4-BE49-F238E27FC236}">
                    <a16:creationId xmlns:a16="http://schemas.microsoft.com/office/drawing/2014/main" id="{ACF8220B-659E-3549-63D9-9AC65169F9BB}"/>
                  </a:ext>
                </a:extLst>
              </p:cNvPr>
              <p:cNvSpPr>
                <a:spLocks noGrp="1" noRot="1" noChangeAspect="1" noMove="1" noResize="1" noEditPoints="1" noAdjustHandles="1" noChangeArrowheads="1" noChangeShapeType="1" noTextEdit="1"/>
              </p:cNvSpPr>
              <p:nvPr>
                <p:ph idx="1"/>
              </p:nvPr>
            </p:nvSpPr>
            <p:spPr>
              <a:xfrm>
                <a:off x="484777" y="1835702"/>
                <a:ext cx="3230217" cy="4351338"/>
              </a:xfrm>
              <a:blipFill>
                <a:blip r:embed="rId2"/>
                <a:stretch>
                  <a:fillRect l="-2745" t="-3198"/>
                </a:stretch>
              </a:blipFill>
            </p:spPr>
            <p:txBody>
              <a:bodyPr/>
              <a:lstStyle/>
              <a:p>
                <a:r>
                  <a:rPr lang="en-US">
                    <a:noFill/>
                  </a:rPr>
                  <a:t> </a:t>
                </a:r>
              </a:p>
            </p:txBody>
          </p:sp>
        </mc:Fallback>
      </mc:AlternateContent>
      <p:pic>
        <p:nvPicPr>
          <p:cNvPr id="9" name="Content Placeholder 4">
            <a:extLst>
              <a:ext uri="{FF2B5EF4-FFF2-40B4-BE49-F238E27FC236}">
                <a16:creationId xmlns:a16="http://schemas.microsoft.com/office/drawing/2014/main" id="{334DD1C4-5239-22CC-5556-D3B15EDC733B}"/>
              </a:ext>
            </a:extLst>
          </p:cNvPr>
          <p:cNvPicPr>
            <a:picLocks noChangeAspect="1"/>
          </p:cNvPicPr>
          <p:nvPr/>
        </p:nvPicPr>
        <p:blipFill>
          <a:blip r:embed="rId3"/>
          <a:stretch>
            <a:fillRect/>
          </a:stretch>
        </p:blipFill>
        <p:spPr>
          <a:xfrm>
            <a:off x="7770160" y="1996593"/>
            <a:ext cx="4223058" cy="2324928"/>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01E5D1E-1979-4FC0-5768-C8F7BF6A9669}"/>
                  </a:ext>
                </a:extLst>
              </p:cNvPr>
              <p:cNvSpPr txBox="1"/>
              <p:nvPr/>
            </p:nvSpPr>
            <p:spPr>
              <a:xfrm>
                <a:off x="7920367" y="365125"/>
                <a:ext cx="1845366" cy="1489126"/>
              </a:xfrm>
              <a:prstGeom prst="rect">
                <a:avLst/>
              </a:prstGeom>
              <a:noFill/>
            </p:spPr>
            <p:txBody>
              <a:bodyPr wrap="square" rtlCol="0">
                <a:spAutoFit/>
              </a:bodyPr>
              <a:lstStyle/>
              <a:p>
                <a:r>
                  <a:rPr lang="en-AU" dirty="0">
                    <a:latin typeface="Adelle Sans Devanagari" panose="02000503000000020004" pitchFamily="2" charset="-78"/>
                    <a:cs typeface="Adelle Sans Devanagari" panose="02000503000000020004" pitchFamily="2" charset="-78"/>
                  </a:rPr>
                  <a:t>Conventions</a:t>
                </a:r>
                <a:endParaRPr lang="en-AU" i="1" dirty="0">
                  <a:latin typeface="Cambria Math" panose="02040503050406030204" pitchFamily="18" charset="0"/>
                </a:endParaRPr>
              </a:p>
              <a:p>
                <a:r>
                  <a:rPr lang="en-AU" dirty="0"/>
                  <a:t>- </a:t>
                </a:r>
                <a14:m>
                  <m:oMath xmlns:m="http://schemas.openxmlformats.org/officeDocument/2006/math">
                    <m:sSubSup>
                      <m:sSubSupPr>
                        <m:ctrlPr>
                          <a:rPr lang="en-AU" i="1">
                            <a:latin typeface="Cambria Math" panose="02040503050406030204" pitchFamily="18" charset="0"/>
                          </a:rPr>
                        </m:ctrlPr>
                      </m:sSubSupPr>
                      <m:e>
                        <m:r>
                          <a:rPr lang="en-AU" i="1">
                            <a:latin typeface="Cambria Math" panose="02040503050406030204" pitchFamily="18" charset="0"/>
                          </a:rPr>
                          <m:t>𝑤</m:t>
                        </m:r>
                      </m:e>
                      <m:sub>
                        <m:r>
                          <a:rPr lang="en-AU" i="1">
                            <a:latin typeface="Cambria Math" panose="02040503050406030204" pitchFamily="18" charset="0"/>
                          </a:rPr>
                          <m:t>𝑛𝑜𝑑𝑒</m:t>
                        </m:r>
                        <m:r>
                          <a:rPr lang="en-AU" i="1">
                            <a:latin typeface="Cambria Math" panose="02040503050406030204" pitchFamily="18" charset="0"/>
                          </a:rPr>
                          <m:t>−</m:t>
                        </m:r>
                        <m:r>
                          <a:rPr lang="en-AU" i="1">
                            <a:latin typeface="Cambria Math" panose="02040503050406030204" pitchFamily="18" charset="0"/>
                          </a:rPr>
                          <m:t>𝑖𝑛𝑝𝑢𝑡</m:t>
                        </m:r>
                      </m:sub>
                      <m:sup>
                        <m:r>
                          <a:rPr lang="en-AU" i="1">
                            <a:latin typeface="Cambria Math" panose="02040503050406030204" pitchFamily="18" charset="0"/>
                          </a:rPr>
                          <m:t>[</m:t>
                        </m:r>
                        <m:r>
                          <a:rPr lang="en-AU" i="1">
                            <a:latin typeface="Cambria Math" panose="02040503050406030204" pitchFamily="18" charset="0"/>
                          </a:rPr>
                          <m:t>𝑙𝑎𝑦𝑒𝑟</m:t>
                        </m:r>
                        <m:r>
                          <a:rPr lang="en-AU" i="1">
                            <a:latin typeface="Cambria Math" panose="02040503050406030204" pitchFamily="18" charset="0"/>
                          </a:rPr>
                          <m:t>]</m:t>
                        </m:r>
                      </m:sup>
                    </m:sSubSup>
                  </m:oMath>
                </a14:m>
                <a:endParaRPr lang="en-US" dirty="0"/>
              </a:p>
              <a:p>
                <a:pPr marL="285750" indent="-285750">
                  <a:buFontTx/>
                  <a:buChar char="-"/>
                </a:pPr>
                <a14:m>
                  <m:oMath xmlns:m="http://schemas.openxmlformats.org/officeDocument/2006/math">
                    <m:sSubSup>
                      <m:sSubSupPr>
                        <m:ctrlPr>
                          <a:rPr lang="en-AU" b="0" i="1" smtClean="0">
                            <a:latin typeface="Cambria Math" panose="02040503050406030204" pitchFamily="18" charset="0"/>
                          </a:rPr>
                        </m:ctrlPr>
                      </m:sSubSupPr>
                      <m:e>
                        <m:r>
                          <a:rPr lang="en-AU" b="0" i="1" smtClean="0">
                            <a:latin typeface="Cambria Math" panose="02040503050406030204" pitchFamily="18" charset="0"/>
                          </a:rPr>
                          <m:t>𝑏</m:t>
                        </m:r>
                      </m:e>
                      <m:sub>
                        <m:r>
                          <a:rPr lang="en-AU" i="1">
                            <a:latin typeface="Cambria Math" panose="02040503050406030204" pitchFamily="18" charset="0"/>
                          </a:rPr>
                          <m:t>𝑛𝑜𝑑𝑒</m:t>
                        </m:r>
                      </m:sub>
                      <m:sup>
                        <m:r>
                          <a:rPr lang="en-AU" i="1">
                            <a:latin typeface="Cambria Math" panose="02040503050406030204" pitchFamily="18" charset="0"/>
                          </a:rPr>
                          <m:t>[</m:t>
                        </m:r>
                        <m:r>
                          <a:rPr lang="en-AU" i="1">
                            <a:latin typeface="Cambria Math" panose="02040503050406030204" pitchFamily="18" charset="0"/>
                          </a:rPr>
                          <m:t>𝑙𝑎𝑦𝑒𝑟</m:t>
                        </m:r>
                        <m:r>
                          <a:rPr lang="en-AU" i="1">
                            <a:latin typeface="Cambria Math" panose="02040503050406030204" pitchFamily="18" charset="0"/>
                          </a:rPr>
                          <m:t>]</m:t>
                        </m:r>
                      </m:sup>
                    </m:sSubSup>
                  </m:oMath>
                </a14:m>
                <a:endParaRPr lang="en-AU" dirty="0"/>
              </a:p>
              <a:p>
                <a:pPr marL="285750" indent="-285750">
                  <a:buFontTx/>
                  <a:buChar char="-"/>
                </a:pPr>
                <a14:m>
                  <m:oMath xmlns:m="http://schemas.openxmlformats.org/officeDocument/2006/math">
                    <m:sSubSup>
                      <m:sSubSupPr>
                        <m:ctrlPr>
                          <a:rPr lang="en-AU" b="0" i="1" smtClean="0">
                            <a:latin typeface="Cambria Math" panose="02040503050406030204" pitchFamily="18" charset="0"/>
                          </a:rPr>
                        </m:ctrlPr>
                      </m:sSubSupPr>
                      <m:e>
                        <m:r>
                          <a:rPr lang="en-AU" b="0" i="1" smtClean="0">
                            <a:latin typeface="Cambria Math" panose="02040503050406030204" pitchFamily="18" charset="0"/>
                          </a:rPr>
                          <m:t>𝑧</m:t>
                        </m:r>
                      </m:e>
                      <m:sub>
                        <m:r>
                          <a:rPr lang="en-AU" i="1">
                            <a:latin typeface="Cambria Math" panose="02040503050406030204" pitchFamily="18" charset="0"/>
                          </a:rPr>
                          <m:t>𝑛𝑜𝑑𝑒</m:t>
                        </m:r>
                      </m:sub>
                      <m:sup>
                        <m:r>
                          <a:rPr lang="en-AU" i="1">
                            <a:latin typeface="Cambria Math" panose="02040503050406030204" pitchFamily="18" charset="0"/>
                          </a:rPr>
                          <m:t>[</m:t>
                        </m:r>
                        <m:r>
                          <a:rPr lang="en-AU" i="1">
                            <a:latin typeface="Cambria Math" panose="02040503050406030204" pitchFamily="18" charset="0"/>
                          </a:rPr>
                          <m:t>𝑙𝑎𝑦𝑒𝑟</m:t>
                        </m:r>
                        <m:r>
                          <a:rPr lang="en-AU" i="1">
                            <a:latin typeface="Cambria Math" panose="02040503050406030204" pitchFamily="18" charset="0"/>
                          </a:rPr>
                          <m:t>]</m:t>
                        </m:r>
                      </m:sup>
                    </m:sSubSup>
                  </m:oMath>
                </a14:m>
                <a:endParaRPr lang="en-US" dirty="0"/>
              </a:p>
            </p:txBody>
          </p:sp>
        </mc:Choice>
        <mc:Fallback xmlns="">
          <p:sp>
            <p:nvSpPr>
              <p:cNvPr id="10" name="TextBox 9">
                <a:extLst>
                  <a:ext uri="{FF2B5EF4-FFF2-40B4-BE49-F238E27FC236}">
                    <a16:creationId xmlns:a16="http://schemas.microsoft.com/office/drawing/2014/main" id="{901E5D1E-1979-4FC0-5768-C8F7BF6A9669}"/>
                  </a:ext>
                </a:extLst>
              </p:cNvPr>
              <p:cNvSpPr txBox="1">
                <a:spLocks noRot="1" noChangeAspect="1" noMove="1" noResize="1" noEditPoints="1" noAdjustHandles="1" noChangeArrowheads="1" noChangeShapeType="1" noTextEdit="1"/>
              </p:cNvSpPr>
              <p:nvPr/>
            </p:nvSpPr>
            <p:spPr>
              <a:xfrm>
                <a:off x="7920367" y="365125"/>
                <a:ext cx="1845366" cy="1489126"/>
              </a:xfrm>
              <a:prstGeom prst="rect">
                <a:avLst/>
              </a:prstGeom>
              <a:blipFill>
                <a:blip r:embed="rId4"/>
                <a:stretch>
                  <a:fillRect l="-2740" t="-1695" b="-8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Content Placeholder 7">
                <a:extLst>
                  <a:ext uri="{FF2B5EF4-FFF2-40B4-BE49-F238E27FC236}">
                    <a16:creationId xmlns:a16="http://schemas.microsoft.com/office/drawing/2014/main" id="{21DD6F26-394E-8ADF-2AD8-C4D158C79DC5}"/>
                  </a:ext>
                </a:extLst>
              </p:cNvPr>
              <p:cNvSpPr txBox="1">
                <a:spLocks/>
              </p:cNvSpPr>
              <p:nvPr/>
            </p:nvSpPr>
            <p:spPr>
              <a:xfrm>
                <a:off x="3714994" y="1690688"/>
                <a:ext cx="5866328" cy="36896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Layer 1</a:t>
                </a:r>
                <a:r>
                  <a:rPr lang="en-US" dirty="0"/>
                  <a:t>:</a:t>
                </a:r>
              </a:p>
              <a:p>
                <a:pPr lvl="1"/>
                <a:r>
                  <a:rPr lang="en-US" dirty="0"/>
                  <a:t>Output of H1: </a:t>
                </a:r>
              </a:p>
              <a:p>
                <a:pPr lvl="2"/>
                <a14:m>
                  <m:oMath xmlns:m="http://schemas.openxmlformats.org/officeDocument/2006/math">
                    <m:sSubSup>
                      <m:sSubSupPr>
                        <m:ctrlPr>
                          <a:rPr lang="en-AU" i="1">
                            <a:latin typeface="Cambria Math" panose="02040503050406030204" pitchFamily="18" charset="0"/>
                          </a:rPr>
                        </m:ctrlPr>
                      </m:sSubSupPr>
                      <m:e>
                        <m:r>
                          <a:rPr lang="en-AU" i="1">
                            <a:latin typeface="Cambria Math" panose="02040503050406030204" pitchFamily="18" charset="0"/>
                          </a:rPr>
                          <m:t>𝑧</m:t>
                        </m:r>
                      </m:e>
                      <m:sub>
                        <m:r>
                          <a:rPr lang="en-AU" i="1">
                            <a:latin typeface="Cambria Math" panose="02040503050406030204" pitchFamily="18" charset="0"/>
                          </a:rPr>
                          <m:t>1</m:t>
                        </m:r>
                      </m:sub>
                      <m:sup>
                        <m:r>
                          <a:rPr lang="en-AU" i="1">
                            <a:latin typeface="Cambria Math" panose="02040503050406030204" pitchFamily="18" charset="0"/>
                          </a:rPr>
                          <m:t>[1]</m:t>
                        </m:r>
                      </m:sup>
                    </m:sSubSup>
                    <m:r>
                      <a:rPr lang="en-AU" i="1">
                        <a:latin typeface="Cambria Math" panose="02040503050406030204" pitchFamily="18" charset="0"/>
                      </a:rPr>
                      <m:t>=</m:t>
                    </m:r>
                    <m:r>
                      <a:rPr lang="en-AU" i="1">
                        <a:latin typeface="Cambria Math" panose="02040503050406030204" pitchFamily="18" charset="0"/>
                      </a:rPr>
                      <m:t>𝑥</m:t>
                    </m:r>
                    <m:r>
                      <a:rPr lang="en-AU" i="1">
                        <a:latin typeface="Cambria Math" panose="02040503050406030204" pitchFamily="18" charset="0"/>
                      </a:rPr>
                      <m:t>∗</m:t>
                    </m:r>
                    <m:sSubSup>
                      <m:sSubSupPr>
                        <m:ctrlPr>
                          <a:rPr lang="en-AU" i="1">
                            <a:latin typeface="Cambria Math" panose="02040503050406030204" pitchFamily="18" charset="0"/>
                          </a:rPr>
                        </m:ctrlPr>
                      </m:sSubSupPr>
                      <m:e>
                        <m:r>
                          <a:rPr lang="en-AU" i="1">
                            <a:latin typeface="Cambria Math" panose="02040503050406030204" pitchFamily="18" charset="0"/>
                          </a:rPr>
                          <m:t>𝑤</m:t>
                        </m:r>
                      </m:e>
                      <m:sub>
                        <m:r>
                          <a:rPr lang="en-AU" i="1">
                            <a:latin typeface="Cambria Math" panose="02040503050406030204" pitchFamily="18" charset="0"/>
                          </a:rPr>
                          <m:t>11</m:t>
                        </m:r>
                      </m:sub>
                      <m:sup>
                        <m:d>
                          <m:dPr>
                            <m:begChr m:val="["/>
                            <m:endChr m:val="]"/>
                            <m:ctrlPr>
                              <a:rPr lang="en-AU" i="1">
                                <a:latin typeface="Cambria Math" panose="02040503050406030204" pitchFamily="18" charset="0"/>
                              </a:rPr>
                            </m:ctrlPr>
                          </m:dPr>
                          <m:e>
                            <m:r>
                              <a:rPr lang="en-AU" i="1">
                                <a:latin typeface="Cambria Math" panose="02040503050406030204" pitchFamily="18" charset="0"/>
                              </a:rPr>
                              <m:t>1</m:t>
                            </m:r>
                          </m:e>
                        </m:d>
                      </m:sup>
                    </m:sSubSup>
                    <m:r>
                      <a:rPr lang="en-AU" i="1">
                        <a:latin typeface="Cambria Math" panose="02040503050406030204" pitchFamily="18" charset="0"/>
                      </a:rPr>
                      <m:t>+</m:t>
                    </m:r>
                    <m:sSubSup>
                      <m:sSubSupPr>
                        <m:ctrlPr>
                          <a:rPr lang="en-AU" i="1">
                            <a:latin typeface="Cambria Math" panose="02040503050406030204" pitchFamily="18" charset="0"/>
                          </a:rPr>
                        </m:ctrlPr>
                      </m:sSubSupPr>
                      <m:e>
                        <m:r>
                          <a:rPr lang="en-AU" i="1">
                            <a:latin typeface="Cambria Math" panose="02040503050406030204" pitchFamily="18" charset="0"/>
                          </a:rPr>
                          <m:t>𝑏</m:t>
                        </m:r>
                      </m:e>
                      <m:sub>
                        <m:r>
                          <a:rPr lang="en-AU" i="1">
                            <a:latin typeface="Cambria Math" panose="02040503050406030204" pitchFamily="18" charset="0"/>
                          </a:rPr>
                          <m:t>1</m:t>
                        </m:r>
                      </m:sub>
                      <m:sup>
                        <m:r>
                          <a:rPr lang="en-AU" i="1">
                            <a:latin typeface="Cambria Math" panose="02040503050406030204" pitchFamily="18" charset="0"/>
                          </a:rPr>
                          <m:t>[1]</m:t>
                        </m:r>
                      </m:sup>
                    </m:sSubSup>
                  </m:oMath>
                </a14:m>
                <a:endParaRPr lang="en-US" dirty="0"/>
              </a:p>
              <a:p>
                <a:pPr lvl="1"/>
                <a:r>
                  <a:rPr lang="en-US" dirty="0"/>
                  <a:t>Output of H2:</a:t>
                </a:r>
              </a:p>
              <a:p>
                <a:pPr lvl="2"/>
                <a14:m>
                  <m:oMath xmlns:m="http://schemas.openxmlformats.org/officeDocument/2006/math">
                    <m:sSubSup>
                      <m:sSubSupPr>
                        <m:ctrlPr>
                          <a:rPr lang="en-AU" i="1">
                            <a:latin typeface="Cambria Math" panose="02040503050406030204" pitchFamily="18" charset="0"/>
                          </a:rPr>
                        </m:ctrlPr>
                      </m:sSubSupPr>
                      <m:e>
                        <m:r>
                          <a:rPr lang="en-AU" i="1">
                            <a:latin typeface="Cambria Math" panose="02040503050406030204" pitchFamily="18" charset="0"/>
                          </a:rPr>
                          <m:t>𝑧</m:t>
                        </m:r>
                      </m:e>
                      <m:sub>
                        <m:r>
                          <a:rPr lang="en-AU" i="1">
                            <a:latin typeface="Cambria Math" panose="02040503050406030204" pitchFamily="18" charset="0"/>
                          </a:rPr>
                          <m:t>2</m:t>
                        </m:r>
                      </m:sub>
                      <m:sup>
                        <m:r>
                          <a:rPr lang="en-AU" i="1">
                            <a:latin typeface="Cambria Math" panose="02040503050406030204" pitchFamily="18" charset="0"/>
                          </a:rPr>
                          <m:t>[1]</m:t>
                        </m:r>
                      </m:sup>
                    </m:sSubSup>
                    <m:r>
                      <a:rPr lang="en-AU" i="1">
                        <a:latin typeface="Cambria Math" panose="02040503050406030204" pitchFamily="18" charset="0"/>
                      </a:rPr>
                      <m:t>=</m:t>
                    </m:r>
                    <m:r>
                      <a:rPr lang="en-AU" i="1">
                        <a:latin typeface="Cambria Math" panose="02040503050406030204" pitchFamily="18" charset="0"/>
                      </a:rPr>
                      <m:t>𝑥</m:t>
                    </m:r>
                    <m:r>
                      <a:rPr lang="en-AU" i="1">
                        <a:latin typeface="Cambria Math" panose="02040503050406030204" pitchFamily="18" charset="0"/>
                      </a:rPr>
                      <m:t>∗</m:t>
                    </m:r>
                    <m:sSubSup>
                      <m:sSubSupPr>
                        <m:ctrlPr>
                          <a:rPr lang="en-AU" i="1">
                            <a:latin typeface="Cambria Math" panose="02040503050406030204" pitchFamily="18" charset="0"/>
                          </a:rPr>
                        </m:ctrlPr>
                      </m:sSubSupPr>
                      <m:e>
                        <m:r>
                          <a:rPr lang="en-AU" i="1">
                            <a:latin typeface="Cambria Math" panose="02040503050406030204" pitchFamily="18" charset="0"/>
                          </a:rPr>
                          <m:t>𝑤</m:t>
                        </m:r>
                      </m:e>
                      <m:sub>
                        <m:r>
                          <a:rPr lang="en-AU" i="1">
                            <a:latin typeface="Cambria Math" panose="02040503050406030204" pitchFamily="18" charset="0"/>
                          </a:rPr>
                          <m:t>21</m:t>
                        </m:r>
                      </m:sub>
                      <m:sup>
                        <m:d>
                          <m:dPr>
                            <m:begChr m:val="["/>
                            <m:endChr m:val="]"/>
                            <m:ctrlPr>
                              <a:rPr lang="en-AU" i="1">
                                <a:latin typeface="Cambria Math" panose="02040503050406030204" pitchFamily="18" charset="0"/>
                              </a:rPr>
                            </m:ctrlPr>
                          </m:dPr>
                          <m:e>
                            <m:r>
                              <a:rPr lang="en-AU" i="1">
                                <a:latin typeface="Cambria Math" panose="02040503050406030204" pitchFamily="18" charset="0"/>
                              </a:rPr>
                              <m:t>1</m:t>
                            </m:r>
                          </m:e>
                        </m:d>
                      </m:sup>
                    </m:sSubSup>
                    <m:r>
                      <a:rPr lang="en-AU" i="1">
                        <a:latin typeface="Cambria Math" panose="02040503050406030204" pitchFamily="18" charset="0"/>
                      </a:rPr>
                      <m:t>+</m:t>
                    </m:r>
                    <m:sSubSup>
                      <m:sSubSupPr>
                        <m:ctrlPr>
                          <a:rPr lang="en-AU" i="1">
                            <a:latin typeface="Cambria Math" panose="02040503050406030204" pitchFamily="18" charset="0"/>
                          </a:rPr>
                        </m:ctrlPr>
                      </m:sSubSupPr>
                      <m:e>
                        <m:r>
                          <a:rPr lang="en-AU" i="1">
                            <a:latin typeface="Cambria Math" panose="02040503050406030204" pitchFamily="18" charset="0"/>
                          </a:rPr>
                          <m:t>𝑏</m:t>
                        </m:r>
                      </m:e>
                      <m:sub>
                        <m:r>
                          <a:rPr lang="en-AU" i="1">
                            <a:latin typeface="Cambria Math" panose="02040503050406030204" pitchFamily="18" charset="0"/>
                          </a:rPr>
                          <m:t>2</m:t>
                        </m:r>
                      </m:sub>
                      <m:sup>
                        <m:r>
                          <a:rPr lang="en-AU" i="1">
                            <a:latin typeface="Cambria Math" panose="02040503050406030204" pitchFamily="18" charset="0"/>
                          </a:rPr>
                          <m:t>[1]</m:t>
                        </m:r>
                      </m:sup>
                    </m:sSubSup>
                  </m:oMath>
                </a14:m>
                <a:endParaRPr lang="en-US" dirty="0"/>
              </a:p>
              <a:p>
                <a:r>
                  <a:rPr lang="en-US" b="1" dirty="0"/>
                  <a:t>Layer 2</a:t>
                </a:r>
                <a:r>
                  <a:rPr lang="en-US" dirty="0"/>
                  <a:t>:</a:t>
                </a:r>
              </a:p>
              <a:p>
                <a:pPr lvl="1"/>
                <a:r>
                  <a:rPr lang="en-US" dirty="0"/>
                  <a:t>Output node:</a:t>
                </a:r>
              </a:p>
              <a:p>
                <a:pPr lvl="2"/>
                <a14:m>
                  <m:oMath xmlns:m="http://schemas.openxmlformats.org/officeDocument/2006/math">
                    <m:sSubSup>
                      <m:sSubSupPr>
                        <m:ctrlPr>
                          <a:rPr lang="en-AU" i="1">
                            <a:latin typeface="Cambria Math" panose="02040503050406030204" pitchFamily="18" charset="0"/>
                          </a:rPr>
                        </m:ctrlPr>
                      </m:sSubSupPr>
                      <m:e>
                        <m:r>
                          <a:rPr lang="en-AU" i="1">
                            <a:latin typeface="Cambria Math" panose="02040503050406030204" pitchFamily="18" charset="0"/>
                          </a:rPr>
                          <m:t>𝑧</m:t>
                        </m:r>
                      </m:e>
                      <m:sub>
                        <m:r>
                          <a:rPr lang="en-AU" i="1">
                            <a:latin typeface="Cambria Math" panose="02040503050406030204" pitchFamily="18" charset="0"/>
                          </a:rPr>
                          <m:t>1</m:t>
                        </m:r>
                      </m:sub>
                      <m:sup>
                        <m:r>
                          <a:rPr lang="en-AU" i="1">
                            <a:latin typeface="Cambria Math" panose="02040503050406030204" pitchFamily="18" charset="0"/>
                          </a:rPr>
                          <m:t>[2]</m:t>
                        </m:r>
                      </m:sup>
                    </m:sSubSup>
                    <m:r>
                      <a:rPr lang="en-AU" i="1">
                        <a:latin typeface="Cambria Math" panose="02040503050406030204" pitchFamily="18" charset="0"/>
                      </a:rPr>
                      <m:t>=</m:t>
                    </m:r>
                    <m:sSubSup>
                      <m:sSubSupPr>
                        <m:ctrlPr>
                          <a:rPr lang="en-AU" i="1">
                            <a:latin typeface="Cambria Math" panose="02040503050406030204" pitchFamily="18" charset="0"/>
                          </a:rPr>
                        </m:ctrlPr>
                      </m:sSubSupPr>
                      <m:e>
                        <m:r>
                          <a:rPr lang="en-AU" i="1">
                            <a:latin typeface="Cambria Math" panose="02040503050406030204" pitchFamily="18" charset="0"/>
                          </a:rPr>
                          <m:t>𝑧</m:t>
                        </m:r>
                      </m:e>
                      <m:sub>
                        <m:r>
                          <a:rPr lang="en-AU" i="1">
                            <a:latin typeface="Cambria Math" panose="02040503050406030204" pitchFamily="18" charset="0"/>
                          </a:rPr>
                          <m:t>1</m:t>
                        </m:r>
                      </m:sub>
                      <m:sup>
                        <m:r>
                          <a:rPr lang="en-AU" i="1">
                            <a:latin typeface="Cambria Math" panose="02040503050406030204" pitchFamily="18" charset="0"/>
                          </a:rPr>
                          <m:t>[1]</m:t>
                        </m:r>
                      </m:sup>
                    </m:sSubSup>
                    <m:r>
                      <a:rPr lang="en-AU" i="1">
                        <a:latin typeface="Cambria Math" panose="02040503050406030204" pitchFamily="18" charset="0"/>
                      </a:rPr>
                      <m:t>∗</m:t>
                    </m:r>
                    <m:sSubSup>
                      <m:sSubSupPr>
                        <m:ctrlPr>
                          <a:rPr lang="en-AU" i="1">
                            <a:latin typeface="Cambria Math" panose="02040503050406030204" pitchFamily="18" charset="0"/>
                          </a:rPr>
                        </m:ctrlPr>
                      </m:sSubSupPr>
                      <m:e>
                        <m:r>
                          <a:rPr lang="en-AU" i="1">
                            <a:latin typeface="Cambria Math" panose="02040503050406030204" pitchFamily="18" charset="0"/>
                          </a:rPr>
                          <m:t>𝑤</m:t>
                        </m:r>
                      </m:e>
                      <m:sub>
                        <m:r>
                          <a:rPr lang="en-AU" i="1">
                            <a:latin typeface="Cambria Math" panose="02040503050406030204" pitchFamily="18" charset="0"/>
                          </a:rPr>
                          <m:t>11</m:t>
                        </m:r>
                      </m:sub>
                      <m:sup>
                        <m:d>
                          <m:dPr>
                            <m:begChr m:val="["/>
                            <m:endChr m:val="]"/>
                            <m:ctrlPr>
                              <a:rPr lang="en-AU" i="1">
                                <a:latin typeface="Cambria Math" panose="02040503050406030204" pitchFamily="18" charset="0"/>
                              </a:rPr>
                            </m:ctrlPr>
                          </m:dPr>
                          <m:e>
                            <m:r>
                              <a:rPr lang="en-AU" i="1">
                                <a:latin typeface="Cambria Math" panose="02040503050406030204" pitchFamily="18" charset="0"/>
                              </a:rPr>
                              <m:t>2</m:t>
                            </m:r>
                          </m:e>
                        </m:d>
                      </m:sup>
                    </m:sSubSup>
                  </m:oMath>
                </a14:m>
                <a:r>
                  <a:rPr lang="en-US" dirty="0"/>
                  <a:t>+ </a:t>
                </a:r>
                <a14:m>
                  <m:oMath xmlns:m="http://schemas.openxmlformats.org/officeDocument/2006/math">
                    <m:sSubSup>
                      <m:sSubSupPr>
                        <m:ctrlPr>
                          <a:rPr lang="en-AU" i="1">
                            <a:latin typeface="Cambria Math" panose="02040503050406030204" pitchFamily="18" charset="0"/>
                          </a:rPr>
                        </m:ctrlPr>
                      </m:sSubSupPr>
                      <m:e>
                        <m:r>
                          <a:rPr lang="en-AU" i="1">
                            <a:latin typeface="Cambria Math" panose="02040503050406030204" pitchFamily="18" charset="0"/>
                          </a:rPr>
                          <m:t>𝑧</m:t>
                        </m:r>
                      </m:e>
                      <m:sub>
                        <m:r>
                          <a:rPr lang="en-AU" i="1">
                            <a:latin typeface="Cambria Math" panose="02040503050406030204" pitchFamily="18" charset="0"/>
                          </a:rPr>
                          <m:t>2</m:t>
                        </m:r>
                      </m:sub>
                      <m:sup>
                        <m:r>
                          <a:rPr lang="en-AU" i="1">
                            <a:latin typeface="Cambria Math" panose="02040503050406030204" pitchFamily="18" charset="0"/>
                          </a:rPr>
                          <m:t>[1]</m:t>
                        </m:r>
                      </m:sup>
                    </m:sSubSup>
                    <m:r>
                      <a:rPr lang="en-AU" i="1">
                        <a:latin typeface="Cambria Math" panose="02040503050406030204" pitchFamily="18" charset="0"/>
                      </a:rPr>
                      <m:t> ∗</m:t>
                    </m:r>
                    <m:sSubSup>
                      <m:sSubSupPr>
                        <m:ctrlPr>
                          <a:rPr lang="en-AU" i="1">
                            <a:latin typeface="Cambria Math" panose="02040503050406030204" pitchFamily="18" charset="0"/>
                          </a:rPr>
                        </m:ctrlPr>
                      </m:sSubSupPr>
                      <m:e>
                        <m:r>
                          <a:rPr lang="en-AU" i="1">
                            <a:latin typeface="Cambria Math" panose="02040503050406030204" pitchFamily="18" charset="0"/>
                          </a:rPr>
                          <m:t>𝑤</m:t>
                        </m:r>
                      </m:e>
                      <m:sub>
                        <m:r>
                          <a:rPr lang="en-AU" i="1">
                            <a:latin typeface="Cambria Math" panose="02040503050406030204" pitchFamily="18" charset="0"/>
                          </a:rPr>
                          <m:t>12</m:t>
                        </m:r>
                      </m:sub>
                      <m:sup>
                        <m:d>
                          <m:dPr>
                            <m:begChr m:val="["/>
                            <m:endChr m:val="]"/>
                            <m:ctrlPr>
                              <a:rPr lang="en-AU" i="1">
                                <a:latin typeface="Cambria Math" panose="02040503050406030204" pitchFamily="18" charset="0"/>
                              </a:rPr>
                            </m:ctrlPr>
                          </m:dPr>
                          <m:e>
                            <m:r>
                              <a:rPr lang="en-AU" i="1">
                                <a:latin typeface="Cambria Math" panose="02040503050406030204" pitchFamily="18" charset="0"/>
                              </a:rPr>
                              <m:t>2</m:t>
                            </m:r>
                          </m:e>
                        </m:d>
                      </m:sup>
                    </m:sSubSup>
                    <m:r>
                      <a:rPr lang="en-AU" i="1">
                        <a:latin typeface="Cambria Math" panose="02040503050406030204" pitchFamily="18" charset="0"/>
                      </a:rPr>
                      <m:t>+</m:t>
                    </m:r>
                    <m:sSubSup>
                      <m:sSubSupPr>
                        <m:ctrlPr>
                          <a:rPr lang="en-AU" i="1">
                            <a:latin typeface="Cambria Math" panose="02040503050406030204" pitchFamily="18" charset="0"/>
                          </a:rPr>
                        </m:ctrlPr>
                      </m:sSubSupPr>
                      <m:e>
                        <m:r>
                          <a:rPr lang="en-AU" i="1">
                            <a:latin typeface="Cambria Math" panose="02040503050406030204" pitchFamily="18" charset="0"/>
                          </a:rPr>
                          <m:t>𝑏</m:t>
                        </m:r>
                      </m:e>
                      <m:sub>
                        <m:r>
                          <a:rPr lang="en-AU" i="1">
                            <a:latin typeface="Cambria Math" panose="02040503050406030204" pitchFamily="18" charset="0"/>
                          </a:rPr>
                          <m:t>1</m:t>
                        </m:r>
                      </m:sub>
                      <m:sup>
                        <m:d>
                          <m:dPr>
                            <m:begChr m:val="["/>
                            <m:endChr m:val="]"/>
                            <m:ctrlPr>
                              <a:rPr lang="en-AU" i="1">
                                <a:latin typeface="Cambria Math" panose="02040503050406030204" pitchFamily="18" charset="0"/>
                              </a:rPr>
                            </m:ctrlPr>
                          </m:dPr>
                          <m:e>
                            <m:r>
                              <a:rPr lang="en-AU" i="1">
                                <a:latin typeface="Cambria Math" panose="02040503050406030204" pitchFamily="18" charset="0"/>
                              </a:rPr>
                              <m:t>2</m:t>
                            </m:r>
                          </m:e>
                        </m:d>
                      </m:sup>
                    </m:sSubSup>
                    <m:r>
                      <a:rPr lang="en-AU" i="1">
                        <a:latin typeface="Cambria Math" panose="02040503050406030204" pitchFamily="18" charset="0"/>
                      </a:rPr>
                      <m:t>=</m:t>
                    </m:r>
                    <m:acc>
                      <m:accPr>
                        <m:chr m:val="̂"/>
                        <m:ctrlPr>
                          <a:rPr lang="en-AU" i="1">
                            <a:latin typeface="Cambria Math" panose="02040503050406030204" pitchFamily="18" charset="0"/>
                          </a:rPr>
                        </m:ctrlPr>
                      </m:accPr>
                      <m:e>
                        <m:r>
                          <a:rPr lang="en-AU" i="1">
                            <a:latin typeface="Cambria Math" panose="02040503050406030204" pitchFamily="18" charset="0"/>
                          </a:rPr>
                          <m:t>𝑦</m:t>
                        </m:r>
                      </m:e>
                    </m:acc>
                  </m:oMath>
                </a14:m>
                <a:endParaRPr lang="en-US" dirty="0"/>
              </a:p>
            </p:txBody>
          </p:sp>
        </mc:Choice>
        <mc:Fallback xmlns="">
          <p:sp>
            <p:nvSpPr>
              <p:cNvPr id="11" name="Content Placeholder 7">
                <a:extLst>
                  <a:ext uri="{FF2B5EF4-FFF2-40B4-BE49-F238E27FC236}">
                    <a16:creationId xmlns:a16="http://schemas.microsoft.com/office/drawing/2014/main" id="{21DD6F26-394E-8ADF-2AD8-C4D158C79DC5}"/>
                  </a:ext>
                </a:extLst>
              </p:cNvPr>
              <p:cNvSpPr txBox="1">
                <a:spLocks noRot="1" noChangeAspect="1" noMove="1" noResize="1" noEditPoints="1" noAdjustHandles="1" noChangeArrowheads="1" noChangeShapeType="1" noTextEdit="1"/>
              </p:cNvSpPr>
              <p:nvPr/>
            </p:nvSpPr>
            <p:spPr>
              <a:xfrm>
                <a:off x="3714994" y="1690688"/>
                <a:ext cx="5866328" cy="3689695"/>
              </a:xfrm>
              <a:prstGeom prst="rect">
                <a:avLst/>
              </a:prstGeom>
              <a:blipFill>
                <a:blip r:embed="rId5"/>
                <a:stretch>
                  <a:fillRect l="-1728" t="-274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48ECD1A-F97B-C57B-CB83-200061CC47E5}"/>
                  </a:ext>
                </a:extLst>
              </p:cNvPr>
              <p:cNvSpPr txBox="1"/>
              <p:nvPr/>
            </p:nvSpPr>
            <p:spPr>
              <a:xfrm>
                <a:off x="4134678" y="5708896"/>
                <a:ext cx="6917635" cy="552972"/>
              </a:xfrm>
              <a:prstGeom prst="rect">
                <a:avLst/>
              </a:prstGeom>
              <a:noFill/>
            </p:spPr>
            <p:txBody>
              <a:bodyPr wrap="square" rtlCol="0">
                <a:spAutoFit/>
              </a:bodyPr>
              <a:lstStyle/>
              <a:p>
                <a:pPr/>
                <a14:m>
                  <m:oMathPara xmlns:m="http://schemas.openxmlformats.org/officeDocument/2006/math">
                    <m:oMath>
                      <m:acc>
                        <m:accPr>
                          <m:chr m:val="̂"/>
                          <m:ctrlPr>
                            <a:rPr lang="en-AU" sz="2000" i="1">
                              <a:latin typeface="Cambria Math" panose="02040503050406030204" pitchFamily="18" charset="0"/>
                            </a:rPr>
                          </m:ctrlPr>
                        </m:accPr>
                        <m:e>
                          <m:r>
                            <a:rPr lang="en-AU" sz="2000" i="1">
                              <a:latin typeface="Cambria Math" panose="02040503050406030204" pitchFamily="18" charset="0"/>
                            </a:rPr>
                            <m:t>𝑦</m:t>
                          </m:r>
                        </m:e>
                      </m:acc>
                      <m:r>
                        <a:rPr lang="en-AU" sz="2000" i="1">
                          <a:latin typeface="Cambria Math" panose="02040503050406030204" pitchFamily="18" charset="0"/>
                        </a:rPr>
                        <m:t>=</m:t>
                      </m:r>
                      <m:d>
                        <m:dPr>
                          <m:ctrlPr>
                            <a:rPr lang="en-AU" sz="2000" i="1">
                              <a:latin typeface="Cambria Math" panose="02040503050406030204" pitchFamily="18" charset="0"/>
                            </a:rPr>
                          </m:ctrlPr>
                        </m:dPr>
                        <m:e>
                          <m:r>
                            <a:rPr lang="en-AU" sz="2000" i="1">
                              <a:latin typeface="Cambria Math" panose="02040503050406030204" pitchFamily="18" charset="0"/>
                            </a:rPr>
                            <m:t>𝑥</m:t>
                          </m:r>
                          <m:r>
                            <a:rPr lang="en-AU" sz="2000" i="1">
                              <a:latin typeface="Cambria Math" panose="02040503050406030204" pitchFamily="18" charset="0"/>
                            </a:rPr>
                            <m:t>∗</m:t>
                          </m:r>
                          <m:sSubSup>
                            <m:sSubSupPr>
                              <m:ctrlPr>
                                <a:rPr lang="en-AU" sz="2000" i="1">
                                  <a:latin typeface="Cambria Math" panose="02040503050406030204" pitchFamily="18" charset="0"/>
                                </a:rPr>
                              </m:ctrlPr>
                            </m:sSubSupPr>
                            <m:e>
                              <m:r>
                                <a:rPr lang="en-AU" sz="2000" i="1">
                                  <a:latin typeface="Cambria Math" panose="02040503050406030204" pitchFamily="18" charset="0"/>
                                </a:rPr>
                                <m:t>𝑤</m:t>
                              </m:r>
                            </m:e>
                            <m:sub>
                              <m:r>
                                <a:rPr lang="en-AU" sz="2000" i="1">
                                  <a:latin typeface="Cambria Math" panose="02040503050406030204" pitchFamily="18" charset="0"/>
                                </a:rPr>
                                <m:t>11</m:t>
                              </m:r>
                            </m:sub>
                            <m:sup>
                              <m:d>
                                <m:dPr>
                                  <m:begChr m:val="["/>
                                  <m:endChr m:val="]"/>
                                  <m:ctrlPr>
                                    <a:rPr lang="en-AU" sz="2000" i="1">
                                      <a:latin typeface="Cambria Math" panose="02040503050406030204" pitchFamily="18" charset="0"/>
                                    </a:rPr>
                                  </m:ctrlPr>
                                </m:dPr>
                                <m:e>
                                  <m:r>
                                    <a:rPr lang="en-AU" sz="2000" i="1">
                                      <a:latin typeface="Cambria Math" panose="02040503050406030204" pitchFamily="18" charset="0"/>
                                    </a:rPr>
                                    <m:t>1</m:t>
                                  </m:r>
                                </m:e>
                              </m:d>
                            </m:sup>
                          </m:sSubSup>
                          <m:r>
                            <a:rPr lang="en-AU" sz="2000" i="1">
                              <a:latin typeface="Cambria Math" panose="02040503050406030204" pitchFamily="18" charset="0"/>
                            </a:rPr>
                            <m:t>+</m:t>
                          </m:r>
                          <m:sSubSup>
                            <m:sSubSupPr>
                              <m:ctrlPr>
                                <a:rPr lang="en-AU" sz="2000" i="1">
                                  <a:latin typeface="Cambria Math" panose="02040503050406030204" pitchFamily="18" charset="0"/>
                                </a:rPr>
                              </m:ctrlPr>
                            </m:sSubSupPr>
                            <m:e>
                              <m:r>
                                <a:rPr lang="en-AU" sz="2000" i="1">
                                  <a:latin typeface="Cambria Math" panose="02040503050406030204" pitchFamily="18" charset="0"/>
                                </a:rPr>
                                <m:t>𝑏</m:t>
                              </m:r>
                            </m:e>
                            <m:sub>
                              <m:r>
                                <a:rPr lang="en-AU" sz="2000" i="1">
                                  <a:latin typeface="Cambria Math" panose="02040503050406030204" pitchFamily="18" charset="0"/>
                                </a:rPr>
                                <m:t>1</m:t>
                              </m:r>
                            </m:sub>
                            <m:sup>
                              <m:d>
                                <m:dPr>
                                  <m:begChr m:val="["/>
                                  <m:endChr m:val="]"/>
                                  <m:ctrlPr>
                                    <a:rPr lang="en-AU" sz="2000" i="1">
                                      <a:latin typeface="Cambria Math" panose="02040503050406030204" pitchFamily="18" charset="0"/>
                                    </a:rPr>
                                  </m:ctrlPr>
                                </m:dPr>
                                <m:e>
                                  <m:r>
                                    <a:rPr lang="en-AU" sz="2000" i="1">
                                      <a:latin typeface="Cambria Math" panose="02040503050406030204" pitchFamily="18" charset="0"/>
                                    </a:rPr>
                                    <m:t>1</m:t>
                                  </m:r>
                                </m:e>
                              </m:d>
                            </m:sup>
                          </m:sSubSup>
                        </m:e>
                      </m:d>
                      <m:r>
                        <a:rPr lang="en-AU" sz="2000" i="1">
                          <a:latin typeface="Cambria Math" panose="02040503050406030204" pitchFamily="18" charset="0"/>
                        </a:rPr>
                        <m:t>∗</m:t>
                      </m:r>
                      <m:sSubSup>
                        <m:sSubSupPr>
                          <m:ctrlPr>
                            <a:rPr lang="en-AU" sz="2000" i="1">
                              <a:latin typeface="Cambria Math" panose="02040503050406030204" pitchFamily="18" charset="0"/>
                            </a:rPr>
                          </m:ctrlPr>
                        </m:sSubSupPr>
                        <m:e>
                          <m:r>
                            <a:rPr lang="en-AU" sz="2000" i="1">
                              <a:latin typeface="Cambria Math" panose="02040503050406030204" pitchFamily="18" charset="0"/>
                            </a:rPr>
                            <m:t>𝑤</m:t>
                          </m:r>
                        </m:e>
                        <m:sub>
                          <m:r>
                            <a:rPr lang="en-AU" sz="2000" i="1">
                              <a:latin typeface="Cambria Math" panose="02040503050406030204" pitchFamily="18" charset="0"/>
                            </a:rPr>
                            <m:t>11</m:t>
                          </m:r>
                        </m:sub>
                        <m:sup>
                          <m:d>
                            <m:dPr>
                              <m:begChr m:val="["/>
                              <m:endChr m:val="]"/>
                              <m:ctrlPr>
                                <a:rPr lang="en-AU" sz="2000" i="1">
                                  <a:latin typeface="Cambria Math" panose="02040503050406030204" pitchFamily="18" charset="0"/>
                                </a:rPr>
                              </m:ctrlPr>
                            </m:dPr>
                            <m:e>
                              <m:r>
                                <a:rPr lang="en-AU" sz="2000" i="1">
                                  <a:latin typeface="Cambria Math" panose="02040503050406030204" pitchFamily="18" charset="0"/>
                                </a:rPr>
                                <m:t>2</m:t>
                              </m:r>
                            </m:e>
                          </m:d>
                        </m:sup>
                      </m:sSubSup>
                      <m:r>
                        <a:rPr lang="en-AU" sz="2000" b="0" i="1" smtClean="0">
                          <a:latin typeface="Cambria Math" panose="02040503050406030204" pitchFamily="18" charset="0"/>
                        </a:rPr>
                        <m:t>+</m:t>
                      </m:r>
                      <m:d>
                        <m:dPr>
                          <m:ctrlPr>
                            <a:rPr lang="en-AU" sz="2000" i="1">
                              <a:latin typeface="Cambria Math" panose="02040503050406030204" pitchFamily="18" charset="0"/>
                            </a:rPr>
                          </m:ctrlPr>
                        </m:dPr>
                        <m:e>
                          <m:r>
                            <a:rPr lang="en-AU" sz="2000" i="1">
                              <a:latin typeface="Cambria Math" panose="02040503050406030204" pitchFamily="18" charset="0"/>
                            </a:rPr>
                            <m:t>𝑥</m:t>
                          </m:r>
                          <m:r>
                            <a:rPr lang="en-AU" sz="2000" i="1">
                              <a:latin typeface="Cambria Math" panose="02040503050406030204" pitchFamily="18" charset="0"/>
                            </a:rPr>
                            <m:t>∗</m:t>
                          </m:r>
                          <m:sSubSup>
                            <m:sSubSupPr>
                              <m:ctrlPr>
                                <a:rPr lang="en-AU" sz="2000" i="1">
                                  <a:latin typeface="Cambria Math" panose="02040503050406030204" pitchFamily="18" charset="0"/>
                                </a:rPr>
                              </m:ctrlPr>
                            </m:sSubSupPr>
                            <m:e>
                              <m:r>
                                <a:rPr lang="en-AU" sz="2000" i="1">
                                  <a:latin typeface="Cambria Math" panose="02040503050406030204" pitchFamily="18" charset="0"/>
                                </a:rPr>
                                <m:t>𝑤</m:t>
                              </m:r>
                            </m:e>
                            <m:sub>
                              <m:r>
                                <a:rPr lang="en-AU" sz="2000" i="1">
                                  <a:latin typeface="Cambria Math" panose="02040503050406030204" pitchFamily="18" charset="0"/>
                                </a:rPr>
                                <m:t>21</m:t>
                              </m:r>
                            </m:sub>
                            <m:sup>
                              <m:d>
                                <m:dPr>
                                  <m:begChr m:val="["/>
                                  <m:endChr m:val="]"/>
                                  <m:ctrlPr>
                                    <a:rPr lang="en-AU" sz="2000" i="1">
                                      <a:latin typeface="Cambria Math" panose="02040503050406030204" pitchFamily="18" charset="0"/>
                                    </a:rPr>
                                  </m:ctrlPr>
                                </m:dPr>
                                <m:e>
                                  <m:r>
                                    <a:rPr lang="en-AU" sz="2000" i="1">
                                      <a:latin typeface="Cambria Math" panose="02040503050406030204" pitchFamily="18" charset="0"/>
                                    </a:rPr>
                                    <m:t>1</m:t>
                                  </m:r>
                                </m:e>
                              </m:d>
                            </m:sup>
                          </m:sSubSup>
                          <m:r>
                            <a:rPr lang="en-AU" sz="2000" i="1">
                              <a:latin typeface="Cambria Math" panose="02040503050406030204" pitchFamily="18" charset="0"/>
                            </a:rPr>
                            <m:t>+</m:t>
                          </m:r>
                          <m:sSubSup>
                            <m:sSubSupPr>
                              <m:ctrlPr>
                                <a:rPr lang="en-AU" sz="2000" i="1">
                                  <a:latin typeface="Cambria Math" panose="02040503050406030204" pitchFamily="18" charset="0"/>
                                </a:rPr>
                              </m:ctrlPr>
                            </m:sSubSupPr>
                            <m:e>
                              <m:r>
                                <a:rPr lang="en-AU" sz="2000" i="1">
                                  <a:latin typeface="Cambria Math" panose="02040503050406030204" pitchFamily="18" charset="0"/>
                                </a:rPr>
                                <m:t>𝑏</m:t>
                              </m:r>
                            </m:e>
                            <m:sub>
                              <m:r>
                                <a:rPr lang="en-AU" sz="2000" i="1">
                                  <a:latin typeface="Cambria Math" panose="02040503050406030204" pitchFamily="18" charset="0"/>
                                </a:rPr>
                                <m:t>2</m:t>
                              </m:r>
                            </m:sub>
                            <m:sup>
                              <m:d>
                                <m:dPr>
                                  <m:begChr m:val="["/>
                                  <m:endChr m:val="]"/>
                                  <m:ctrlPr>
                                    <a:rPr lang="en-AU" sz="2000" i="1">
                                      <a:latin typeface="Cambria Math" panose="02040503050406030204" pitchFamily="18" charset="0"/>
                                    </a:rPr>
                                  </m:ctrlPr>
                                </m:dPr>
                                <m:e>
                                  <m:r>
                                    <a:rPr lang="en-AU" sz="2000" i="1">
                                      <a:latin typeface="Cambria Math" panose="02040503050406030204" pitchFamily="18" charset="0"/>
                                    </a:rPr>
                                    <m:t>1</m:t>
                                  </m:r>
                                </m:e>
                              </m:d>
                            </m:sup>
                          </m:sSubSup>
                        </m:e>
                      </m:d>
                      <m:r>
                        <a:rPr lang="en-AU" sz="2000" i="1">
                          <a:latin typeface="Cambria Math" panose="02040503050406030204" pitchFamily="18" charset="0"/>
                        </a:rPr>
                        <m:t>∗</m:t>
                      </m:r>
                      <m:sSubSup>
                        <m:sSubSupPr>
                          <m:ctrlPr>
                            <a:rPr lang="en-AU" sz="2000" i="1">
                              <a:latin typeface="Cambria Math" panose="02040503050406030204" pitchFamily="18" charset="0"/>
                            </a:rPr>
                          </m:ctrlPr>
                        </m:sSubSupPr>
                        <m:e>
                          <m:r>
                            <a:rPr lang="en-AU" sz="2000" i="1">
                              <a:latin typeface="Cambria Math" panose="02040503050406030204" pitchFamily="18" charset="0"/>
                            </a:rPr>
                            <m:t>𝑤</m:t>
                          </m:r>
                        </m:e>
                        <m:sub>
                          <m:r>
                            <a:rPr lang="en-AU" sz="2000" i="1">
                              <a:latin typeface="Cambria Math" panose="02040503050406030204" pitchFamily="18" charset="0"/>
                            </a:rPr>
                            <m:t>12</m:t>
                          </m:r>
                        </m:sub>
                        <m:sup>
                          <m:d>
                            <m:dPr>
                              <m:begChr m:val="["/>
                              <m:endChr m:val="]"/>
                              <m:ctrlPr>
                                <a:rPr lang="en-AU" sz="2000" i="1">
                                  <a:latin typeface="Cambria Math" panose="02040503050406030204" pitchFamily="18" charset="0"/>
                                </a:rPr>
                              </m:ctrlPr>
                            </m:dPr>
                            <m:e>
                              <m:r>
                                <a:rPr lang="en-AU" sz="2000" i="1">
                                  <a:latin typeface="Cambria Math" panose="02040503050406030204" pitchFamily="18" charset="0"/>
                                </a:rPr>
                                <m:t>2</m:t>
                              </m:r>
                            </m:e>
                          </m:d>
                        </m:sup>
                      </m:sSubSup>
                      <m:r>
                        <a:rPr lang="en-AU" sz="2000" i="1">
                          <a:latin typeface="Cambria Math" panose="02040503050406030204" pitchFamily="18" charset="0"/>
                        </a:rPr>
                        <m:t>+</m:t>
                      </m:r>
                      <m:sSubSup>
                        <m:sSubSupPr>
                          <m:ctrlPr>
                            <a:rPr lang="en-AU" sz="2000" i="1">
                              <a:latin typeface="Cambria Math" panose="02040503050406030204" pitchFamily="18" charset="0"/>
                            </a:rPr>
                          </m:ctrlPr>
                        </m:sSubSupPr>
                        <m:e>
                          <m:r>
                            <a:rPr lang="en-AU" sz="2000" i="1">
                              <a:latin typeface="Cambria Math" panose="02040503050406030204" pitchFamily="18" charset="0"/>
                            </a:rPr>
                            <m:t>𝑏</m:t>
                          </m:r>
                        </m:e>
                        <m:sub>
                          <m:r>
                            <a:rPr lang="en-AU" sz="2000" i="1">
                              <a:latin typeface="Cambria Math" panose="02040503050406030204" pitchFamily="18" charset="0"/>
                            </a:rPr>
                            <m:t>1</m:t>
                          </m:r>
                        </m:sub>
                        <m:sup>
                          <m:d>
                            <m:dPr>
                              <m:begChr m:val="["/>
                              <m:endChr m:val="]"/>
                              <m:ctrlPr>
                                <a:rPr lang="en-AU" sz="2000" i="1">
                                  <a:latin typeface="Cambria Math" panose="02040503050406030204" pitchFamily="18" charset="0"/>
                                </a:rPr>
                              </m:ctrlPr>
                            </m:dPr>
                            <m:e>
                              <m:r>
                                <a:rPr lang="en-AU" sz="2000" i="1">
                                  <a:latin typeface="Cambria Math" panose="02040503050406030204" pitchFamily="18" charset="0"/>
                                </a:rPr>
                                <m:t>2</m:t>
                              </m:r>
                            </m:e>
                          </m:d>
                        </m:sup>
                      </m:sSubSup>
                    </m:oMath>
                  </m:oMathPara>
                </a14:m>
                <a:endParaRPr lang="en-US" sz="2000" dirty="0"/>
              </a:p>
            </p:txBody>
          </p:sp>
        </mc:Choice>
        <mc:Fallback xmlns="">
          <p:sp>
            <p:nvSpPr>
              <p:cNvPr id="12" name="TextBox 11">
                <a:extLst>
                  <a:ext uri="{FF2B5EF4-FFF2-40B4-BE49-F238E27FC236}">
                    <a16:creationId xmlns:a16="http://schemas.microsoft.com/office/drawing/2014/main" id="{D48ECD1A-F97B-C57B-CB83-200061CC47E5}"/>
                  </a:ext>
                </a:extLst>
              </p:cNvPr>
              <p:cNvSpPr txBox="1">
                <a:spLocks noRot="1" noChangeAspect="1" noMove="1" noResize="1" noEditPoints="1" noAdjustHandles="1" noChangeArrowheads="1" noChangeShapeType="1" noTextEdit="1"/>
              </p:cNvSpPr>
              <p:nvPr/>
            </p:nvSpPr>
            <p:spPr>
              <a:xfrm>
                <a:off x="4134678" y="5708896"/>
                <a:ext cx="6917635" cy="552972"/>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98223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13C91-ACE7-998E-3015-FF73EE763E37}"/>
              </a:ext>
            </a:extLst>
          </p:cNvPr>
          <p:cNvSpPr>
            <a:spLocks noGrp="1"/>
          </p:cNvSpPr>
          <p:nvPr>
            <p:ph type="title"/>
          </p:nvPr>
        </p:nvSpPr>
        <p:spPr>
          <a:xfrm>
            <a:off x="838200" y="365125"/>
            <a:ext cx="10515600" cy="827571"/>
          </a:xfrm>
        </p:spPr>
        <p:txBody>
          <a:bodyPr/>
          <a:lstStyle/>
          <a:p>
            <a:r>
              <a:rPr lang="en-US" b="1" dirty="0"/>
              <a:t>Computation in NN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437CD6A-7448-54A2-50D1-856CE61D3247}"/>
                  </a:ext>
                </a:extLst>
              </p:cNvPr>
              <p:cNvSpPr>
                <a:spLocks noGrp="1"/>
              </p:cNvSpPr>
              <p:nvPr>
                <p:ph idx="1"/>
              </p:nvPr>
            </p:nvSpPr>
            <p:spPr>
              <a:xfrm>
                <a:off x="838200" y="2248351"/>
                <a:ext cx="5920409" cy="3928611"/>
              </a:xfrm>
            </p:spPr>
            <p:txBody>
              <a:bodyPr/>
              <a:lstStyle/>
              <a:p>
                <a:r>
                  <a:rPr lang="en-US" dirty="0"/>
                  <a:t>Start with random values of the parameters</a:t>
                </a:r>
              </a:p>
              <a:p>
                <a:r>
                  <a:rPr lang="en-US" dirty="0"/>
                  <a:t>Repeat</a:t>
                </a:r>
              </a:p>
              <a:p>
                <a:pPr lvl="1"/>
                <a:r>
                  <a:rPr lang="en-US" dirty="0"/>
                  <a:t>Compute </a:t>
                </a:r>
                <a14:m>
                  <m:oMath xmlns:m="http://schemas.openxmlformats.org/officeDocument/2006/math">
                    <m:acc>
                      <m:accPr>
                        <m:chr m:val="̂"/>
                        <m:ctrlPr>
                          <a:rPr lang="en-AU" b="0" i="1" smtClean="0">
                            <a:latin typeface="Cambria Math" panose="02040503050406030204" pitchFamily="18" charset="0"/>
                          </a:rPr>
                        </m:ctrlPr>
                      </m:accPr>
                      <m:e>
                        <m:r>
                          <a:rPr lang="en-AU" b="0" i="1" smtClean="0">
                            <a:latin typeface="Cambria Math" panose="02040503050406030204" pitchFamily="18" charset="0"/>
                          </a:rPr>
                          <m:t>𝑦</m:t>
                        </m:r>
                      </m:e>
                    </m:acc>
                  </m:oMath>
                </a14:m>
                <a:endParaRPr lang="en-AU" dirty="0"/>
              </a:p>
              <a:p>
                <a:pPr lvl="1"/>
                <a:r>
                  <a:rPr lang="en-US" dirty="0"/>
                  <a:t>Compute loss </a:t>
                </a:r>
                <a14:m>
                  <m:oMath xmlns:m="http://schemas.openxmlformats.org/officeDocument/2006/math">
                    <m:r>
                      <a:rPr lang="en-AU" b="0" i="1" smtClean="0">
                        <a:latin typeface="Cambria Math" panose="02040503050406030204" pitchFamily="18" charset="0"/>
                      </a:rPr>
                      <m:t>𝐿</m:t>
                    </m:r>
                    <m:r>
                      <a:rPr lang="en-AU" b="0" i="1" smtClean="0">
                        <a:latin typeface="Cambria Math" panose="02040503050406030204" pitchFamily="18" charset="0"/>
                      </a:rPr>
                      <m:t>=</m:t>
                    </m:r>
                    <m:f>
                      <m:fPr>
                        <m:ctrlPr>
                          <a:rPr lang="en-AU" b="0" i="1" smtClean="0">
                            <a:latin typeface="Cambria Math" panose="02040503050406030204" pitchFamily="18" charset="0"/>
                          </a:rPr>
                        </m:ctrlPr>
                      </m:fPr>
                      <m:num>
                        <m:r>
                          <a:rPr lang="en-AU" b="0" i="1" smtClean="0">
                            <a:latin typeface="Cambria Math" panose="02040503050406030204" pitchFamily="18" charset="0"/>
                          </a:rPr>
                          <m:t>1</m:t>
                        </m:r>
                      </m:num>
                      <m:den>
                        <m:r>
                          <a:rPr lang="en-AU" b="0" i="1" smtClean="0">
                            <a:latin typeface="Cambria Math" panose="02040503050406030204" pitchFamily="18" charset="0"/>
                          </a:rPr>
                          <m:t>𝑁</m:t>
                        </m:r>
                      </m:den>
                    </m:f>
                    <m:nary>
                      <m:naryPr>
                        <m:chr m:val="∑"/>
                        <m:supHide m:val="on"/>
                        <m:ctrlPr>
                          <a:rPr lang="en-AU" b="0" i="1" smtClean="0">
                            <a:latin typeface="Cambria Math" panose="02040503050406030204" pitchFamily="18" charset="0"/>
                          </a:rPr>
                        </m:ctrlPr>
                      </m:naryPr>
                      <m:sub>
                        <m:r>
                          <a:rPr lang="en-AU" b="0" i="1" smtClean="0">
                            <a:latin typeface="Cambria Math" panose="02040503050406030204" pitchFamily="18" charset="0"/>
                          </a:rPr>
                          <m:t>𝑖</m:t>
                        </m:r>
                      </m:sub>
                      <m:sup/>
                      <m:e>
                        <m:sSub>
                          <m:sSubPr>
                            <m:ctrlPr>
                              <a:rPr lang="en-AU" b="0" i="1" smtClean="0">
                                <a:latin typeface="Cambria Math" panose="02040503050406030204" pitchFamily="18" charset="0"/>
                              </a:rPr>
                            </m:ctrlPr>
                          </m:sSubPr>
                          <m:e>
                            <m:r>
                              <a:rPr lang="en-AU" b="0" i="1" smtClean="0">
                                <a:latin typeface="Cambria Math" panose="02040503050406030204" pitchFamily="18" charset="0"/>
                              </a:rPr>
                              <m:t>𝐿</m:t>
                            </m:r>
                          </m:e>
                          <m:sub>
                            <m:r>
                              <a:rPr lang="en-AU" b="0" i="1" smtClean="0">
                                <a:latin typeface="Cambria Math" panose="02040503050406030204" pitchFamily="18" charset="0"/>
                              </a:rPr>
                              <m:t>𝑖</m:t>
                            </m:r>
                          </m:sub>
                        </m:sSub>
                        <m:r>
                          <a:rPr lang="en-AU" b="0" i="1" smtClean="0">
                            <a:latin typeface="Cambria Math" panose="02040503050406030204" pitchFamily="18" charset="0"/>
                          </a:rPr>
                          <m:t>(</m:t>
                        </m:r>
                        <m:r>
                          <a:rPr lang="en-AU" b="0" i="1" smtClean="0">
                            <a:latin typeface="Cambria Math" panose="02040503050406030204" pitchFamily="18" charset="0"/>
                          </a:rPr>
                          <m:t>𝑓</m:t>
                        </m:r>
                        <m:r>
                          <a:rPr lang="en-AU" b="0" i="1" smtClean="0">
                            <a:latin typeface="Cambria Math" panose="02040503050406030204" pitchFamily="18" charset="0"/>
                          </a:rPr>
                          <m:t>(</m:t>
                        </m:r>
                        <m:sSub>
                          <m:sSubPr>
                            <m:ctrlPr>
                              <a:rPr lang="en-AU" b="0" i="1" smtClean="0">
                                <a:latin typeface="Cambria Math" panose="02040503050406030204" pitchFamily="18" charset="0"/>
                              </a:rPr>
                            </m:ctrlPr>
                          </m:sSubPr>
                          <m:e>
                            <m:r>
                              <a:rPr lang="en-AU" b="0" i="1" smtClean="0">
                                <a:latin typeface="Cambria Math" panose="02040503050406030204" pitchFamily="18" charset="0"/>
                              </a:rPr>
                              <m:t>𝑥</m:t>
                            </m:r>
                          </m:e>
                          <m:sub>
                            <m:r>
                              <a:rPr lang="en-AU" b="0" i="1" smtClean="0">
                                <a:latin typeface="Cambria Math" panose="02040503050406030204" pitchFamily="18" charset="0"/>
                              </a:rPr>
                              <m:t>𝑖</m:t>
                            </m:r>
                          </m:sub>
                        </m:sSub>
                        <m:r>
                          <a:rPr lang="en-AU" b="0" i="1" smtClean="0">
                            <a:latin typeface="Cambria Math" panose="02040503050406030204" pitchFamily="18" charset="0"/>
                          </a:rPr>
                          <m:t>, </m:t>
                        </m:r>
                        <m:r>
                          <a:rPr lang="en-AU" b="0" i="1" smtClean="0">
                            <a:latin typeface="Cambria Math" panose="02040503050406030204" pitchFamily="18" charset="0"/>
                          </a:rPr>
                          <m:t>𝑊</m:t>
                        </m:r>
                        <m:r>
                          <a:rPr lang="en-AU" b="0" i="1" smtClean="0">
                            <a:latin typeface="Cambria Math" panose="02040503050406030204" pitchFamily="18" charset="0"/>
                          </a:rPr>
                          <m:t>,</m:t>
                        </m:r>
                        <m:sSub>
                          <m:sSubPr>
                            <m:ctrlPr>
                              <a:rPr lang="en-AU" b="0" i="1" smtClean="0">
                                <a:latin typeface="Cambria Math" panose="02040503050406030204" pitchFamily="18" charset="0"/>
                              </a:rPr>
                            </m:ctrlPr>
                          </m:sSubPr>
                          <m:e>
                            <m:r>
                              <a:rPr lang="en-AU" b="0" i="1" smtClean="0">
                                <a:latin typeface="Cambria Math" panose="02040503050406030204" pitchFamily="18" charset="0"/>
                              </a:rPr>
                              <m:t>𝑦</m:t>
                            </m:r>
                          </m:e>
                          <m:sub>
                            <m:r>
                              <a:rPr lang="en-AU" b="0" i="1" smtClean="0">
                                <a:latin typeface="Cambria Math" panose="02040503050406030204" pitchFamily="18" charset="0"/>
                              </a:rPr>
                              <m:t>𝑖</m:t>
                            </m:r>
                          </m:sub>
                        </m:sSub>
                        <m:r>
                          <a:rPr lang="en-AU" b="0" i="1" smtClean="0">
                            <a:latin typeface="Cambria Math" panose="02040503050406030204" pitchFamily="18" charset="0"/>
                          </a:rPr>
                          <m:t>))</m:t>
                        </m:r>
                      </m:e>
                    </m:nary>
                  </m:oMath>
                </a14:m>
                <a:endParaRPr lang="en-US" dirty="0"/>
              </a:p>
              <a:p>
                <a:pPr lvl="1"/>
                <a:r>
                  <a:rPr lang="en-US" dirty="0"/>
                  <a:t>Compute gradients</a:t>
                </a:r>
              </a:p>
              <a:p>
                <a:pPr lvl="1"/>
                <a:r>
                  <a:rPr lang="en-US" dirty="0"/>
                  <a:t>Update weights</a:t>
                </a:r>
              </a:p>
              <a:p>
                <a:endParaRPr lang="en-US" dirty="0"/>
              </a:p>
            </p:txBody>
          </p:sp>
        </mc:Choice>
        <mc:Fallback xmlns="">
          <p:sp>
            <p:nvSpPr>
              <p:cNvPr id="3" name="Content Placeholder 2">
                <a:extLst>
                  <a:ext uri="{FF2B5EF4-FFF2-40B4-BE49-F238E27FC236}">
                    <a16:creationId xmlns:a16="http://schemas.microsoft.com/office/drawing/2014/main" id="{0437CD6A-7448-54A2-50D1-856CE61D3247}"/>
                  </a:ext>
                </a:extLst>
              </p:cNvPr>
              <p:cNvSpPr>
                <a:spLocks noGrp="1" noRot="1" noChangeAspect="1" noMove="1" noResize="1" noEditPoints="1" noAdjustHandles="1" noChangeArrowheads="1" noChangeShapeType="1" noTextEdit="1"/>
              </p:cNvSpPr>
              <p:nvPr>
                <p:ph idx="1"/>
              </p:nvPr>
            </p:nvSpPr>
            <p:spPr>
              <a:xfrm>
                <a:off x="838200" y="2248351"/>
                <a:ext cx="5920409" cy="3928611"/>
              </a:xfrm>
              <a:blipFill>
                <a:blip r:embed="rId2"/>
                <a:stretch>
                  <a:fillRect l="-1927" t="-29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5EA69A0-7523-558D-058B-1D08CBC9B250}"/>
                  </a:ext>
                </a:extLst>
              </p:cNvPr>
              <p:cNvSpPr txBox="1"/>
              <p:nvPr/>
            </p:nvSpPr>
            <p:spPr>
              <a:xfrm>
                <a:off x="2769704" y="1388686"/>
                <a:ext cx="6917635" cy="552972"/>
              </a:xfrm>
              <a:prstGeom prst="rect">
                <a:avLst/>
              </a:prstGeom>
              <a:noFill/>
            </p:spPr>
            <p:txBody>
              <a:bodyPr wrap="square" rtlCol="0">
                <a:spAutoFit/>
              </a:bodyPr>
              <a:lstStyle/>
              <a:p>
                <a:pPr/>
                <a14:m>
                  <m:oMathPara xmlns:m="http://schemas.openxmlformats.org/officeDocument/2006/math">
                    <m:oMath>
                      <m:acc>
                        <m:accPr>
                          <m:chr m:val="̂"/>
                          <m:ctrlPr>
                            <a:rPr lang="en-AU" sz="2000" i="1">
                              <a:latin typeface="Cambria Math" panose="02040503050406030204" pitchFamily="18" charset="0"/>
                            </a:rPr>
                          </m:ctrlPr>
                        </m:accPr>
                        <m:e>
                          <m:r>
                            <a:rPr lang="en-AU" sz="2000" i="1">
                              <a:latin typeface="Cambria Math" panose="02040503050406030204" pitchFamily="18" charset="0"/>
                            </a:rPr>
                            <m:t>𝑦</m:t>
                          </m:r>
                        </m:e>
                      </m:acc>
                      <m:r>
                        <a:rPr lang="en-AU" sz="2000" i="1">
                          <a:latin typeface="Cambria Math" panose="02040503050406030204" pitchFamily="18" charset="0"/>
                        </a:rPr>
                        <m:t>=</m:t>
                      </m:r>
                      <m:d>
                        <m:dPr>
                          <m:ctrlPr>
                            <a:rPr lang="en-AU" sz="2000" i="1">
                              <a:latin typeface="Cambria Math" panose="02040503050406030204" pitchFamily="18" charset="0"/>
                            </a:rPr>
                          </m:ctrlPr>
                        </m:dPr>
                        <m:e>
                          <m:r>
                            <a:rPr lang="en-AU" sz="2000" i="1">
                              <a:latin typeface="Cambria Math" panose="02040503050406030204" pitchFamily="18" charset="0"/>
                            </a:rPr>
                            <m:t>𝑥</m:t>
                          </m:r>
                          <m:r>
                            <a:rPr lang="en-AU" sz="2000" i="1">
                              <a:latin typeface="Cambria Math" panose="02040503050406030204" pitchFamily="18" charset="0"/>
                            </a:rPr>
                            <m:t>∗</m:t>
                          </m:r>
                          <m:sSubSup>
                            <m:sSubSupPr>
                              <m:ctrlPr>
                                <a:rPr lang="en-AU" sz="2000" i="1">
                                  <a:latin typeface="Cambria Math" panose="02040503050406030204" pitchFamily="18" charset="0"/>
                                </a:rPr>
                              </m:ctrlPr>
                            </m:sSubSupPr>
                            <m:e>
                              <m:r>
                                <a:rPr lang="en-AU" sz="2000" i="1">
                                  <a:latin typeface="Cambria Math" panose="02040503050406030204" pitchFamily="18" charset="0"/>
                                </a:rPr>
                                <m:t>𝑤</m:t>
                              </m:r>
                            </m:e>
                            <m:sub>
                              <m:r>
                                <a:rPr lang="en-AU" sz="2000" i="1">
                                  <a:latin typeface="Cambria Math" panose="02040503050406030204" pitchFamily="18" charset="0"/>
                                </a:rPr>
                                <m:t>11</m:t>
                              </m:r>
                            </m:sub>
                            <m:sup>
                              <m:d>
                                <m:dPr>
                                  <m:begChr m:val="["/>
                                  <m:endChr m:val="]"/>
                                  <m:ctrlPr>
                                    <a:rPr lang="en-AU" sz="2000" i="1">
                                      <a:latin typeface="Cambria Math" panose="02040503050406030204" pitchFamily="18" charset="0"/>
                                    </a:rPr>
                                  </m:ctrlPr>
                                </m:dPr>
                                <m:e>
                                  <m:r>
                                    <a:rPr lang="en-AU" sz="2000" i="1">
                                      <a:latin typeface="Cambria Math" panose="02040503050406030204" pitchFamily="18" charset="0"/>
                                    </a:rPr>
                                    <m:t>1</m:t>
                                  </m:r>
                                </m:e>
                              </m:d>
                            </m:sup>
                          </m:sSubSup>
                          <m:r>
                            <a:rPr lang="en-AU" sz="2000" i="1">
                              <a:latin typeface="Cambria Math" panose="02040503050406030204" pitchFamily="18" charset="0"/>
                            </a:rPr>
                            <m:t>+</m:t>
                          </m:r>
                          <m:sSubSup>
                            <m:sSubSupPr>
                              <m:ctrlPr>
                                <a:rPr lang="en-AU" sz="2000" i="1">
                                  <a:latin typeface="Cambria Math" panose="02040503050406030204" pitchFamily="18" charset="0"/>
                                </a:rPr>
                              </m:ctrlPr>
                            </m:sSubSupPr>
                            <m:e>
                              <m:r>
                                <a:rPr lang="en-AU" sz="2000" i="1">
                                  <a:latin typeface="Cambria Math" panose="02040503050406030204" pitchFamily="18" charset="0"/>
                                </a:rPr>
                                <m:t>𝑏</m:t>
                              </m:r>
                            </m:e>
                            <m:sub>
                              <m:r>
                                <a:rPr lang="en-AU" sz="2000" i="1">
                                  <a:latin typeface="Cambria Math" panose="02040503050406030204" pitchFamily="18" charset="0"/>
                                </a:rPr>
                                <m:t>1</m:t>
                              </m:r>
                            </m:sub>
                            <m:sup>
                              <m:d>
                                <m:dPr>
                                  <m:begChr m:val="["/>
                                  <m:endChr m:val="]"/>
                                  <m:ctrlPr>
                                    <a:rPr lang="en-AU" sz="2000" i="1">
                                      <a:latin typeface="Cambria Math" panose="02040503050406030204" pitchFamily="18" charset="0"/>
                                    </a:rPr>
                                  </m:ctrlPr>
                                </m:dPr>
                                <m:e>
                                  <m:r>
                                    <a:rPr lang="en-AU" sz="2000" i="1">
                                      <a:latin typeface="Cambria Math" panose="02040503050406030204" pitchFamily="18" charset="0"/>
                                    </a:rPr>
                                    <m:t>1</m:t>
                                  </m:r>
                                </m:e>
                              </m:d>
                            </m:sup>
                          </m:sSubSup>
                        </m:e>
                      </m:d>
                      <m:r>
                        <a:rPr lang="en-AU" sz="2000" i="1">
                          <a:latin typeface="Cambria Math" panose="02040503050406030204" pitchFamily="18" charset="0"/>
                        </a:rPr>
                        <m:t>∗</m:t>
                      </m:r>
                      <m:sSubSup>
                        <m:sSubSupPr>
                          <m:ctrlPr>
                            <a:rPr lang="en-AU" sz="2000" i="1">
                              <a:latin typeface="Cambria Math" panose="02040503050406030204" pitchFamily="18" charset="0"/>
                            </a:rPr>
                          </m:ctrlPr>
                        </m:sSubSupPr>
                        <m:e>
                          <m:r>
                            <a:rPr lang="en-AU" sz="2000" i="1">
                              <a:latin typeface="Cambria Math" panose="02040503050406030204" pitchFamily="18" charset="0"/>
                            </a:rPr>
                            <m:t>𝑤</m:t>
                          </m:r>
                        </m:e>
                        <m:sub>
                          <m:r>
                            <a:rPr lang="en-AU" sz="2000" i="1">
                              <a:latin typeface="Cambria Math" panose="02040503050406030204" pitchFamily="18" charset="0"/>
                            </a:rPr>
                            <m:t>11</m:t>
                          </m:r>
                        </m:sub>
                        <m:sup>
                          <m:d>
                            <m:dPr>
                              <m:begChr m:val="["/>
                              <m:endChr m:val="]"/>
                              <m:ctrlPr>
                                <a:rPr lang="en-AU" sz="2000" i="1">
                                  <a:latin typeface="Cambria Math" panose="02040503050406030204" pitchFamily="18" charset="0"/>
                                </a:rPr>
                              </m:ctrlPr>
                            </m:dPr>
                            <m:e>
                              <m:r>
                                <a:rPr lang="en-AU" sz="2000" i="1">
                                  <a:latin typeface="Cambria Math" panose="02040503050406030204" pitchFamily="18" charset="0"/>
                                </a:rPr>
                                <m:t>2</m:t>
                              </m:r>
                            </m:e>
                          </m:d>
                        </m:sup>
                      </m:sSubSup>
                      <m:r>
                        <a:rPr lang="en-AU" sz="2000" i="1">
                          <a:latin typeface="Cambria Math" panose="02040503050406030204" pitchFamily="18" charset="0"/>
                        </a:rPr>
                        <m:t>+</m:t>
                      </m:r>
                      <m:d>
                        <m:dPr>
                          <m:ctrlPr>
                            <a:rPr lang="en-AU" sz="2000" i="1">
                              <a:latin typeface="Cambria Math" panose="02040503050406030204" pitchFamily="18" charset="0"/>
                            </a:rPr>
                          </m:ctrlPr>
                        </m:dPr>
                        <m:e>
                          <m:r>
                            <a:rPr lang="en-AU" sz="2000" i="1">
                              <a:latin typeface="Cambria Math" panose="02040503050406030204" pitchFamily="18" charset="0"/>
                            </a:rPr>
                            <m:t>𝑥</m:t>
                          </m:r>
                          <m:r>
                            <a:rPr lang="en-AU" sz="2000" i="1">
                              <a:latin typeface="Cambria Math" panose="02040503050406030204" pitchFamily="18" charset="0"/>
                            </a:rPr>
                            <m:t>∗</m:t>
                          </m:r>
                          <m:sSubSup>
                            <m:sSubSupPr>
                              <m:ctrlPr>
                                <a:rPr lang="en-AU" sz="2000" i="1">
                                  <a:latin typeface="Cambria Math" panose="02040503050406030204" pitchFamily="18" charset="0"/>
                                </a:rPr>
                              </m:ctrlPr>
                            </m:sSubSupPr>
                            <m:e>
                              <m:r>
                                <a:rPr lang="en-AU" sz="2000" i="1">
                                  <a:latin typeface="Cambria Math" panose="02040503050406030204" pitchFamily="18" charset="0"/>
                                </a:rPr>
                                <m:t>𝑤</m:t>
                              </m:r>
                            </m:e>
                            <m:sub>
                              <m:r>
                                <a:rPr lang="en-AU" sz="2000" i="1">
                                  <a:latin typeface="Cambria Math" panose="02040503050406030204" pitchFamily="18" charset="0"/>
                                </a:rPr>
                                <m:t>21</m:t>
                              </m:r>
                            </m:sub>
                            <m:sup>
                              <m:d>
                                <m:dPr>
                                  <m:begChr m:val="["/>
                                  <m:endChr m:val="]"/>
                                  <m:ctrlPr>
                                    <a:rPr lang="en-AU" sz="2000" i="1">
                                      <a:latin typeface="Cambria Math" panose="02040503050406030204" pitchFamily="18" charset="0"/>
                                    </a:rPr>
                                  </m:ctrlPr>
                                </m:dPr>
                                <m:e>
                                  <m:r>
                                    <a:rPr lang="en-AU" sz="2000" i="1">
                                      <a:latin typeface="Cambria Math" panose="02040503050406030204" pitchFamily="18" charset="0"/>
                                    </a:rPr>
                                    <m:t>1</m:t>
                                  </m:r>
                                </m:e>
                              </m:d>
                            </m:sup>
                          </m:sSubSup>
                          <m:r>
                            <a:rPr lang="en-AU" sz="2000" i="1">
                              <a:latin typeface="Cambria Math" panose="02040503050406030204" pitchFamily="18" charset="0"/>
                            </a:rPr>
                            <m:t>+</m:t>
                          </m:r>
                          <m:sSubSup>
                            <m:sSubSupPr>
                              <m:ctrlPr>
                                <a:rPr lang="en-AU" sz="2000" i="1">
                                  <a:latin typeface="Cambria Math" panose="02040503050406030204" pitchFamily="18" charset="0"/>
                                </a:rPr>
                              </m:ctrlPr>
                            </m:sSubSupPr>
                            <m:e>
                              <m:r>
                                <a:rPr lang="en-AU" sz="2000" i="1">
                                  <a:latin typeface="Cambria Math" panose="02040503050406030204" pitchFamily="18" charset="0"/>
                                </a:rPr>
                                <m:t>𝑏</m:t>
                              </m:r>
                            </m:e>
                            <m:sub>
                              <m:r>
                                <a:rPr lang="en-AU" sz="2000" i="1">
                                  <a:latin typeface="Cambria Math" panose="02040503050406030204" pitchFamily="18" charset="0"/>
                                </a:rPr>
                                <m:t>2</m:t>
                              </m:r>
                            </m:sub>
                            <m:sup>
                              <m:d>
                                <m:dPr>
                                  <m:begChr m:val="["/>
                                  <m:endChr m:val="]"/>
                                  <m:ctrlPr>
                                    <a:rPr lang="en-AU" sz="2000" i="1">
                                      <a:latin typeface="Cambria Math" panose="02040503050406030204" pitchFamily="18" charset="0"/>
                                    </a:rPr>
                                  </m:ctrlPr>
                                </m:dPr>
                                <m:e>
                                  <m:r>
                                    <a:rPr lang="en-AU" sz="2000" i="1">
                                      <a:latin typeface="Cambria Math" panose="02040503050406030204" pitchFamily="18" charset="0"/>
                                    </a:rPr>
                                    <m:t>1</m:t>
                                  </m:r>
                                </m:e>
                              </m:d>
                            </m:sup>
                          </m:sSubSup>
                        </m:e>
                      </m:d>
                      <m:r>
                        <a:rPr lang="en-AU" sz="2000" i="1">
                          <a:latin typeface="Cambria Math" panose="02040503050406030204" pitchFamily="18" charset="0"/>
                        </a:rPr>
                        <m:t>∗</m:t>
                      </m:r>
                      <m:sSubSup>
                        <m:sSubSupPr>
                          <m:ctrlPr>
                            <a:rPr lang="en-AU" sz="2000" i="1">
                              <a:latin typeface="Cambria Math" panose="02040503050406030204" pitchFamily="18" charset="0"/>
                            </a:rPr>
                          </m:ctrlPr>
                        </m:sSubSupPr>
                        <m:e>
                          <m:r>
                            <a:rPr lang="en-AU" sz="2000" i="1">
                              <a:latin typeface="Cambria Math" panose="02040503050406030204" pitchFamily="18" charset="0"/>
                            </a:rPr>
                            <m:t>𝑤</m:t>
                          </m:r>
                        </m:e>
                        <m:sub>
                          <m:r>
                            <a:rPr lang="en-AU" sz="2000" i="1">
                              <a:latin typeface="Cambria Math" panose="02040503050406030204" pitchFamily="18" charset="0"/>
                            </a:rPr>
                            <m:t>12</m:t>
                          </m:r>
                        </m:sub>
                        <m:sup>
                          <m:d>
                            <m:dPr>
                              <m:begChr m:val="["/>
                              <m:endChr m:val="]"/>
                              <m:ctrlPr>
                                <a:rPr lang="en-AU" sz="2000" i="1">
                                  <a:latin typeface="Cambria Math" panose="02040503050406030204" pitchFamily="18" charset="0"/>
                                </a:rPr>
                              </m:ctrlPr>
                            </m:dPr>
                            <m:e>
                              <m:r>
                                <a:rPr lang="en-AU" sz="2000" i="1">
                                  <a:latin typeface="Cambria Math" panose="02040503050406030204" pitchFamily="18" charset="0"/>
                                </a:rPr>
                                <m:t>2</m:t>
                              </m:r>
                            </m:e>
                          </m:d>
                        </m:sup>
                      </m:sSubSup>
                      <m:r>
                        <a:rPr lang="en-AU" sz="2000" i="1">
                          <a:latin typeface="Cambria Math" panose="02040503050406030204" pitchFamily="18" charset="0"/>
                        </a:rPr>
                        <m:t>+</m:t>
                      </m:r>
                      <m:sSubSup>
                        <m:sSubSupPr>
                          <m:ctrlPr>
                            <a:rPr lang="en-AU" sz="2000" i="1">
                              <a:latin typeface="Cambria Math" panose="02040503050406030204" pitchFamily="18" charset="0"/>
                            </a:rPr>
                          </m:ctrlPr>
                        </m:sSubSupPr>
                        <m:e>
                          <m:r>
                            <a:rPr lang="en-AU" sz="2000" i="1">
                              <a:latin typeface="Cambria Math" panose="02040503050406030204" pitchFamily="18" charset="0"/>
                            </a:rPr>
                            <m:t>𝑏</m:t>
                          </m:r>
                        </m:e>
                        <m:sub>
                          <m:r>
                            <a:rPr lang="en-AU" sz="2000" i="1">
                              <a:latin typeface="Cambria Math" panose="02040503050406030204" pitchFamily="18" charset="0"/>
                            </a:rPr>
                            <m:t>1</m:t>
                          </m:r>
                        </m:sub>
                        <m:sup>
                          <m:d>
                            <m:dPr>
                              <m:begChr m:val="["/>
                              <m:endChr m:val="]"/>
                              <m:ctrlPr>
                                <a:rPr lang="en-AU" sz="2000" i="1">
                                  <a:latin typeface="Cambria Math" panose="02040503050406030204" pitchFamily="18" charset="0"/>
                                </a:rPr>
                              </m:ctrlPr>
                            </m:dPr>
                            <m:e>
                              <m:r>
                                <a:rPr lang="en-AU" sz="2000" i="1">
                                  <a:latin typeface="Cambria Math" panose="02040503050406030204" pitchFamily="18" charset="0"/>
                                </a:rPr>
                                <m:t>2</m:t>
                              </m:r>
                            </m:e>
                          </m:d>
                        </m:sup>
                      </m:sSubSup>
                    </m:oMath>
                  </m:oMathPara>
                </a14:m>
                <a:endParaRPr lang="en-US" sz="2000" dirty="0"/>
              </a:p>
            </p:txBody>
          </p:sp>
        </mc:Choice>
        <mc:Fallback xmlns="">
          <p:sp>
            <p:nvSpPr>
              <p:cNvPr id="4" name="TextBox 3">
                <a:extLst>
                  <a:ext uri="{FF2B5EF4-FFF2-40B4-BE49-F238E27FC236}">
                    <a16:creationId xmlns:a16="http://schemas.microsoft.com/office/drawing/2014/main" id="{95EA69A0-7523-558D-058B-1D08CBC9B250}"/>
                  </a:ext>
                </a:extLst>
              </p:cNvPr>
              <p:cNvSpPr txBox="1">
                <a:spLocks noRot="1" noChangeAspect="1" noMove="1" noResize="1" noEditPoints="1" noAdjustHandles="1" noChangeArrowheads="1" noChangeShapeType="1" noTextEdit="1"/>
              </p:cNvSpPr>
              <p:nvPr/>
            </p:nvSpPr>
            <p:spPr>
              <a:xfrm>
                <a:off x="2769704" y="1388686"/>
                <a:ext cx="6917635" cy="55297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07841A7-2CDA-EEEA-F98C-2E753CC41316}"/>
                  </a:ext>
                </a:extLst>
              </p:cNvPr>
              <p:cNvSpPr txBox="1"/>
              <p:nvPr/>
            </p:nvSpPr>
            <p:spPr>
              <a:xfrm>
                <a:off x="7500730" y="2311577"/>
                <a:ext cx="4253948" cy="3974999"/>
              </a:xfrm>
              <a:prstGeom prst="rect">
                <a:avLst/>
              </a:prstGeom>
              <a:noFill/>
            </p:spPr>
            <p:txBody>
              <a:bodyPr wrap="square" rtlCol="0">
                <a:spAutoFit/>
              </a:bodyPr>
              <a:lstStyle/>
              <a:p>
                <a:r>
                  <a:rPr lang="en-AU" b="1" dirty="0">
                    <a:latin typeface="Cambria Math" panose="02040503050406030204" pitchFamily="18" charset="0"/>
                  </a:rPr>
                  <a:t>General rule</a:t>
                </a:r>
                <a:r>
                  <a:rPr lang="en-AU" dirty="0">
                    <a:latin typeface="Cambria Math" panose="02040503050406030204" pitchFamily="18" charset="0"/>
                  </a:rPr>
                  <a:t>: each node is one row in the weight matrix</a:t>
                </a:r>
              </a:p>
              <a:p>
                <a:pPr/>
                <a14:m>
                  <m:oMathPara xmlns:m="http://schemas.openxmlformats.org/officeDocument/2006/math">
                    <m:oMath>
                      <m:r>
                        <a:rPr lang="en-AU" b="1" i="1" smtClean="0">
                          <a:latin typeface="Cambria Math" panose="02040503050406030204" pitchFamily="18" charset="0"/>
                        </a:rPr>
                        <m:t>𝑾</m:t>
                      </m:r>
                      <m:r>
                        <a:rPr lang="en-AU" b="1" i="1" smtClean="0">
                          <a:latin typeface="Cambria Math" panose="02040503050406030204" pitchFamily="18" charset="0"/>
                        </a:rPr>
                        <m:t>=[</m:t>
                      </m:r>
                      <m:sSub>
                        <m:sSubPr>
                          <m:ctrlPr>
                            <a:rPr lang="en-AU" b="1" i="1" smtClean="0">
                              <a:latin typeface="Cambria Math" panose="02040503050406030204" pitchFamily="18" charset="0"/>
                            </a:rPr>
                          </m:ctrlPr>
                        </m:sSubPr>
                        <m:e>
                          <m:r>
                            <a:rPr lang="en-AU" b="1" i="1" smtClean="0">
                              <a:latin typeface="Cambria Math" panose="02040503050406030204" pitchFamily="18" charset="0"/>
                            </a:rPr>
                            <m:t>𝑾</m:t>
                          </m:r>
                        </m:e>
                        <m:sub>
                          <m:r>
                            <a:rPr lang="en-AU" b="1" i="1" smtClean="0">
                              <a:latin typeface="Cambria Math" panose="02040503050406030204" pitchFamily="18" charset="0"/>
                            </a:rPr>
                            <m:t>𝟏</m:t>
                          </m:r>
                        </m:sub>
                      </m:sSub>
                      <m:r>
                        <a:rPr lang="en-AU" b="1" i="1" smtClean="0">
                          <a:latin typeface="Cambria Math" panose="02040503050406030204" pitchFamily="18" charset="0"/>
                        </a:rPr>
                        <m:t>, </m:t>
                      </m:r>
                      <m:sSub>
                        <m:sSubPr>
                          <m:ctrlPr>
                            <a:rPr lang="en-AU" b="1" i="1" smtClean="0">
                              <a:latin typeface="Cambria Math" panose="02040503050406030204" pitchFamily="18" charset="0"/>
                            </a:rPr>
                          </m:ctrlPr>
                        </m:sSubPr>
                        <m:e>
                          <m:r>
                            <a:rPr lang="en-AU" b="1" i="1" smtClean="0">
                              <a:latin typeface="Cambria Math" panose="02040503050406030204" pitchFamily="18" charset="0"/>
                            </a:rPr>
                            <m:t>𝑾</m:t>
                          </m:r>
                        </m:e>
                        <m:sub>
                          <m:r>
                            <a:rPr lang="en-AU" b="1" i="1" smtClean="0">
                              <a:latin typeface="Cambria Math" panose="02040503050406030204" pitchFamily="18" charset="0"/>
                            </a:rPr>
                            <m:t>𝟐</m:t>
                          </m:r>
                        </m:sub>
                      </m:sSub>
                      <m:r>
                        <a:rPr lang="en-AU" b="1" i="1" smtClean="0">
                          <a:latin typeface="Cambria Math" panose="02040503050406030204" pitchFamily="18" charset="0"/>
                        </a:rPr>
                        <m:t>]</m:t>
                      </m:r>
                    </m:oMath>
                  </m:oMathPara>
                </a14:m>
                <a:endParaRPr lang="en-US" b="1" dirty="0"/>
              </a:p>
              <a:p>
                <a:pPr/>
                <a14:m>
                  <m:oMathPara xmlns:m="http://schemas.openxmlformats.org/officeDocument/2006/math">
                    <m:oMath>
                      <m:sSup>
                        <m:sSupPr>
                          <m:ctrlPr>
                            <a:rPr lang="en-AU" b="0" i="0" smtClean="0">
                              <a:latin typeface="Cambria Math" panose="02040503050406030204" pitchFamily="18" charset="0"/>
                            </a:rPr>
                          </m:ctrlPr>
                        </m:sSupPr>
                        <m:e>
                          <m:r>
                            <m:rPr>
                              <m:sty m:val="p"/>
                            </m:rPr>
                            <a:rPr lang="en-AU" b="0" i="0" smtClean="0">
                              <a:latin typeface="Cambria Math" panose="02040503050406030204" pitchFamily="18" charset="0"/>
                            </a:rPr>
                            <m:t>W</m:t>
                          </m:r>
                        </m:e>
                        <m:sup>
                          <m:r>
                            <a:rPr lang="en-AU" b="0" i="1" smtClean="0">
                              <a:latin typeface="Cambria Math" panose="02040503050406030204" pitchFamily="18" charset="0"/>
                            </a:rPr>
                            <m:t>[1]</m:t>
                          </m:r>
                        </m:sup>
                      </m:sSup>
                      <m:r>
                        <a:rPr lang="en-AU" b="0" i="0"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sSub>
                                  <m:sSubPr>
                                    <m:ctrlPr>
                                      <a:rPr lang="en-AU" b="0" i="1" smtClean="0">
                                        <a:latin typeface="Cambria Math" panose="02040503050406030204" pitchFamily="18" charset="0"/>
                                      </a:rPr>
                                    </m:ctrlPr>
                                  </m:sSubPr>
                                  <m:e>
                                    <m:r>
                                      <m:rPr>
                                        <m:brk m:alnAt="7"/>
                                      </m:rPr>
                                      <a:rPr lang="en-AU" b="0" i="1" smtClean="0">
                                        <a:latin typeface="Cambria Math" panose="02040503050406030204" pitchFamily="18" charset="0"/>
                                      </a:rPr>
                                      <m:t>𝑤</m:t>
                                    </m:r>
                                  </m:e>
                                  <m:sub>
                                    <m:r>
                                      <a:rPr lang="en-AU" b="0" i="1" smtClean="0">
                                        <a:latin typeface="Cambria Math" panose="02040503050406030204" pitchFamily="18" charset="0"/>
                                      </a:rPr>
                                      <m:t>11</m:t>
                                    </m:r>
                                  </m:sub>
                                </m:sSub>
                              </m:e>
                            </m:mr>
                            <m:mr>
                              <m:e>
                                <m:sSub>
                                  <m:sSubPr>
                                    <m:ctrlPr>
                                      <a:rPr lang="en-AU" b="0" i="1" smtClean="0">
                                        <a:latin typeface="Cambria Math" panose="02040503050406030204" pitchFamily="18" charset="0"/>
                                      </a:rPr>
                                    </m:ctrlPr>
                                  </m:sSubPr>
                                  <m:e>
                                    <m:r>
                                      <a:rPr lang="en-AU" b="0" i="1" smtClean="0">
                                        <a:latin typeface="Cambria Math" panose="02040503050406030204" pitchFamily="18" charset="0"/>
                                      </a:rPr>
                                      <m:t>𝑤</m:t>
                                    </m:r>
                                  </m:e>
                                  <m:sub>
                                    <m:r>
                                      <a:rPr lang="en-AU" b="0" i="1" smtClean="0">
                                        <a:latin typeface="Cambria Math" panose="02040503050406030204" pitchFamily="18" charset="0"/>
                                      </a:rPr>
                                      <m:t>21</m:t>
                                    </m:r>
                                  </m:sub>
                                </m:sSub>
                              </m:e>
                            </m:mr>
                          </m:m>
                        </m:e>
                      </m:d>
                    </m:oMath>
                  </m:oMathPara>
                </a14:m>
                <a:endParaRPr lang="en-AU" b="0" dirty="0"/>
              </a:p>
              <a:p>
                <a:pPr/>
                <a14:m>
                  <m:oMathPara xmlns:m="http://schemas.openxmlformats.org/officeDocument/2006/math">
                    <m:oMath>
                      <m:sSup>
                        <m:sSupPr>
                          <m:ctrlPr>
                            <a:rPr lang="en-AU" b="0" i="1" smtClean="0">
                              <a:latin typeface="Cambria Math" panose="02040503050406030204" pitchFamily="18" charset="0"/>
                            </a:rPr>
                          </m:ctrlPr>
                        </m:sSupPr>
                        <m:e>
                          <m:r>
                            <a:rPr lang="en-AU" b="0" i="1" smtClean="0">
                              <a:latin typeface="Cambria Math" panose="02040503050406030204" pitchFamily="18" charset="0"/>
                            </a:rPr>
                            <m:t>𝑊</m:t>
                          </m:r>
                        </m:e>
                        <m:sup>
                          <m:r>
                            <a:rPr lang="en-AU" b="0" i="1" smtClean="0">
                              <a:latin typeface="Cambria Math" panose="02040503050406030204" pitchFamily="18" charset="0"/>
                            </a:rPr>
                            <m:t>[2]</m:t>
                          </m:r>
                        </m:sup>
                      </m:sSup>
                      <m:r>
                        <a:rPr lang="en-AU"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sSub>
                                  <m:sSubPr>
                                    <m:ctrlPr>
                                      <a:rPr lang="en-AU" b="0" i="1" smtClean="0">
                                        <a:latin typeface="Cambria Math" panose="02040503050406030204" pitchFamily="18" charset="0"/>
                                      </a:rPr>
                                    </m:ctrlPr>
                                  </m:sSubPr>
                                  <m:e>
                                    <m:r>
                                      <m:rPr>
                                        <m:brk m:alnAt="7"/>
                                      </m:rPr>
                                      <a:rPr lang="en-AU" b="0" i="1" smtClean="0">
                                        <a:latin typeface="Cambria Math" panose="02040503050406030204" pitchFamily="18" charset="0"/>
                                      </a:rPr>
                                      <m:t>𝑤</m:t>
                                    </m:r>
                                  </m:e>
                                  <m:sub>
                                    <m:r>
                                      <m:rPr>
                                        <m:brk m:alnAt="7"/>
                                      </m:rPr>
                                      <a:rPr lang="en-AU" b="0" i="1" smtClean="0">
                                        <a:latin typeface="Cambria Math" panose="02040503050406030204" pitchFamily="18" charset="0"/>
                                      </a:rPr>
                                      <m:t>1</m:t>
                                    </m:r>
                                    <m:r>
                                      <m:rPr>
                                        <m:brk m:alnAt="7"/>
                                      </m:rPr>
                                      <a:rPr lang="en-AU" b="0" i="1" smtClean="0">
                                        <a:latin typeface="Cambria Math" panose="02040503050406030204" pitchFamily="18" charset="0"/>
                                      </a:rPr>
                                      <m:t>1</m:t>
                                    </m:r>
                                  </m:sub>
                                </m:sSub>
                              </m:e>
                              <m:e>
                                <m:sSub>
                                  <m:sSubPr>
                                    <m:ctrlPr>
                                      <a:rPr lang="en-AU" b="0" i="1" smtClean="0">
                                        <a:latin typeface="Cambria Math" panose="02040503050406030204" pitchFamily="18" charset="0"/>
                                      </a:rPr>
                                    </m:ctrlPr>
                                  </m:sSubPr>
                                  <m:e>
                                    <m:r>
                                      <a:rPr lang="en-AU" b="0" i="1" smtClean="0">
                                        <a:latin typeface="Cambria Math" panose="02040503050406030204" pitchFamily="18" charset="0"/>
                                      </a:rPr>
                                      <m:t>𝑤</m:t>
                                    </m:r>
                                  </m:e>
                                  <m:sub>
                                    <m:r>
                                      <a:rPr lang="en-AU" b="0" i="1" smtClean="0">
                                        <a:latin typeface="Cambria Math" panose="02040503050406030204" pitchFamily="18" charset="0"/>
                                      </a:rPr>
                                      <m:t>12</m:t>
                                    </m:r>
                                  </m:sub>
                                </m:sSub>
                              </m:e>
                            </m:mr>
                          </m:m>
                        </m:e>
                      </m:d>
                    </m:oMath>
                  </m:oMathPara>
                </a14:m>
                <a:endParaRPr lang="en-US" dirty="0"/>
              </a:p>
              <a:p>
                <a:endParaRPr lang="en-US" dirty="0"/>
              </a:p>
              <a:p>
                <a:r>
                  <a:rPr lang="en-US" dirty="0"/>
                  <a:t>Easy to compute using matrix multiplications, outputs of layer 1:</a:t>
                </a:r>
              </a:p>
              <a:p>
                <a:pPr/>
                <a14:m>
                  <m:oMathPara xmlns:m="http://schemas.openxmlformats.org/officeDocument/2006/math">
                    <m:oMath>
                      <m:d>
                        <m:dPr>
                          <m:begChr m:val="["/>
                          <m:endChr m:val="]"/>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sSub>
                                  <m:sSubPr>
                                    <m:ctrlPr>
                                      <a:rPr lang="en-AU" b="0" i="1" smtClean="0">
                                        <a:latin typeface="Cambria Math" panose="02040503050406030204" pitchFamily="18" charset="0"/>
                                      </a:rPr>
                                    </m:ctrlPr>
                                  </m:sSubPr>
                                  <m:e>
                                    <m:r>
                                      <m:rPr>
                                        <m:brk m:alnAt="7"/>
                                      </m:rPr>
                                      <a:rPr lang="en-AU" b="0" i="1" smtClean="0">
                                        <a:latin typeface="Cambria Math" panose="02040503050406030204" pitchFamily="18" charset="0"/>
                                      </a:rPr>
                                      <m:t>𝑤</m:t>
                                    </m:r>
                                  </m:e>
                                  <m:sub>
                                    <m:r>
                                      <m:rPr>
                                        <m:brk m:alnAt="7"/>
                                      </m:rPr>
                                      <a:rPr lang="en-AU" b="0" i="1" smtClean="0">
                                        <a:latin typeface="Cambria Math" panose="02040503050406030204" pitchFamily="18" charset="0"/>
                                      </a:rPr>
                                      <m:t>1</m:t>
                                    </m:r>
                                    <m:r>
                                      <m:rPr>
                                        <m:brk m:alnAt="7"/>
                                      </m:rPr>
                                      <a:rPr lang="en-AU" b="0" i="1" smtClean="0">
                                        <a:latin typeface="Cambria Math" panose="02040503050406030204" pitchFamily="18" charset="0"/>
                                      </a:rPr>
                                      <m:t>1</m:t>
                                    </m:r>
                                  </m:sub>
                                </m:sSub>
                              </m:e>
                            </m:mr>
                            <m:mr>
                              <m:e>
                                <m:sSub>
                                  <m:sSubPr>
                                    <m:ctrlPr>
                                      <a:rPr lang="en-AU" b="0" i="1" smtClean="0">
                                        <a:latin typeface="Cambria Math" panose="02040503050406030204" pitchFamily="18" charset="0"/>
                                      </a:rPr>
                                    </m:ctrlPr>
                                  </m:sSubPr>
                                  <m:e>
                                    <m:r>
                                      <a:rPr lang="en-AU" b="0" i="1" smtClean="0">
                                        <a:latin typeface="Cambria Math" panose="02040503050406030204" pitchFamily="18" charset="0"/>
                                      </a:rPr>
                                      <m:t>𝑤</m:t>
                                    </m:r>
                                  </m:e>
                                  <m:sub>
                                    <m:r>
                                      <a:rPr lang="en-AU" b="0" i="1" smtClean="0">
                                        <a:latin typeface="Cambria Math" panose="02040503050406030204" pitchFamily="18" charset="0"/>
                                      </a:rPr>
                                      <m:t>21</m:t>
                                    </m:r>
                                  </m:sub>
                                </m:sSub>
                              </m:e>
                            </m:mr>
                          </m:m>
                        </m:e>
                      </m:d>
                      <m:d>
                        <m:dPr>
                          <m:begChr m:val="["/>
                          <m:endChr m:val="]"/>
                          <m:ctrlPr>
                            <a:rPr lang="en-AU" b="0" i="1" smtClean="0">
                              <a:latin typeface="Cambria Math" panose="02040503050406030204" pitchFamily="18" charset="0"/>
                            </a:rPr>
                          </m:ctrlPr>
                        </m:dPr>
                        <m:e>
                          <m:r>
                            <a:rPr lang="en-AU" b="0" i="1" smtClean="0">
                              <a:latin typeface="Cambria Math" panose="02040503050406030204" pitchFamily="18" charset="0"/>
                            </a:rPr>
                            <m:t>𝑥</m:t>
                          </m:r>
                        </m:e>
                      </m:d>
                      <m:r>
                        <a:rPr lang="en-AU"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sSub>
                                  <m:sSubPr>
                                    <m:ctrlPr>
                                      <a:rPr lang="en-AU" b="0" i="1" smtClean="0">
                                        <a:latin typeface="Cambria Math" panose="02040503050406030204" pitchFamily="18" charset="0"/>
                                      </a:rPr>
                                    </m:ctrlPr>
                                  </m:sSubPr>
                                  <m:e>
                                    <m:r>
                                      <m:rPr>
                                        <m:brk m:alnAt="7"/>
                                      </m:rPr>
                                      <a:rPr lang="en-AU" b="0" i="1" smtClean="0">
                                        <a:latin typeface="Cambria Math" panose="02040503050406030204" pitchFamily="18" charset="0"/>
                                      </a:rPr>
                                      <m:t>𝑧</m:t>
                                    </m:r>
                                  </m:e>
                                  <m:sub>
                                    <m:r>
                                      <m:rPr>
                                        <m:brk m:alnAt="7"/>
                                      </m:rPr>
                                      <a:rPr lang="en-AU" b="0" i="1" smtClean="0">
                                        <a:latin typeface="Cambria Math" panose="02040503050406030204" pitchFamily="18" charset="0"/>
                                      </a:rPr>
                                      <m:t>1</m:t>
                                    </m:r>
                                  </m:sub>
                                </m:sSub>
                              </m:e>
                            </m:mr>
                            <m:mr>
                              <m:e>
                                <m:sSub>
                                  <m:sSubPr>
                                    <m:ctrlPr>
                                      <a:rPr lang="en-AU" b="0" i="1" smtClean="0">
                                        <a:latin typeface="Cambria Math" panose="02040503050406030204" pitchFamily="18" charset="0"/>
                                      </a:rPr>
                                    </m:ctrlPr>
                                  </m:sSubPr>
                                  <m:e>
                                    <m:r>
                                      <a:rPr lang="en-AU" b="0" i="1" smtClean="0">
                                        <a:latin typeface="Cambria Math" panose="02040503050406030204" pitchFamily="18" charset="0"/>
                                      </a:rPr>
                                      <m:t>𝑧</m:t>
                                    </m:r>
                                  </m:e>
                                  <m:sub>
                                    <m:r>
                                      <a:rPr lang="en-AU" b="0" i="1" smtClean="0">
                                        <a:latin typeface="Cambria Math" panose="02040503050406030204" pitchFamily="18" charset="0"/>
                                      </a:rPr>
                                      <m:t>2</m:t>
                                    </m:r>
                                  </m:sub>
                                </m:sSub>
                              </m:e>
                            </m:mr>
                          </m:m>
                        </m:e>
                      </m:d>
                    </m:oMath>
                  </m:oMathPara>
                </a14:m>
                <a:endParaRPr lang="en-US" dirty="0"/>
              </a:p>
              <a:p>
                <a:endParaRPr lang="en-US" dirty="0"/>
              </a:p>
              <a:p>
                <a:r>
                  <a:rPr lang="en-US" dirty="0"/>
                  <a:t>Output of layer 2:</a:t>
                </a:r>
              </a:p>
              <a:p>
                <a:pPr/>
                <a14:m>
                  <m:oMathPara xmlns:m="http://schemas.openxmlformats.org/officeDocument/2006/math">
                    <m:oMath>
                      <m:d>
                        <m:dPr>
                          <m:begChr m:val="["/>
                          <m:endChr m:val="]"/>
                          <m:ctrlPr>
                            <a:rPr lang="en-US" i="1">
                              <a:latin typeface="Cambria Math" panose="02040503050406030204" pitchFamily="18" charset="0"/>
                            </a:rPr>
                          </m:ctrlPr>
                        </m:dPr>
                        <m:e>
                          <m:m>
                            <m:mPr>
                              <m:mcs>
                                <m:mc>
                                  <m:mcPr>
                                    <m:count m:val="2"/>
                                    <m:mcJc m:val="center"/>
                                  </m:mcPr>
                                </m:mc>
                              </m:mcs>
                              <m:ctrlPr>
                                <a:rPr lang="en-US" i="1">
                                  <a:latin typeface="Cambria Math" panose="02040503050406030204" pitchFamily="18" charset="0"/>
                                </a:rPr>
                              </m:ctrlPr>
                            </m:mPr>
                            <m:mr>
                              <m:e>
                                <m:sSub>
                                  <m:sSubPr>
                                    <m:ctrlPr>
                                      <a:rPr lang="en-AU" i="1">
                                        <a:latin typeface="Cambria Math" panose="02040503050406030204" pitchFamily="18" charset="0"/>
                                      </a:rPr>
                                    </m:ctrlPr>
                                  </m:sSubPr>
                                  <m:e>
                                    <m:r>
                                      <m:rPr>
                                        <m:brk m:alnAt="7"/>
                                      </m:rPr>
                                      <a:rPr lang="en-AU" i="1">
                                        <a:latin typeface="Cambria Math" panose="02040503050406030204" pitchFamily="18" charset="0"/>
                                      </a:rPr>
                                      <m:t>𝑤</m:t>
                                    </m:r>
                                  </m:e>
                                  <m:sub>
                                    <m:r>
                                      <m:rPr>
                                        <m:brk m:alnAt="7"/>
                                      </m:rPr>
                                      <a:rPr lang="en-AU" i="1">
                                        <a:latin typeface="Cambria Math" panose="02040503050406030204" pitchFamily="18" charset="0"/>
                                      </a:rPr>
                                      <m:t>1</m:t>
                                    </m:r>
                                    <m:r>
                                      <m:rPr>
                                        <m:brk m:alnAt="7"/>
                                      </m:rPr>
                                      <a:rPr lang="en-AU" i="1">
                                        <a:latin typeface="Cambria Math" panose="02040503050406030204" pitchFamily="18" charset="0"/>
                                      </a:rPr>
                                      <m:t>1</m:t>
                                    </m:r>
                                  </m:sub>
                                </m:sSub>
                              </m:e>
                              <m:e>
                                <m:sSub>
                                  <m:sSubPr>
                                    <m:ctrlPr>
                                      <a:rPr lang="en-AU" i="1">
                                        <a:latin typeface="Cambria Math" panose="02040503050406030204" pitchFamily="18" charset="0"/>
                                      </a:rPr>
                                    </m:ctrlPr>
                                  </m:sSubPr>
                                  <m:e>
                                    <m:r>
                                      <a:rPr lang="en-AU" i="1">
                                        <a:latin typeface="Cambria Math" panose="02040503050406030204" pitchFamily="18" charset="0"/>
                                      </a:rPr>
                                      <m:t>𝑤</m:t>
                                    </m:r>
                                  </m:e>
                                  <m:sub>
                                    <m:r>
                                      <a:rPr lang="en-AU" i="1">
                                        <a:latin typeface="Cambria Math" panose="02040503050406030204" pitchFamily="18" charset="0"/>
                                      </a:rPr>
                                      <m:t>12</m:t>
                                    </m:r>
                                  </m:sub>
                                </m:sSub>
                              </m:e>
                            </m:mr>
                          </m:m>
                        </m:e>
                      </m:d>
                      <m:r>
                        <a:rPr lang="en-AU" b="0" i="1" smtClean="0">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sSub>
                                  <m:sSubPr>
                                    <m:ctrlPr>
                                      <a:rPr lang="en-AU" i="1">
                                        <a:latin typeface="Cambria Math" panose="02040503050406030204" pitchFamily="18" charset="0"/>
                                      </a:rPr>
                                    </m:ctrlPr>
                                  </m:sSubPr>
                                  <m:e>
                                    <m:r>
                                      <m:rPr>
                                        <m:brk m:alnAt="7"/>
                                      </m:rPr>
                                      <a:rPr lang="en-AU" i="1">
                                        <a:latin typeface="Cambria Math" panose="02040503050406030204" pitchFamily="18" charset="0"/>
                                      </a:rPr>
                                      <m:t>𝑧</m:t>
                                    </m:r>
                                  </m:e>
                                  <m:sub>
                                    <m:r>
                                      <m:rPr>
                                        <m:brk m:alnAt="7"/>
                                      </m:rPr>
                                      <a:rPr lang="en-AU" i="1">
                                        <a:latin typeface="Cambria Math" panose="02040503050406030204" pitchFamily="18" charset="0"/>
                                      </a:rPr>
                                      <m:t>1</m:t>
                                    </m:r>
                                  </m:sub>
                                </m:sSub>
                              </m:e>
                            </m:mr>
                            <m:mr>
                              <m:e>
                                <m:sSub>
                                  <m:sSubPr>
                                    <m:ctrlPr>
                                      <a:rPr lang="en-AU" i="1">
                                        <a:latin typeface="Cambria Math" panose="02040503050406030204" pitchFamily="18" charset="0"/>
                                      </a:rPr>
                                    </m:ctrlPr>
                                  </m:sSubPr>
                                  <m:e>
                                    <m:r>
                                      <a:rPr lang="en-AU" i="1">
                                        <a:latin typeface="Cambria Math" panose="02040503050406030204" pitchFamily="18" charset="0"/>
                                      </a:rPr>
                                      <m:t>𝑧</m:t>
                                    </m:r>
                                  </m:e>
                                  <m:sub>
                                    <m:r>
                                      <a:rPr lang="en-AU" i="1">
                                        <a:latin typeface="Cambria Math" panose="02040503050406030204" pitchFamily="18" charset="0"/>
                                      </a:rPr>
                                      <m:t>2</m:t>
                                    </m:r>
                                  </m:sub>
                                </m:sSub>
                              </m:e>
                            </m:mr>
                          </m:m>
                        </m:e>
                      </m:d>
                      <m:r>
                        <a:rPr lang="en-AU" b="0" i="1" smtClean="0">
                          <a:latin typeface="Cambria Math" panose="02040503050406030204" pitchFamily="18" charset="0"/>
                        </a:rPr>
                        <m:t>=</m:t>
                      </m:r>
                      <m:sSub>
                        <m:sSubPr>
                          <m:ctrlPr>
                            <a:rPr lang="en-AU" b="0" i="1" smtClean="0">
                              <a:latin typeface="Cambria Math" panose="02040503050406030204" pitchFamily="18" charset="0"/>
                            </a:rPr>
                          </m:ctrlPr>
                        </m:sSubPr>
                        <m:e>
                          <m:r>
                            <a:rPr lang="en-AU" b="0" i="1" smtClean="0">
                              <a:latin typeface="Cambria Math" panose="02040503050406030204" pitchFamily="18" charset="0"/>
                            </a:rPr>
                            <m:t>𝑤</m:t>
                          </m:r>
                        </m:e>
                        <m:sub>
                          <m:r>
                            <a:rPr lang="en-AU" b="0" i="1" smtClean="0">
                              <a:latin typeface="Cambria Math" panose="02040503050406030204" pitchFamily="18" charset="0"/>
                            </a:rPr>
                            <m:t>11</m:t>
                          </m:r>
                        </m:sub>
                      </m:sSub>
                      <m:r>
                        <a:rPr lang="en-AU" b="0" i="1" smtClean="0">
                          <a:latin typeface="Cambria Math" panose="02040503050406030204" pitchFamily="18" charset="0"/>
                        </a:rPr>
                        <m:t>∗</m:t>
                      </m:r>
                      <m:sSub>
                        <m:sSubPr>
                          <m:ctrlPr>
                            <a:rPr lang="en-AU" b="0" i="1" smtClean="0">
                              <a:latin typeface="Cambria Math" panose="02040503050406030204" pitchFamily="18" charset="0"/>
                            </a:rPr>
                          </m:ctrlPr>
                        </m:sSubPr>
                        <m:e>
                          <m:r>
                            <a:rPr lang="en-AU" b="0" i="1" smtClean="0">
                              <a:latin typeface="Cambria Math" panose="02040503050406030204" pitchFamily="18" charset="0"/>
                            </a:rPr>
                            <m:t>𝑧</m:t>
                          </m:r>
                        </m:e>
                        <m:sub>
                          <m:r>
                            <a:rPr lang="en-AU" b="0" i="1" smtClean="0">
                              <a:latin typeface="Cambria Math" panose="02040503050406030204" pitchFamily="18" charset="0"/>
                            </a:rPr>
                            <m:t>1</m:t>
                          </m:r>
                        </m:sub>
                      </m:sSub>
                      <m:r>
                        <a:rPr lang="en-AU" b="0" i="1" smtClean="0">
                          <a:latin typeface="Cambria Math" panose="02040503050406030204" pitchFamily="18" charset="0"/>
                        </a:rPr>
                        <m:t>+</m:t>
                      </m:r>
                      <m:sSub>
                        <m:sSubPr>
                          <m:ctrlPr>
                            <a:rPr lang="en-AU" b="0" i="1" smtClean="0">
                              <a:latin typeface="Cambria Math" panose="02040503050406030204" pitchFamily="18" charset="0"/>
                            </a:rPr>
                          </m:ctrlPr>
                        </m:sSubPr>
                        <m:e>
                          <m:r>
                            <a:rPr lang="en-AU" b="0" i="1" smtClean="0">
                              <a:latin typeface="Cambria Math" panose="02040503050406030204" pitchFamily="18" charset="0"/>
                            </a:rPr>
                            <m:t>𝑤</m:t>
                          </m:r>
                        </m:e>
                        <m:sub>
                          <m:r>
                            <a:rPr lang="en-AU" b="0" i="1" smtClean="0">
                              <a:latin typeface="Cambria Math" panose="02040503050406030204" pitchFamily="18" charset="0"/>
                            </a:rPr>
                            <m:t>12</m:t>
                          </m:r>
                        </m:sub>
                      </m:sSub>
                      <m:r>
                        <a:rPr lang="en-AU" b="0" i="1" smtClean="0">
                          <a:latin typeface="Cambria Math" panose="02040503050406030204" pitchFamily="18" charset="0"/>
                        </a:rPr>
                        <m:t>∗</m:t>
                      </m:r>
                      <m:sSub>
                        <m:sSubPr>
                          <m:ctrlPr>
                            <a:rPr lang="en-AU" b="0" i="1" smtClean="0">
                              <a:latin typeface="Cambria Math" panose="02040503050406030204" pitchFamily="18" charset="0"/>
                            </a:rPr>
                          </m:ctrlPr>
                        </m:sSubPr>
                        <m:e>
                          <m:r>
                            <a:rPr lang="en-AU" b="0" i="1" smtClean="0">
                              <a:latin typeface="Cambria Math" panose="02040503050406030204" pitchFamily="18" charset="0"/>
                            </a:rPr>
                            <m:t>𝑧</m:t>
                          </m:r>
                        </m:e>
                        <m:sub>
                          <m:r>
                            <a:rPr lang="en-AU" b="0" i="1" smtClean="0">
                              <a:latin typeface="Cambria Math" panose="02040503050406030204" pitchFamily="18" charset="0"/>
                            </a:rPr>
                            <m:t>2</m:t>
                          </m:r>
                        </m:sub>
                      </m:sSub>
                    </m:oMath>
                  </m:oMathPara>
                </a14:m>
                <a:endParaRPr lang="en-US" dirty="0"/>
              </a:p>
            </p:txBody>
          </p:sp>
        </mc:Choice>
        <mc:Fallback xmlns="">
          <p:sp>
            <p:nvSpPr>
              <p:cNvPr id="5" name="TextBox 4">
                <a:extLst>
                  <a:ext uri="{FF2B5EF4-FFF2-40B4-BE49-F238E27FC236}">
                    <a16:creationId xmlns:a16="http://schemas.microsoft.com/office/drawing/2014/main" id="{A07841A7-2CDA-EEEA-F98C-2E753CC41316}"/>
                  </a:ext>
                </a:extLst>
              </p:cNvPr>
              <p:cNvSpPr txBox="1">
                <a:spLocks noRot="1" noChangeAspect="1" noMove="1" noResize="1" noEditPoints="1" noAdjustHandles="1" noChangeArrowheads="1" noChangeShapeType="1" noTextEdit="1"/>
              </p:cNvSpPr>
              <p:nvPr/>
            </p:nvSpPr>
            <p:spPr>
              <a:xfrm>
                <a:off x="7500730" y="2311577"/>
                <a:ext cx="4253948" cy="3974999"/>
              </a:xfrm>
              <a:prstGeom prst="rect">
                <a:avLst/>
              </a:prstGeom>
              <a:blipFill>
                <a:blip r:embed="rId4"/>
                <a:stretch>
                  <a:fillRect l="-1190" t="-318"/>
                </a:stretch>
              </a:blipFill>
            </p:spPr>
            <p:txBody>
              <a:bodyPr/>
              <a:lstStyle/>
              <a:p>
                <a:r>
                  <a:rPr lang="en-US">
                    <a:noFill/>
                  </a:rPr>
                  <a:t> </a:t>
                </a:r>
              </a:p>
            </p:txBody>
          </p:sp>
        </mc:Fallback>
      </mc:AlternateContent>
    </p:spTree>
    <p:extLst>
      <p:ext uri="{BB962C8B-B14F-4D97-AF65-F5344CB8AC3E}">
        <p14:creationId xmlns:p14="http://schemas.microsoft.com/office/powerpoint/2010/main" val="3117436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6A270-8238-1BB0-E3F0-6BC95982F7E2}"/>
              </a:ext>
            </a:extLst>
          </p:cNvPr>
          <p:cNvSpPr>
            <a:spLocks noGrp="1"/>
          </p:cNvSpPr>
          <p:nvPr>
            <p:ph type="title"/>
          </p:nvPr>
        </p:nvSpPr>
        <p:spPr/>
        <p:txBody>
          <a:bodyPr/>
          <a:lstStyle/>
          <a:p>
            <a:r>
              <a:rPr lang="en-US" b="1" dirty="0"/>
              <a:t>NN from scratch</a:t>
            </a:r>
          </a:p>
        </p:txBody>
      </p:sp>
      <p:sp>
        <p:nvSpPr>
          <p:cNvPr id="3" name="Content Placeholder 2">
            <a:extLst>
              <a:ext uri="{FF2B5EF4-FFF2-40B4-BE49-F238E27FC236}">
                <a16:creationId xmlns:a16="http://schemas.microsoft.com/office/drawing/2014/main" id="{FA286D1D-C613-1044-A85C-67C97BF4EB05}"/>
              </a:ext>
            </a:extLst>
          </p:cNvPr>
          <p:cNvSpPr>
            <a:spLocks noGrp="1"/>
          </p:cNvSpPr>
          <p:nvPr>
            <p:ph idx="1"/>
          </p:nvPr>
        </p:nvSpPr>
        <p:spPr/>
        <p:txBody>
          <a:bodyPr/>
          <a:lstStyle/>
          <a:p>
            <a:r>
              <a:rPr lang="en-US" dirty="0"/>
              <a:t>We can do the same linear regression problem using NN on excel. DIY.  </a:t>
            </a:r>
          </a:p>
          <a:p>
            <a:r>
              <a:rPr lang="en-US" dirty="0"/>
              <a:t>Demo. </a:t>
            </a:r>
          </a:p>
        </p:txBody>
      </p:sp>
    </p:spTree>
    <p:extLst>
      <p:ext uri="{BB962C8B-B14F-4D97-AF65-F5344CB8AC3E}">
        <p14:creationId xmlns:p14="http://schemas.microsoft.com/office/powerpoint/2010/main" val="29618269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DE9A6-99B1-F462-ADF7-0208B1F95C61}"/>
              </a:ext>
            </a:extLst>
          </p:cNvPr>
          <p:cNvSpPr>
            <a:spLocks noGrp="1"/>
          </p:cNvSpPr>
          <p:nvPr>
            <p:ph type="title"/>
          </p:nvPr>
        </p:nvSpPr>
        <p:spPr/>
        <p:txBody>
          <a:bodyPr/>
          <a:lstStyle/>
          <a:p>
            <a:r>
              <a:rPr lang="en-AU" b="1" dirty="0"/>
              <a:t>Activation functions</a:t>
            </a:r>
            <a:endParaRPr lang="en-US" b="1"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7E7B387-DDF6-B7A9-2177-E2EF565C9AA9}"/>
                  </a:ext>
                </a:extLst>
              </p:cNvPr>
              <p:cNvSpPr>
                <a:spLocks noGrp="1"/>
              </p:cNvSpPr>
              <p:nvPr>
                <p:ph idx="1"/>
              </p:nvPr>
            </p:nvSpPr>
            <p:spPr/>
            <p:txBody>
              <a:bodyPr/>
              <a:lstStyle/>
              <a:p>
                <a:r>
                  <a:rPr lang="en-AU" dirty="0"/>
                  <a:t>Activation functions are also referred to as transfer functions or nonlinearities because they transform the linear combination of a weighted sum into a nonlinear model.</a:t>
                </a:r>
              </a:p>
              <a:p>
                <a:r>
                  <a:rPr lang="en-AU" dirty="0"/>
                  <a:t>A model calculates the weighted sum: </a:t>
                </a:r>
                <a14:m>
                  <m:oMath xmlns:m="http://schemas.openxmlformats.org/officeDocument/2006/math">
                    <m:r>
                      <a:rPr lang="en-AU" b="1" i="1" dirty="0" smtClean="0">
                        <a:latin typeface="Cambria Math" panose="02040503050406030204" pitchFamily="18" charset="0"/>
                      </a:rPr>
                      <m:t>𝒛</m:t>
                    </m:r>
                    <m:r>
                      <a:rPr lang="en-AU" b="1" i="1" dirty="0">
                        <a:latin typeface="Cambria Math" panose="02040503050406030204" pitchFamily="18" charset="0"/>
                      </a:rPr>
                      <m:t>=</m:t>
                    </m:r>
                    <m:sSub>
                      <m:sSubPr>
                        <m:ctrlPr>
                          <a:rPr lang="en-AU" b="1" i="1" dirty="0" smtClean="0">
                            <a:latin typeface="Cambria Math" panose="02040503050406030204" pitchFamily="18" charset="0"/>
                          </a:rPr>
                        </m:ctrlPr>
                      </m:sSubPr>
                      <m:e>
                        <m:r>
                          <a:rPr lang="en-AU" b="1" i="1" dirty="0" smtClean="0">
                            <a:latin typeface="Cambria Math" panose="02040503050406030204" pitchFamily="18" charset="0"/>
                          </a:rPr>
                          <m:t>𝒙</m:t>
                        </m:r>
                      </m:e>
                      <m:sub>
                        <m:r>
                          <a:rPr lang="en-AU" b="1" i="1" dirty="0" smtClean="0">
                            <a:latin typeface="Cambria Math" panose="02040503050406030204" pitchFamily="18" charset="0"/>
                          </a:rPr>
                          <m:t>𝟏</m:t>
                        </m:r>
                      </m:sub>
                    </m:sSub>
                    <m:r>
                      <a:rPr lang="en-AU" b="1" i="1" dirty="0">
                        <a:latin typeface="Cambria Math" panose="02040503050406030204" pitchFamily="18" charset="0"/>
                      </a:rPr>
                      <m:t>·</m:t>
                    </m:r>
                    <m:sSub>
                      <m:sSubPr>
                        <m:ctrlPr>
                          <a:rPr lang="en-AU" b="1" i="1" dirty="0">
                            <a:latin typeface="Cambria Math" panose="02040503050406030204" pitchFamily="18" charset="0"/>
                          </a:rPr>
                        </m:ctrlPr>
                      </m:sSubPr>
                      <m:e>
                        <m:r>
                          <a:rPr lang="en-AU" b="1" i="1" dirty="0">
                            <a:latin typeface="Cambria Math" panose="02040503050406030204" pitchFamily="18" charset="0"/>
                          </a:rPr>
                          <m:t>𝒘</m:t>
                        </m:r>
                      </m:e>
                      <m:sub>
                        <m:r>
                          <a:rPr lang="en-AU" b="1" i="1" dirty="0">
                            <a:latin typeface="Cambria Math" panose="02040503050406030204" pitchFamily="18" charset="0"/>
                          </a:rPr>
                          <m:t>𝟏</m:t>
                        </m:r>
                      </m:sub>
                    </m:sSub>
                    <m:r>
                      <a:rPr lang="en-AU" b="1" i="1" dirty="0">
                        <a:latin typeface="Cambria Math" panose="02040503050406030204" pitchFamily="18" charset="0"/>
                      </a:rPr>
                      <m:t>+</m:t>
                    </m:r>
                    <m:sSub>
                      <m:sSubPr>
                        <m:ctrlPr>
                          <a:rPr lang="en-AU" b="1" i="1" dirty="0" smtClean="0">
                            <a:latin typeface="Cambria Math" panose="02040503050406030204" pitchFamily="18" charset="0"/>
                          </a:rPr>
                        </m:ctrlPr>
                      </m:sSubPr>
                      <m:e>
                        <m:r>
                          <a:rPr lang="en-AU" b="1" i="1" dirty="0" smtClean="0">
                            <a:latin typeface="Cambria Math" panose="02040503050406030204" pitchFamily="18" charset="0"/>
                          </a:rPr>
                          <m:t>𝒙</m:t>
                        </m:r>
                      </m:e>
                      <m:sub>
                        <m:r>
                          <a:rPr lang="en-AU" b="1" i="1" dirty="0" smtClean="0">
                            <a:latin typeface="Cambria Math" panose="02040503050406030204" pitchFamily="18" charset="0"/>
                          </a:rPr>
                          <m:t>𝟐</m:t>
                        </m:r>
                      </m:sub>
                    </m:sSub>
                    <m:r>
                      <a:rPr lang="en-AU" b="1" i="1" dirty="0">
                        <a:latin typeface="Cambria Math" panose="02040503050406030204" pitchFamily="18" charset="0"/>
                      </a:rPr>
                      <m:t>·</m:t>
                    </m:r>
                    <m:sSub>
                      <m:sSubPr>
                        <m:ctrlPr>
                          <a:rPr lang="en-AU" b="1" i="1" dirty="0">
                            <a:latin typeface="Cambria Math" panose="02040503050406030204" pitchFamily="18" charset="0"/>
                          </a:rPr>
                        </m:ctrlPr>
                      </m:sSubPr>
                      <m:e>
                        <m:r>
                          <a:rPr lang="en-AU" b="1" i="1" dirty="0">
                            <a:latin typeface="Cambria Math" panose="02040503050406030204" pitchFamily="18" charset="0"/>
                          </a:rPr>
                          <m:t>𝒘</m:t>
                        </m:r>
                      </m:e>
                      <m:sub>
                        <m:r>
                          <a:rPr lang="en-AU" b="1" i="1" dirty="0">
                            <a:latin typeface="Cambria Math" panose="02040503050406030204" pitchFamily="18" charset="0"/>
                          </a:rPr>
                          <m:t>𝟐</m:t>
                        </m:r>
                      </m:sub>
                    </m:sSub>
                    <m:r>
                      <a:rPr lang="en-AU" b="1" i="1" dirty="0" smtClean="0">
                        <a:latin typeface="Cambria Math" panose="02040503050406030204" pitchFamily="18" charset="0"/>
                      </a:rPr>
                      <m:t>+</m:t>
                    </m:r>
                    <m:r>
                      <a:rPr lang="en-AU" b="1" i="1" dirty="0">
                        <a:latin typeface="Cambria Math" panose="02040503050406030204" pitchFamily="18" charset="0"/>
                      </a:rPr>
                      <m:t>𝒃</m:t>
                    </m:r>
                  </m:oMath>
                </a14:m>
                <a:endParaRPr lang="en-AU" b="1" dirty="0"/>
              </a:p>
              <a:p>
                <a:r>
                  <a:rPr lang="en-AU" dirty="0"/>
                  <a:t>The output of this function has no bound. </a:t>
                </a:r>
                <a14:m>
                  <m:oMath xmlns:m="http://schemas.openxmlformats.org/officeDocument/2006/math">
                    <m:r>
                      <a:rPr lang="en-AU" b="1" i="1" dirty="0">
                        <a:latin typeface="Cambria Math" panose="02040503050406030204" pitchFamily="18" charset="0"/>
                      </a:rPr>
                      <m:t>𝒛</m:t>
                    </m:r>
                  </m:oMath>
                </a14:m>
                <a:r>
                  <a:rPr lang="en-AU" dirty="0"/>
                  <a:t> could literally be any number. </a:t>
                </a:r>
              </a:p>
              <a:p>
                <a:r>
                  <a:rPr lang="en-AU" dirty="0"/>
                  <a:t>An activation function wraps the prediction values to a finite value. </a:t>
                </a:r>
              </a:p>
              <a:p>
                <a:endParaRPr lang="en-AU" dirty="0"/>
              </a:p>
              <a:p>
                <a:endParaRPr lang="en-AU" dirty="0"/>
              </a:p>
              <a:p>
                <a:endParaRPr lang="en-US" dirty="0"/>
              </a:p>
            </p:txBody>
          </p:sp>
        </mc:Choice>
        <mc:Fallback xmlns="">
          <p:sp>
            <p:nvSpPr>
              <p:cNvPr id="3" name="Content Placeholder 2">
                <a:extLst>
                  <a:ext uri="{FF2B5EF4-FFF2-40B4-BE49-F238E27FC236}">
                    <a16:creationId xmlns:a16="http://schemas.microsoft.com/office/drawing/2014/main" id="{97E7B387-DDF6-B7A9-2177-E2EF565C9AA9}"/>
                  </a:ext>
                </a:extLst>
              </p:cNvPr>
              <p:cNvSpPr>
                <a:spLocks noGrp="1" noRot="1" noChangeAspect="1" noMove="1" noResize="1" noEditPoints="1" noAdjustHandles="1" noChangeArrowheads="1" noChangeShapeType="1" noTextEdit="1"/>
              </p:cNvSpPr>
              <p:nvPr>
                <p:ph idx="1"/>
              </p:nvPr>
            </p:nvSpPr>
            <p:spPr>
              <a:blipFill>
                <a:blip r:embed="rId2"/>
                <a:stretch>
                  <a:fillRect l="-1086" t="-2326"/>
                </a:stretch>
              </a:blipFill>
            </p:spPr>
            <p:txBody>
              <a:bodyPr/>
              <a:lstStyle/>
              <a:p>
                <a:r>
                  <a:rPr lang="en-US">
                    <a:noFill/>
                  </a:rPr>
                  <a:t> </a:t>
                </a:r>
              </a:p>
            </p:txBody>
          </p:sp>
        </mc:Fallback>
      </mc:AlternateContent>
    </p:spTree>
    <p:extLst>
      <p:ext uri="{BB962C8B-B14F-4D97-AF65-F5344CB8AC3E}">
        <p14:creationId xmlns:p14="http://schemas.microsoft.com/office/powerpoint/2010/main" val="25471132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9D782-64B5-AA56-14A7-8F41609452D9}"/>
              </a:ext>
            </a:extLst>
          </p:cNvPr>
          <p:cNvSpPr>
            <a:spLocks noGrp="1"/>
          </p:cNvSpPr>
          <p:nvPr>
            <p:ph type="title"/>
          </p:nvPr>
        </p:nvSpPr>
        <p:spPr/>
        <p:txBody>
          <a:bodyPr/>
          <a:lstStyle/>
          <a:p>
            <a:r>
              <a:rPr lang="en-AU" b="1" dirty="0"/>
              <a:t>Sigmoid/logistic function</a:t>
            </a:r>
            <a:endParaRPr lang="en-US" b="1" dirty="0"/>
          </a:p>
        </p:txBody>
      </p:sp>
      <p:sp>
        <p:nvSpPr>
          <p:cNvPr id="7" name="Content Placeholder 6">
            <a:extLst>
              <a:ext uri="{FF2B5EF4-FFF2-40B4-BE49-F238E27FC236}">
                <a16:creationId xmlns:a16="http://schemas.microsoft.com/office/drawing/2014/main" id="{6910DC82-6A8F-D3F9-535E-453BD1B27EAD}"/>
              </a:ext>
            </a:extLst>
          </p:cNvPr>
          <p:cNvSpPr>
            <a:spLocks noGrp="1"/>
          </p:cNvSpPr>
          <p:nvPr>
            <p:ph idx="1"/>
          </p:nvPr>
        </p:nvSpPr>
        <p:spPr>
          <a:xfrm>
            <a:off x="838200" y="1825625"/>
            <a:ext cx="6952851" cy="4351338"/>
          </a:xfrm>
        </p:spPr>
        <p:txBody>
          <a:bodyPr>
            <a:normAutofit lnSpcReduction="10000"/>
          </a:bodyPr>
          <a:lstStyle/>
          <a:p>
            <a:r>
              <a:rPr lang="en-AU" dirty="0"/>
              <a:t>Used in binary classifiers to predict the probability of a class when you have two classes. </a:t>
            </a:r>
          </a:p>
          <a:p>
            <a:r>
              <a:rPr lang="en-AU" dirty="0"/>
              <a:t>The sigmoid squishes all the values to a probability between 0 and 1, which reduces extreme values or outliers in the data without removing them. </a:t>
            </a:r>
          </a:p>
          <a:p>
            <a:r>
              <a:rPr lang="en-AU" dirty="0"/>
              <a:t>Sigmoid or logistic functions convert infinite continuous variables (range between –∞ to +∞) into simple probabilities between 0 and 1. </a:t>
            </a:r>
          </a:p>
        </p:txBody>
      </p:sp>
      <p:pic>
        <p:nvPicPr>
          <p:cNvPr id="8" name="Content Placeholder 4">
            <a:extLst>
              <a:ext uri="{FF2B5EF4-FFF2-40B4-BE49-F238E27FC236}">
                <a16:creationId xmlns:a16="http://schemas.microsoft.com/office/drawing/2014/main" id="{75F4EC75-0F71-48C6-CA4C-22F9A881D9DB}"/>
              </a:ext>
            </a:extLst>
          </p:cNvPr>
          <p:cNvPicPr>
            <a:picLocks noChangeAspect="1"/>
          </p:cNvPicPr>
          <p:nvPr/>
        </p:nvPicPr>
        <p:blipFill>
          <a:blip r:embed="rId2"/>
          <a:stretch>
            <a:fillRect/>
          </a:stretch>
        </p:blipFill>
        <p:spPr>
          <a:xfrm>
            <a:off x="8345595" y="2528838"/>
            <a:ext cx="3296304" cy="2638473"/>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48C3574-7DE9-FECC-7D4D-F75D2C6181D3}"/>
                  </a:ext>
                </a:extLst>
              </p:cNvPr>
              <p:cNvSpPr txBox="1"/>
              <p:nvPr/>
            </p:nvSpPr>
            <p:spPr>
              <a:xfrm>
                <a:off x="8686731" y="1690688"/>
                <a:ext cx="1771389" cy="525016"/>
              </a:xfrm>
              <a:prstGeom prst="rect">
                <a:avLst/>
              </a:prstGeom>
              <a:noFill/>
            </p:spPr>
            <p:txBody>
              <a:bodyPr wrap="square" lIns="0" tIns="0" rIns="0" bIns="0" rtlCol="0">
                <a:spAutoFit/>
              </a:bodyPr>
              <a:lstStyle/>
              <a:p>
                <a:pPr/>
                <a14:m>
                  <m:oMathPara xmlns:m="http://schemas.openxmlformats.org/officeDocument/2006/math">
                    <m:oMath>
                      <m:r>
                        <a:rPr lang="en-AU" b="1" i="1" smtClean="0">
                          <a:latin typeface="Cambria Math" panose="02040503050406030204" pitchFamily="18" charset="0"/>
                        </a:rPr>
                        <m:t>𝝈</m:t>
                      </m:r>
                      <m:d>
                        <m:dPr>
                          <m:ctrlPr>
                            <a:rPr lang="en-AU" b="1" i="1" smtClean="0">
                              <a:latin typeface="Cambria Math" panose="02040503050406030204" pitchFamily="18" charset="0"/>
                            </a:rPr>
                          </m:ctrlPr>
                        </m:dPr>
                        <m:e>
                          <m:r>
                            <a:rPr lang="en-AU" b="1" i="1" smtClean="0">
                              <a:latin typeface="Cambria Math" panose="02040503050406030204" pitchFamily="18" charset="0"/>
                            </a:rPr>
                            <m:t>𝒛</m:t>
                          </m:r>
                        </m:e>
                      </m:d>
                      <m:r>
                        <a:rPr lang="en-AU" b="1" i="1" smtClean="0">
                          <a:latin typeface="Cambria Math" panose="02040503050406030204" pitchFamily="18" charset="0"/>
                        </a:rPr>
                        <m:t>=</m:t>
                      </m:r>
                      <m:f>
                        <m:fPr>
                          <m:ctrlPr>
                            <a:rPr lang="en-AU" b="1" i="1" smtClean="0">
                              <a:latin typeface="Cambria Math" panose="02040503050406030204" pitchFamily="18" charset="0"/>
                            </a:rPr>
                          </m:ctrlPr>
                        </m:fPr>
                        <m:num>
                          <m:r>
                            <a:rPr lang="en-AU" b="1" i="1" smtClean="0">
                              <a:latin typeface="Cambria Math" panose="02040503050406030204" pitchFamily="18" charset="0"/>
                            </a:rPr>
                            <m:t>𝟏</m:t>
                          </m:r>
                        </m:num>
                        <m:den>
                          <m:r>
                            <a:rPr lang="en-AU" b="1" i="1" smtClean="0">
                              <a:latin typeface="Cambria Math" panose="02040503050406030204" pitchFamily="18" charset="0"/>
                            </a:rPr>
                            <m:t>𝟏</m:t>
                          </m:r>
                          <m:r>
                            <a:rPr lang="en-AU" b="1" i="1" smtClean="0">
                              <a:latin typeface="Cambria Math" panose="02040503050406030204" pitchFamily="18" charset="0"/>
                            </a:rPr>
                            <m:t>+</m:t>
                          </m:r>
                          <m:sSup>
                            <m:sSupPr>
                              <m:ctrlPr>
                                <a:rPr lang="en-AU" b="1" i="1" smtClean="0">
                                  <a:latin typeface="Cambria Math" panose="02040503050406030204" pitchFamily="18" charset="0"/>
                                </a:rPr>
                              </m:ctrlPr>
                            </m:sSupPr>
                            <m:e>
                              <m:r>
                                <a:rPr lang="en-AU" b="1" i="1" smtClean="0">
                                  <a:latin typeface="Cambria Math" panose="02040503050406030204" pitchFamily="18" charset="0"/>
                                </a:rPr>
                                <m:t>𝒆</m:t>
                              </m:r>
                            </m:e>
                            <m:sup>
                              <m:r>
                                <a:rPr lang="en-AU" b="1" i="1" smtClean="0">
                                  <a:latin typeface="Cambria Math" panose="02040503050406030204" pitchFamily="18" charset="0"/>
                                </a:rPr>
                                <m:t>−</m:t>
                              </m:r>
                              <m:r>
                                <a:rPr lang="en-AU" b="1" i="1" smtClean="0">
                                  <a:latin typeface="Cambria Math" panose="02040503050406030204" pitchFamily="18" charset="0"/>
                                </a:rPr>
                                <m:t>𝒛</m:t>
                              </m:r>
                            </m:sup>
                          </m:sSup>
                        </m:den>
                      </m:f>
                    </m:oMath>
                  </m:oMathPara>
                </a14:m>
                <a:endParaRPr lang="en-US" b="1" dirty="0"/>
              </a:p>
            </p:txBody>
          </p:sp>
        </mc:Choice>
        <mc:Fallback xmlns="">
          <p:sp>
            <p:nvSpPr>
              <p:cNvPr id="9" name="TextBox 8">
                <a:extLst>
                  <a:ext uri="{FF2B5EF4-FFF2-40B4-BE49-F238E27FC236}">
                    <a16:creationId xmlns:a16="http://schemas.microsoft.com/office/drawing/2014/main" id="{748C3574-7DE9-FECC-7D4D-F75D2C6181D3}"/>
                  </a:ext>
                </a:extLst>
              </p:cNvPr>
              <p:cNvSpPr txBox="1">
                <a:spLocks noRot="1" noChangeAspect="1" noMove="1" noResize="1" noEditPoints="1" noAdjustHandles="1" noChangeArrowheads="1" noChangeShapeType="1" noTextEdit="1"/>
              </p:cNvSpPr>
              <p:nvPr/>
            </p:nvSpPr>
            <p:spPr>
              <a:xfrm>
                <a:off x="8686731" y="1690688"/>
                <a:ext cx="1771389" cy="525016"/>
              </a:xfrm>
              <a:prstGeom prst="rect">
                <a:avLst/>
              </a:prstGeom>
              <a:blipFill>
                <a:blip r:embed="rId3"/>
                <a:stretch>
                  <a:fillRect t="-2326" b="-11628"/>
                </a:stretch>
              </a:blipFill>
            </p:spPr>
            <p:txBody>
              <a:bodyPr/>
              <a:lstStyle/>
              <a:p>
                <a:r>
                  <a:rPr lang="en-US">
                    <a:noFill/>
                  </a:rPr>
                  <a:t> </a:t>
                </a:r>
              </a:p>
            </p:txBody>
          </p:sp>
        </mc:Fallback>
      </mc:AlternateContent>
    </p:spTree>
    <p:extLst>
      <p:ext uri="{BB962C8B-B14F-4D97-AF65-F5344CB8AC3E}">
        <p14:creationId xmlns:p14="http://schemas.microsoft.com/office/powerpoint/2010/main" val="39011543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CC00D-5087-2252-1BFD-C07CF181D66D}"/>
              </a:ext>
            </a:extLst>
          </p:cNvPr>
          <p:cNvSpPr>
            <a:spLocks noGrp="1"/>
          </p:cNvSpPr>
          <p:nvPr>
            <p:ph type="title"/>
          </p:nvPr>
        </p:nvSpPr>
        <p:spPr/>
        <p:txBody>
          <a:bodyPr/>
          <a:lstStyle/>
          <a:p>
            <a:r>
              <a:rPr lang="en-AU" b="1" dirty="0" err="1"/>
              <a:t>Softmax</a:t>
            </a:r>
            <a:r>
              <a:rPr lang="en-AU" b="1" dirty="0"/>
              <a:t> function</a:t>
            </a:r>
            <a:endParaRPr lang="en-US" b="1" dirty="0"/>
          </a:p>
        </p:txBody>
      </p:sp>
      <p:sp>
        <p:nvSpPr>
          <p:cNvPr id="7" name="Content Placeholder 6">
            <a:extLst>
              <a:ext uri="{FF2B5EF4-FFF2-40B4-BE49-F238E27FC236}">
                <a16:creationId xmlns:a16="http://schemas.microsoft.com/office/drawing/2014/main" id="{4C105AC6-8877-2356-FD67-B5E8007D5D36}"/>
              </a:ext>
            </a:extLst>
          </p:cNvPr>
          <p:cNvSpPr>
            <a:spLocks noGrp="1"/>
          </p:cNvSpPr>
          <p:nvPr>
            <p:ph idx="1"/>
          </p:nvPr>
        </p:nvSpPr>
        <p:spPr>
          <a:xfrm>
            <a:off x="838200" y="1825625"/>
            <a:ext cx="6564682" cy="2295438"/>
          </a:xfrm>
        </p:spPr>
        <p:txBody>
          <a:bodyPr/>
          <a:lstStyle/>
          <a:p>
            <a:r>
              <a:rPr lang="en-AU" dirty="0"/>
              <a:t>Used to obtain classification probabilities when we have more than two classes. </a:t>
            </a:r>
          </a:p>
          <a:p>
            <a:r>
              <a:rPr lang="en-AU" dirty="0"/>
              <a:t>Forces the outputs of a neural network to sum to 1 (for example, 0 &lt; output &lt; 1).</a:t>
            </a:r>
          </a:p>
          <a:p>
            <a:endParaRPr lang="en-AU" dirty="0"/>
          </a:p>
          <a:p>
            <a:endParaRPr lang="en-AU" dirty="0"/>
          </a:p>
          <a:p>
            <a:endParaRPr lang="en-US" dirty="0"/>
          </a:p>
        </p:txBody>
      </p:sp>
      <p:pic>
        <p:nvPicPr>
          <p:cNvPr id="8" name="Content Placeholder 4">
            <a:extLst>
              <a:ext uri="{FF2B5EF4-FFF2-40B4-BE49-F238E27FC236}">
                <a16:creationId xmlns:a16="http://schemas.microsoft.com/office/drawing/2014/main" id="{561908F2-B59F-9967-C19D-D79B14BAFF4F}"/>
              </a:ext>
            </a:extLst>
          </p:cNvPr>
          <p:cNvPicPr>
            <a:picLocks noChangeAspect="1"/>
          </p:cNvPicPr>
          <p:nvPr/>
        </p:nvPicPr>
        <p:blipFill>
          <a:blip r:embed="rId2"/>
          <a:stretch>
            <a:fillRect/>
          </a:stretch>
        </p:blipFill>
        <p:spPr>
          <a:xfrm>
            <a:off x="8160977" y="2652061"/>
            <a:ext cx="3405765" cy="776939"/>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3E58A12-F1C0-CA69-0C80-39EA6A28B16D}"/>
                  </a:ext>
                </a:extLst>
              </p:cNvPr>
              <p:cNvSpPr txBox="1"/>
              <p:nvPr/>
            </p:nvSpPr>
            <p:spPr>
              <a:xfrm>
                <a:off x="9100428" y="1715414"/>
                <a:ext cx="1508297" cy="604909"/>
              </a:xfrm>
              <a:prstGeom prst="rect">
                <a:avLst/>
              </a:prstGeom>
              <a:noFill/>
            </p:spPr>
            <p:txBody>
              <a:bodyPr wrap="none" lIns="0" tIns="0" rIns="0" bIns="0" rtlCol="0">
                <a:spAutoFit/>
              </a:bodyPr>
              <a:lstStyle/>
              <a:p>
                <a:pPr/>
                <a14:m>
                  <m:oMathPara xmlns:m="http://schemas.openxmlformats.org/officeDocument/2006/math">
                    <m:oMath>
                      <m:r>
                        <a:rPr lang="en-AU" b="0" i="1" smtClean="0">
                          <a:latin typeface="Cambria Math" panose="02040503050406030204" pitchFamily="18" charset="0"/>
                        </a:rPr>
                        <m:t>𝜎</m:t>
                      </m:r>
                      <m:d>
                        <m:dPr>
                          <m:ctrlPr>
                            <a:rPr lang="en-AU" b="0" i="1" smtClean="0">
                              <a:latin typeface="Cambria Math" panose="02040503050406030204" pitchFamily="18" charset="0"/>
                            </a:rPr>
                          </m:ctrlPr>
                        </m:dPr>
                        <m:e>
                          <m:sSub>
                            <m:sSubPr>
                              <m:ctrlPr>
                                <a:rPr lang="en-AU" b="0" i="1" smtClean="0">
                                  <a:latin typeface="Cambria Math" panose="02040503050406030204" pitchFamily="18" charset="0"/>
                                </a:rPr>
                              </m:ctrlPr>
                            </m:sSubPr>
                            <m:e>
                              <m:r>
                                <a:rPr lang="en-AU" b="0" i="1" smtClean="0">
                                  <a:latin typeface="Cambria Math" panose="02040503050406030204" pitchFamily="18" charset="0"/>
                                </a:rPr>
                                <m:t>𝑥</m:t>
                              </m:r>
                            </m:e>
                            <m:sub>
                              <m:r>
                                <a:rPr lang="en-AU" b="0" i="1" smtClean="0">
                                  <a:latin typeface="Cambria Math" panose="02040503050406030204" pitchFamily="18" charset="0"/>
                                </a:rPr>
                                <m:t>𝑗</m:t>
                              </m:r>
                            </m:sub>
                          </m:sSub>
                        </m:e>
                      </m:d>
                      <m:r>
                        <a:rPr lang="en-AU" b="0" i="1" smtClean="0">
                          <a:latin typeface="Cambria Math" panose="02040503050406030204" pitchFamily="18" charset="0"/>
                        </a:rPr>
                        <m:t>=</m:t>
                      </m:r>
                      <m:f>
                        <m:fPr>
                          <m:ctrlPr>
                            <a:rPr lang="en-AU" b="0" i="1" smtClean="0">
                              <a:latin typeface="Cambria Math" panose="02040503050406030204" pitchFamily="18" charset="0"/>
                            </a:rPr>
                          </m:ctrlPr>
                        </m:fPr>
                        <m:num>
                          <m:sSup>
                            <m:sSupPr>
                              <m:ctrlPr>
                                <a:rPr lang="en-AU" b="0" i="1" smtClean="0">
                                  <a:latin typeface="Cambria Math" panose="02040503050406030204" pitchFamily="18" charset="0"/>
                                </a:rPr>
                              </m:ctrlPr>
                            </m:sSupPr>
                            <m:e>
                              <m:r>
                                <a:rPr lang="en-AU" b="0" i="1" smtClean="0">
                                  <a:latin typeface="Cambria Math" panose="02040503050406030204" pitchFamily="18" charset="0"/>
                                </a:rPr>
                                <m:t>𝑒</m:t>
                              </m:r>
                            </m:e>
                            <m:sup>
                              <m:sSub>
                                <m:sSubPr>
                                  <m:ctrlPr>
                                    <a:rPr lang="en-AU" b="0" i="1" smtClean="0">
                                      <a:latin typeface="Cambria Math" panose="02040503050406030204" pitchFamily="18" charset="0"/>
                                    </a:rPr>
                                  </m:ctrlPr>
                                </m:sSubPr>
                                <m:e>
                                  <m:r>
                                    <a:rPr lang="en-AU" b="0" i="1" smtClean="0">
                                      <a:latin typeface="Cambria Math" panose="02040503050406030204" pitchFamily="18" charset="0"/>
                                    </a:rPr>
                                    <m:t>𝑥</m:t>
                                  </m:r>
                                </m:e>
                                <m:sub>
                                  <m:r>
                                    <a:rPr lang="en-AU" b="0" i="1" smtClean="0">
                                      <a:latin typeface="Cambria Math" panose="02040503050406030204" pitchFamily="18" charset="0"/>
                                    </a:rPr>
                                    <m:t>𝑗</m:t>
                                  </m:r>
                                </m:sub>
                              </m:sSub>
                            </m:sup>
                          </m:sSup>
                        </m:num>
                        <m:den>
                          <m:nary>
                            <m:naryPr>
                              <m:chr m:val="∑"/>
                              <m:supHide m:val="on"/>
                              <m:ctrlPr>
                                <a:rPr lang="en-AU" b="0" i="1" smtClean="0">
                                  <a:latin typeface="Cambria Math" panose="02040503050406030204" pitchFamily="18" charset="0"/>
                                </a:rPr>
                              </m:ctrlPr>
                            </m:naryPr>
                            <m:sub>
                              <m:r>
                                <a:rPr lang="en-AU" b="0" i="1" smtClean="0">
                                  <a:latin typeface="Cambria Math" panose="02040503050406030204" pitchFamily="18" charset="0"/>
                                </a:rPr>
                                <m:t>𝑖</m:t>
                              </m:r>
                            </m:sub>
                            <m:sup/>
                            <m:e>
                              <m:sSup>
                                <m:sSupPr>
                                  <m:ctrlPr>
                                    <a:rPr lang="en-AU" b="0" i="1" smtClean="0">
                                      <a:latin typeface="Cambria Math" panose="02040503050406030204" pitchFamily="18" charset="0"/>
                                    </a:rPr>
                                  </m:ctrlPr>
                                </m:sSupPr>
                                <m:e>
                                  <m:r>
                                    <a:rPr lang="en-AU" b="0" i="1" smtClean="0">
                                      <a:latin typeface="Cambria Math" panose="02040503050406030204" pitchFamily="18" charset="0"/>
                                    </a:rPr>
                                    <m:t>𝑒</m:t>
                                  </m:r>
                                </m:e>
                                <m:sup>
                                  <m:sSub>
                                    <m:sSubPr>
                                      <m:ctrlPr>
                                        <a:rPr lang="en-AU" b="0" i="1" smtClean="0">
                                          <a:latin typeface="Cambria Math" panose="02040503050406030204" pitchFamily="18" charset="0"/>
                                        </a:rPr>
                                      </m:ctrlPr>
                                    </m:sSubPr>
                                    <m:e>
                                      <m:r>
                                        <a:rPr lang="en-AU" b="0" i="1" smtClean="0">
                                          <a:latin typeface="Cambria Math" panose="02040503050406030204" pitchFamily="18" charset="0"/>
                                        </a:rPr>
                                        <m:t>𝑥</m:t>
                                      </m:r>
                                    </m:e>
                                    <m:sub>
                                      <m:r>
                                        <a:rPr lang="en-AU" b="0" i="1" smtClean="0">
                                          <a:latin typeface="Cambria Math" panose="02040503050406030204" pitchFamily="18" charset="0"/>
                                        </a:rPr>
                                        <m:t>𝑖</m:t>
                                      </m:r>
                                    </m:sub>
                                  </m:sSub>
                                </m:sup>
                              </m:sSup>
                            </m:e>
                          </m:nary>
                        </m:den>
                      </m:f>
                      <m:r>
                        <a:rPr lang="en-AU" b="0" i="1" smtClean="0">
                          <a:latin typeface="Cambria Math" panose="02040503050406030204" pitchFamily="18" charset="0"/>
                        </a:rPr>
                        <m:t> </m:t>
                      </m:r>
                    </m:oMath>
                  </m:oMathPara>
                </a14:m>
                <a:endParaRPr lang="en-US" dirty="0"/>
              </a:p>
            </p:txBody>
          </p:sp>
        </mc:Choice>
        <mc:Fallback xmlns="">
          <p:sp>
            <p:nvSpPr>
              <p:cNvPr id="9" name="TextBox 8">
                <a:extLst>
                  <a:ext uri="{FF2B5EF4-FFF2-40B4-BE49-F238E27FC236}">
                    <a16:creationId xmlns:a16="http://schemas.microsoft.com/office/drawing/2014/main" id="{C3E58A12-F1C0-CA69-0C80-39EA6A28B16D}"/>
                  </a:ext>
                </a:extLst>
              </p:cNvPr>
              <p:cNvSpPr txBox="1">
                <a:spLocks noRot="1" noChangeAspect="1" noMove="1" noResize="1" noEditPoints="1" noAdjustHandles="1" noChangeArrowheads="1" noChangeShapeType="1" noTextEdit="1"/>
              </p:cNvSpPr>
              <p:nvPr/>
            </p:nvSpPr>
            <p:spPr>
              <a:xfrm>
                <a:off x="9100428" y="1715414"/>
                <a:ext cx="1508297" cy="604909"/>
              </a:xfrm>
              <a:prstGeom prst="rect">
                <a:avLst/>
              </a:prstGeom>
              <a:blipFill>
                <a:blip r:embed="rId3"/>
                <a:stretch>
                  <a:fillRect l="-1667" t="-22449" r="-5000" b="-108163"/>
                </a:stretch>
              </a:blipFill>
            </p:spPr>
            <p:txBody>
              <a:bodyPr/>
              <a:lstStyle/>
              <a:p>
                <a:r>
                  <a:rPr lang="en-US">
                    <a:noFill/>
                  </a:rPr>
                  <a:t> </a:t>
                </a:r>
              </a:p>
            </p:txBody>
          </p:sp>
        </mc:Fallback>
      </mc:AlternateContent>
    </p:spTree>
    <p:extLst>
      <p:ext uri="{BB962C8B-B14F-4D97-AF65-F5344CB8AC3E}">
        <p14:creationId xmlns:p14="http://schemas.microsoft.com/office/powerpoint/2010/main" val="14512316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D2751-E276-74FF-EC6F-249FDCED4784}"/>
              </a:ext>
            </a:extLst>
          </p:cNvPr>
          <p:cNvSpPr>
            <a:spLocks noGrp="1"/>
          </p:cNvSpPr>
          <p:nvPr>
            <p:ph type="title"/>
          </p:nvPr>
        </p:nvSpPr>
        <p:spPr>
          <a:xfrm>
            <a:off x="838200" y="365126"/>
            <a:ext cx="10515600" cy="912530"/>
          </a:xfrm>
        </p:spPr>
        <p:txBody>
          <a:bodyPr/>
          <a:lstStyle/>
          <a:p>
            <a:r>
              <a:rPr lang="en-AU" b="1" dirty="0"/>
              <a:t>tanh</a:t>
            </a:r>
            <a:endParaRPr lang="en-US" b="1"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00F2261-08E0-8FE3-08B6-0D34BD687FEC}"/>
                  </a:ext>
                </a:extLst>
              </p:cNvPr>
              <p:cNvSpPr>
                <a:spLocks noGrp="1"/>
              </p:cNvSpPr>
              <p:nvPr>
                <p:ph idx="1"/>
              </p:nvPr>
            </p:nvSpPr>
            <p:spPr>
              <a:xfrm>
                <a:off x="838200" y="1580232"/>
                <a:ext cx="8067806" cy="4596731"/>
              </a:xfrm>
            </p:spPr>
            <p:txBody>
              <a:bodyPr>
                <a:normAutofit/>
              </a:bodyPr>
              <a:lstStyle/>
              <a:p>
                <a:r>
                  <a:rPr lang="en-AU" dirty="0"/>
                  <a:t>A shifted version of the sigmoid version. Instead of squeezing the signal values between 0 and 1, tanh squishes all values to the range –1 to 1.</a:t>
                </a:r>
              </a:p>
              <a:p>
                <a:r>
                  <a:rPr lang="en-AU" dirty="0"/>
                  <a:t>Works better than the </a:t>
                </a:r>
                <a14:m>
                  <m:oMath xmlns:m="http://schemas.openxmlformats.org/officeDocument/2006/math">
                    <m:r>
                      <a:rPr lang="en-AU" i="1" smtClean="0">
                        <a:latin typeface="Cambria Math" panose="02040503050406030204" pitchFamily="18" charset="0"/>
                        <a:ea typeface="Cambria Math" panose="02040503050406030204" pitchFamily="18" charset="0"/>
                      </a:rPr>
                      <m:t>𝜎</m:t>
                    </m:r>
                  </m:oMath>
                </a14:m>
                <a:r>
                  <a:rPr lang="en-AU" dirty="0"/>
                  <a:t> because it has the effect of </a:t>
                </a:r>
                <a:r>
                  <a:rPr lang="en-AU" dirty="0" err="1"/>
                  <a:t>centering</a:t>
                </a:r>
                <a:r>
                  <a:rPr lang="en-AU" dirty="0"/>
                  <a:t> data so that the mean of the data is close to zero rather than 0.5, which makes learning for the next layer a little bit easier.</a:t>
                </a:r>
              </a:p>
              <a:p>
                <a:r>
                  <a:rPr lang="en-AU" b="1" dirty="0"/>
                  <a:t>Downside: </a:t>
                </a:r>
                <a:r>
                  <a:rPr lang="en-AU" dirty="0"/>
                  <a:t> of both sigmoid and tanh functions is that if </a:t>
                </a:r>
                <a14:m>
                  <m:oMath xmlns:m="http://schemas.openxmlformats.org/officeDocument/2006/math">
                    <m:r>
                      <a:rPr lang="en-AU" b="0" i="1" smtClean="0">
                        <a:latin typeface="Cambria Math" panose="02040503050406030204" pitchFamily="18" charset="0"/>
                      </a:rPr>
                      <m:t>𝑧</m:t>
                    </m:r>
                  </m:oMath>
                </a14:m>
                <a:r>
                  <a:rPr lang="en-AU" dirty="0"/>
                  <a:t> is very large or very small, then the gradient (or derivative or slope) of this function becomes very small (close to zero)</a:t>
                </a:r>
                <a:r>
                  <a:rPr lang="en-US" dirty="0"/>
                  <a:t>.</a:t>
                </a:r>
                <a:endParaRPr lang="en-AU" dirty="0"/>
              </a:p>
            </p:txBody>
          </p:sp>
        </mc:Choice>
        <mc:Fallback xmlns="">
          <p:sp>
            <p:nvSpPr>
              <p:cNvPr id="3" name="Content Placeholder 2">
                <a:extLst>
                  <a:ext uri="{FF2B5EF4-FFF2-40B4-BE49-F238E27FC236}">
                    <a16:creationId xmlns:a16="http://schemas.microsoft.com/office/drawing/2014/main" id="{500F2261-08E0-8FE3-08B6-0D34BD687FEC}"/>
                  </a:ext>
                </a:extLst>
              </p:cNvPr>
              <p:cNvSpPr>
                <a:spLocks noGrp="1" noRot="1" noChangeAspect="1" noMove="1" noResize="1" noEditPoints="1" noAdjustHandles="1" noChangeArrowheads="1" noChangeShapeType="1" noTextEdit="1"/>
              </p:cNvSpPr>
              <p:nvPr>
                <p:ph idx="1"/>
              </p:nvPr>
            </p:nvSpPr>
            <p:spPr>
              <a:xfrm>
                <a:off x="838200" y="1580232"/>
                <a:ext cx="8067806" cy="4596731"/>
              </a:xfrm>
              <a:blipFill>
                <a:blip r:embed="rId2"/>
                <a:stretch>
                  <a:fillRect l="-1415" t="-2204" r="-2201" b="-30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98D0857-692D-2898-EFB9-3436B771ACC7}"/>
                  </a:ext>
                </a:extLst>
              </p:cNvPr>
              <p:cNvSpPr txBox="1"/>
              <p:nvPr/>
            </p:nvSpPr>
            <p:spPr>
              <a:xfrm>
                <a:off x="8174135" y="1003471"/>
                <a:ext cx="3607496" cy="576761"/>
              </a:xfrm>
              <a:prstGeom prst="rect">
                <a:avLst/>
              </a:prstGeom>
              <a:noFill/>
            </p:spPr>
            <p:txBody>
              <a:bodyPr wrap="square" lIns="0" tIns="0" rIns="0" bIns="0" rtlCol="0">
                <a:spAutoFit/>
              </a:bodyPr>
              <a:lstStyle/>
              <a:p>
                <a:pPr/>
                <a14:m>
                  <m:oMathPara xmlns:m="http://schemas.openxmlformats.org/officeDocument/2006/math">
                    <m:oMath>
                      <m:func>
                        <m:funcPr>
                          <m:ctrlPr>
                            <a:rPr lang="en-AU" b="0" i="0" smtClean="0">
                              <a:latin typeface="Cambria Math" panose="02040503050406030204" pitchFamily="18" charset="0"/>
                            </a:rPr>
                          </m:ctrlPr>
                        </m:funcPr>
                        <m:fName>
                          <m:r>
                            <m:rPr>
                              <m:sty m:val="p"/>
                            </m:rPr>
                            <a:rPr lang="en-AU" b="0" i="0" smtClean="0">
                              <a:latin typeface="Cambria Math" panose="02040503050406030204" pitchFamily="18" charset="0"/>
                            </a:rPr>
                            <m:t>tanh</m:t>
                          </m:r>
                        </m:fName>
                        <m:e>
                          <m:d>
                            <m:dPr>
                              <m:ctrlPr>
                                <a:rPr lang="en-AU" b="0" i="1" smtClean="0">
                                  <a:latin typeface="Cambria Math" panose="02040503050406030204" pitchFamily="18" charset="0"/>
                                </a:rPr>
                              </m:ctrlPr>
                            </m:dPr>
                            <m:e>
                              <m:r>
                                <a:rPr lang="en-AU" b="0" i="1" smtClean="0">
                                  <a:latin typeface="Cambria Math" panose="02040503050406030204" pitchFamily="18" charset="0"/>
                                </a:rPr>
                                <m:t>𝑥</m:t>
                              </m:r>
                            </m:e>
                          </m:d>
                          <m:r>
                            <a:rPr lang="en-AU" b="0" i="1" smtClean="0">
                              <a:latin typeface="Cambria Math" panose="02040503050406030204" pitchFamily="18" charset="0"/>
                            </a:rPr>
                            <m:t>=</m:t>
                          </m:r>
                          <m:f>
                            <m:fPr>
                              <m:ctrlPr>
                                <a:rPr lang="en-AU" i="1">
                                  <a:latin typeface="Cambria Math" panose="02040503050406030204" pitchFamily="18" charset="0"/>
                                </a:rPr>
                              </m:ctrlPr>
                            </m:fPr>
                            <m:num>
                              <m:func>
                                <m:funcPr>
                                  <m:ctrlPr>
                                    <a:rPr lang="en-AU">
                                      <a:latin typeface="Cambria Math" panose="02040503050406030204" pitchFamily="18" charset="0"/>
                                    </a:rPr>
                                  </m:ctrlPr>
                                </m:funcPr>
                                <m:fName>
                                  <m:r>
                                    <m:rPr>
                                      <m:sty m:val="p"/>
                                    </m:rPr>
                                    <a:rPr lang="en-AU">
                                      <a:latin typeface="Cambria Math" panose="02040503050406030204" pitchFamily="18" charset="0"/>
                                    </a:rPr>
                                    <m:t>sinh</m:t>
                                  </m:r>
                                </m:fName>
                                <m:e>
                                  <m:d>
                                    <m:dPr>
                                      <m:ctrlPr>
                                        <a:rPr lang="en-AU" i="1">
                                          <a:latin typeface="Cambria Math" panose="02040503050406030204" pitchFamily="18" charset="0"/>
                                        </a:rPr>
                                      </m:ctrlPr>
                                    </m:dPr>
                                    <m:e>
                                      <m:r>
                                        <a:rPr lang="en-AU" i="1">
                                          <a:latin typeface="Cambria Math" panose="02040503050406030204" pitchFamily="18" charset="0"/>
                                        </a:rPr>
                                        <m:t>𝑥</m:t>
                                      </m:r>
                                    </m:e>
                                  </m:d>
                                </m:e>
                              </m:func>
                            </m:num>
                            <m:den>
                              <m:func>
                                <m:funcPr>
                                  <m:ctrlPr>
                                    <a:rPr lang="en-AU" b="0" i="0" smtClean="0">
                                      <a:latin typeface="Cambria Math" panose="02040503050406030204" pitchFamily="18" charset="0"/>
                                    </a:rPr>
                                  </m:ctrlPr>
                                </m:funcPr>
                                <m:fName>
                                  <m:r>
                                    <m:rPr>
                                      <m:sty m:val="p"/>
                                    </m:rPr>
                                    <a:rPr lang="en-AU" b="0" i="0" smtClean="0">
                                      <a:latin typeface="Cambria Math" panose="02040503050406030204" pitchFamily="18" charset="0"/>
                                    </a:rPr>
                                    <m:t>co</m:t>
                                  </m:r>
                                  <m:r>
                                    <m:rPr>
                                      <m:sty m:val="p"/>
                                    </m:rPr>
                                    <a:rPr lang="en-AU">
                                      <a:latin typeface="Cambria Math" panose="02040503050406030204" pitchFamily="18" charset="0"/>
                                    </a:rPr>
                                    <m:t>sh</m:t>
                                  </m:r>
                                </m:fName>
                                <m:e>
                                  <m:d>
                                    <m:dPr>
                                      <m:ctrlPr>
                                        <a:rPr lang="en-AU" i="1">
                                          <a:latin typeface="Cambria Math" panose="02040503050406030204" pitchFamily="18" charset="0"/>
                                        </a:rPr>
                                      </m:ctrlPr>
                                    </m:dPr>
                                    <m:e>
                                      <m:r>
                                        <a:rPr lang="en-AU" i="1">
                                          <a:latin typeface="Cambria Math" panose="02040503050406030204" pitchFamily="18" charset="0"/>
                                        </a:rPr>
                                        <m:t>𝑥</m:t>
                                      </m:r>
                                    </m:e>
                                  </m:d>
                                </m:e>
                              </m:func>
                            </m:den>
                          </m:f>
                          <m:r>
                            <a:rPr lang="en-AU" b="0" i="1" smtClean="0">
                              <a:latin typeface="Cambria Math" panose="02040503050406030204" pitchFamily="18" charset="0"/>
                            </a:rPr>
                            <m:t>=</m:t>
                          </m:r>
                          <m:f>
                            <m:fPr>
                              <m:ctrlPr>
                                <a:rPr lang="en-AU" b="0" i="1" smtClean="0">
                                  <a:latin typeface="Cambria Math" panose="02040503050406030204" pitchFamily="18" charset="0"/>
                                </a:rPr>
                              </m:ctrlPr>
                            </m:fPr>
                            <m:num>
                              <m:sSup>
                                <m:sSupPr>
                                  <m:ctrlPr>
                                    <a:rPr lang="en-AU" b="0" i="1" smtClean="0">
                                      <a:latin typeface="Cambria Math" panose="02040503050406030204" pitchFamily="18" charset="0"/>
                                    </a:rPr>
                                  </m:ctrlPr>
                                </m:sSupPr>
                                <m:e>
                                  <m:r>
                                    <a:rPr lang="en-AU" b="0" i="1" smtClean="0">
                                      <a:latin typeface="Cambria Math" panose="02040503050406030204" pitchFamily="18" charset="0"/>
                                    </a:rPr>
                                    <m:t>𝑒</m:t>
                                  </m:r>
                                </m:e>
                                <m:sup>
                                  <m:r>
                                    <a:rPr lang="en-AU" b="0" i="1" smtClean="0">
                                      <a:latin typeface="Cambria Math" panose="02040503050406030204" pitchFamily="18" charset="0"/>
                                    </a:rPr>
                                    <m:t>𝑥</m:t>
                                  </m:r>
                                </m:sup>
                              </m:sSup>
                              <m:r>
                                <a:rPr lang="en-AU" b="0" i="1" smtClean="0">
                                  <a:latin typeface="Cambria Math" panose="02040503050406030204" pitchFamily="18" charset="0"/>
                                </a:rPr>
                                <m:t>−</m:t>
                              </m:r>
                              <m:sSup>
                                <m:sSupPr>
                                  <m:ctrlPr>
                                    <a:rPr lang="en-AU" b="0" i="1" smtClean="0">
                                      <a:latin typeface="Cambria Math" panose="02040503050406030204" pitchFamily="18" charset="0"/>
                                    </a:rPr>
                                  </m:ctrlPr>
                                </m:sSupPr>
                                <m:e>
                                  <m:r>
                                    <a:rPr lang="en-AU" b="0" i="1" smtClean="0">
                                      <a:latin typeface="Cambria Math" panose="02040503050406030204" pitchFamily="18" charset="0"/>
                                    </a:rPr>
                                    <m:t>𝑒</m:t>
                                  </m:r>
                                </m:e>
                                <m:sup>
                                  <m:r>
                                    <a:rPr lang="en-AU" b="0" i="1" smtClean="0">
                                      <a:latin typeface="Cambria Math" panose="02040503050406030204" pitchFamily="18" charset="0"/>
                                    </a:rPr>
                                    <m:t>−</m:t>
                                  </m:r>
                                  <m:r>
                                    <a:rPr lang="en-AU" b="0" i="1" smtClean="0">
                                      <a:latin typeface="Cambria Math" panose="02040503050406030204" pitchFamily="18" charset="0"/>
                                    </a:rPr>
                                    <m:t>𝑥</m:t>
                                  </m:r>
                                </m:sup>
                              </m:sSup>
                            </m:num>
                            <m:den>
                              <m:sSup>
                                <m:sSupPr>
                                  <m:ctrlPr>
                                    <a:rPr lang="en-AU" i="1">
                                      <a:latin typeface="Cambria Math" panose="02040503050406030204" pitchFamily="18" charset="0"/>
                                    </a:rPr>
                                  </m:ctrlPr>
                                </m:sSupPr>
                                <m:e>
                                  <m:r>
                                    <a:rPr lang="en-AU" i="1">
                                      <a:latin typeface="Cambria Math" panose="02040503050406030204" pitchFamily="18" charset="0"/>
                                    </a:rPr>
                                    <m:t>𝑒</m:t>
                                  </m:r>
                                </m:e>
                                <m:sup>
                                  <m:r>
                                    <a:rPr lang="en-AU" i="1">
                                      <a:latin typeface="Cambria Math" panose="02040503050406030204" pitchFamily="18" charset="0"/>
                                    </a:rPr>
                                    <m:t>𝑥</m:t>
                                  </m:r>
                                </m:sup>
                              </m:sSup>
                              <m:r>
                                <a:rPr lang="en-AU" b="0" i="1" smtClean="0">
                                  <a:latin typeface="Cambria Math" panose="02040503050406030204" pitchFamily="18" charset="0"/>
                                </a:rPr>
                                <m:t>+</m:t>
                              </m:r>
                              <m:sSup>
                                <m:sSupPr>
                                  <m:ctrlPr>
                                    <a:rPr lang="en-AU" i="1">
                                      <a:latin typeface="Cambria Math" panose="02040503050406030204" pitchFamily="18" charset="0"/>
                                    </a:rPr>
                                  </m:ctrlPr>
                                </m:sSupPr>
                                <m:e>
                                  <m:r>
                                    <a:rPr lang="en-AU" i="1">
                                      <a:latin typeface="Cambria Math" panose="02040503050406030204" pitchFamily="18" charset="0"/>
                                    </a:rPr>
                                    <m:t>𝑒</m:t>
                                  </m:r>
                                </m:e>
                                <m:sup>
                                  <m:r>
                                    <a:rPr lang="en-AU" i="1">
                                      <a:latin typeface="Cambria Math" panose="02040503050406030204" pitchFamily="18" charset="0"/>
                                    </a:rPr>
                                    <m:t>−</m:t>
                                  </m:r>
                                  <m:r>
                                    <a:rPr lang="en-AU" i="1">
                                      <a:latin typeface="Cambria Math" panose="02040503050406030204" pitchFamily="18" charset="0"/>
                                    </a:rPr>
                                    <m:t>𝑥</m:t>
                                  </m:r>
                                </m:sup>
                              </m:sSup>
                            </m:den>
                          </m:f>
                        </m:e>
                      </m:func>
                    </m:oMath>
                  </m:oMathPara>
                </a14:m>
                <a:endParaRPr lang="en-US" dirty="0"/>
              </a:p>
            </p:txBody>
          </p:sp>
        </mc:Choice>
        <mc:Fallback xmlns="">
          <p:sp>
            <p:nvSpPr>
              <p:cNvPr id="4" name="TextBox 3">
                <a:extLst>
                  <a:ext uri="{FF2B5EF4-FFF2-40B4-BE49-F238E27FC236}">
                    <a16:creationId xmlns:a16="http://schemas.microsoft.com/office/drawing/2014/main" id="{398D0857-692D-2898-EFB9-3436B771ACC7}"/>
                  </a:ext>
                </a:extLst>
              </p:cNvPr>
              <p:cNvSpPr txBox="1">
                <a:spLocks noRot="1" noChangeAspect="1" noMove="1" noResize="1" noEditPoints="1" noAdjustHandles="1" noChangeArrowheads="1" noChangeShapeType="1" noTextEdit="1"/>
              </p:cNvSpPr>
              <p:nvPr/>
            </p:nvSpPr>
            <p:spPr>
              <a:xfrm>
                <a:off x="8174135" y="1003471"/>
                <a:ext cx="3607496" cy="576761"/>
              </a:xfrm>
              <a:prstGeom prst="rect">
                <a:avLst/>
              </a:prstGeom>
              <a:blipFill>
                <a:blip r:embed="rId3"/>
                <a:stretch>
                  <a:fillRect t="-2174" b="-6522"/>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0AB098DD-7592-B2C6-0406-04798B7016E0}"/>
              </a:ext>
            </a:extLst>
          </p:cNvPr>
          <p:cNvPicPr>
            <a:picLocks noChangeAspect="1"/>
          </p:cNvPicPr>
          <p:nvPr/>
        </p:nvPicPr>
        <p:blipFill>
          <a:blip r:embed="rId4"/>
          <a:stretch>
            <a:fillRect/>
          </a:stretch>
        </p:blipFill>
        <p:spPr>
          <a:xfrm>
            <a:off x="9246012" y="2046537"/>
            <a:ext cx="2415720" cy="1795223"/>
          </a:xfrm>
          <a:prstGeom prst="rect">
            <a:avLst/>
          </a:prstGeom>
        </p:spPr>
      </p:pic>
    </p:spTree>
    <p:extLst>
      <p:ext uri="{BB962C8B-B14F-4D97-AF65-F5344CB8AC3E}">
        <p14:creationId xmlns:p14="http://schemas.microsoft.com/office/powerpoint/2010/main" val="6269678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472C5-0F59-FA5B-A155-E288776EC9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C8D355-6CC2-5D42-EA54-0DDEA29BC585}"/>
              </a:ext>
            </a:extLst>
          </p:cNvPr>
          <p:cNvSpPr>
            <a:spLocks noGrp="1"/>
          </p:cNvSpPr>
          <p:nvPr>
            <p:ph type="title"/>
          </p:nvPr>
        </p:nvSpPr>
        <p:spPr>
          <a:xfrm>
            <a:off x="838200" y="365126"/>
            <a:ext cx="10515600" cy="874952"/>
          </a:xfrm>
        </p:spPr>
        <p:txBody>
          <a:bodyPr/>
          <a:lstStyle/>
          <a:p>
            <a:r>
              <a:rPr lang="en-AU" b="1" dirty="0"/>
              <a:t>Rectified linear unit - </a:t>
            </a:r>
            <a:r>
              <a:rPr lang="en-AU" b="1" dirty="0" err="1"/>
              <a:t>ReLU</a:t>
            </a:r>
            <a:endParaRPr lang="en-US" b="1" dirty="0"/>
          </a:p>
        </p:txBody>
      </p:sp>
      <p:sp>
        <p:nvSpPr>
          <p:cNvPr id="3" name="Content Placeholder 2">
            <a:extLst>
              <a:ext uri="{FF2B5EF4-FFF2-40B4-BE49-F238E27FC236}">
                <a16:creationId xmlns:a16="http://schemas.microsoft.com/office/drawing/2014/main" id="{868E07F2-A30A-F2C3-61DF-800BF0F81740}"/>
              </a:ext>
            </a:extLst>
          </p:cNvPr>
          <p:cNvSpPr>
            <a:spLocks noGrp="1"/>
          </p:cNvSpPr>
          <p:nvPr>
            <p:ph idx="1"/>
          </p:nvPr>
        </p:nvSpPr>
        <p:spPr>
          <a:xfrm>
            <a:off x="838200" y="1825625"/>
            <a:ext cx="7904968" cy="4351338"/>
          </a:xfrm>
        </p:spPr>
        <p:txBody>
          <a:bodyPr>
            <a:normAutofit/>
          </a:bodyPr>
          <a:lstStyle/>
          <a:p>
            <a:r>
              <a:rPr lang="en-AU" dirty="0"/>
              <a:t>The rectified linear unit (</a:t>
            </a:r>
            <a:r>
              <a:rPr lang="en-AU" dirty="0" err="1"/>
              <a:t>ReLU</a:t>
            </a:r>
            <a:r>
              <a:rPr lang="en-AU" dirty="0"/>
              <a:t>) activates a node only if the input is above zero. </a:t>
            </a:r>
          </a:p>
          <a:p>
            <a:r>
              <a:rPr lang="en-AU" dirty="0"/>
              <a:t>But when the input is higher than zero, it has a linear relationship with the output variable. </a:t>
            </a:r>
          </a:p>
          <a:p>
            <a:r>
              <a:rPr lang="en-AU" dirty="0"/>
              <a:t>Default choice for most model. </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BC2422F-7178-A0A8-02EF-E8CE2CFD573F}"/>
                  </a:ext>
                </a:extLst>
              </p:cNvPr>
              <p:cNvSpPr txBox="1"/>
              <p:nvPr/>
            </p:nvSpPr>
            <p:spPr>
              <a:xfrm>
                <a:off x="9081228" y="1548626"/>
                <a:ext cx="2272572" cy="276999"/>
              </a:xfrm>
              <a:prstGeom prst="rect">
                <a:avLst/>
              </a:prstGeom>
              <a:noFill/>
            </p:spPr>
            <p:txBody>
              <a:bodyPr wrap="square" lIns="0" tIns="0" rIns="0" bIns="0" rtlCol="0">
                <a:spAutoFit/>
              </a:bodyPr>
              <a:lstStyle/>
              <a:p>
                <a:pPr/>
                <a14:m>
                  <m:oMathPara xmlns:m="http://schemas.openxmlformats.org/officeDocument/2006/math">
                    <m:oMath>
                      <m:r>
                        <a:rPr lang="en-AU" i="1" smtClean="0">
                          <a:latin typeface="Cambria Math" panose="02040503050406030204" pitchFamily="18" charset="0"/>
                        </a:rPr>
                        <m:t>𝑓</m:t>
                      </m:r>
                      <m:d>
                        <m:dPr>
                          <m:ctrlPr>
                            <a:rPr lang="en-AU" i="1">
                              <a:latin typeface="Cambria Math" panose="02040503050406030204" pitchFamily="18" charset="0"/>
                            </a:rPr>
                          </m:ctrlPr>
                        </m:dPr>
                        <m:e>
                          <m:r>
                            <a:rPr lang="en-AU" i="1">
                              <a:latin typeface="Cambria Math" panose="02040503050406030204" pitchFamily="18" charset="0"/>
                            </a:rPr>
                            <m:t>𝑥</m:t>
                          </m:r>
                        </m:e>
                      </m:d>
                      <m:r>
                        <a:rPr lang="en-AU" i="1">
                          <a:latin typeface="Cambria Math" panose="02040503050406030204" pitchFamily="18" charset="0"/>
                        </a:rPr>
                        <m:t>=</m:t>
                      </m:r>
                      <m:func>
                        <m:funcPr>
                          <m:ctrlPr>
                            <a:rPr lang="en-AU" b="0" i="0" smtClean="0">
                              <a:latin typeface="Cambria Math" panose="02040503050406030204" pitchFamily="18" charset="0"/>
                            </a:rPr>
                          </m:ctrlPr>
                        </m:funcPr>
                        <m:fName>
                          <m:r>
                            <m:rPr>
                              <m:sty m:val="p"/>
                            </m:rPr>
                            <a:rPr lang="en-AU" b="0" i="0" smtClean="0">
                              <a:latin typeface="Cambria Math" panose="02040503050406030204" pitchFamily="18" charset="0"/>
                            </a:rPr>
                            <m:t>max</m:t>
                          </m:r>
                        </m:fName>
                        <m:e>
                          <m:r>
                            <a:rPr lang="en-AU" b="0" i="1" smtClean="0">
                              <a:latin typeface="Cambria Math" panose="02040503050406030204" pitchFamily="18" charset="0"/>
                            </a:rPr>
                            <m:t>(0,</m:t>
                          </m:r>
                          <m:r>
                            <a:rPr lang="en-AU" b="0" i="1" smtClean="0">
                              <a:latin typeface="Cambria Math" panose="02040503050406030204" pitchFamily="18" charset="0"/>
                            </a:rPr>
                            <m:t>𝑥</m:t>
                          </m:r>
                          <m:r>
                            <a:rPr lang="en-AU" b="0" i="1" smtClean="0">
                              <a:latin typeface="Cambria Math" panose="02040503050406030204" pitchFamily="18" charset="0"/>
                            </a:rPr>
                            <m:t>)</m:t>
                          </m:r>
                        </m:e>
                      </m:func>
                    </m:oMath>
                  </m:oMathPara>
                </a14:m>
                <a:endParaRPr lang="en-US" dirty="0"/>
              </a:p>
            </p:txBody>
          </p:sp>
        </mc:Choice>
        <mc:Fallback xmlns="">
          <p:sp>
            <p:nvSpPr>
              <p:cNvPr id="4" name="TextBox 3">
                <a:extLst>
                  <a:ext uri="{FF2B5EF4-FFF2-40B4-BE49-F238E27FC236}">
                    <a16:creationId xmlns:a16="http://schemas.microsoft.com/office/drawing/2014/main" id="{CBC2422F-7178-A0A8-02EF-E8CE2CFD573F}"/>
                  </a:ext>
                </a:extLst>
              </p:cNvPr>
              <p:cNvSpPr txBox="1">
                <a:spLocks noRot="1" noChangeAspect="1" noMove="1" noResize="1" noEditPoints="1" noAdjustHandles="1" noChangeArrowheads="1" noChangeShapeType="1" noTextEdit="1"/>
              </p:cNvSpPr>
              <p:nvPr/>
            </p:nvSpPr>
            <p:spPr>
              <a:xfrm>
                <a:off x="9081228" y="1548626"/>
                <a:ext cx="2272572" cy="276999"/>
              </a:xfrm>
              <a:prstGeom prst="rect">
                <a:avLst/>
              </a:prstGeom>
              <a:blipFill>
                <a:blip r:embed="rId2"/>
                <a:stretch>
                  <a:fillRect b="-34783"/>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710FBD0E-4118-6906-41D5-38771ACE8763}"/>
              </a:ext>
            </a:extLst>
          </p:cNvPr>
          <p:cNvPicPr>
            <a:picLocks noChangeAspect="1"/>
          </p:cNvPicPr>
          <p:nvPr/>
        </p:nvPicPr>
        <p:blipFill>
          <a:blip r:embed="rId3"/>
          <a:stretch>
            <a:fillRect/>
          </a:stretch>
        </p:blipFill>
        <p:spPr>
          <a:xfrm>
            <a:off x="8871705" y="2026444"/>
            <a:ext cx="2711450" cy="1974850"/>
          </a:xfrm>
          <a:prstGeom prst="rect">
            <a:avLst/>
          </a:prstGeom>
        </p:spPr>
      </p:pic>
    </p:spTree>
    <p:extLst>
      <p:ext uri="{BB962C8B-B14F-4D97-AF65-F5344CB8AC3E}">
        <p14:creationId xmlns:p14="http://schemas.microsoft.com/office/powerpoint/2010/main" val="5160792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9FA23-F474-5679-D426-7745E82F16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DD00AD-FCE2-FA3F-5870-2AD5FF1CD959}"/>
              </a:ext>
            </a:extLst>
          </p:cNvPr>
          <p:cNvSpPr>
            <a:spLocks noGrp="1"/>
          </p:cNvSpPr>
          <p:nvPr>
            <p:ph type="title"/>
          </p:nvPr>
        </p:nvSpPr>
        <p:spPr/>
        <p:txBody>
          <a:bodyPr/>
          <a:lstStyle/>
          <a:p>
            <a:r>
              <a:rPr lang="en-AU" b="1" dirty="0"/>
              <a:t>Leaky </a:t>
            </a:r>
            <a:r>
              <a:rPr lang="en-AU" b="1" dirty="0" err="1"/>
              <a:t>ReLU</a:t>
            </a:r>
            <a:endParaRPr lang="en-US" b="1"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3EB48FC-0D2F-5D0B-FE54-FF3E659D93E7}"/>
                  </a:ext>
                </a:extLst>
              </p:cNvPr>
              <p:cNvSpPr>
                <a:spLocks noGrp="1"/>
              </p:cNvSpPr>
              <p:nvPr>
                <p:ph idx="1"/>
              </p:nvPr>
            </p:nvSpPr>
            <p:spPr>
              <a:xfrm>
                <a:off x="838200" y="1825625"/>
                <a:ext cx="6978042" cy="4351338"/>
              </a:xfrm>
            </p:spPr>
            <p:txBody>
              <a:bodyPr>
                <a:normAutofit/>
              </a:bodyPr>
              <a:lstStyle/>
              <a:p>
                <a:r>
                  <a:rPr lang="en-AU" dirty="0"/>
                  <a:t>Disadvantage of </a:t>
                </a:r>
                <a:r>
                  <a:rPr lang="en-AU" dirty="0" err="1"/>
                  <a:t>ReLU</a:t>
                </a:r>
                <a:r>
                  <a:rPr lang="en-AU" dirty="0"/>
                  <a:t>: the derivative is 0 when (x) is negative. </a:t>
                </a:r>
              </a:p>
              <a:p>
                <a:r>
                  <a:rPr lang="en-AU" dirty="0"/>
                  <a:t>Leaky </a:t>
                </a:r>
                <a:r>
                  <a:rPr lang="en-AU" dirty="0" err="1"/>
                  <a:t>ReLU</a:t>
                </a:r>
                <a:r>
                  <a:rPr lang="en-AU" dirty="0"/>
                  <a:t> is a </a:t>
                </a:r>
                <a:r>
                  <a:rPr lang="en-AU" dirty="0" err="1"/>
                  <a:t>ReLU</a:t>
                </a:r>
                <a:r>
                  <a:rPr lang="en-AU" dirty="0"/>
                  <a:t> variation that tries to mitigate this issue. </a:t>
                </a:r>
              </a:p>
              <a:p>
                <a:r>
                  <a:rPr lang="en-AU" dirty="0"/>
                  <a:t>Instead of having the function be zero when </a:t>
                </a:r>
                <a14:m>
                  <m:oMath xmlns:m="http://schemas.openxmlformats.org/officeDocument/2006/math">
                    <m:r>
                      <a:rPr lang="en-AU" i="1" dirty="0" smtClean="0">
                        <a:latin typeface="Cambria Math" panose="02040503050406030204" pitchFamily="18" charset="0"/>
                      </a:rPr>
                      <m:t>𝑥</m:t>
                    </m:r>
                    <m:r>
                      <a:rPr lang="en-AU" i="1" dirty="0" smtClean="0">
                        <a:latin typeface="Cambria Math" panose="02040503050406030204" pitchFamily="18" charset="0"/>
                      </a:rPr>
                      <m:t>&lt;0</m:t>
                    </m:r>
                  </m:oMath>
                </a14:m>
                <a:r>
                  <a:rPr lang="en-AU" dirty="0"/>
                  <a:t>, leaky </a:t>
                </a:r>
                <a:r>
                  <a:rPr lang="en-AU" dirty="0" err="1"/>
                  <a:t>ReLU</a:t>
                </a:r>
                <a:r>
                  <a:rPr lang="en-AU" dirty="0"/>
                  <a:t> introduces a small negative slope (around 0.01) when (x) is negative. </a:t>
                </a:r>
                <a:endParaRPr lang="en-US" b="1" dirty="0"/>
              </a:p>
            </p:txBody>
          </p:sp>
        </mc:Choice>
        <mc:Fallback xmlns="">
          <p:sp>
            <p:nvSpPr>
              <p:cNvPr id="3" name="Content Placeholder 2">
                <a:extLst>
                  <a:ext uri="{FF2B5EF4-FFF2-40B4-BE49-F238E27FC236}">
                    <a16:creationId xmlns:a16="http://schemas.microsoft.com/office/drawing/2014/main" id="{63EB48FC-0D2F-5D0B-FE54-FF3E659D93E7}"/>
                  </a:ext>
                </a:extLst>
              </p:cNvPr>
              <p:cNvSpPr>
                <a:spLocks noGrp="1" noRot="1" noChangeAspect="1" noMove="1" noResize="1" noEditPoints="1" noAdjustHandles="1" noChangeArrowheads="1" noChangeShapeType="1" noTextEdit="1"/>
              </p:cNvSpPr>
              <p:nvPr>
                <p:ph idx="1"/>
              </p:nvPr>
            </p:nvSpPr>
            <p:spPr>
              <a:xfrm>
                <a:off x="838200" y="1825625"/>
                <a:ext cx="6978042" cy="4351338"/>
              </a:xfrm>
              <a:blipFill>
                <a:blip r:embed="rId2"/>
                <a:stretch>
                  <a:fillRect l="-1636" t="-23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4821E75-D093-6ACF-695F-F42ED1E8DD6B}"/>
                  </a:ext>
                </a:extLst>
              </p:cNvPr>
              <p:cNvSpPr txBox="1"/>
              <p:nvPr/>
            </p:nvSpPr>
            <p:spPr>
              <a:xfrm>
                <a:off x="8831131" y="1548625"/>
                <a:ext cx="2272572" cy="276999"/>
              </a:xfrm>
              <a:prstGeom prst="rect">
                <a:avLst/>
              </a:prstGeom>
              <a:noFill/>
            </p:spPr>
            <p:txBody>
              <a:bodyPr wrap="square" lIns="0" tIns="0" rIns="0" bIns="0" rtlCol="0">
                <a:spAutoFit/>
              </a:bodyPr>
              <a:lstStyle/>
              <a:p>
                <a:pPr/>
                <a14:m>
                  <m:oMathPara xmlns:m="http://schemas.openxmlformats.org/officeDocument/2006/math">
                    <m:oMath>
                      <m:r>
                        <a:rPr lang="en-AU" i="1" smtClean="0">
                          <a:latin typeface="Cambria Math" panose="02040503050406030204" pitchFamily="18" charset="0"/>
                        </a:rPr>
                        <m:t>𝑓</m:t>
                      </m:r>
                      <m:d>
                        <m:dPr>
                          <m:ctrlPr>
                            <a:rPr lang="en-AU" i="1">
                              <a:latin typeface="Cambria Math" panose="02040503050406030204" pitchFamily="18" charset="0"/>
                            </a:rPr>
                          </m:ctrlPr>
                        </m:dPr>
                        <m:e>
                          <m:r>
                            <a:rPr lang="en-AU" i="1">
                              <a:latin typeface="Cambria Math" panose="02040503050406030204" pitchFamily="18" charset="0"/>
                            </a:rPr>
                            <m:t>𝑥</m:t>
                          </m:r>
                        </m:e>
                      </m:d>
                      <m:r>
                        <a:rPr lang="en-AU" i="1">
                          <a:latin typeface="Cambria Math" panose="02040503050406030204" pitchFamily="18" charset="0"/>
                        </a:rPr>
                        <m:t>=</m:t>
                      </m:r>
                      <m:func>
                        <m:funcPr>
                          <m:ctrlPr>
                            <a:rPr lang="en-AU" b="0" i="0" smtClean="0">
                              <a:latin typeface="Cambria Math" panose="02040503050406030204" pitchFamily="18" charset="0"/>
                            </a:rPr>
                          </m:ctrlPr>
                        </m:funcPr>
                        <m:fName>
                          <m:r>
                            <m:rPr>
                              <m:sty m:val="p"/>
                            </m:rPr>
                            <a:rPr lang="en-AU" b="0" i="0" smtClean="0">
                              <a:latin typeface="Cambria Math" panose="02040503050406030204" pitchFamily="18" charset="0"/>
                            </a:rPr>
                            <m:t>max</m:t>
                          </m:r>
                        </m:fName>
                        <m:e>
                          <m:r>
                            <a:rPr lang="en-AU" b="0" i="1" smtClean="0">
                              <a:latin typeface="Cambria Math" panose="02040503050406030204" pitchFamily="18" charset="0"/>
                            </a:rPr>
                            <m:t>(0.01</m:t>
                          </m:r>
                          <m:r>
                            <a:rPr lang="en-AU" b="0" i="1" smtClean="0">
                              <a:latin typeface="Cambria Math" panose="02040503050406030204" pitchFamily="18" charset="0"/>
                            </a:rPr>
                            <m:t>𝑥</m:t>
                          </m:r>
                          <m:r>
                            <a:rPr lang="en-AU" b="0" i="1" smtClean="0">
                              <a:latin typeface="Cambria Math" panose="02040503050406030204" pitchFamily="18" charset="0"/>
                            </a:rPr>
                            <m:t>,</m:t>
                          </m:r>
                          <m:r>
                            <a:rPr lang="en-AU" b="0" i="1" smtClean="0">
                              <a:latin typeface="Cambria Math" panose="02040503050406030204" pitchFamily="18" charset="0"/>
                            </a:rPr>
                            <m:t>𝑥</m:t>
                          </m:r>
                          <m:r>
                            <a:rPr lang="en-AU" b="0" i="1" smtClean="0">
                              <a:latin typeface="Cambria Math" panose="02040503050406030204" pitchFamily="18" charset="0"/>
                            </a:rPr>
                            <m:t>)</m:t>
                          </m:r>
                        </m:e>
                      </m:func>
                    </m:oMath>
                  </m:oMathPara>
                </a14:m>
                <a:endParaRPr lang="en-US" dirty="0"/>
              </a:p>
            </p:txBody>
          </p:sp>
        </mc:Choice>
        <mc:Fallback xmlns="">
          <p:sp>
            <p:nvSpPr>
              <p:cNvPr id="5" name="TextBox 4">
                <a:extLst>
                  <a:ext uri="{FF2B5EF4-FFF2-40B4-BE49-F238E27FC236}">
                    <a16:creationId xmlns:a16="http://schemas.microsoft.com/office/drawing/2014/main" id="{94821E75-D093-6ACF-695F-F42ED1E8DD6B}"/>
                  </a:ext>
                </a:extLst>
              </p:cNvPr>
              <p:cNvSpPr txBox="1">
                <a:spLocks noRot="1" noChangeAspect="1" noMove="1" noResize="1" noEditPoints="1" noAdjustHandles="1" noChangeArrowheads="1" noChangeShapeType="1" noTextEdit="1"/>
              </p:cNvSpPr>
              <p:nvPr/>
            </p:nvSpPr>
            <p:spPr>
              <a:xfrm>
                <a:off x="8831131" y="1548625"/>
                <a:ext cx="2272572" cy="276999"/>
              </a:xfrm>
              <a:prstGeom prst="rect">
                <a:avLst/>
              </a:prstGeom>
              <a:blipFill>
                <a:blip r:embed="rId3"/>
                <a:stretch>
                  <a:fillRect l="-1667" r="-1667" b="-34783"/>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245FD41B-669E-28F3-DAAD-979A0CECAD29}"/>
              </a:ext>
            </a:extLst>
          </p:cNvPr>
          <p:cNvPicPr>
            <a:picLocks noChangeAspect="1"/>
          </p:cNvPicPr>
          <p:nvPr/>
        </p:nvPicPr>
        <p:blipFill>
          <a:blip r:embed="rId4"/>
          <a:stretch>
            <a:fillRect/>
          </a:stretch>
        </p:blipFill>
        <p:spPr>
          <a:xfrm>
            <a:off x="8058562" y="1960561"/>
            <a:ext cx="3817710" cy="2173027"/>
          </a:xfrm>
          <a:prstGeom prst="rect">
            <a:avLst/>
          </a:prstGeom>
        </p:spPr>
      </p:pic>
    </p:spTree>
    <p:extLst>
      <p:ext uri="{BB962C8B-B14F-4D97-AF65-F5344CB8AC3E}">
        <p14:creationId xmlns:p14="http://schemas.microsoft.com/office/powerpoint/2010/main" val="4227140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69675-BFBE-86C4-8BE7-A49CF165633D}"/>
              </a:ext>
            </a:extLst>
          </p:cNvPr>
          <p:cNvSpPr>
            <a:spLocks noGrp="1"/>
          </p:cNvSpPr>
          <p:nvPr>
            <p:ph type="title"/>
          </p:nvPr>
        </p:nvSpPr>
        <p:spPr/>
        <p:txBody>
          <a:bodyPr/>
          <a:lstStyle/>
          <a:p>
            <a:r>
              <a:rPr lang="en-AU" b="1" dirty="0"/>
              <a:t>Feedforward calculations with activations</a:t>
            </a:r>
            <a:endParaRPr lang="en-US" b="1"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B5FB999-0F01-A1C7-586C-83022121E6AA}"/>
                  </a:ext>
                </a:extLst>
              </p:cNvPr>
              <p:cNvSpPr>
                <a:spLocks noGrp="1"/>
              </p:cNvSpPr>
              <p:nvPr>
                <p:ph idx="1"/>
              </p:nvPr>
            </p:nvSpPr>
            <p:spPr>
              <a:xfrm>
                <a:off x="838200" y="1825625"/>
                <a:ext cx="6401844" cy="4351338"/>
              </a:xfrm>
            </p:spPr>
            <p:txBody>
              <a:bodyPr/>
              <a:lstStyle/>
              <a:p>
                <a:r>
                  <a:rPr lang="en-US" b="1" dirty="0"/>
                  <a:t>Layer 1</a:t>
                </a:r>
                <a:r>
                  <a:rPr lang="en-US" dirty="0"/>
                  <a:t>:</a:t>
                </a:r>
              </a:p>
              <a:p>
                <a:pPr lvl="1"/>
                <a:r>
                  <a:rPr lang="en-US" dirty="0"/>
                  <a:t>Output of H1: </a:t>
                </a:r>
              </a:p>
              <a:p>
                <a:pPr lvl="2"/>
                <a14:m>
                  <m:oMath xmlns:m="http://schemas.openxmlformats.org/officeDocument/2006/math">
                    <m:sSubSup>
                      <m:sSubSupPr>
                        <m:ctrlPr>
                          <a:rPr lang="en-AU" i="1">
                            <a:latin typeface="Cambria Math" panose="02040503050406030204" pitchFamily="18" charset="0"/>
                          </a:rPr>
                        </m:ctrlPr>
                      </m:sSubSupPr>
                      <m:e>
                        <m:r>
                          <a:rPr lang="en-AU" i="1">
                            <a:latin typeface="Cambria Math" panose="02040503050406030204" pitchFamily="18" charset="0"/>
                          </a:rPr>
                          <m:t>𝑧</m:t>
                        </m:r>
                      </m:e>
                      <m:sub>
                        <m:r>
                          <a:rPr lang="en-AU" i="1">
                            <a:latin typeface="Cambria Math" panose="02040503050406030204" pitchFamily="18" charset="0"/>
                          </a:rPr>
                          <m:t>1</m:t>
                        </m:r>
                      </m:sub>
                      <m:sup>
                        <m:r>
                          <a:rPr lang="en-AU" i="1">
                            <a:latin typeface="Cambria Math" panose="02040503050406030204" pitchFamily="18" charset="0"/>
                          </a:rPr>
                          <m:t>[1]</m:t>
                        </m:r>
                      </m:sup>
                    </m:sSubSup>
                    <m:r>
                      <a:rPr lang="en-AU" i="1">
                        <a:latin typeface="Cambria Math" panose="02040503050406030204" pitchFamily="18" charset="0"/>
                      </a:rPr>
                      <m:t>=</m:t>
                    </m:r>
                    <m:r>
                      <a:rPr lang="en-AU" b="0" i="1" smtClean="0">
                        <a:latin typeface="Cambria Math" panose="02040503050406030204" pitchFamily="18" charset="0"/>
                      </a:rPr>
                      <m:t>𝜎</m:t>
                    </m:r>
                    <m:d>
                      <m:dPr>
                        <m:ctrlPr>
                          <a:rPr lang="en-AU" i="1">
                            <a:latin typeface="Cambria Math" panose="02040503050406030204" pitchFamily="18" charset="0"/>
                          </a:rPr>
                        </m:ctrlPr>
                      </m:dPr>
                      <m:e>
                        <m:r>
                          <a:rPr lang="en-AU" i="1">
                            <a:latin typeface="Cambria Math" panose="02040503050406030204" pitchFamily="18" charset="0"/>
                          </a:rPr>
                          <m:t>𝑥</m:t>
                        </m:r>
                        <m:r>
                          <a:rPr lang="en-AU" i="1">
                            <a:latin typeface="Cambria Math" panose="02040503050406030204" pitchFamily="18" charset="0"/>
                          </a:rPr>
                          <m:t>∗</m:t>
                        </m:r>
                        <m:sSubSup>
                          <m:sSubSupPr>
                            <m:ctrlPr>
                              <a:rPr lang="en-AU" i="1">
                                <a:latin typeface="Cambria Math" panose="02040503050406030204" pitchFamily="18" charset="0"/>
                              </a:rPr>
                            </m:ctrlPr>
                          </m:sSubSupPr>
                          <m:e>
                            <m:r>
                              <a:rPr lang="en-AU" i="1">
                                <a:latin typeface="Cambria Math" panose="02040503050406030204" pitchFamily="18" charset="0"/>
                              </a:rPr>
                              <m:t>𝑤</m:t>
                            </m:r>
                          </m:e>
                          <m:sub>
                            <m:r>
                              <a:rPr lang="en-AU" i="1">
                                <a:latin typeface="Cambria Math" panose="02040503050406030204" pitchFamily="18" charset="0"/>
                              </a:rPr>
                              <m:t>11</m:t>
                            </m:r>
                          </m:sub>
                          <m:sup>
                            <m:d>
                              <m:dPr>
                                <m:begChr m:val="["/>
                                <m:endChr m:val="]"/>
                                <m:ctrlPr>
                                  <a:rPr lang="en-AU" i="1">
                                    <a:latin typeface="Cambria Math" panose="02040503050406030204" pitchFamily="18" charset="0"/>
                                  </a:rPr>
                                </m:ctrlPr>
                              </m:dPr>
                              <m:e>
                                <m:r>
                                  <a:rPr lang="en-AU" i="1">
                                    <a:latin typeface="Cambria Math" panose="02040503050406030204" pitchFamily="18" charset="0"/>
                                  </a:rPr>
                                  <m:t>1</m:t>
                                </m:r>
                              </m:e>
                            </m:d>
                          </m:sup>
                        </m:sSubSup>
                        <m:r>
                          <a:rPr lang="en-AU" i="1">
                            <a:latin typeface="Cambria Math" panose="02040503050406030204" pitchFamily="18" charset="0"/>
                          </a:rPr>
                          <m:t>+</m:t>
                        </m:r>
                        <m:sSubSup>
                          <m:sSubSupPr>
                            <m:ctrlPr>
                              <a:rPr lang="en-AU" i="1">
                                <a:latin typeface="Cambria Math" panose="02040503050406030204" pitchFamily="18" charset="0"/>
                              </a:rPr>
                            </m:ctrlPr>
                          </m:sSubSupPr>
                          <m:e>
                            <m:r>
                              <a:rPr lang="en-AU" i="1">
                                <a:latin typeface="Cambria Math" panose="02040503050406030204" pitchFamily="18" charset="0"/>
                              </a:rPr>
                              <m:t>𝑏</m:t>
                            </m:r>
                          </m:e>
                          <m:sub>
                            <m:r>
                              <a:rPr lang="en-AU" i="1">
                                <a:latin typeface="Cambria Math" panose="02040503050406030204" pitchFamily="18" charset="0"/>
                              </a:rPr>
                              <m:t>1</m:t>
                            </m:r>
                          </m:sub>
                          <m:sup>
                            <m:d>
                              <m:dPr>
                                <m:begChr m:val="["/>
                                <m:endChr m:val="]"/>
                                <m:ctrlPr>
                                  <a:rPr lang="en-AU" i="1">
                                    <a:latin typeface="Cambria Math" panose="02040503050406030204" pitchFamily="18" charset="0"/>
                                  </a:rPr>
                                </m:ctrlPr>
                              </m:dPr>
                              <m:e>
                                <m:r>
                                  <a:rPr lang="en-AU" i="1">
                                    <a:latin typeface="Cambria Math" panose="02040503050406030204" pitchFamily="18" charset="0"/>
                                  </a:rPr>
                                  <m:t>1</m:t>
                                </m:r>
                              </m:e>
                            </m:d>
                          </m:sup>
                        </m:sSubSup>
                      </m:e>
                    </m:d>
                  </m:oMath>
                </a14:m>
                <a:endParaRPr lang="en-US" dirty="0"/>
              </a:p>
              <a:p>
                <a:pPr lvl="1"/>
                <a:r>
                  <a:rPr lang="en-US" dirty="0"/>
                  <a:t>Output of H2:</a:t>
                </a:r>
              </a:p>
              <a:p>
                <a:pPr lvl="2"/>
                <a14:m>
                  <m:oMath xmlns:m="http://schemas.openxmlformats.org/officeDocument/2006/math">
                    <m:sSubSup>
                      <m:sSubSupPr>
                        <m:ctrlPr>
                          <a:rPr lang="en-AU" i="1">
                            <a:latin typeface="Cambria Math" panose="02040503050406030204" pitchFamily="18" charset="0"/>
                          </a:rPr>
                        </m:ctrlPr>
                      </m:sSubSupPr>
                      <m:e>
                        <m:r>
                          <a:rPr lang="en-AU" i="1">
                            <a:latin typeface="Cambria Math" panose="02040503050406030204" pitchFamily="18" charset="0"/>
                          </a:rPr>
                          <m:t>𝑧</m:t>
                        </m:r>
                      </m:e>
                      <m:sub>
                        <m:r>
                          <a:rPr lang="en-AU" i="1">
                            <a:latin typeface="Cambria Math" panose="02040503050406030204" pitchFamily="18" charset="0"/>
                          </a:rPr>
                          <m:t>2</m:t>
                        </m:r>
                      </m:sub>
                      <m:sup>
                        <m:r>
                          <a:rPr lang="en-AU" i="1">
                            <a:latin typeface="Cambria Math" panose="02040503050406030204" pitchFamily="18" charset="0"/>
                          </a:rPr>
                          <m:t>[1]</m:t>
                        </m:r>
                      </m:sup>
                    </m:sSubSup>
                    <m:r>
                      <a:rPr lang="en-AU" i="1">
                        <a:latin typeface="Cambria Math" panose="02040503050406030204" pitchFamily="18" charset="0"/>
                      </a:rPr>
                      <m:t>=</m:t>
                    </m:r>
                    <m:r>
                      <a:rPr lang="en-AU" b="0" i="1" smtClean="0">
                        <a:latin typeface="Cambria Math" panose="02040503050406030204" pitchFamily="18" charset="0"/>
                      </a:rPr>
                      <m:t>𝜎</m:t>
                    </m:r>
                    <m:d>
                      <m:dPr>
                        <m:ctrlPr>
                          <a:rPr lang="en-AU" i="1">
                            <a:latin typeface="Cambria Math" panose="02040503050406030204" pitchFamily="18" charset="0"/>
                          </a:rPr>
                        </m:ctrlPr>
                      </m:dPr>
                      <m:e>
                        <m:r>
                          <a:rPr lang="en-AU" i="1">
                            <a:latin typeface="Cambria Math" panose="02040503050406030204" pitchFamily="18" charset="0"/>
                          </a:rPr>
                          <m:t>𝑥</m:t>
                        </m:r>
                        <m:r>
                          <a:rPr lang="en-AU" i="1">
                            <a:latin typeface="Cambria Math" panose="02040503050406030204" pitchFamily="18" charset="0"/>
                          </a:rPr>
                          <m:t>∗</m:t>
                        </m:r>
                        <m:sSubSup>
                          <m:sSubSupPr>
                            <m:ctrlPr>
                              <a:rPr lang="en-AU" i="1">
                                <a:latin typeface="Cambria Math" panose="02040503050406030204" pitchFamily="18" charset="0"/>
                              </a:rPr>
                            </m:ctrlPr>
                          </m:sSubSupPr>
                          <m:e>
                            <m:r>
                              <a:rPr lang="en-AU" i="1">
                                <a:latin typeface="Cambria Math" panose="02040503050406030204" pitchFamily="18" charset="0"/>
                              </a:rPr>
                              <m:t>𝑤</m:t>
                            </m:r>
                          </m:e>
                          <m:sub>
                            <m:r>
                              <a:rPr lang="en-AU" i="1">
                                <a:latin typeface="Cambria Math" panose="02040503050406030204" pitchFamily="18" charset="0"/>
                              </a:rPr>
                              <m:t>21</m:t>
                            </m:r>
                          </m:sub>
                          <m:sup>
                            <m:d>
                              <m:dPr>
                                <m:begChr m:val="["/>
                                <m:endChr m:val="]"/>
                                <m:ctrlPr>
                                  <a:rPr lang="en-AU" i="1">
                                    <a:latin typeface="Cambria Math" panose="02040503050406030204" pitchFamily="18" charset="0"/>
                                  </a:rPr>
                                </m:ctrlPr>
                              </m:dPr>
                              <m:e>
                                <m:r>
                                  <a:rPr lang="en-AU" i="1">
                                    <a:latin typeface="Cambria Math" panose="02040503050406030204" pitchFamily="18" charset="0"/>
                                  </a:rPr>
                                  <m:t>1</m:t>
                                </m:r>
                              </m:e>
                            </m:d>
                          </m:sup>
                        </m:sSubSup>
                        <m:r>
                          <a:rPr lang="en-AU" i="1">
                            <a:latin typeface="Cambria Math" panose="02040503050406030204" pitchFamily="18" charset="0"/>
                          </a:rPr>
                          <m:t>+</m:t>
                        </m:r>
                      </m:e>
                    </m:d>
                  </m:oMath>
                </a14:m>
                <a:endParaRPr lang="en-US" dirty="0"/>
              </a:p>
              <a:p>
                <a:r>
                  <a:rPr lang="en-US" b="1" dirty="0"/>
                  <a:t>Layer 2</a:t>
                </a:r>
                <a:r>
                  <a:rPr lang="en-US" dirty="0"/>
                  <a:t>:</a:t>
                </a:r>
              </a:p>
              <a:p>
                <a:pPr lvl="1"/>
                <a:r>
                  <a:rPr lang="en-US" dirty="0"/>
                  <a:t>Output node:</a:t>
                </a:r>
              </a:p>
              <a:p>
                <a:pPr lvl="2"/>
                <a14:m>
                  <m:oMath xmlns:m="http://schemas.openxmlformats.org/officeDocument/2006/math">
                    <m:sSubSup>
                      <m:sSubSupPr>
                        <m:ctrlPr>
                          <a:rPr lang="en-AU" i="1">
                            <a:latin typeface="Cambria Math" panose="02040503050406030204" pitchFamily="18" charset="0"/>
                          </a:rPr>
                        </m:ctrlPr>
                      </m:sSubSupPr>
                      <m:e>
                        <m:r>
                          <a:rPr lang="en-AU" i="1">
                            <a:latin typeface="Cambria Math" panose="02040503050406030204" pitchFamily="18" charset="0"/>
                          </a:rPr>
                          <m:t>𝑧</m:t>
                        </m:r>
                      </m:e>
                      <m:sub>
                        <m:r>
                          <a:rPr lang="en-AU" i="1">
                            <a:latin typeface="Cambria Math" panose="02040503050406030204" pitchFamily="18" charset="0"/>
                          </a:rPr>
                          <m:t>1</m:t>
                        </m:r>
                      </m:sub>
                      <m:sup>
                        <m:r>
                          <a:rPr lang="en-AU" i="1">
                            <a:latin typeface="Cambria Math" panose="02040503050406030204" pitchFamily="18" charset="0"/>
                          </a:rPr>
                          <m:t>[2]</m:t>
                        </m:r>
                      </m:sup>
                    </m:sSubSup>
                    <m:r>
                      <a:rPr lang="en-AU" i="1">
                        <a:latin typeface="Cambria Math" panose="02040503050406030204" pitchFamily="18" charset="0"/>
                      </a:rPr>
                      <m:t>=</m:t>
                    </m:r>
                    <m:r>
                      <a:rPr lang="en-AU" b="0" i="1" smtClean="0">
                        <a:latin typeface="Cambria Math" panose="02040503050406030204" pitchFamily="18" charset="0"/>
                      </a:rPr>
                      <m:t>𝜎</m:t>
                    </m:r>
                    <m:r>
                      <a:rPr lang="en-AU" b="0" i="1" smtClean="0">
                        <a:latin typeface="Cambria Math" panose="02040503050406030204" pitchFamily="18" charset="0"/>
                      </a:rPr>
                      <m:t>(</m:t>
                    </m:r>
                    <m:sSubSup>
                      <m:sSubSupPr>
                        <m:ctrlPr>
                          <a:rPr lang="en-AU" i="1">
                            <a:latin typeface="Cambria Math" panose="02040503050406030204" pitchFamily="18" charset="0"/>
                          </a:rPr>
                        </m:ctrlPr>
                      </m:sSubSupPr>
                      <m:e>
                        <m:r>
                          <a:rPr lang="en-AU" i="1">
                            <a:latin typeface="Cambria Math" panose="02040503050406030204" pitchFamily="18" charset="0"/>
                          </a:rPr>
                          <m:t>𝑧</m:t>
                        </m:r>
                      </m:e>
                      <m:sub>
                        <m:r>
                          <a:rPr lang="en-AU" i="1">
                            <a:latin typeface="Cambria Math" panose="02040503050406030204" pitchFamily="18" charset="0"/>
                          </a:rPr>
                          <m:t>1</m:t>
                        </m:r>
                      </m:sub>
                      <m:sup>
                        <m:r>
                          <a:rPr lang="en-AU" i="1">
                            <a:latin typeface="Cambria Math" panose="02040503050406030204" pitchFamily="18" charset="0"/>
                          </a:rPr>
                          <m:t>[1]</m:t>
                        </m:r>
                      </m:sup>
                    </m:sSubSup>
                    <m:r>
                      <a:rPr lang="en-AU" i="1">
                        <a:latin typeface="Cambria Math" panose="02040503050406030204" pitchFamily="18" charset="0"/>
                      </a:rPr>
                      <m:t>∗</m:t>
                    </m:r>
                    <m:sSubSup>
                      <m:sSubSupPr>
                        <m:ctrlPr>
                          <a:rPr lang="en-AU" i="1">
                            <a:latin typeface="Cambria Math" panose="02040503050406030204" pitchFamily="18" charset="0"/>
                          </a:rPr>
                        </m:ctrlPr>
                      </m:sSubSupPr>
                      <m:e>
                        <m:r>
                          <a:rPr lang="en-AU" i="1">
                            <a:latin typeface="Cambria Math" panose="02040503050406030204" pitchFamily="18" charset="0"/>
                          </a:rPr>
                          <m:t>𝑤</m:t>
                        </m:r>
                      </m:e>
                      <m:sub>
                        <m:r>
                          <a:rPr lang="en-AU" i="1">
                            <a:latin typeface="Cambria Math" panose="02040503050406030204" pitchFamily="18" charset="0"/>
                          </a:rPr>
                          <m:t>11</m:t>
                        </m:r>
                      </m:sub>
                      <m:sup>
                        <m:d>
                          <m:dPr>
                            <m:begChr m:val="["/>
                            <m:endChr m:val="]"/>
                            <m:ctrlPr>
                              <a:rPr lang="en-AU" i="1">
                                <a:latin typeface="Cambria Math" panose="02040503050406030204" pitchFamily="18" charset="0"/>
                              </a:rPr>
                            </m:ctrlPr>
                          </m:dPr>
                          <m:e>
                            <m:r>
                              <a:rPr lang="en-AU" i="1">
                                <a:latin typeface="Cambria Math" panose="02040503050406030204" pitchFamily="18" charset="0"/>
                              </a:rPr>
                              <m:t>2</m:t>
                            </m:r>
                          </m:e>
                        </m:d>
                      </m:sup>
                    </m:sSubSup>
                  </m:oMath>
                </a14:m>
                <a:r>
                  <a:rPr lang="en-US" dirty="0"/>
                  <a:t>+ </a:t>
                </a:r>
                <a14:m>
                  <m:oMath xmlns:m="http://schemas.openxmlformats.org/officeDocument/2006/math">
                    <m:sSubSup>
                      <m:sSubSupPr>
                        <m:ctrlPr>
                          <a:rPr lang="en-AU" i="1">
                            <a:latin typeface="Cambria Math" panose="02040503050406030204" pitchFamily="18" charset="0"/>
                          </a:rPr>
                        </m:ctrlPr>
                      </m:sSubSupPr>
                      <m:e>
                        <m:r>
                          <a:rPr lang="en-AU" i="1">
                            <a:latin typeface="Cambria Math" panose="02040503050406030204" pitchFamily="18" charset="0"/>
                          </a:rPr>
                          <m:t>𝑧</m:t>
                        </m:r>
                      </m:e>
                      <m:sub>
                        <m:r>
                          <a:rPr lang="en-AU" i="1">
                            <a:latin typeface="Cambria Math" panose="02040503050406030204" pitchFamily="18" charset="0"/>
                          </a:rPr>
                          <m:t>2</m:t>
                        </m:r>
                      </m:sub>
                      <m:sup>
                        <m:r>
                          <a:rPr lang="en-AU" i="1">
                            <a:latin typeface="Cambria Math" panose="02040503050406030204" pitchFamily="18" charset="0"/>
                          </a:rPr>
                          <m:t>[1]</m:t>
                        </m:r>
                      </m:sup>
                    </m:sSubSup>
                    <m:r>
                      <a:rPr lang="en-AU" i="1">
                        <a:latin typeface="Cambria Math" panose="02040503050406030204" pitchFamily="18" charset="0"/>
                      </a:rPr>
                      <m:t> ∗</m:t>
                    </m:r>
                    <m:sSubSup>
                      <m:sSubSupPr>
                        <m:ctrlPr>
                          <a:rPr lang="en-AU" i="1">
                            <a:latin typeface="Cambria Math" panose="02040503050406030204" pitchFamily="18" charset="0"/>
                          </a:rPr>
                        </m:ctrlPr>
                      </m:sSubSupPr>
                      <m:e>
                        <m:r>
                          <a:rPr lang="en-AU" i="1">
                            <a:latin typeface="Cambria Math" panose="02040503050406030204" pitchFamily="18" charset="0"/>
                          </a:rPr>
                          <m:t>𝑤</m:t>
                        </m:r>
                      </m:e>
                      <m:sub>
                        <m:r>
                          <a:rPr lang="en-AU" i="1">
                            <a:latin typeface="Cambria Math" panose="02040503050406030204" pitchFamily="18" charset="0"/>
                          </a:rPr>
                          <m:t>12</m:t>
                        </m:r>
                      </m:sub>
                      <m:sup>
                        <m:d>
                          <m:dPr>
                            <m:begChr m:val="["/>
                            <m:endChr m:val="]"/>
                            <m:ctrlPr>
                              <a:rPr lang="en-AU" i="1">
                                <a:latin typeface="Cambria Math" panose="02040503050406030204" pitchFamily="18" charset="0"/>
                              </a:rPr>
                            </m:ctrlPr>
                          </m:dPr>
                          <m:e>
                            <m:r>
                              <a:rPr lang="en-AU" i="1">
                                <a:latin typeface="Cambria Math" panose="02040503050406030204" pitchFamily="18" charset="0"/>
                              </a:rPr>
                              <m:t>2</m:t>
                            </m:r>
                          </m:e>
                        </m:d>
                      </m:sup>
                    </m:sSubSup>
                    <m:r>
                      <a:rPr lang="en-AU" i="1">
                        <a:latin typeface="Cambria Math" panose="02040503050406030204" pitchFamily="18" charset="0"/>
                      </a:rPr>
                      <m:t>+</m:t>
                    </m:r>
                    <m:sSubSup>
                      <m:sSubSupPr>
                        <m:ctrlPr>
                          <a:rPr lang="en-AU" i="1">
                            <a:latin typeface="Cambria Math" panose="02040503050406030204" pitchFamily="18" charset="0"/>
                          </a:rPr>
                        </m:ctrlPr>
                      </m:sSubSupPr>
                      <m:e>
                        <m:r>
                          <a:rPr lang="en-AU" i="1">
                            <a:latin typeface="Cambria Math" panose="02040503050406030204" pitchFamily="18" charset="0"/>
                          </a:rPr>
                          <m:t>𝑏</m:t>
                        </m:r>
                      </m:e>
                      <m:sub>
                        <m:r>
                          <a:rPr lang="en-AU" i="1">
                            <a:latin typeface="Cambria Math" panose="02040503050406030204" pitchFamily="18" charset="0"/>
                          </a:rPr>
                          <m:t>1</m:t>
                        </m:r>
                      </m:sub>
                      <m:sup>
                        <m:d>
                          <m:dPr>
                            <m:begChr m:val="["/>
                            <m:endChr m:val="]"/>
                            <m:ctrlPr>
                              <a:rPr lang="en-AU" i="1">
                                <a:latin typeface="Cambria Math" panose="02040503050406030204" pitchFamily="18" charset="0"/>
                              </a:rPr>
                            </m:ctrlPr>
                          </m:dPr>
                          <m:e>
                            <m:r>
                              <a:rPr lang="en-AU" i="1">
                                <a:latin typeface="Cambria Math" panose="02040503050406030204" pitchFamily="18" charset="0"/>
                              </a:rPr>
                              <m:t>2</m:t>
                            </m:r>
                          </m:e>
                        </m:d>
                      </m:sup>
                    </m:sSubSup>
                    <m:r>
                      <a:rPr lang="en-AU" b="0" i="1" smtClean="0">
                        <a:latin typeface="Cambria Math" panose="02040503050406030204" pitchFamily="18" charset="0"/>
                      </a:rPr>
                      <m:t>)  </m:t>
                    </m:r>
                    <m:r>
                      <a:rPr lang="en-AU" i="1">
                        <a:latin typeface="Cambria Math" panose="02040503050406030204" pitchFamily="18" charset="0"/>
                      </a:rPr>
                      <m:t>=</m:t>
                    </m:r>
                    <m:acc>
                      <m:accPr>
                        <m:chr m:val="̂"/>
                        <m:ctrlPr>
                          <a:rPr lang="en-AU" i="1">
                            <a:latin typeface="Cambria Math" panose="02040503050406030204" pitchFamily="18" charset="0"/>
                          </a:rPr>
                        </m:ctrlPr>
                      </m:accPr>
                      <m:e>
                        <m:r>
                          <a:rPr lang="en-AU" i="1">
                            <a:latin typeface="Cambria Math" panose="02040503050406030204" pitchFamily="18" charset="0"/>
                          </a:rPr>
                          <m:t>𝑦</m:t>
                        </m:r>
                      </m:e>
                    </m:acc>
                  </m:oMath>
                </a14:m>
                <a:endParaRPr lang="en-US" dirty="0"/>
              </a:p>
            </p:txBody>
          </p:sp>
        </mc:Choice>
        <mc:Fallback xmlns="">
          <p:sp>
            <p:nvSpPr>
              <p:cNvPr id="3" name="Content Placeholder 2">
                <a:extLst>
                  <a:ext uri="{FF2B5EF4-FFF2-40B4-BE49-F238E27FC236}">
                    <a16:creationId xmlns:a16="http://schemas.microsoft.com/office/drawing/2014/main" id="{0B5FB999-0F01-A1C7-586C-83022121E6AA}"/>
                  </a:ext>
                </a:extLst>
              </p:cNvPr>
              <p:cNvSpPr>
                <a:spLocks noGrp="1" noRot="1" noChangeAspect="1" noMove="1" noResize="1" noEditPoints="1" noAdjustHandles="1" noChangeArrowheads="1" noChangeShapeType="1" noTextEdit="1"/>
              </p:cNvSpPr>
              <p:nvPr>
                <p:ph idx="1"/>
              </p:nvPr>
            </p:nvSpPr>
            <p:spPr>
              <a:xfrm>
                <a:off x="838200" y="1825625"/>
                <a:ext cx="6401844" cy="4351338"/>
              </a:xfrm>
              <a:blipFill>
                <a:blip r:embed="rId2"/>
                <a:stretch>
                  <a:fillRect l="-1782" t="-2326"/>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7B336E98-C81C-481D-C78F-5049A2009903}"/>
              </a:ext>
            </a:extLst>
          </p:cNvPr>
          <p:cNvPicPr>
            <a:picLocks noChangeAspect="1"/>
          </p:cNvPicPr>
          <p:nvPr/>
        </p:nvPicPr>
        <p:blipFill>
          <a:blip r:embed="rId3"/>
          <a:stretch>
            <a:fillRect/>
          </a:stretch>
        </p:blipFill>
        <p:spPr>
          <a:xfrm>
            <a:off x="5661765" y="1885124"/>
            <a:ext cx="6227088" cy="2311984"/>
          </a:xfrm>
          <a:prstGeom prst="rect">
            <a:avLst/>
          </a:prstGeom>
        </p:spPr>
      </p:pic>
    </p:spTree>
    <p:extLst>
      <p:ext uri="{BB962C8B-B14F-4D97-AF65-F5344CB8AC3E}">
        <p14:creationId xmlns:p14="http://schemas.microsoft.com/office/powerpoint/2010/main" val="38908052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5F6F6-5731-8CB4-4178-31EC4DE28F57}"/>
              </a:ext>
            </a:extLst>
          </p:cNvPr>
          <p:cNvSpPr>
            <a:spLocks noGrp="1"/>
          </p:cNvSpPr>
          <p:nvPr>
            <p:ph type="title"/>
          </p:nvPr>
        </p:nvSpPr>
        <p:spPr/>
        <p:txBody>
          <a:bodyPr/>
          <a:lstStyle/>
          <a:p>
            <a:r>
              <a:rPr lang="en-US" b="1" dirty="0"/>
              <a:t>How does a NN learns features?</a:t>
            </a:r>
          </a:p>
        </p:txBody>
      </p:sp>
      <p:sp>
        <p:nvSpPr>
          <p:cNvPr id="3" name="Content Placeholder 2">
            <a:extLst>
              <a:ext uri="{FF2B5EF4-FFF2-40B4-BE49-F238E27FC236}">
                <a16:creationId xmlns:a16="http://schemas.microsoft.com/office/drawing/2014/main" id="{6F72461B-5BE4-B564-F2B0-D9BF18CEED9F}"/>
              </a:ext>
            </a:extLst>
          </p:cNvPr>
          <p:cNvSpPr>
            <a:spLocks noGrp="1"/>
          </p:cNvSpPr>
          <p:nvPr>
            <p:ph idx="1"/>
          </p:nvPr>
        </p:nvSpPr>
        <p:spPr/>
        <p:txBody>
          <a:bodyPr/>
          <a:lstStyle/>
          <a:p>
            <a:r>
              <a:rPr lang="en-US" dirty="0"/>
              <a:t>Demo: </a:t>
            </a:r>
            <a:r>
              <a:rPr lang="en-US" dirty="0" err="1"/>
              <a:t>tensorflow</a:t>
            </a:r>
            <a:r>
              <a:rPr lang="en-US" dirty="0"/>
              <a:t> playground</a:t>
            </a:r>
          </a:p>
          <a:p>
            <a:endParaRPr lang="en-US" dirty="0"/>
          </a:p>
        </p:txBody>
      </p:sp>
    </p:spTree>
    <p:extLst>
      <p:ext uri="{BB962C8B-B14F-4D97-AF65-F5344CB8AC3E}">
        <p14:creationId xmlns:p14="http://schemas.microsoft.com/office/powerpoint/2010/main" val="25786665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38910-43E4-6BD6-08C6-83D691058D46}"/>
              </a:ext>
            </a:extLst>
          </p:cNvPr>
          <p:cNvSpPr>
            <a:spLocks noGrp="1"/>
          </p:cNvSpPr>
          <p:nvPr>
            <p:ph type="title"/>
          </p:nvPr>
        </p:nvSpPr>
        <p:spPr>
          <a:xfrm>
            <a:off x="838200" y="365126"/>
            <a:ext cx="10515600" cy="787270"/>
          </a:xfrm>
        </p:spPr>
        <p:txBody>
          <a:bodyPr/>
          <a:lstStyle/>
          <a:p>
            <a:r>
              <a:rPr lang="en-AU" b="1" dirty="0"/>
              <a:t>Error functions</a:t>
            </a:r>
            <a:endParaRPr lang="en-US" b="1"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2E1B4B3-DD66-66A6-CAC4-92A64D755590}"/>
                  </a:ext>
                </a:extLst>
              </p:cNvPr>
              <p:cNvSpPr>
                <a:spLocks noGrp="1"/>
              </p:cNvSpPr>
              <p:nvPr>
                <p:ph idx="1"/>
              </p:nvPr>
            </p:nvSpPr>
            <p:spPr>
              <a:xfrm>
                <a:off x="838200" y="1465545"/>
                <a:ext cx="10515600" cy="4711418"/>
              </a:xfrm>
            </p:spPr>
            <p:txBody>
              <a:bodyPr>
                <a:normAutofit/>
              </a:bodyPr>
              <a:lstStyle/>
              <a:p>
                <a:r>
                  <a:rPr lang="en-AU" dirty="0"/>
                  <a:t>Mean square error (MSE): </a:t>
                </a:r>
                <a14:m>
                  <m:oMath xmlns:m="http://schemas.openxmlformats.org/officeDocument/2006/math">
                    <m:r>
                      <a:rPr lang="en-AU" b="0" i="1" smtClean="0">
                        <a:latin typeface="Cambria Math" panose="02040503050406030204" pitchFamily="18" charset="0"/>
                      </a:rPr>
                      <m:t>𝐸</m:t>
                    </m:r>
                    <m:d>
                      <m:dPr>
                        <m:ctrlPr>
                          <a:rPr lang="en-AU" b="0" i="1" smtClean="0">
                            <a:latin typeface="Cambria Math" panose="02040503050406030204" pitchFamily="18" charset="0"/>
                          </a:rPr>
                        </m:ctrlPr>
                      </m:dPr>
                      <m:e>
                        <m:r>
                          <a:rPr lang="en-AU" b="0" i="1" smtClean="0">
                            <a:latin typeface="Cambria Math" panose="02040503050406030204" pitchFamily="18" charset="0"/>
                          </a:rPr>
                          <m:t>𝑊</m:t>
                        </m:r>
                        <m:r>
                          <a:rPr lang="en-AU" b="0" i="1" smtClean="0">
                            <a:latin typeface="Cambria Math" panose="02040503050406030204" pitchFamily="18" charset="0"/>
                          </a:rPr>
                          <m:t>,</m:t>
                        </m:r>
                        <m:r>
                          <a:rPr lang="en-AU" b="0" i="1" smtClean="0">
                            <a:latin typeface="Cambria Math" panose="02040503050406030204" pitchFamily="18" charset="0"/>
                          </a:rPr>
                          <m:t>𝑏</m:t>
                        </m:r>
                      </m:e>
                    </m:d>
                    <m:r>
                      <a:rPr lang="en-AU" b="0" i="1" smtClean="0">
                        <a:latin typeface="Cambria Math" panose="02040503050406030204" pitchFamily="18" charset="0"/>
                      </a:rPr>
                      <m:t>=</m:t>
                    </m:r>
                    <m:f>
                      <m:fPr>
                        <m:ctrlPr>
                          <a:rPr lang="en-AU" b="0" i="1" smtClean="0">
                            <a:latin typeface="Cambria Math" panose="02040503050406030204" pitchFamily="18" charset="0"/>
                          </a:rPr>
                        </m:ctrlPr>
                      </m:fPr>
                      <m:num>
                        <m:r>
                          <a:rPr lang="en-AU" b="0" i="1" smtClean="0">
                            <a:latin typeface="Cambria Math" panose="02040503050406030204" pitchFamily="18" charset="0"/>
                          </a:rPr>
                          <m:t>1</m:t>
                        </m:r>
                      </m:num>
                      <m:den>
                        <m:r>
                          <a:rPr lang="en-AU" b="0" i="1" smtClean="0">
                            <a:latin typeface="Cambria Math" panose="02040503050406030204" pitchFamily="18" charset="0"/>
                          </a:rPr>
                          <m:t>𝑁</m:t>
                        </m:r>
                      </m:den>
                    </m:f>
                    <m:nary>
                      <m:naryPr>
                        <m:chr m:val="∑"/>
                        <m:ctrlPr>
                          <a:rPr lang="en-AU" b="0" i="1" smtClean="0">
                            <a:latin typeface="Cambria Math" panose="02040503050406030204" pitchFamily="18" charset="0"/>
                          </a:rPr>
                        </m:ctrlPr>
                      </m:naryPr>
                      <m:sub>
                        <m:r>
                          <m:rPr>
                            <m:brk m:alnAt="23"/>
                          </m:rPr>
                          <a:rPr lang="en-AU" b="0" i="1" smtClean="0">
                            <a:latin typeface="Cambria Math" panose="02040503050406030204" pitchFamily="18" charset="0"/>
                          </a:rPr>
                          <m:t>𝑖</m:t>
                        </m:r>
                        <m:r>
                          <m:rPr>
                            <m:brk m:alnAt="23"/>
                          </m:rPr>
                          <a:rPr lang="en-AU" b="0" i="1" smtClean="0">
                            <a:latin typeface="Cambria Math" panose="02040503050406030204" pitchFamily="18" charset="0"/>
                          </a:rPr>
                          <m:t>=</m:t>
                        </m:r>
                        <m:r>
                          <m:rPr>
                            <m:brk m:alnAt="23"/>
                          </m:rPr>
                          <a:rPr lang="en-AU" b="0" i="1" smtClean="0">
                            <a:latin typeface="Cambria Math" panose="02040503050406030204" pitchFamily="18" charset="0"/>
                          </a:rPr>
                          <m:t>1</m:t>
                        </m:r>
                      </m:sub>
                      <m:sup>
                        <m:r>
                          <a:rPr lang="en-AU" b="0" i="1" smtClean="0">
                            <a:latin typeface="Cambria Math" panose="02040503050406030204" pitchFamily="18" charset="0"/>
                          </a:rPr>
                          <m:t>𝑁</m:t>
                        </m:r>
                        <m:r>
                          <a:rPr lang="en-AU" b="0" i="1" smtClean="0">
                            <a:latin typeface="Cambria Math" panose="02040503050406030204" pitchFamily="18" charset="0"/>
                          </a:rPr>
                          <m:t> </m:t>
                        </m:r>
                      </m:sup>
                      <m:e>
                        <m:sSup>
                          <m:sSupPr>
                            <m:ctrlPr>
                              <a:rPr lang="en-AU" b="0" i="1" smtClean="0">
                                <a:latin typeface="Cambria Math" panose="02040503050406030204" pitchFamily="18" charset="0"/>
                              </a:rPr>
                            </m:ctrlPr>
                          </m:sSupPr>
                          <m:e>
                            <m:d>
                              <m:dPr>
                                <m:ctrlPr>
                                  <a:rPr lang="en-AU" b="0" i="1" smtClean="0">
                                    <a:latin typeface="Cambria Math" panose="02040503050406030204" pitchFamily="18" charset="0"/>
                                  </a:rPr>
                                </m:ctrlPr>
                              </m:dPr>
                              <m:e>
                                <m:acc>
                                  <m:accPr>
                                    <m:chr m:val="̂"/>
                                    <m:ctrlPr>
                                      <a:rPr lang="en-AU" b="0" i="1" smtClean="0">
                                        <a:latin typeface="Cambria Math" panose="02040503050406030204" pitchFamily="18" charset="0"/>
                                      </a:rPr>
                                    </m:ctrlPr>
                                  </m:accPr>
                                  <m:e>
                                    <m:sSub>
                                      <m:sSubPr>
                                        <m:ctrlPr>
                                          <a:rPr lang="en-AU" b="0" i="1" smtClean="0">
                                            <a:latin typeface="Cambria Math" panose="02040503050406030204" pitchFamily="18" charset="0"/>
                                          </a:rPr>
                                        </m:ctrlPr>
                                      </m:sSubPr>
                                      <m:e>
                                        <m:r>
                                          <a:rPr lang="en-AU" b="0" i="1" smtClean="0">
                                            <a:latin typeface="Cambria Math" panose="02040503050406030204" pitchFamily="18" charset="0"/>
                                          </a:rPr>
                                          <m:t>𝑦</m:t>
                                        </m:r>
                                      </m:e>
                                      <m:sub>
                                        <m:r>
                                          <a:rPr lang="en-AU" b="0" i="1" smtClean="0">
                                            <a:latin typeface="Cambria Math" panose="02040503050406030204" pitchFamily="18" charset="0"/>
                                          </a:rPr>
                                          <m:t>𝑖</m:t>
                                        </m:r>
                                      </m:sub>
                                    </m:sSub>
                                  </m:e>
                                </m:acc>
                                <m:r>
                                  <a:rPr lang="en-AU" b="0" i="1" smtClean="0">
                                    <a:latin typeface="Cambria Math" panose="02040503050406030204" pitchFamily="18" charset="0"/>
                                  </a:rPr>
                                  <m:t>−</m:t>
                                </m:r>
                                <m:sSub>
                                  <m:sSubPr>
                                    <m:ctrlPr>
                                      <a:rPr lang="en-AU" b="0" i="1" smtClean="0">
                                        <a:latin typeface="Cambria Math" panose="02040503050406030204" pitchFamily="18" charset="0"/>
                                      </a:rPr>
                                    </m:ctrlPr>
                                  </m:sSubPr>
                                  <m:e>
                                    <m:r>
                                      <a:rPr lang="en-AU" b="0" i="1" smtClean="0">
                                        <a:latin typeface="Cambria Math" panose="02040503050406030204" pitchFamily="18" charset="0"/>
                                      </a:rPr>
                                      <m:t>𝑦</m:t>
                                    </m:r>
                                  </m:e>
                                  <m:sub>
                                    <m:r>
                                      <a:rPr lang="en-AU" b="0" i="1" smtClean="0">
                                        <a:latin typeface="Cambria Math" panose="02040503050406030204" pitchFamily="18" charset="0"/>
                                      </a:rPr>
                                      <m:t>𝑖</m:t>
                                    </m:r>
                                  </m:sub>
                                </m:sSub>
                              </m:e>
                            </m:d>
                          </m:e>
                          <m:sup>
                            <m:r>
                              <a:rPr lang="en-AU" b="0" i="1" smtClean="0">
                                <a:latin typeface="Cambria Math" panose="02040503050406030204" pitchFamily="18" charset="0"/>
                              </a:rPr>
                              <m:t>2</m:t>
                            </m:r>
                          </m:sup>
                        </m:sSup>
                        <m:r>
                          <a:rPr lang="en-AU" b="0" i="1" smtClean="0">
                            <a:latin typeface="Cambria Math" panose="02040503050406030204" pitchFamily="18" charset="0"/>
                          </a:rPr>
                          <m:t> </m:t>
                        </m:r>
                      </m:e>
                    </m:nary>
                  </m:oMath>
                </a14:m>
                <a:endParaRPr lang="en-AU" b="0" dirty="0"/>
              </a:p>
              <a:p>
                <a:r>
                  <a:rPr lang="en-AU" dirty="0"/>
                  <a:t>Mean absolute error (MAE):</a:t>
                </a:r>
                <a14:m>
                  <m:oMath xmlns:m="http://schemas.openxmlformats.org/officeDocument/2006/math">
                    <m:r>
                      <a:rPr lang="en-AU" b="0" i="0" smtClean="0">
                        <a:latin typeface="Cambria Math" panose="02040503050406030204" pitchFamily="18" charset="0"/>
                      </a:rPr>
                      <m:t> </m:t>
                    </m:r>
                    <m:r>
                      <a:rPr lang="en-AU" i="1">
                        <a:latin typeface="Cambria Math" panose="02040503050406030204" pitchFamily="18" charset="0"/>
                      </a:rPr>
                      <m:t>𝐸</m:t>
                    </m:r>
                    <m:d>
                      <m:dPr>
                        <m:ctrlPr>
                          <a:rPr lang="en-AU" i="1">
                            <a:latin typeface="Cambria Math" panose="02040503050406030204" pitchFamily="18" charset="0"/>
                          </a:rPr>
                        </m:ctrlPr>
                      </m:dPr>
                      <m:e>
                        <m:r>
                          <a:rPr lang="en-AU" i="1">
                            <a:latin typeface="Cambria Math" panose="02040503050406030204" pitchFamily="18" charset="0"/>
                          </a:rPr>
                          <m:t>𝑊</m:t>
                        </m:r>
                        <m:r>
                          <a:rPr lang="en-AU" i="1">
                            <a:latin typeface="Cambria Math" panose="02040503050406030204" pitchFamily="18" charset="0"/>
                          </a:rPr>
                          <m:t>,</m:t>
                        </m:r>
                        <m:r>
                          <a:rPr lang="en-AU" i="1">
                            <a:latin typeface="Cambria Math" panose="02040503050406030204" pitchFamily="18" charset="0"/>
                          </a:rPr>
                          <m:t>𝑏</m:t>
                        </m:r>
                      </m:e>
                    </m:d>
                    <m:r>
                      <a:rPr lang="en-AU" i="1">
                        <a:latin typeface="Cambria Math" panose="02040503050406030204" pitchFamily="18" charset="0"/>
                      </a:rPr>
                      <m:t>=</m:t>
                    </m:r>
                    <m:f>
                      <m:fPr>
                        <m:ctrlPr>
                          <a:rPr lang="en-AU" i="1">
                            <a:latin typeface="Cambria Math" panose="02040503050406030204" pitchFamily="18" charset="0"/>
                          </a:rPr>
                        </m:ctrlPr>
                      </m:fPr>
                      <m:num>
                        <m:r>
                          <a:rPr lang="en-AU" i="1">
                            <a:latin typeface="Cambria Math" panose="02040503050406030204" pitchFamily="18" charset="0"/>
                          </a:rPr>
                          <m:t>1</m:t>
                        </m:r>
                      </m:num>
                      <m:den>
                        <m:r>
                          <a:rPr lang="en-AU" i="1">
                            <a:latin typeface="Cambria Math" panose="02040503050406030204" pitchFamily="18" charset="0"/>
                          </a:rPr>
                          <m:t>𝑁</m:t>
                        </m:r>
                      </m:den>
                    </m:f>
                    <m:nary>
                      <m:naryPr>
                        <m:chr m:val="∑"/>
                        <m:ctrlPr>
                          <a:rPr lang="en-AU" i="1">
                            <a:latin typeface="Cambria Math" panose="02040503050406030204" pitchFamily="18" charset="0"/>
                          </a:rPr>
                        </m:ctrlPr>
                      </m:naryPr>
                      <m:sub>
                        <m:r>
                          <m:rPr>
                            <m:brk m:alnAt="23"/>
                          </m:rPr>
                          <a:rPr lang="en-AU" i="1">
                            <a:latin typeface="Cambria Math" panose="02040503050406030204" pitchFamily="18" charset="0"/>
                          </a:rPr>
                          <m:t>𝑖</m:t>
                        </m:r>
                        <m:r>
                          <m:rPr>
                            <m:brk m:alnAt="23"/>
                          </m:rPr>
                          <a:rPr lang="en-AU" i="1">
                            <a:latin typeface="Cambria Math" panose="02040503050406030204" pitchFamily="18" charset="0"/>
                          </a:rPr>
                          <m:t>=</m:t>
                        </m:r>
                        <m:r>
                          <m:rPr>
                            <m:brk m:alnAt="23"/>
                          </m:rPr>
                          <a:rPr lang="en-AU" i="1">
                            <a:latin typeface="Cambria Math" panose="02040503050406030204" pitchFamily="18" charset="0"/>
                          </a:rPr>
                          <m:t>1</m:t>
                        </m:r>
                      </m:sub>
                      <m:sup>
                        <m:r>
                          <a:rPr lang="en-AU" i="1">
                            <a:latin typeface="Cambria Math" panose="02040503050406030204" pitchFamily="18" charset="0"/>
                          </a:rPr>
                          <m:t>𝑁</m:t>
                        </m:r>
                        <m:r>
                          <a:rPr lang="en-AU" i="1">
                            <a:latin typeface="Cambria Math" panose="02040503050406030204" pitchFamily="18" charset="0"/>
                          </a:rPr>
                          <m:t> </m:t>
                        </m:r>
                      </m:sup>
                      <m:e>
                        <m:r>
                          <a:rPr lang="en-AU" b="0" i="1" smtClean="0">
                            <a:latin typeface="Cambria Math" panose="02040503050406030204" pitchFamily="18" charset="0"/>
                          </a:rPr>
                          <m:t>|</m:t>
                        </m:r>
                        <m:acc>
                          <m:accPr>
                            <m:chr m:val="̂"/>
                            <m:ctrlPr>
                              <a:rPr lang="en-AU" b="0" i="1" smtClean="0">
                                <a:latin typeface="Cambria Math" panose="02040503050406030204" pitchFamily="18" charset="0"/>
                              </a:rPr>
                            </m:ctrlPr>
                          </m:accPr>
                          <m:e>
                            <m:sSub>
                              <m:sSubPr>
                                <m:ctrlPr>
                                  <a:rPr lang="en-AU" b="0" i="1" smtClean="0">
                                    <a:latin typeface="Cambria Math" panose="02040503050406030204" pitchFamily="18" charset="0"/>
                                  </a:rPr>
                                </m:ctrlPr>
                              </m:sSubPr>
                              <m:e>
                                <m:r>
                                  <a:rPr lang="en-AU" b="0" i="1" smtClean="0">
                                    <a:latin typeface="Cambria Math" panose="02040503050406030204" pitchFamily="18" charset="0"/>
                                  </a:rPr>
                                  <m:t>𝑦</m:t>
                                </m:r>
                              </m:e>
                              <m:sub>
                                <m:r>
                                  <a:rPr lang="en-AU" b="0" i="1" smtClean="0">
                                    <a:latin typeface="Cambria Math" panose="02040503050406030204" pitchFamily="18" charset="0"/>
                                  </a:rPr>
                                  <m:t>𝑖</m:t>
                                </m:r>
                              </m:sub>
                            </m:sSub>
                          </m:e>
                        </m:acc>
                        <m:r>
                          <a:rPr lang="en-AU" b="0" i="1" smtClean="0">
                            <a:latin typeface="Cambria Math" panose="02040503050406030204" pitchFamily="18" charset="0"/>
                          </a:rPr>
                          <m:t>−</m:t>
                        </m:r>
                        <m:sSub>
                          <m:sSubPr>
                            <m:ctrlPr>
                              <a:rPr lang="en-AU" b="0" i="1" smtClean="0">
                                <a:latin typeface="Cambria Math" panose="02040503050406030204" pitchFamily="18" charset="0"/>
                              </a:rPr>
                            </m:ctrlPr>
                          </m:sSubPr>
                          <m:e>
                            <m:r>
                              <a:rPr lang="en-AU" b="0" i="1" smtClean="0">
                                <a:latin typeface="Cambria Math" panose="02040503050406030204" pitchFamily="18" charset="0"/>
                              </a:rPr>
                              <m:t>𝑦</m:t>
                            </m:r>
                          </m:e>
                          <m:sub>
                            <m:r>
                              <a:rPr lang="en-AU" b="0" i="1" smtClean="0">
                                <a:latin typeface="Cambria Math" panose="02040503050406030204" pitchFamily="18" charset="0"/>
                              </a:rPr>
                              <m:t>𝑖</m:t>
                            </m:r>
                          </m:sub>
                        </m:sSub>
                        <m:r>
                          <a:rPr lang="en-AU" b="0" i="1" smtClean="0">
                            <a:latin typeface="Cambria Math" panose="02040503050406030204" pitchFamily="18" charset="0"/>
                          </a:rPr>
                          <m:t>|</m:t>
                        </m:r>
                        <m:r>
                          <a:rPr lang="en-AU" i="1">
                            <a:latin typeface="Cambria Math" panose="02040503050406030204" pitchFamily="18" charset="0"/>
                          </a:rPr>
                          <m:t> </m:t>
                        </m:r>
                      </m:e>
                    </m:nary>
                  </m:oMath>
                </a14:m>
                <a:endParaRPr lang="en-AU" dirty="0"/>
              </a:p>
              <a:p>
                <a:r>
                  <a:rPr lang="en-AU" dirty="0"/>
                  <a:t>Cross-entropy</a:t>
                </a:r>
              </a:p>
              <a:p>
                <a:pPr lvl="1"/>
                <a:r>
                  <a:rPr lang="en-AU" dirty="0"/>
                  <a:t>Commonly used in classification problems</a:t>
                </a:r>
              </a:p>
              <a:p>
                <a:pPr lvl="1"/>
                <a:r>
                  <a:rPr lang="en-AU" dirty="0"/>
                  <a:t>Quantifies the difference between two probability distributions. </a:t>
                </a:r>
              </a:p>
              <a:p>
                <a:pPr lvl="1"/>
                <a14:m>
                  <m:oMath xmlns:m="http://schemas.openxmlformats.org/officeDocument/2006/math">
                    <m:r>
                      <a:rPr lang="en-AU" i="1">
                        <a:latin typeface="Cambria Math" panose="02040503050406030204" pitchFamily="18" charset="0"/>
                      </a:rPr>
                      <m:t>𝐸</m:t>
                    </m:r>
                    <m:d>
                      <m:dPr>
                        <m:ctrlPr>
                          <a:rPr lang="en-AU" i="1">
                            <a:latin typeface="Cambria Math" panose="02040503050406030204" pitchFamily="18" charset="0"/>
                          </a:rPr>
                        </m:ctrlPr>
                      </m:dPr>
                      <m:e>
                        <m:r>
                          <a:rPr lang="en-AU" i="1">
                            <a:latin typeface="Cambria Math" panose="02040503050406030204" pitchFamily="18" charset="0"/>
                          </a:rPr>
                          <m:t>𝑊</m:t>
                        </m:r>
                        <m:r>
                          <a:rPr lang="en-AU" i="1">
                            <a:latin typeface="Cambria Math" panose="02040503050406030204" pitchFamily="18" charset="0"/>
                          </a:rPr>
                          <m:t>,</m:t>
                        </m:r>
                        <m:r>
                          <a:rPr lang="en-AU" i="1">
                            <a:latin typeface="Cambria Math" panose="02040503050406030204" pitchFamily="18" charset="0"/>
                          </a:rPr>
                          <m:t>𝑏</m:t>
                        </m:r>
                      </m:e>
                    </m:d>
                    <m:r>
                      <a:rPr lang="en-AU" i="1">
                        <a:latin typeface="Cambria Math" panose="02040503050406030204" pitchFamily="18" charset="0"/>
                      </a:rPr>
                      <m:t>=</m:t>
                    </m:r>
                    <m:r>
                      <a:rPr lang="en-AU" b="0" i="1" smtClean="0">
                        <a:latin typeface="Cambria Math" panose="02040503050406030204" pitchFamily="18" charset="0"/>
                      </a:rPr>
                      <m:t>−</m:t>
                    </m:r>
                    <m:nary>
                      <m:naryPr>
                        <m:chr m:val="∑"/>
                        <m:ctrlPr>
                          <a:rPr lang="en-AU" i="1">
                            <a:latin typeface="Cambria Math" panose="02040503050406030204" pitchFamily="18" charset="0"/>
                          </a:rPr>
                        </m:ctrlPr>
                      </m:naryPr>
                      <m:sub>
                        <m:r>
                          <m:rPr>
                            <m:brk m:alnAt="23"/>
                          </m:rPr>
                          <a:rPr lang="en-AU" i="1">
                            <a:latin typeface="Cambria Math" panose="02040503050406030204" pitchFamily="18" charset="0"/>
                          </a:rPr>
                          <m:t>𝑖</m:t>
                        </m:r>
                        <m:r>
                          <m:rPr>
                            <m:brk m:alnAt="23"/>
                          </m:rPr>
                          <a:rPr lang="en-AU" i="1">
                            <a:latin typeface="Cambria Math" panose="02040503050406030204" pitchFamily="18" charset="0"/>
                          </a:rPr>
                          <m:t>=</m:t>
                        </m:r>
                        <m:r>
                          <m:rPr>
                            <m:brk m:alnAt="23"/>
                          </m:rPr>
                          <a:rPr lang="en-AU" i="1">
                            <a:latin typeface="Cambria Math" panose="02040503050406030204" pitchFamily="18" charset="0"/>
                          </a:rPr>
                          <m:t>1</m:t>
                        </m:r>
                      </m:sub>
                      <m:sup>
                        <m:r>
                          <a:rPr lang="en-AU" b="0" i="1" smtClean="0">
                            <a:latin typeface="Cambria Math" panose="02040503050406030204" pitchFamily="18" charset="0"/>
                          </a:rPr>
                          <m:t>𝑚</m:t>
                        </m:r>
                        <m:r>
                          <a:rPr lang="en-AU" i="1">
                            <a:latin typeface="Cambria Math" panose="02040503050406030204" pitchFamily="18" charset="0"/>
                          </a:rPr>
                          <m:t> </m:t>
                        </m:r>
                      </m:sup>
                      <m:e>
                        <m:acc>
                          <m:accPr>
                            <m:chr m:val="̂"/>
                            <m:ctrlPr>
                              <a:rPr lang="en-AU" b="0" i="1" smtClean="0">
                                <a:latin typeface="Cambria Math" panose="02040503050406030204" pitchFamily="18" charset="0"/>
                              </a:rPr>
                            </m:ctrlPr>
                          </m:accPr>
                          <m:e>
                            <m:sSub>
                              <m:sSubPr>
                                <m:ctrlPr>
                                  <a:rPr lang="en-AU" b="0" i="1" smtClean="0">
                                    <a:latin typeface="Cambria Math" panose="02040503050406030204" pitchFamily="18" charset="0"/>
                                  </a:rPr>
                                </m:ctrlPr>
                              </m:sSubPr>
                              <m:e>
                                <m:r>
                                  <a:rPr lang="en-AU" b="0" i="1" smtClean="0">
                                    <a:latin typeface="Cambria Math" panose="02040503050406030204" pitchFamily="18" charset="0"/>
                                  </a:rPr>
                                  <m:t>𝑦</m:t>
                                </m:r>
                              </m:e>
                              <m:sub>
                                <m:r>
                                  <a:rPr lang="en-AU" b="0" i="1" smtClean="0">
                                    <a:latin typeface="Cambria Math" panose="02040503050406030204" pitchFamily="18" charset="0"/>
                                  </a:rPr>
                                  <m:t>𝑖</m:t>
                                </m:r>
                              </m:sub>
                            </m:sSub>
                          </m:e>
                        </m:acc>
                        <m:func>
                          <m:funcPr>
                            <m:ctrlPr>
                              <a:rPr lang="en-AU" b="0" i="0" smtClean="0">
                                <a:latin typeface="Cambria Math" panose="02040503050406030204" pitchFamily="18" charset="0"/>
                              </a:rPr>
                            </m:ctrlPr>
                          </m:funcPr>
                          <m:fName>
                            <m:r>
                              <m:rPr>
                                <m:sty m:val="p"/>
                              </m:rPr>
                              <a:rPr lang="en-AU" b="0" i="0" smtClean="0">
                                <a:latin typeface="Cambria Math" panose="02040503050406030204" pitchFamily="18" charset="0"/>
                              </a:rPr>
                              <m:t>log</m:t>
                            </m:r>
                          </m:fName>
                          <m:e>
                            <m:d>
                              <m:dPr>
                                <m:ctrlPr>
                                  <a:rPr lang="en-AU" b="0" i="1" smtClean="0">
                                    <a:latin typeface="Cambria Math" panose="02040503050406030204" pitchFamily="18" charset="0"/>
                                  </a:rPr>
                                </m:ctrlPr>
                              </m:dPr>
                              <m:e>
                                <m:sSub>
                                  <m:sSubPr>
                                    <m:ctrlPr>
                                      <a:rPr lang="en-AU" b="0" i="1" smtClean="0">
                                        <a:latin typeface="Cambria Math" panose="02040503050406030204" pitchFamily="18" charset="0"/>
                                      </a:rPr>
                                    </m:ctrlPr>
                                  </m:sSubPr>
                                  <m:e>
                                    <m:r>
                                      <a:rPr lang="en-AU" b="0" i="1" smtClean="0">
                                        <a:latin typeface="Cambria Math" panose="02040503050406030204" pitchFamily="18" charset="0"/>
                                      </a:rPr>
                                      <m:t>𝑝</m:t>
                                    </m:r>
                                  </m:e>
                                  <m:sub>
                                    <m:r>
                                      <a:rPr lang="en-AU" b="0" i="1" smtClean="0">
                                        <a:latin typeface="Cambria Math" panose="02040503050406030204" pitchFamily="18" charset="0"/>
                                      </a:rPr>
                                      <m:t>𝑖</m:t>
                                    </m:r>
                                  </m:sub>
                                </m:sSub>
                              </m:e>
                            </m:d>
                          </m:e>
                        </m:func>
                        <m:r>
                          <a:rPr lang="en-AU" i="1">
                            <a:latin typeface="Cambria Math" panose="02040503050406030204" pitchFamily="18" charset="0"/>
                          </a:rPr>
                          <m:t> </m:t>
                        </m:r>
                      </m:e>
                    </m:nary>
                  </m:oMath>
                </a14:m>
                <a:r>
                  <a:rPr lang="en-AU" dirty="0"/>
                  <a:t> </a:t>
                </a:r>
              </a:p>
              <a:p>
                <a:pPr lvl="2"/>
                <a14:m>
                  <m:oMath xmlns:m="http://schemas.openxmlformats.org/officeDocument/2006/math">
                    <m:r>
                      <a:rPr lang="en-AU" b="0" i="1" dirty="0" smtClean="0">
                        <a:latin typeface="Cambria Math" panose="02040503050406030204" pitchFamily="18" charset="0"/>
                      </a:rPr>
                      <m:t>𝑝</m:t>
                    </m:r>
                    <m:r>
                      <a:rPr lang="en-AU" b="0" i="1" dirty="0" smtClean="0">
                        <a:latin typeface="Cambria Math" panose="02040503050406030204" pitchFamily="18" charset="0"/>
                      </a:rPr>
                      <m:t> </m:t>
                    </m:r>
                  </m:oMath>
                </a14:m>
                <a:r>
                  <a:rPr lang="en-AU" dirty="0"/>
                  <a:t>is the predicted probability, and </a:t>
                </a:r>
                <a14:m>
                  <m:oMath xmlns:m="http://schemas.openxmlformats.org/officeDocument/2006/math">
                    <m:r>
                      <a:rPr lang="en-AU" i="1" dirty="0" smtClean="0">
                        <a:latin typeface="Cambria Math" panose="02040503050406030204" pitchFamily="18" charset="0"/>
                      </a:rPr>
                      <m:t>𝑚</m:t>
                    </m:r>
                  </m:oMath>
                </a14:m>
                <a:r>
                  <a:rPr lang="en-AU" dirty="0"/>
                  <a:t> is the # of classes.</a:t>
                </a:r>
              </a:p>
              <a:p>
                <a:r>
                  <a:rPr lang="en-AU" dirty="0"/>
                  <a:t>Cross-entropy error across all the training examples </a:t>
                </a:r>
                <a14:m>
                  <m:oMath xmlns:m="http://schemas.openxmlformats.org/officeDocument/2006/math">
                    <m:r>
                      <a:rPr lang="en-AU" b="0" i="1" smtClean="0">
                        <a:latin typeface="Cambria Math" panose="02040503050406030204" pitchFamily="18" charset="0"/>
                      </a:rPr>
                      <m:t>𝑛</m:t>
                    </m:r>
                  </m:oMath>
                </a14:m>
                <a:r>
                  <a:rPr lang="en-AU" dirty="0"/>
                  <a:t>:</a:t>
                </a:r>
              </a:p>
              <a:p>
                <a14:m>
                  <m:oMath xmlns:m="http://schemas.openxmlformats.org/officeDocument/2006/math">
                    <m:r>
                      <a:rPr lang="en-AU" i="1" smtClean="0">
                        <a:latin typeface="Cambria Math" panose="02040503050406030204" pitchFamily="18" charset="0"/>
                      </a:rPr>
                      <m:t>𝐸</m:t>
                    </m:r>
                    <m:d>
                      <m:dPr>
                        <m:ctrlPr>
                          <a:rPr lang="en-AU" i="1">
                            <a:latin typeface="Cambria Math" panose="02040503050406030204" pitchFamily="18" charset="0"/>
                          </a:rPr>
                        </m:ctrlPr>
                      </m:dPr>
                      <m:e>
                        <m:r>
                          <a:rPr lang="en-AU" i="1">
                            <a:latin typeface="Cambria Math" panose="02040503050406030204" pitchFamily="18" charset="0"/>
                          </a:rPr>
                          <m:t>𝑊</m:t>
                        </m:r>
                        <m:r>
                          <a:rPr lang="en-AU" i="1">
                            <a:latin typeface="Cambria Math" panose="02040503050406030204" pitchFamily="18" charset="0"/>
                          </a:rPr>
                          <m:t>,</m:t>
                        </m:r>
                        <m:r>
                          <a:rPr lang="en-AU" i="1">
                            <a:latin typeface="Cambria Math" panose="02040503050406030204" pitchFamily="18" charset="0"/>
                          </a:rPr>
                          <m:t>𝑏</m:t>
                        </m:r>
                      </m:e>
                    </m:d>
                    <m:r>
                      <a:rPr lang="en-AU" i="1">
                        <a:latin typeface="Cambria Math" panose="02040503050406030204" pitchFamily="18" charset="0"/>
                      </a:rPr>
                      <m:t>=−</m:t>
                    </m:r>
                    <m:nary>
                      <m:naryPr>
                        <m:chr m:val="∑"/>
                        <m:ctrlPr>
                          <a:rPr lang="en-AU" b="0" i="1" smtClean="0">
                            <a:latin typeface="Cambria Math" panose="02040503050406030204" pitchFamily="18" charset="0"/>
                          </a:rPr>
                        </m:ctrlPr>
                      </m:naryPr>
                      <m:sub>
                        <m:r>
                          <m:rPr>
                            <m:brk m:alnAt="23"/>
                          </m:rPr>
                          <a:rPr lang="en-AU" b="0" i="1" smtClean="0">
                            <a:latin typeface="Cambria Math" panose="02040503050406030204" pitchFamily="18" charset="0"/>
                          </a:rPr>
                          <m:t>𝑖</m:t>
                        </m:r>
                        <m:r>
                          <m:rPr>
                            <m:brk m:alnAt="23"/>
                          </m:rPr>
                          <a:rPr lang="en-AU" b="0" i="1" smtClean="0">
                            <a:latin typeface="Cambria Math" panose="02040503050406030204" pitchFamily="18" charset="0"/>
                          </a:rPr>
                          <m:t>=</m:t>
                        </m:r>
                        <m:r>
                          <m:rPr>
                            <m:brk m:alnAt="23"/>
                          </m:rPr>
                          <a:rPr lang="en-AU" b="0" i="1" smtClean="0">
                            <a:latin typeface="Cambria Math" panose="02040503050406030204" pitchFamily="18" charset="0"/>
                          </a:rPr>
                          <m:t>1</m:t>
                        </m:r>
                      </m:sub>
                      <m:sup>
                        <m:r>
                          <a:rPr lang="en-AU" b="0" i="1" smtClean="0">
                            <a:latin typeface="Cambria Math" panose="02040503050406030204" pitchFamily="18" charset="0"/>
                          </a:rPr>
                          <m:t>𝑛</m:t>
                        </m:r>
                      </m:sup>
                      <m:e>
                        <m:nary>
                          <m:naryPr>
                            <m:chr m:val="∑"/>
                            <m:ctrlPr>
                              <a:rPr lang="en-AU" b="0" i="1" smtClean="0">
                                <a:latin typeface="Cambria Math" panose="02040503050406030204" pitchFamily="18" charset="0"/>
                              </a:rPr>
                            </m:ctrlPr>
                          </m:naryPr>
                          <m:sub>
                            <m:r>
                              <m:rPr>
                                <m:brk m:alnAt="23"/>
                              </m:rPr>
                              <a:rPr lang="en-AU" b="0" i="1" smtClean="0">
                                <a:latin typeface="Cambria Math" panose="02040503050406030204" pitchFamily="18" charset="0"/>
                              </a:rPr>
                              <m:t>𝑗</m:t>
                            </m:r>
                            <m:r>
                              <m:rPr>
                                <m:brk m:alnAt="23"/>
                              </m:rPr>
                              <a:rPr lang="en-AU" i="1">
                                <a:latin typeface="Cambria Math" panose="02040503050406030204" pitchFamily="18" charset="0"/>
                              </a:rPr>
                              <m:t>=</m:t>
                            </m:r>
                            <m:r>
                              <m:rPr>
                                <m:brk m:alnAt="23"/>
                              </m:rPr>
                              <a:rPr lang="en-AU" i="1">
                                <a:latin typeface="Cambria Math" panose="02040503050406030204" pitchFamily="18" charset="0"/>
                              </a:rPr>
                              <m:t>1</m:t>
                            </m:r>
                          </m:sub>
                          <m:sup>
                            <m:r>
                              <a:rPr lang="en-AU" i="1">
                                <a:latin typeface="Cambria Math" panose="02040503050406030204" pitchFamily="18" charset="0"/>
                              </a:rPr>
                              <m:t>𝑚</m:t>
                            </m:r>
                            <m:r>
                              <a:rPr lang="en-AU" i="1">
                                <a:latin typeface="Cambria Math" panose="02040503050406030204" pitchFamily="18" charset="0"/>
                              </a:rPr>
                              <m:t> </m:t>
                            </m:r>
                          </m:sup>
                          <m:e>
                            <m:acc>
                              <m:accPr>
                                <m:chr m:val="̂"/>
                                <m:ctrlPr>
                                  <a:rPr lang="en-AU" i="1">
                                    <a:latin typeface="Cambria Math" panose="02040503050406030204" pitchFamily="18" charset="0"/>
                                  </a:rPr>
                                </m:ctrlPr>
                              </m:accPr>
                              <m:e>
                                <m:sSub>
                                  <m:sSubPr>
                                    <m:ctrlPr>
                                      <a:rPr lang="en-AU" i="1">
                                        <a:latin typeface="Cambria Math" panose="02040503050406030204" pitchFamily="18" charset="0"/>
                                      </a:rPr>
                                    </m:ctrlPr>
                                  </m:sSubPr>
                                  <m:e>
                                    <m:r>
                                      <a:rPr lang="en-AU" i="1">
                                        <a:latin typeface="Cambria Math" panose="02040503050406030204" pitchFamily="18" charset="0"/>
                                      </a:rPr>
                                      <m:t>𝑦</m:t>
                                    </m:r>
                                  </m:e>
                                  <m:sub>
                                    <m:r>
                                      <a:rPr lang="en-AU" i="1">
                                        <a:latin typeface="Cambria Math" panose="02040503050406030204" pitchFamily="18" charset="0"/>
                                      </a:rPr>
                                      <m:t>𝑖</m:t>
                                    </m:r>
                                    <m:r>
                                      <a:rPr lang="en-AU" b="0" i="1" smtClean="0">
                                        <a:latin typeface="Cambria Math" panose="02040503050406030204" pitchFamily="18" charset="0"/>
                                      </a:rPr>
                                      <m:t>𝑗</m:t>
                                    </m:r>
                                  </m:sub>
                                </m:sSub>
                              </m:e>
                            </m:acc>
                            <m:func>
                              <m:funcPr>
                                <m:ctrlPr>
                                  <a:rPr lang="en-AU">
                                    <a:latin typeface="Cambria Math" panose="02040503050406030204" pitchFamily="18" charset="0"/>
                                  </a:rPr>
                                </m:ctrlPr>
                              </m:funcPr>
                              <m:fName>
                                <m:r>
                                  <m:rPr>
                                    <m:sty m:val="p"/>
                                  </m:rPr>
                                  <a:rPr lang="en-AU">
                                    <a:latin typeface="Cambria Math" panose="02040503050406030204" pitchFamily="18" charset="0"/>
                                  </a:rPr>
                                  <m:t>log</m:t>
                                </m:r>
                              </m:fName>
                              <m:e>
                                <m:d>
                                  <m:dPr>
                                    <m:ctrlPr>
                                      <a:rPr lang="en-AU" i="1">
                                        <a:latin typeface="Cambria Math" panose="02040503050406030204" pitchFamily="18" charset="0"/>
                                      </a:rPr>
                                    </m:ctrlPr>
                                  </m:dPr>
                                  <m:e>
                                    <m:sSub>
                                      <m:sSubPr>
                                        <m:ctrlPr>
                                          <a:rPr lang="en-AU" i="1">
                                            <a:latin typeface="Cambria Math" panose="02040503050406030204" pitchFamily="18" charset="0"/>
                                          </a:rPr>
                                        </m:ctrlPr>
                                      </m:sSubPr>
                                      <m:e>
                                        <m:r>
                                          <a:rPr lang="en-AU" i="1">
                                            <a:latin typeface="Cambria Math" panose="02040503050406030204" pitchFamily="18" charset="0"/>
                                          </a:rPr>
                                          <m:t>𝑝</m:t>
                                        </m:r>
                                      </m:e>
                                      <m:sub>
                                        <m:r>
                                          <a:rPr lang="en-AU" i="1">
                                            <a:latin typeface="Cambria Math" panose="02040503050406030204" pitchFamily="18" charset="0"/>
                                          </a:rPr>
                                          <m:t>𝑖</m:t>
                                        </m:r>
                                        <m:r>
                                          <a:rPr lang="en-AU" b="0" i="1" smtClean="0">
                                            <a:latin typeface="Cambria Math" panose="02040503050406030204" pitchFamily="18" charset="0"/>
                                          </a:rPr>
                                          <m:t>𝑗</m:t>
                                        </m:r>
                                      </m:sub>
                                    </m:sSub>
                                  </m:e>
                                </m:d>
                              </m:e>
                            </m:func>
                            <m:r>
                              <a:rPr lang="en-AU" i="1">
                                <a:latin typeface="Cambria Math" panose="02040503050406030204" pitchFamily="18" charset="0"/>
                              </a:rPr>
                              <m:t> </m:t>
                            </m:r>
                          </m:e>
                        </m:nary>
                      </m:e>
                    </m:nary>
                  </m:oMath>
                </a14:m>
                <a:endParaRPr lang="en-AU" dirty="0"/>
              </a:p>
              <a:p>
                <a:endParaRPr lang="en-AU" dirty="0"/>
              </a:p>
              <a:p>
                <a:endParaRPr lang="en-US" dirty="0"/>
              </a:p>
            </p:txBody>
          </p:sp>
        </mc:Choice>
        <mc:Fallback xmlns="">
          <p:sp>
            <p:nvSpPr>
              <p:cNvPr id="3" name="Content Placeholder 2">
                <a:extLst>
                  <a:ext uri="{FF2B5EF4-FFF2-40B4-BE49-F238E27FC236}">
                    <a16:creationId xmlns:a16="http://schemas.microsoft.com/office/drawing/2014/main" id="{32E1B4B3-DD66-66A6-CAC4-92A64D755590}"/>
                  </a:ext>
                </a:extLst>
              </p:cNvPr>
              <p:cNvSpPr>
                <a:spLocks noGrp="1" noRot="1" noChangeAspect="1" noMove="1" noResize="1" noEditPoints="1" noAdjustHandles="1" noChangeArrowheads="1" noChangeShapeType="1" noTextEdit="1"/>
              </p:cNvSpPr>
              <p:nvPr>
                <p:ph idx="1"/>
              </p:nvPr>
            </p:nvSpPr>
            <p:spPr>
              <a:xfrm>
                <a:off x="838200" y="1465545"/>
                <a:ext cx="10515600" cy="4711418"/>
              </a:xfrm>
              <a:blipFill>
                <a:blip r:embed="rId2"/>
                <a:stretch>
                  <a:fillRect l="-1086" t="-13441" b="-14785"/>
                </a:stretch>
              </a:blipFill>
            </p:spPr>
            <p:txBody>
              <a:bodyPr/>
              <a:lstStyle/>
              <a:p>
                <a:r>
                  <a:rPr lang="en-US">
                    <a:noFill/>
                  </a:rPr>
                  <a:t> </a:t>
                </a:r>
              </a:p>
            </p:txBody>
          </p:sp>
        </mc:Fallback>
      </mc:AlternateContent>
    </p:spTree>
    <p:extLst>
      <p:ext uri="{BB962C8B-B14F-4D97-AF65-F5344CB8AC3E}">
        <p14:creationId xmlns:p14="http://schemas.microsoft.com/office/powerpoint/2010/main" val="10159220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AB776-6F53-5B0A-61D1-8BB4B50D2AFE}"/>
              </a:ext>
            </a:extLst>
          </p:cNvPr>
          <p:cNvSpPr>
            <a:spLocks noGrp="1"/>
          </p:cNvSpPr>
          <p:nvPr>
            <p:ph type="title"/>
          </p:nvPr>
        </p:nvSpPr>
        <p:spPr/>
        <p:txBody>
          <a:bodyPr/>
          <a:lstStyle/>
          <a:p>
            <a:r>
              <a:rPr lang="en-AU" b="1" dirty="0"/>
              <a:t>Backpropagation</a:t>
            </a:r>
            <a:endParaRPr lang="en-US" b="1" dirty="0"/>
          </a:p>
        </p:txBody>
      </p:sp>
      <p:pic>
        <p:nvPicPr>
          <p:cNvPr id="5" name="Content Placeholder 4">
            <a:extLst>
              <a:ext uri="{FF2B5EF4-FFF2-40B4-BE49-F238E27FC236}">
                <a16:creationId xmlns:a16="http://schemas.microsoft.com/office/drawing/2014/main" id="{E010A4FA-260E-57E2-752C-C38589C45CF3}"/>
              </a:ext>
            </a:extLst>
          </p:cNvPr>
          <p:cNvPicPr>
            <a:picLocks noGrp="1" noChangeAspect="1"/>
          </p:cNvPicPr>
          <p:nvPr>
            <p:ph idx="1"/>
          </p:nvPr>
        </p:nvPicPr>
        <p:blipFill>
          <a:blip r:embed="rId3"/>
          <a:stretch>
            <a:fillRect/>
          </a:stretch>
        </p:blipFill>
        <p:spPr>
          <a:xfrm>
            <a:off x="2828279" y="1996260"/>
            <a:ext cx="7419490" cy="2688474"/>
          </a:xfrm>
          <a:prstGeom prst="rect">
            <a:avLst/>
          </a:prstGeom>
        </p:spPr>
      </p:pic>
    </p:spTree>
    <p:extLst>
      <p:ext uri="{BB962C8B-B14F-4D97-AF65-F5344CB8AC3E}">
        <p14:creationId xmlns:p14="http://schemas.microsoft.com/office/powerpoint/2010/main" val="4112872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D8E1F-0926-D17D-ADF2-A5CDF13B85FB}"/>
              </a:ext>
            </a:extLst>
          </p:cNvPr>
          <p:cNvSpPr>
            <a:spLocks noGrp="1"/>
          </p:cNvSpPr>
          <p:nvPr>
            <p:ph type="title"/>
          </p:nvPr>
        </p:nvSpPr>
        <p:spPr/>
        <p:txBody>
          <a:bodyPr/>
          <a:lstStyle/>
          <a:p>
            <a:r>
              <a:rPr lang="en-AU" b="1" dirty="0"/>
              <a:t>Backpropagation</a:t>
            </a:r>
            <a:endParaRPr lang="en-US" dirty="0"/>
          </a:p>
        </p:txBody>
      </p:sp>
      <p:pic>
        <p:nvPicPr>
          <p:cNvPr id="5" name="Content Placeholder 4">
            <a:extLst>
              <a:ext uri="{FF2B5EF4-FFF2-40B4-BE49-F238E27FC236}">
                <a16:creationId xmlns:a16="http://schemas.microsoft.com/office/drawing/2014/main" id="{ABCD5D82-D625-7DB6-CCE5-15A4078CACB9}"/>
              </a:ext>
            </a:extLst>
          </p:cNvPr>
          <p:cNvPicPr>
            <a:picLocks noGrp="1" noChangeAspect="1"/>
          </p:cNvPicPr>
          <p:nvPr>
            <p:ph idx="1"/>
          </p:nvPr>
        </p:nvPicPr>
        <p:blipFill>
          <a:blip r:embed="rId2"/>
          <a:stretch>
            <a:fillRect/>
          </a:stretch>
        </p:blipFill>
        <p:spPr>
          <a:xfrm>
            <a:off x="2680570" y="1575104"/>
            <a:ext cx="6450001" cy="4782321"/>
          </a:xfrm>
          <a:prstGeom prst="rect">
            <a:avLst/>
          </a:prstGeom>
        </p:spPr>
      </p:pic>
    </p:spTree>
    <p:extLst>
      <p:ext uri="{BB962C8B-B14F-4D97-AF65-F5344CB8AC3E}">
        <p14:creationId xmlns:p14="http://schemas.microsoft.com/office/powerpoint/2010/main" val="24824363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8876E-AE05-B9EC-E172-F7C58FC01636}"/>
              </a:ext>
            </a:extLst>
          </p:cNvPr>
          <p:cNvSpPr>
            <a:spLocks noGrp="1"/>
          </p:cNvSpPr>
          <p:nvPr>
            <p:ph type="title"/>
          </p:nvPr>
        </p:nvSpPr>
        <p:spPr/>
        <p:txBody>
          <a:bodyPr/>
          <a:lstStyle/>
          <a:p>
            <a:r>
              <a:rPr lang="en-AU" b="1" dirty="0"/>
              <a:t>Backpropagation</a:t>
            </a:r>
            <a:endParaRPr lang="en-US" dirty="0"/>
          </a:p>
        </p:txBody>
      </p:sp>
      <p:sp>
        <p:nvSpPr>
          <p:cNvPr id="3" name="Content Placeholder 2">
            <a:extLst>
              <a:ext uri="{FF2B5EF4-FFF2-40B4-BE49-F238E27FC236}">
                <a16:creationId xmlns:a16="http://schemas.microsoft.com/office/drawing/2014/main" id="{E235C45F-CD86-279D-8AC1-0D993F817064}"/>
              </a:ext>
            </a:extLst>
          </p:cNvPr>
          <p:cNvSpPr>
            <a:spLocks noGrp="1"/>
          </p:cNvSpPr>
          <p:nvPr>
            <p:ph idx="1"/>
          </p:nvPr>
        </p:nvSpPr>
        <p:spPr/>
        <p:txBody>
          <a:bodyPr/>
          <a:lstStyle/>
          <a:p>
            <a:r>
              <a:rPr lang="en-AU" dirty="0"/>
              <a:t>Feedforward: get the linear combination (weighted sum), and apply the activation function to get the output prediction:</a:t>
            </a:r>
          </a:p>
          <a:p>
            <a:endParaRPr lang="en-AU" dirty="0"/>
          </a:p>
          <a:p>
            <a:r>
              <a:rPr lang="en-AU" dirty="0"/>
              <a:t>Compare the prediction with the label to calculate the error or loss function:</a:t>
            </a:r>
          </a:p>
          <a:p>
            <a:endParaRPr lang="en-AU" dirty="0"/>
          </a:p>
          <a:p>
            <a:r>
              <a:rPr lang="en-AU" dirty="0"/>
              <a:t>Use a gradient descent optimization algorithm to compute the </a:t>
            </a:r>
            <a:r>
              <a:rPr lang="en-AU" dirty="0" err="1"/>
              <a:t>Δw</a:t>
            </a:r>
            <a:r>
              <a:rPr lang="en-AU" dirty="0"/>
              <a:t> that optimizes the error function:</a:t>
            </a:r>
          </a:p>
          <a:p>
            <a:endParaRPr lang="en-AU" dirty="0"/>
          </a:p>
          <a:p>
            <a:endParaRPr lang="en-US" dirty="0"/>
          </a:p>
        </p:txBody>
      </p:sp>
      <p:pic>
        <p:nvPicPr>
          <p:cNvPr id="5" name="Picture 4">
            <a:extLst>
              <a:ext uri="{FF2B5EF4-FFF2-40B4-BE49-F238E27FC236}">
                <a16:creationId xmlns:a16="http://schemas.microsoft.com/office/drawing/2014/main" id="{3BC6A3B7-9165-6CDE-835B-3C0B41D20337}"/>
              </a:ext>
            </a:extLst>
          </p:cNvPr>
          <p:cNvPicPr>
            <a:picLocks noChangeAspect="1"/>
          </p:cNvPicPr>
          <p:nvPr/>
        </p:nvPicPr>
        <p:blipFill>
          <a:blip r:embed="rId2"/>
          <a:stretch>
            <a:fillRect/>
          </a:stretch>
        </p:blipFill>
        <p:spPr>
          <a:xfrm>
            <a:off x="4045907" y="2712405"/>
            <a:ext cx="4169514" cy="510553"/>
          </a:xfrm>
          <a:prstGeom prst="rect">
            <a:avLst/>
          </a:prstGeom>
        </p:spPr>
      </p:pic>
      <p:pic>
        <p:nvPicPr>
          <p:cNvPr id="7" name="Picture 6">
            <a:extLst>
              <a:ext uri="{FF2B5EF4-FFF2-40B4-BE49-F238E27FC236}">
                <a16:creationId xmlns:a16="http://schemas.microsoft.com/office/drawing/2014/main" id="{270C33B5-C3B6-725B-00E0-3E55047576FE}"/>
              </a:ext>
            </a:extLst>
          </p:cNvPr>
          <p:cNvPicPr>
            <a:picLocks noChangeAspect="1"/>
          </p:cNvPicPr>
          <p:nvPr/>
        </p:nvPicPr>
        <p:blipFill>
          <a:blip r:embed="rId3"/>
          <a:stretch>
            <a:fillRect/>
          </a:stretch>
        </p:blipFill>
        <p:spPr>
          <a:xfrm>
            <a:off x="4560415" y="3719088"/>
            <a:ext cx="2517522" cy="781300"/>
          </a:xfrm>
          <a:prstGeom prst="rect">
            <a:avLst/>
          </a:prstGeom>
        </p:spPr>
      </p:pic>
      <p:pic>
        <p:nvPicPr>
          <p:cNvPr id="9" name="Picture 8">
            <a:extLst>
              <a:ext uri="{FF2B5EF4-FFF2-40B4-BE49-F238E27FC236}">
                <a16:creationId xmlns:a16="http://schemas.microsoft.com/office/drawing/2014/main" id="{0992A99D-38DF-A733-F4DB-968E079625F0}"/>
              </a:ext>
            </a:extLst>
          </p:cNvPr>
          <p:cNvPicPr>
            <a:picLocks noChangeAspect="1"/>
          </p:cNvPicPr>
          <p:nvPr/>
        </p:nvPicPr>
        <p:blipFill>
          <a:blip r:embed="rId4"/>
          <a:stretch>
            <a:fillRect/>
          </a:stretch>
        </p:blipFill>
        <p:spPr>
          <a:xfrm>
            <a:off x="4861039" y="5528406"/>
            <a:ext cx="1988870" cy="783494"/>
          </a:xfrm>
          <a:prstGeom prst="rect">
            <a:avLst/>
          </a:prstGeom>
        </p:spPr>
      </p:pic>
    </p:spTree>
    <p:extLst>
      <p:ext uri="{BB962C8B-B14F-4D97-AF65-F5344CB8AC3E}">
        <p14:creationId xmlns:p14="http://schemas.microsoft.com/office/powerpoint/2010/main" val="29962988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A8586-389A-A24D-2847-5B0DDC19DFA6}"/>
              </a:ext>
            </a:extLst>
          </p:cNvPr>
          <p:cNvSpPr>
            <a:spLocks noGrp="1"/>
          </p:cNvSpPr>
          <p:nvPr>
            <p:ph type="title"/>
          </p:nvPr>
        </p:nvSpPr>
        <p:spPr>
          <a:xfrm>
            <a:off x="838200" y="365126"/>
            <a:ext cx="10515600" cy="1037790"/>
          </a:xfrm>
        </p:spPr>
        <p:txBody>
          <a:bodyPr/>
          <a:lstStyle/>
          <a:p>
            <a:r>
              <a:rPr lang="en-AU" b="1" dirty="0"/>
              <a:t>Weights update rule</a:t>
            </a:r>
            <a:endParaRPr lang="en-US" b="1" dirty="0"/>
          </a:p>
        </p:txBody>
      </p:sp>
      <p:pic>
        <p:nvPicPr>
          <p:cNvPr id="5" name="Content Placeholder 4">
            <a:extLst>
              <a:ext uri="{FF2B5EF4-FFF2-40B4-BE49-F238E27FC236}">
                <a16:creationId xmlns:a16="http://schemas.microsoft.com/office/drawing/2014/main" id="{C2FCA37D-DC1D-574E-4E11-26813D718CC3}"/>
              </a:ext>
            </a:extLst>
          </p:cNvPr>
          <p:cNvPicPr>
            <a:picLocks noGrp="1" noChangeAspect="1"/>
          </p:cNvPicPr>
          <p:nvPr>
            <p:ph idx="1"/>
          </p:nvPr>
        </p:nvPicPr>
        <p:blipFill>
          <a:blip r:embed="rId2"/>
          <a:stretch>
            <a:fillRect/>
          </a:stretch>
        </p:blipFill>
        <p:spPr>
          <a:xfrm>
            <a:off x="7342774" y="1669539"/>
            <a:ext cx="3594100" cy="2108200"/>
          </a:xfrm>
          <a:prstGeom prst="rect">
            <a:avLst/>
          </a:prstGeom>
        </p:spPr>
      </p:pic>
    </p:spTree>
    <p:extLst>
      <p:ext uri="{BB962C8B-B14F-4D97-AF65-F5344CB8AC3E}">
        <p14:creationId xmlns:p14="http://schemas.microsoft.com/office/powerpoint/2010/main" val="39443635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67EB0-5F6F-15CA-4559-030A20AC2E90}"/>
              </a:ext>
            </a:extLst>
          </p:cNvPr>
          <p:cNvSpPr>
            <a:spLocks noGrp="1"/>
          </p:cNvSpPr>
          <p:nvPr>
            <p:ph type="title"/>
          </p:nvPr>
        </p:nvSpPr>
        <p:spPr/>
        <p:txBody>
          <a:bodyPr/>
          <a:lstStyle/>
          <a:p>
            <a:r>
              <a:rPr lang="en-AU" b="1" dirty="0"/>
              <a:t>Computer vision pipeline</a:t>
            </a:r>
            <a:endParaRPr lang="en-US" b="1" dirty="0"/>
          </a:p>
        </p:txBody>
      </p:sp>
      <p:pic>
        <p:nvPicPr>
          <p:cNvPr id="5" name="Content Placeholder 4">
            <a:extLst>
              <a:ext uri="{FF2B5EF4-FFF2-40B4-BE49-F238E27FC236}">
                <a16:creationId xmlns:a16="http://schemas.microsoft.com/office/drawing/2014/main" id="{E6F0428B-5D85-7B04-1F1E-21847121C8DC}"/>
              </a:ext>
            </a:extLst>
          </p:cNvPr>
          <p:cNvPicPr>
            <a:picLocks noGrp="1" noChangeAspect="1"/>
          </p:cNvPicPr>
          <p:nvPr>
            <p:ph idx="1"/>
          </p:nvPr>
        </p:nvPicPr>
        <p:blipFill>
          <a:blip r:embed="rId2"/>
          <a:stretch>
            <a:fillRect/>
          </a:stretch>
        </p:blipFill>
        <p:spPr>
          <a:xfrm>
            <a:off x="838200" y="2327707"/>
            <a:ext cx="10595146" cy="2874652"/>
          </a:xfrm>
          <a:prstGeom prst="rect">
            <a:avLst/>
          </a:prstGeom>
        </p:spPr>
      </p:pic>
    </p:spTree>
    <p:extLst>
      <p:ext uri="{BB962C8B-B14F-4D97-AF65-F5344CB8AC3E}">
        <p14:creationId xmlns:p14="http://schemas.microsoft.com/office/powerpoint/2010/main" val="37471743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4B524-04B3-B670-7189-A34901497967}"/>
              </a:ext>
            </a:extLst>
          </p:cNvPr>
          <p:cNvSpPr>
            <a:spLocks noGrp="1"/>
          </p:cNvSpPr>
          <p:nvPr>
            <p:ph type="title"/>
          </p:nvPr>
        </p:nvSpPr>
        <p:spPr/>
        <p:txBody>
          <a:bodyPr/>
          <a:lstStyle/>
          <a:p>
            <a:r>
              <a:rPr lang="en-AU" b="1" dirty="0"/>
              <a:t>Computer vision pipeline</a:t>
            </a:r>
            <a:endParaRPr lang="en-US" dirty="0"/>
          </a:p>
        </p:txBody>
      </p:sp>
      <p:pic>
        <p:nvPicPr>
          <p:cNvPr id="5" name="Content Placeholder 4">
            <a:extLst>
              <a:ext uri="{FF2B5EF4-FFF2-40B4-BE49-F238E27FC236}">
                <a16:creationId xmlns:a16="http://schemas.microsoft.com/office/drawing/2014/main" id="{A99C39A9-8F5A-7DFB-E7B4-635DE4122A7E}"/>
              </a:ext>
            </a:extLst>
          </p:cNvPr>
          <p:cNvPicPr>
            <a:picLocks noGrp="1" noChangeAspect="1"/>
          </p:cNvPicPr>
          <p:nvPr>
            <p:ph idx="1"/>
          </p:nvPr>
        </p:nvPicPr>
        <p:blipFill>
          <a:blip r:embed="rId2"/>
          <a:stretch>
            <a:fillRect/>
          </a:stretch>
        </p:blipFill>
        <p:spPr>
          <a:xfrm>
            <a:off x="1075277" y="2074052"/>
            <a:ext cx="10041445" cy="3061770"/>
          </a:xfrm>
          <a:prstGeom prst="rect">
            <a:avLst/>
          </a:prstGeom>
        </p:spPr>
      </p:pic>
    </p:spTree>
    <p:extLst>
      <p:ext uri="{BB962C8B-B14F-4D97-AF65-F5344CB8AC3E}">
        <p14:creationId xmlns:p14="http://schemas.microsoft.com/office/powerpoint/2010/main" val="18996357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D62C5-00A5-9F51-5935-B33485862C10}"/>
              </a:ext>
            </a:extLst>
          </p:cNvPr>
          <p:cNvSpPr>
            <a:spLocks noGrp="1"/>
          </p:cNvSpPr>
          <p:nvPr>
            <p:ph type="title"/>
          </p:nvPr>
        </p:nvSpPr>
        <p:spPr/>
        <p:txBody>
          <a:bodyPr/>
          <a:lstStyle/>
          <a:p>
            <a:r>
              <a:rPr lang="en-AU" b="1" dirty="0"/>
              <a:t>Feature </a:t>
            </a:r>
            <a:endParaRPr lang="en-US" b="1" dirty="0"/>
          </a:p>
        </p:txBody>
      </p:sp>
      <p:sp>
        <p:nvSpPr>
          <p:cNvPr id="3" name="Content Placeholder 2">
            <a:extLst>
              <a:ext uri="{FF2B5EF4-FFF2-40B4-BE49-F238E27FC236}">
                <a16:creationId xmlns:a16="http://schemas.microsoft.com/office/drawing/2014/main" id="{D92C37D4-4D2B-995E-0F98-D3A9C04D9E79}"/>
              </a:ext>
            </a:extLst>
          </p:cNvPr>
          <p:cNvSpPr>
            <a:spLocks noGrp="1"/>
          </p:cNvSpPr>
          <p:nvPr>
            <p:ph idx="1"/>
          </p:nvPr>
        </p:nvSpPr>
        <p:spPr/>
        <p:txBody>
          <a:bodyPr>
            <a:normAutofit/>
          </a:bodyPr>
          <a:lstStyle/>
          <a:p>
            <a:r>
              <a:rPr lang="en-AU" dirty="0"/>
              <a:t>An individual </a:t>
            </a:r>
            <a:r>
              <a:rPr lang="en-AU" b="1" dirty="0"/>
              <a:t>measurable property </a:t>
            </a:r>
            <a:r>
              <a:rPr lang="en-AU" dirty="0"/>
              <a:t>or characteristic of an observed phenomenon. </a:t>
            </a:r>
          </a:p>
          <a:p>
            <a:r>
              <a:rPr lang="en-AU" dirty="0"/>
              <a:t>Features are the input that we feed to our ML model to output a prediction or classification. </a:t>
            </a:r>
          </a:p>
          <a:p>
            <a:r>
              <a:rPr lang="en-AU" dirty="0"/>
              <a:t>Selecting </a:t>
            </a:r>
            <a:r>
              <a:rPr lang="en-AU" b="1" dirty="0"/>
              <a:t>good features </a:t>
            </a:r>
            <a:r>
              <a:rPr lang="en-AU" dirty="0"/>
              <a:t>that clearly distinguish our objects </a:t>
            </a:r>
            <a:r>
              <a:rPr lang="en-AU" b="1" dirty="0"/>
              <a:t>increases the predictive power</a:t>
            </a:r>
            <a:r>
              <a:rPr lang="en-AU" dirty="0"/>
              <a:t> of ML algorithms.</a:t>
            </a:r>
          </a:p>
          <a:p>
            <a:endParaRPr lang="en-US" dirty="0"/>
          </a:p>
        </p:txBody>
      </p:sp>
    </p:spTree>
    <p:extLst>
      <p:ext uri="{BB962C8B-B14F-4D97-AF65-F5344CB8AC3E}">
        <p14:creationId xmlns:p14="http://schemas.microsoft.com/office/powerpoint/2010/main" val="1563913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9E4A6-A6B1-C3EE-292C-EFE025C448EF}"/>
              </a:ext>
            </a:extLst>
          </p:cNvPr>
          <p:cNvSpPr>
            <a:spLocks noGrp="1"/>
          </p:cNvSpPr>
          <p:nvPr>
            <p:ph type="title"/>
          </p:nvPr>
        </p:nvSpPr>
        <p:spPr/>
        <p:txBody>
          <a:bodyPr>
            <a:normAutofit/>
          </a:bodyPr>
          <a:lstStyle/>
          <a:p>
            <a:r>
              <a:rPr lang="en-AU" b="1" dirty="0"/>
              <a:t>Feature in CV</a:t>
            </a:r>
            <a:endParaRPr lang="en-US" b="1" dirty="0"/>
          </a:p>
        </p:txBody>
      </p:sp>
      <p:sp>
        <p:nvSpPr>
          <p:cNvPr id="3" name="Content Placeholder 2">
            <a:extLst>
              <a:ext uri="{FF2B5EF4-FFF2-40B4-BE49-F238E27FC236}">
                <a16:creationId xmlns:a16="http://schemas.microsoft.com/office/drawing/2014/main" id="{6960B103-9810-9F8C-3E95-0B0BE25377AF}"/>
              </a:ext>
            </a:extLst>
          </p:cNvPr>
          <p:cNvSpPr>
            <a:spLocks noGrp="1"/>
          </p:cNvSpPr>
          <p:nvPr>
            <p:ph idx="1"/>
          </p:nvPr>
        </p:nvSpPr>
        <p:spPr/>
        <p:txBody>
          <a:bodyPr>
            <a:normAutofit lnSpcReduction="10000"/>
          </a:bodyPr>
          <a:lstStyle/>
          <a:p>
            <a:r>
              <a:rPr lang="en-AU" dirty="0"/>
              <a:t>May be a distinct </a:t>
            </a:r>
            <a:r>
              <a:rPr lang="en-AU" dirty="0" err="1"/>
              <a:t>color</a:t>
            </a:r>
            <a:r>
              <a:rPr lang="en-AU" dirty="0"/>
              <a:t> or a specific shape such as a </a:t>
            </a:r>
            <a:r>
              <a:rPr lang="en-AU" b="1" dirty="0"/>
              <a:t>line</a:t>
            </a:r>
            <a:r>
              <a:rPr lang="en-AU" dirty="0"/>
              <a:t>, </a:t>
            </a:r>
            <a:r>
              <a:rPr lang="en-AU" b="1" dirty="0"/>
              <a:t>edge</a:t>
            </a:r>
            <a:r>
              <a:rPr lang="en-AU" dirty="0"/>
              <a:t>, or </a:t>
            </a:r>
            <a:r>
              <a:rPr lang="en-AU" b="1" dirty="0"/>
              <a:t>image segment</a:t>
            </a:r>
            <a:r>
              <a:rPr lang="en-AU" dirty="0"/>
              <a:t>.</a:t>
            </a:r>
          </a:p>
          <a:p>
            <a:r>
              <a:rPr lang="en-AU" dirty="0"/>
              <a:t>E.g. the wheel is a strong feature that clearly distinguishes between motorcycles and dogs. </a:t>
            </a:r>
          </a:p>
          <a:p>
            <a:r>
              <a:rPr lang="en-AU" dirty="0"/>
              <a:t>The same feature (a wheel) may not be a distinguishable feature to guess whether an object is a bicycle or a motorcycle. </a:t>
            </a:r>
          </a:p>
          <a:p>
            <a:pPr lvl="1"/>
            <a:r>
              <a:rPr lang="en-AU" dirty="0"/>
              <a:t>We need to look for more features like a mirror, license plate, or maybe a pedal, that collectively describe an object. </a:t>
            </a:r>
          </a:p>
          <a:p>
            <a:r>
              <a:rPr lang="en-AU" dirty="0"/>
              <a:t>In CV, we want to transform the  raw data (image) into a feature vector to show to our learning algorithm, which can learn the characteristics of the object.</a:t>
            </a:r>
            <a:endParaRPr lang="en-US" dirty="0"/>
          </a:p>
        </p:txBody>
      </p:sp>
    </p:spTree>
    <p:extLst>
      <p:ext uri="{BB962C8B-B14F-4D97-AF65-F5344CB8AC3E}">
        <p14:creationId xmlns:p14="http://schemas.microsoft.com/office/powerpoint/2010/main" val="39268262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78F28-C488-8CCE-24D0-763BDA32198D}"/>
              </a:ext>
            </a:extLst>
          </p:cNvPr>
          <p:cNvSpPr>
            <a:spLocks noGrp="1"/>
          </p:cNvSpPr>
          <p:nvPr>
            <p:ph type="title"/>
          </p:nvPr>
        </p:nvSpPr>
        <p:spPr>
          <a:xfrm>
            <a:off x="559904" y="391631"/>
            <a:ext cx="10515600" cy="933588"/>
          </a:xfrm>
        </p:spPr>
        <p:txBody>
          <a:bodyPr/>
          <a:lstStyle/>
          <a:p>
            <a:r>
              <a:rPr lang="en-AU" b="1" dirty="0"/>
              <a:t>Feature generalizability</a:t>
            </a:r>
            <a:endParaRPr lang="en-US" b="1" dirty="0"/>
          </a:p>
        </p:txBody>
      </p:sp>
      <p:sp>
        <p:nvSpPr>
          <p:cNvPr id="3" name="Content Placeholder 2">
            <a:extLst>
              <a:ext uri="{FF2B5EF4-FFF2-40B4-BE49-F238E27FC236}">
                <a16:creationId xmlns:a16="http://schemas.microsoft.com/office/drawing/2014/main" id="{3B5C7006-99F0-F497-FDAE-4F8CBB7566DA}"/>
              </a:ext>
            </a:extLst>
          </p:cNvPr>
          <p:cNvSpPr>
            <a:spLocks noGrp="1"/>
          </p:cNvSpPr>
          <p:nvPr>
            <p:ph idx="1"/>
          </p:nvPr>
        </p:nvSpPr>
        <p:spPr>
          <a:xfrm>
            <a:off x="559904" y="1825625"/>
            <a:ext cx="4691546" cy="4351338"/>
          </a:xfrm>
        </p:spPr>
        <p:txBody>
          <a:bodyPr>
            <a:normAutofit/>
          </a:bodyPr>
          <a:lstStyle/>
          <a:p>
            <a:r>
              <a:rPr lang="en-AU" dirty="0"/>
              <a:t>A very important characteristic of a feature is </a:t>
            </a:r>
            <a:r>
              <a:rPr lang="en-AU" b="1" dirty="0"/>
              <a:t>repeatability</a:t>
            </a:r>
            <a:r>
              <a:rPr lang="en-AU" dirty="0"/>
              <a:t>. </a:t>
            </a:r>
          </a:p>
          <a:p>
            <a:r>
              <a:rPr lang="en-AU" dirty="0"/>
              <a:t>The feature should be able to detect motorcycles in general, not just this specific one. </a:t>
            </a:r>
          </a:p>
          <a:p>
            <a:r>
              <a:rPr lang="en-AU" dirty="0"/>
              <a:t>In real-world problems, a feature is not an exact copy of a piece of the input image.</a:t>
            </a:r>
          </a:p>
          <a:p>
            <a:endParaRPr lang="en-US" dirty="0"/>
          </a:p>
        </p:txBody>
      </p:sp>
      <p:pic>
        <p:nvPicPr>
          <p:cNvPr id="5" name="Picture 4">
            <a:extLst>
              <a:ext uri="{FF2B5EF4-FFF2-40B4-BE49-F238E27FC236}">
                <a16:creationId xmlns:a16="http://schemas.microsoft.com/office/drawing/2014/main" id="{D95AEC5E-3AE9-C7CE-ACE7-60180B3BADF6}"/>
              </a:ext>
            </a:extLst>
          </p:cNvPr>
          <p:cNvPicPr>
            <a:picLocks noChangeAspect="1"/>
          </p:cNvPicPr>
          <p:nvPr/>
        </p:nvPicPr>
        <p:blipFill>
          <a:blip r:embed="rId2"/>
          <a:stretch>
            <a:fillRect/>
          </a:stretch>
        </p:blipFill>
        <p:spPr>
          <a:xfrm>
            <a:off x="5503242" y="1825625"/>
            <a:ext cx="6565900" cy="2755900"/>
          </a:xfrm>
          <a:prstGeom prst="rect">
            <a:avLst/>
          </a:prstGeom>
        </p:spPr>
      </p:pic>
    </p:spTree>
    <p:extLst>
      <p:ext uri="{BB962C8B-B14F-4D97-AF65-F5344CB8AC3E}">
        <p14:creationId xmlns:p14="http://schemas.microsoft.com/office/powerpoint/2010/main" val="23489409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E4D18-4E87-9F7B-8BC7-C4C63EA9829D}"/>
              </a:ext>
            </a:extLst>
          </p:cNvPr>
          <p:cNvSpPr>
            <a:spLocks noGrp="1"/>
          </p:cNvSpPr>
          <p:nvPr>
            <p:ph type="title"/>
          </p:nvPr>
        </p:nvSpPr>
        <p:spPr>
          <a:xfrm>
            <a:off x="838200" y="365126"/>
            <a:ext cx="10515600" cy="814318"/>
          </a:xfrm>
        </p:spPr>
        <p:txBody>
          <a:bodyPr/>
          <a:lstStyle/>
          <a:p>
            <a:r>
              <a:rPr lang="en-AU" b="1" dirty="0"/>
              <a:t>TRADITIONAL MACHINE LEARNING</a:t>
            </a:r>
            <a:endParaRPr lang="en-US" b="1" dirty="0"/>
          </a:p>
        </p:txBody>
      </p:sp>
      <p:sp>
        <p:nvSpPr>
          <p:cNvPr id="3" name="Content Placeholder 2">
            <a:extLst>
              <a:ext uri="{FF2B5EF4-FFF2-40B4-BE49-F238E27FC236}">
                <a16:creationId xmlns:a16="http://schemas.microsoft.com/office/drawing/2014/main" id="{6306ACF6-E722-441A-AC46-3E7272B67ABF}"/>
              </a:ext>
            </a:extLst>
          </p:cNvPr>
          <p:cNvSpPr>
            <a:spLocks noGrp="1"/>
          </p:cNvSpPr>
          <p:nvPr>
            <p:ph idx="1"/>
          </p:nvPr>
        </p:nvSpPr>
        <p:spPr>
          <a:xfrm>
            <a:off x="838200" y="1311965"/>
            <a:ext cx="10515600" cy="4864998"/>
          </a:xfrm>
        </p:spPr>
        <p:txBody>
          <a:bodyPr>
            <a:normAutofit/>
          </a:bodyPr>
          <a:lstStyle/>
          <a:p>
            <a:r>
              <a:rPr lang="en-AU" dirty="0"/>
              <a:t>Some of the handcrafted feature sets are:</a:t>
            </a:r>
          </a:p>
          <a:p>
            <a:pPr lvl="1"/>
            <a:r>
              <a:rPr lang="en-AU" dirty="0"/>
              <a:t>Histogram of oriented gradients (HOG)</a:t>
            </a:r>
          </a:p>
          <a:p>
            <a:pPr lvl="1"/>
            <a:r>
              <a:rPr lang="en-AU" dirty="0"/>
              <a:t>Haar Cascades</a:t>
            </a:r>
          </a:p>
          <a:p>
            <a:pPr lvl="1"/>
            <a:r>
              <a:rPr lang="en-AU" dirty="0"/>
              <a:t>Scale-invariant feature transform (SIFT)</a:t>
            </a:r>
          </a:p>
          <a:p>
            <a:pPr lvl="1"/>
            <a:r>
              <a:rPr lang="en-AU" dirty="0"/>
              <a:t>Speeded-Up Robust Feature (SURF)</a:t>
            </a:r>
          </a:p>
          <a:p>
            <a:r>
              <a:rPr lang="en-AU" b="1" dirty="0"/>
              <a:t>WHY USE FEATURES?</a:t>
            </a:r>
          </a:p>
          <a:p>
            <a:pPr lvl="1"/>
            <a:r>
              <a:rPr lang="en-AU" dirty="0"/>
              <a:t>The input image has too much extra information that is not necessary for classification. </a:t>
            </a:r>
          </a:p>
          <a:p>
            <a:pPr lvl="1"/>
            <a:r>
              <a:rPr lang="en-AU" dirty="0"/>
              <a:t>The first step after preprocessing the image is to simplify it by extracting the important information and throwing away nonessential information. </a:t>
            </a:r>
          </a:p>
          <a:p>
            <a:pPr lvl="1"/>
            <a:r>
              <a:rPr lang="en-AU" dirty="0"/>
              <a:t>By extracting important </a:t>
            </a:r>
            <a:r>
              <a:rPr lang="en-AU" dirty="0" err="1"/>
              <a:t>colors</a:t>
            </a:r>
            <a:r>
              <a:rPr lang="en-AU" dirty="0"/>
              <a:t> or image segments, we can transform complex and large image data into smaller sets of features. </a:t>
            </a:r>
            <a:endParaRPr lang="en-US" dirty="0"/>
          </a:p>
        </p:txBody>
      </p:sp>
    </p:spTree>
    <p:extLst>
      <p:ext uri="{BB962C8B-B14F-4D97-AF65-F5344CB8AC3E}">
        <p14:creationId xmlns:p14="http://schemas.microsoft.com/office/powerpoint/2010/main" val="36213464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21F9CDE-4A00-025E-7E50-E42E80CE24AB}"/>
              </a:ext>
            </a:extLst>
          </p:cNvPr>
          <p:cNvPicPr>
            <a:picLocks noChangeAspect="1"/>
          </p:cNvPicPr>
          <p:nvPr/>
        </p:nvPicPr>
        <p:blipFill>
          <a:blip r:embed="rId2"/>
          <a:stretch>
            <a:fillRect/>
          </a:stretch>
        </p:blipFill>
        <p:spPr>
          <a:xfrm>
            <a:off x="2203450" y="711200"/>
            <a:ext cx="7772400" cy="5426732"/>
          </a:xfrm>
          <a:prstGeom prst="rect">
            <a:avLst/>
          </a:prstGeom>
        </p:spPr>
      </p:pic>
    </p:spTree>
    <p:extLst>
      <p:ext uri="{BB962C8B-B14F-4D97-AF65-F5344CB8AC3E}">
        <p14:creationId xmlns:p14="http://schemas.microsoft.com/office/powerpoint/2010/main" val="4739726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89ED8-542F-F005-F83D-AD095283A4BE}"/>
              </a:ext>
            </a:extLst>
          </p:cNvPr>
          <p:cNvSpPr>
            <a:spLocks noGrp="1"/>
          </p:cNvSpPr>
          <p:nvPr>
            <p:ph type="title"/>
          </p:nvPr>
        </p:nvSpPr>
        <p:spPr/>
        <p:txBody>
          <a:bodyPr/>
          <a:lstStyle/>
          <a:p>
            <a:r>
              <a:rPr lang="en-US" b="1" dirty="0"/>
              <a:t>Face detection using NN</a:t>
            </a:r>
            <a:endParaRPr lang="en-US" dirty="0"/>
          </a:p>
        </p:txBody>
      </p:sp>
      <p:sp>
        <p:nvSpPr>
          <p:cNvPr id="3" name="Content Placeholder 2">
            <a:extLst>
              <a:ext uri="{FF2B5EF4-FFF2-40B4-BE49-F238E27FC236}">
                <a16:creationId xmlns:a16="http://schemas.microsoft.com/office/drawing/2014/main" id="{FB63FC62-4338-A9B6-8CE7-9B4ED33B834C}"/>
              </a:ext>
            </a:extLst>
          </p:cNvPr>
          <p:cNvSpPr>
            <a:spLocks noGrp="1"/>
          </p:cNvSpPr>
          <p:nvPr>
            <p:ph idx="1"/>
          </p:nvPr>
        </p:nvSpPr>
        <p:spPr/>
        <p:txBody>
          <a:bodyPr/>
          <a:lstStyle/>
          <a:p>
            <a:r>
              <a:rPr lang="en-US" dirty="0"/>
              <a:t>Kaggle note book</a:t>
            </a:r>
          </a:p>
          <a:p>
            <a:r>
              <a:rPr lang="en-US" dirty="0">
                <a:hlinkClick r:id="rId2"/>
              </a:rPr>
              <a:t>https://www.kaggle.com/code/zahidbd/lecture13-classification-nn-nb2/</a:t>
            </a:r>
            <a:endParaRPr lang="en-US" dirty="0"/>
          </a:p>
          <a:p>
            <a:endParaRPr lang="en-US" dirty="0"/>
          </a:p>
        </p:txBody>
      </p:sp>
    </p:spTree>
    <p:extLst>
      <p:ext uri="{BB962C8B-B14F-4D97-AF65-F5344CB8AC3E}">
        <p14:creationId xmlns:p14="http://schemas.microsoft.com/office/powerpoint/2010/main" val="23602591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F50BA-E28B-36D0-C4CA-BCF87353F71F}"/>
              </a:ext>
            </a:extLst>
          </p:cNvPr>
          <p:cNvSpPr>
            <a:spLocks noGrp="1"/>
          </p:cNvSpPr>
          <p:nvPr>
            <p:ph type="title"/>
          </p:nvPr>
        </p:nvSpPr>
        <p:spPr>
          <a:xfrm>
            <a:off x="838200" y="327548"/>
            <a:ext cx="10515600" cy="762216"/>
          </a:xfrm>
        </p:spPr>
        <p:txBody>
          <a:bodyPr>
            <a:normAutofit/>
          </a:bodyPr>
          <a:lstStyle/>
          <a:p>
            <a:r>
              <a:rPr lang="en-AU" b="1" dirty="0"/>
              <a:t>Neural network hyperparameters</a:t>
            </a:r>
            <a:endParaRPr lang="en-US" b="1" dirty="0"/>
          </a:p>
        </p:txBody>
      </p:sp>
      <p:sp>
        <p:nvSpPr>
          <p:cNvPr id="3" name="Content Placeholder 2">
            <a:extLst>
              <a:ext uri="{FF2B5EF4-FFF2-40B4-BE49-F238E27FC236}">
                <a16:creationId xmlns:a16="http://schemas.microsoft.com/office/drawing/2014/main" id="{85D6E864-A097-4AFD-21C5-870AE4E613BD}"/>
              </a:ext>
            </a:extLst>
          </p:cNvPr>
          <p:cNvSpPr>
            <a:spLocks noGrp="1"/>
          </p:cNvSpPr>
          <p:nvPr>
            <p:ph idx="1"/>
          </p:nvPr>
        </p:nvSpPr>
        <p:spPr>
          <a:xfrm>
            <a:off x="838200" y="1340285"/>
            <a:ext cx="10515600" cy="5152590"/>
          </a:xfrm>
        </p:spPr>
        <p:txBody>
          <a:bodyPr>
            <a:normAutofit fontScale="77500" lnSpcReduction="20000"/>
          </a:bodyPr>
          <a:lstStyle/>
          <a:p>
            <a:r>
              <a:rPr lang="en-AU" b="1" dirty="0"/>
              <a:t>Number of hidden layers</a:t>
            </a:r>
            <a:r>
              <a:rPr lang="en-AU" dirty="0"/>
              <a:t>—we can have as many layers as we want, each with as many neurons as we want. The general idea is that the more neurons you have, the better your network will learn the training data. But if you have too many neurons, this might lead to a phenomenon called overfitting.</a:t>
            </a:r>
          </a:p>
          <a:p>
            <a:r>
              <a:rPr lang="en-AU" b="1" dirty="0"/>
              <a:t>Activation function</a:t>
            </a:r>
            <a:r>
              <a:rPr lang="en-AU" dirty="0"/>
              <a:t>—There are many types of activation functions, the most popular being </a:t>
            </a:r>
            <a:r>
              <a:rPr lang="en-AU" dirty="0" err="1"/>
              <a:t>ReLU</a:t>
            </a:r>
            <a:r>
              <a:rPr lang="en-AU" dirty="0"/>
              <a:t> and </a:t>
            </a:r>
            <a:r>
              <a:rPr lang="en-AU" dirty="0" err="1"/>
              <a:t>softmax</a:t>
            </a:r>
            <a:r>
              <a:rPr lang="en-AU" dirty="0"/>
              <a:t>. </a:t>
            </a:r>
          </a:p>
          <a:p>
            <a:r>
              <a:rPr lang="en-AU" b="1" dirty="0"/>
              <a:t>Error function</a:t>
            </a:r>
            <a:r>
              <a:rPr lang="en-AU" dirty="0"/>
              <a:t>— Mean square error is common for regression problems, and cross-entropy is common for classification problems.</a:t>
            </a:r>
          </a:p>
          <a:p>
            <a:r>
              <a:rPr lang="en-AU" b="1" dirty="0"/>
              <a:t>Optimizer</a:t>
            </a:r>
            <a:r>
              <a:rPr lang="en-AU" dirty="0"/>
              <a:t>—Optimization algorithms are used to find the optimum weight values that minimize the error. Gradient descent, Adam and RMSprop are popular optimizers.</a:t>
            </a:r>
          </a:p>
          <a:p>
            <a:r>
              <a:rPr lang="en-AU" b="1" dirty="0"/>
              <a:t>Batch size</a:t>
            </a:r>
            <a:r>
              <a:rPr lang="en-AU" dirty="0"/>
              <a:t>—the number of sub-samples given to the network, after which parameter update happens. Bigger batch sizes learn faster but require more memory space. </a:t>
            </a:r>
          </a:p>
          <a:p>
            <a:r>
              <a:rPr lang="en-AU" b="1" dirty="0"/>
              <a:t>Number of epochs</a:t>
            </a:r>
            <a:r>
              <a:rPr lang="en-AU" dirty="0"/>
              <a:t>—The number of times the entire training dataset is shown to the network while training. May cause overfitting. </a:t>
            </a:r>
          </a:p>
          <a:p>
            <a:r>
              <a:rPr lang="en-AU" b="1" dirty="0"/>
              <a:t>Learning rate</a:t>
            </a:r>
            <a:r>
              <a:rPr lang="en-AU" dirty="0"/>
              <a:t>—One of the optimizer’s input parameters. Theoretically, a learning rate that is too small is guaranteed to reach the minimum error (slow). A learning rate that is too big speeds up the learning but is not guaranteed to find the minimum error. </a:t>
            </a:r>
          </a:p>
        </p:txBody>
      </p:sp>
    </p:spTree>
    <p:extLst>
      <p:ext uri="{BB962C8B-B14F-4D97-AF65-F5344CB8AC3E}">
        <p14:creationId xmlns:p14="http://schemas.microsoft.com/office/powerpoint/2010/main" val="17682521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96E604-F538-675B-C1F5-6717F0D3BC63}"/>
              </a:ext>
            </a:extLst>
          </p:cNvPr>
          <p:cNvSpPr>
            <a:spLocks noGrp="1"/>
          </p:cNvSpPr>
          <p:nvPr>
            <p:ph type="title"/>
          </p:nvPr>
        </p:nvSpPr>
        <p:spPr/>
        <p:txBody>
          <a:bodyPr/>
          <a:lstStyle/>
          <a:p>
            <a:r>
              <a:rPr lang="en-US" b="1" dirty="0"/>
              <a:t>Readings</a:t>
            </a:r>
            <a:endParaRPr lang="en-US" dirty="0"/>
          </a:p>
        </p:txBody>
      </p:sp>
      <p:sp>
        <p:nvSpPr>
          <p:cNvPr id="3" name="Content Placeholder 2">
            <a:extLst>
              <a:ext uri="{FF2B5EF4-FFF2-40B4-BE49-F238E27FC236}">
                <a16:creationId xmlns:a16="http://schemas.microsoft.com/office/drawing/2014/main" id="{79E8A7CC-0FE2-2F60-54BB-EFF5EEA7BDE4}"/>
              </a:ext>
            </a:extLst>
          </p:cNvPr>
          <p:cNvSpPr>
            <a:spLocks noGrp="1"/>
          </p:cNvSpPr>
          <p:nvPr>
            <p:ph idx="1"/>
          </p:nvPr>
        </p:nvSpPr>
        <p:spPr/>
        <p:txBody>
          <a:bodyPr/>
          <a:lstStyle/>
          <a:p>
            <a:r>
              <a:rPr lang="en-US" dirty="0">
                <a:hlinkClick r:id="rId2"/>
              </a:rPr>
              <a:t>https://cvl-umass.github.io/compsci682-fall-2024/notes/neural-networks-1/</a:t>
            </a:r>
            <a:endParaRPr lang="en-US" dirty="0"/>
          </a:p>
          <a:p>
            <a:r>
              <a:rPr lang="en-AU" dirty="0"/>
              <a:t>Deep Learning for Vision Systems, MOHAMED ELGENDY</a:t>
            </a:r>
          </a:p>
          <a:p>
            <a:pPr lvl="1"/>
            <a:r>
              <a:rPr lang="en-US" dirty="0"/>
              <a:t>Chapter 1: 1.3, 1.6, 1.7</a:t>
            </a:r>
          </a:p>
          <a:p>
            <a:pPr lvl="1"/>
            <a:r>
              <a:rPr lang="en-US" dirty="0"/>
              <a:t>Chapter 2: 2.1, 2.2, 2.3, 2.4. 2.5, 2.6, 2.7</a:t>
            </a:r>
          </a:p>
          <a:p>
            <a:r>
              <a:rPr lang="en-US" dirty="0"/>
              <a:t>Notebooks:</a:t>
            </a:r>
          </a:p>
          <a:p>
            <a:pPr lvl="1"/>
            <a:r>
              <a:rPr lang="en-US" dirty="0">
                <a:hlinkClick r:id="rId3"/>
              </a:rPr>
              <a:t>https://www.kaggle.com/code/zahidbd/lecture13-nn-basic-nb1</a:t>
            </a:r>
            <a:endParaRPr lang="en-US" dirty="0"/>
          </a:p>
          <a:p>
            <a:pPr lvl="1"/>
            <a:r>
              <a:rPr lang="en-US" dirty="0">
                <a:hlinkClick r:id="rId4"/>
              </a:rPr>
              <a:t>https://www.kaggle.com/code/zahidbd/lecture13-classification-nn-nb2/</a:t>
            </a:r>
            <a:endParaRPr lang="en-US" dirty="0"/>
          </a:p>
          <a:p>
            <a:pPr lvl="1"/>
            <a:endParaRPr lang="en-US" dirty="0"/>
          </a:p>
        </p:txBody>
      </p:sp>
    </p:spTree>
    <p:extLst>
      <p:ext uri="{BB962C8B-B14F-4D97-AF65-F5344CB8AC3E}">
        <p14:creationId xmlns:p14="http://schemas.microsoft.com/office/powerpoint/2010/main" val="42607567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39647</TotalTime>
  <Words>1737</Words>
  <Application>Microsoft Macintosh PowerPoint</Application>
  <PresentationFormat>Widescreen</PresentationFormat>
  <Paragraphs>180</Paragraphs>
  <Slides>30</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Adelle Sans Devanagari</vt:lpstr>
      <vt:lpstr>Arial</vt:lpstr>
      <vt:lpstr>Calibri</vt:lpstr>
      <vt:lpstr>Calibri Light</vt:lpstr>
      <vt:lpstr>Cambria Math</vt:lpstr>
      <vt:lpstr>Office Theme</vt:lpstr>
      <vt:lpstr>COMPUTER VISION</vt:lpstr>
      <vt:lpstr>Traditional recognition approach</vt:lpstr>
      <vt:lpstr>Introduction to Neural Network</vt:lpstr>
      <vt:lpstr>Main components NN</vt:lpstr>
      <vt:lpstr>NN notations</vt:lpstr>
      <vt:lpstr>Computation in NN</vt:lpstr>
      <vt:lpstr>NN from scratch</vt:lpstr>
      <vt:lpstr>Activation functions</vt:lpstr>
      <vt:lpstr>Sigmoid/logistic function</vt:lpstr>
      <vt:lpstr>Softmax function</vt:lpstr>
      <vt:lpstr>tanh</vt:lpstr>
      <vt:lpstr>Rectified linear unit - ReLU</vt:lpstr>
      <vt:lpstr>Leaky ReLU</vt:lpstr>
      <vt:lpstr>Feedforward calculations with activations</vt:lpstr>
      <vt:lpstr>How does a NN learns features?</vt:lpstr>
      <vt:lpstr>Error functions</vt:lpstr>
      <vt:lpstr>Backpropagation</vt:lpstr>
      <vt:lpstr>Backpropagation</vt:lpstr>
      <vt:lpstr>Backpropagation</vt:lpstr>
      <vt:lpstr>Weights update rule</vt:lpstr>
      <vt:lpstr>Computer vision pipeline</vt:lpstr>
      <vt:lpstr>Computer vision pipeline</vt:lpstr>
      <vt:lpstr>Feature </vt:lpstr>
      <vt:lpstr>Feature in CV</vt:lpstr>
      <vt:lpstr>Feature generalizability</vt:lpstr>
      <vt:lpstr>TRADITIONAL MACHINE LEARNING</vt:lpstr>
      <vt:lpstr>PowerPoint Presentation</vt:lpstr>
      <vt:lpstr>Face detection using NN</vt:lpstr>
      <vt:lpstr>Neural network hyperparameters</vt:lpstr>
      <vt:lpstr>Readings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Zahidul Islam</dc:creator>
  <cp:lastModifiedBy>Md Zahidul Islam</cp:lastModifiedBy>
  <cp:revision>1148</cp:revision>
  <dcterms:created xsi:type="dcterms:W3CDTF">2026-08-04T00:11:14Z</dcterms:created>
  <dcterms:modified xsi:type="dcterms:W3CDTF">2026-09-23T02:27:44Z</dcterms:modified>
</cp:coreProperties>
</file>