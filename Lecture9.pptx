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6" r:id="rId1"/>
  </p:sldMasterIdLst>
  <p:notesMasterIdLst>
    <p:notesMasterId r:id="rId40"/>
  </p:notesMasterIdLst>
  <p:sldIdLst>
    <p:sldId id="256" r:id="rId2"/>
    <p:sldId id="309" r:id="rId3"/>
    <p:sldId id="310" r:id="rId4"/>
    <p:sldId id="311" r:id="rId5"/>
    <p:sldId id="289" r:id="rId6"/>
    <p:sldId id="291" r:id="rId7"/>
    <p:sldId id="293" r:id="rId8"/>
    <p:sldId id="294" r:id="rId9"/>
    <p:sldId id="295" r:id="rId10"/>
    <p:sldId id="296" r:id="rId11"/>
    <p:sldId id="292" r:id="rId12"/>
    <p:sldId id="312" r:id="rId13"/>
    <p:sldId id="286" r:id="rId14"/>
    <p:sldId id="297" r:id="rId15"/>
    <p:sldId id="290" r:id="rId16"/>
    <p:sldId id="298" r:id="rId17"/>
    <p:sldId id="299" r:id="rId18"/>
    <p:sldId id="308" r:id="rId19"/>
    <p:sldId id="305" r:id="rId20"/>
    <p:sldId id="300" r:id="rId21"/>
    <p:sldId id="301" r:id="rId22"/>
    <p:sldId id="302" r:id="rId23"/>
    <p:sldId id="303" r:id="rId24"/>
    <p:sldId id="304" r:id="rId25"/>
    <p:sldId id="307" r:id="rId26"/>
    <p:sldId id="306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3" r:id="rId37"/>
    <p:sldId id="322" r:id="rId38"/>
    <p:sldId id="26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80680"/>
  </p:normalViewPr>
  <p:slideViewPr>
    <p:cSldViewPr snapToGrid="0">
      <p:cViewPr varScale="1">
        <p:scale>
          <a:sx n="97" d="100"/>
          <a:sy n="97" d="100"/>
        </p:scale>
        <p:origin x="992" y="20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69E75-2F2A-4340-80BD-3C270EF90E93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5E430-97AE-C04C-BB4B-47DC21A04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8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04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12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68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9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Contour</a:t>
            </a:r>
            <a:r>
              <a:rPr lang="en-AU" dirty="0"/>
              <a:t>: A path or line separating two distinct regions in an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07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64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5E430-97AE-C04C-BB4B-47DC21A043A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2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0ABA-4290-90CD-CC55-F20491E4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24B89-364B-EE61-91C7-B9F06B42C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63DC-9861-DCAD-6ABF-69C738D5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4E29-F2F6-0C59-6484-F3A7E29D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EEB-1E1D-36B5-14CA-0489A122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2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F66E-2238-2945-30ED-0D5D903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6DA5-3118-31B7-4826-91DCF974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64AF0-DB24-1918-D680-D607CC93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8A90F-2980-A2E6-466C-5402C1FC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8EC3-A8B5-7BBB-739B-70BA6D09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85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189-E67A-DEEB-8B84-7C335EFE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D7FA-A772-AA86-E957-C377B217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6E92-A603-E836-46A2-21459F70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73A2D-7527-2749-6AC2-791551C5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46D8-F5E0-55C9-DFA9-AE038A78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EC26-3DD7-E942-7FD3-AD464221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E2B3-6415-0C9F-2B63-AAD8FE7C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4849E-962A-A5CF-1EFF-A5D9F6D2D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4F206-C4C3-7740-140B-91013CDD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0921-80EB-4B2D-95C6-1C999B36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45F9-5E9B-8C6E-6D1D-0A82EC8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5D9A-3AD0-657C-C3CB-A50C2397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96E7-6FDA-8F23-1869-AFDF16E7D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1602A-B874-4D33-8037-C166D9D32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8C1A-755F-F467-FB5F-2740E9A8A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68491-33EA-3F5E-3142-9D822916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0A4D-B479-3C8E-68BA-F49180D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6669-6B95-0CBE-1D95-890C54EE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083EE-4D9B-D81A-FD71-5D6A16DD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7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6E9B-AD06-B997-1AE7-3073AFFC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26203-6C54-59B6-ADFE-EA8A4741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E622D-800D-BD21-04BE-E0E9D2C3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FC2C-3FA0-9A58-0F7D-02622CA3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3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2467D-6BE5-9E50-E767-5B64065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DD547-4603-D852-B1B3-A5C380C6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6508D-341E-E5BD-C22D-E2BF3A6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1ED0-75A3-6E0F-3006-4E70B9C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13C3-01A6-E614-D555-D3BC4C59D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C72D1-C96F-3382-A48C-F0612B299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0C82-959E-DF3F-38A5-159F3E4E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69977-4322-D261-2170-1A0B6CD7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5F3-686B-5E91-86E8-81B85A12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3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0422-F15A-4C2C-3C8A-BB5AFE6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D814-F5EA-2E89-F8F7-F91682556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45475-4926-2118-0A8D-7E5E64E20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E74AE-202B-63F1-CC92-B6A0B149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5DEF-4986-D816-B5EC-52508C747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C0EB8-9FF8-3665-DFC3-2A23C436C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349C-55F4-8DD2-B5B3-F25C326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61ACD-3ECA-19BE-9063-F5AAB3BE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46CB2-8338-345D-B066-B1D7BFD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A996-1CE2-090B-003F-5B7EB52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362C-DC52-130E-3EDD-CFC6E248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7662E-7958-3ADE-A998-F33C75EF6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6EE86-C6DB-34C8-839F-4C05EA0D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B12CF-5E36-6937-CC03-FD4DAFCC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91FE-5CDC-76E7-1D6A-CFFC7D50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1ADC-D743-398A-851E-E742E36C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8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2BC51-9F87-6890-45C0-643E6F5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06F5-F306-E89C-5151-AA5BF69A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B21F-4F09-4E1F-433A-CF40F62B9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09DE-CA0F-77A5-6135-84F8389D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56ADA-A62D-616A-836C-0D9BA5F7E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vl-umass.github.io/intro-cv-spring-2025/assets/notes/imageprocessing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code/zahidbd/lecture9-nb1-kern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9241-48AD-583C-9840-CDD40301C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2094C-5F63-31E5-6117-5B6379826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7</a:t>
            </a:r>
          </a:p>
          <a:p>
            <a:r>
              <a:rPr lang="en-US" dirty="0"/>
              <a:t>Lecture 9 (08/09/2026)</a:t>
            </a:r>
          </a:p>
          <a:p>
            <a:r>
              <a:rPr lang="en-US" dirty="0"/>
              <a:t>0714 02 CSE 4239</a:t>
            </a:r>
          </a:p>
        </p:txBody>
      </p:sp>
    </p:spTree>
    <p:extLst>
      <p:ext uri="{BB962C8B-B14F-4D97-AF65-F5344CB8AC3E}">
        <p14:creationId xmlns:p14="http://schemas.microsoft.com/office/powerpoint/2010/main" val="306047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0514-EEA2-742D-4F14-16F5AFB0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79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Padding: Understanding the problem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A95A0-7B09-48C2-1CED-074628B9B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596" y="1169504"/>
            <a:ext cx="8476807" cy="23953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E81C34-995B-1372-9F04-951470427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596" y="3900091"/>
            <a:ext cx="8476805" cy="23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9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CFBC-6B57-3477-79E3-A71684EA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FB7D-FE3E-1FA7-7382-1AF828AE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79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Padding: Understanding the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77246-4E4B-1A6A-6992-26850AA8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723"/>
            <a:ext cx="10515600" cy="1099929"/>
          </a:xfrm>
        </p:spPr>
        <p:txBody>
          <a:bodyPr/>
          <a:lstStyle/>
          <a:p>
            <a:r>
              <a:rPr lang="en-AU" b="1" dirty="0"/>
              <a:t>Problem 1:</a:t>
            </a:r>
            <a:r>
              <a:rPr lang="en-AU" dirty="0"/>
              <a:t> size of output image is different than the input image. </a:t>
            </a:r>
          </a:p>
          <a:p>
            <a:r>
              <a:rPr lang="en-AU" b="1" dirty="0"/>
              <a:t>Problem 2: </a:t>
            </a:r>
            <a:r>
              <a:rPr lang="en-AU" dirty="0"/>
              <a:t>filter is not applied on the boundary pixels.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07D8C-B369-5532-7651-3A171DE71D3D}"/>
              </a:ext>
            </a:extLst>
          </p:cNvPr>
          <p:cNvSpPr txBox="1"/>
          <p:nvPr/>
        </p:nvSpPr>
        <p:spPr>
          <a:xfrm>
            <a:off x="523165" y="2654961"/>
            <a:ext cx="11668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How to find size of output image after application of convolution operations?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4673AA-078B-97BB-50AA-3ACCEC7E9DB4}"/>
                  </a:ext>
                </a:extLst>
              </p:cNvPr>
              <p:cNvSpPr txBox="1"/>
              <p:nvPr/>
            </p:nvSpPr>
            <p:spPr>
              <a:xfrm>
                <a:off x="334289" y="3429000"/>
                <a:ext cx="5297884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/>
                  <a:t>Suppose:</a:t>
                </a:r>
              </a:p>
              <a:p>
                <a:r>
                  <a:rPr lang="en-AU" sz="2200" dirty="0"/>
                  <a:t>Input image size is: 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AU" sz="2200" dirty="0"/>
              </a:p>
              <a:p>
                <a:r>
                  <a:rPr lang="en-AU" sz="2200" dirty="0"/>
                  <a:t>Filter/kernel size is: </a:t>
                </a:r>
                <a14:m>
                  <m:oMath xmlns:m="http://schemas.openxmlformats.org/officeDocument/2006/math"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200" i="1" dirty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AU" sz="2200" b="1" dirty="0"/>
              </a:p>
              <a:p>
                <a:r>
                  <a:rPr lang="en-AU" sz="2200" dirty="0"/>
                  <a:t>Output image size: </a:t>
                </a:r>
                <a14:m>
                  <m:oMath xmlns:m="http://schemas.openxmlformats.org/officeDocument/2006/math">
                    <m:r>
                      <a:rPr lang="en-AU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+1 × </m:t>
                    </m:r>
                    <m:r>
                      <a:rPr lang="en-AU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AU" sz="2200" dirty="0"/>
              </a:p>
              <a:p>
                <a:r>
                  <a:rPr lang="en-AU" sz="2200" dirty="0"/>
                  <a:t>In our example: 6 - 3 + 1 × 6 - 3 + 1 = 4 × 4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4673AA-078B-97BB-50AA-3ACCEC7E9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9" y="3429000"/>
                <a:ext cx="5297884" cy="1785104"/>
              </a:xfrm>
              <a:prstGeom prst="rect">
                <a:avLst/>
              </a:prstGeom>
              <a:blipFill>
                <a:blip r:embed="rId3"/>
                <a:stretch>
                  <a:fillRect l="-1435" t="-2837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08F543-9BCB-060A-83F7-E5C7A63BCAEA}"/>
              </a:ext>
            </a:extLst>
          </p:cNvPr>
          <p:cNvSpPr txBox="1"/>
          <p:nvPr/>
        </p:nvSpPr>
        <p:spPr>
          <a:xfrm>
            <a:off x="5867367" y="4013775"/>
            <a:ext cx="592073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Shrinking output</a:t>
            </a:r>
            <a:r>
              <a:rPr lang="en-AU" sz="2000" dirty="0"/>
              <a:t>: means only few times this operation </a:t>
            </a:r>
          </a:p>
          <a:p>
            <a:r>
              <a:rPr lang="en-AU" sz="2000" dirty="0"/>
              <a:t>can be applied before image shrinks to the level that it losses information (problem when we build </a:t>
            </a:r>
            <a:r>
              <a:rPr lang="en-AU" sz="2000" b="1" dirty="0"/>
              <a:t>deep CNN</a:t>
            </a:r>
            <a:r>
              <a:rPr lang="en-AU" sz="2000" dirty="0"/>
              <a:t>).</a:t>
            </a:r>
          </a:p>
          <a:p>
            <a:endParaRPr lang="en-AU" sz="2000" dirty="0"/>
          </a:p>
          <a:p>
            <a:r>
              <a:rPr lang="en-AU" sz="2000" b="1" dirty="0"/>
              <a:t>Information loss</a:t>
            </a:r>
            <a:r>
              <a:rPr lang="en-AU" sz="2000" dirty="0"/>
              <a:t>: compared to other pixels in the output image (corner boundary pixel only used once).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1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0D23-203B-2969-AD96-AA077E44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Padding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06D3-9EB0-49D0-E249-BD052A7E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0827"/>
          </a:xfrm>
        </p:spPr>
        <p:txBody>
          <a:bodyPr/>
          <a:lstStyle/>
          <a:p>
            <a:r>
              <a:rPr lang="en-AU" dirty="0"/>
              <a:t>Solution for both the problem highlighted in previous slide is to “pad” the image before applying convolution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6A3B6-0E78-2B89-290B-EFEB63B97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33" y="2997405"/>
            <a:ext cx="8889912" cy="317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0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D1FC-C853-4440-4678-599BD0AF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en-US" b="1" dirty="0"/>
              <a:t>Dealing with image boundary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3F03C-66F6-F272-88D3-A850E5A1C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488"/>
            <a:ext cx="10515600" cy="5022573"/>
          </a:xfrm>
        </p:spPr>
        <p:txBody>
          <a:bodyPr>
            <a:normAutofit/>
          </a:bodyPr>
          <a:lstStyle/>
          <a:p>
            <a:r>
              <a:rPr lang="en-AU" dirty="0"/>
              <a:t>To compensate, padding or extension modes have been developed:</a:t>
            </a:r>
          </a:p>
          <a:p>
            <a:pPr lvl="1"/>
            <a:r>
              <a:rPr lang="en-AU" b="1" dirty="0"/>
              <a:t>zero</a:t>
            </a:r>
            <a:r>
              <a:rPr lang="en-AU" dirty="0"/>
              <a:t>: set all pixels outside the source image to 0</a:t>
            </a:r>
          </a:p>
          <a:p>
            <a:pPr lvl="1"/>
            <a:r>
              <a:rPr lang="en-AU" b="1" dirty="0"/>
              <a:t>constant</a:t>
            </a:r>
            <a:r>
              <a:rPr lang="en-AU" dirty="0"/>
              <a:t> (border </a:t>
            </a:r>
            <a:r>
              <a:rPr lang="en-AU" dirty="0" err="1"/>
              <a:t>color</a:t>
            </a:r>
            <a:r>
              <a:rPr lang="en-AU" dirty="0"/>
              <a:t>): set all pixels outside the source image to a specified border value</a:t>
            </a:r>
          </a:p>
          <a:p>
            <a:pPr lvl="1"/>
            <a:r>
              <a:rPr lang="en-AU" b="1" dirty="0"/>
              <a:t>clamp</a:t>
            </a:r>
            <a:r>
              <a:rPr lang="en-AU" dirty="0"/>
              <a:t> (replicate or clamp to edge): repeat edge pixels indefinitely</a:t>
            </a:r>
          </a:p>
          <a:p>
            <a:pPr lvl="1"/>
            <a:r>
              <a:rPr lang="en-AU" dirty="0"/>
              <a:t>(cyclic) </a:t>
            </a:r>
            <a:r>
              <a:rPr lang="en-AU" b="1" dirty="0"/>
              <a:t>wrap </a:t>
            </a:r>
            <a:r>
              <a:rPr lang="en-AU" dirty="0"/>
              <a:t>(repeat or tile): loop “around” the image in a “toroidal” configuration</a:t>
            </a:r>
          </a:p>
          <a:p>
            <a:pPr lvl="1"/>
            <a:r>
              <a:rPr lang="en-AU" b="1" dirty="0"/>
              <a:t>mirror</a:t>
            </a:r>
            <a:r>
              <a:rPr lang="en-AU" dirty="0"/>
              <a:t>: reflect pixels across the image edge</a:t>
            </a:r>
          </a:p>
          <a:p>
            <a:pPr lvl="1"/>
            <a:r>
              <a:rPr lang="en-AU" b="1" dirty="0"/>
              <a:t>extend</a:t>
            </a:r>
            <a:r>
              <a:rPr lang="en-AU" dirty="0"/>
              <a:t>: extend the signal by subtracting the mirrored version of the signal from the edge pixel value.</a:t>
            </a:r>
          </a:p>
        </p:txBody>
      </p:sp>
    </p:spTree>
    <p:extLst>
      <p:ext uri="{BB962C8B-B14F-4D97-AF65-F5344CB8AC3E}">
        <p14:creationId xmlns:p14="http://schemas.microsoft.com/office/powerpoint/2010/main" val="892883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CF7C-0717-528A-B937-1DDEE72F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Cyclic / Wrap (Repeat or Tile)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66138-89E8-3603-7BDF-C0FFC961A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5" y="1510748"/>
                <a:ext cx="10827026" cy="4982127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Treats the image as periodic—like a continuous loop wrapped around a torus (donut shape). </a:t>
                </a:r>
              </a:p>
              <a:p>
                <a:r>
                  <a:rPr lang="en-AU" dirty="0"/>
                  <a:t>Moving past the right boundary wraps to the left side; moving past the bottom wraps to the top.</a:t>
                </a:r>
              </a:p>
              <a:p>
                <a:pPr lvl="0"/>
                <a:r>
                  <a:rPr lang="en-AU" b="1" dirty="0"/>
                  <a:t>Formula / Indexing: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 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func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 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func>
                        <m:r>
                          <a:rPr lang="en-US"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d>
                  </m:oMath>
                </a14:m>
                <a:endParaRPr lang="en-AU" dirty="0"/>
              </a:p>
              <a:p>
                <a:pPr lvl="0"/>
                <a:r>
                  <a:rPr lang="en-AU" b="1" dirty="0"/>
                  <a:t>Best used for:</a:t>
                </a:r>
                <a:r>
                  <a:rPr lang="en-AU" dirty="0"/>
                  <a:t> Seamless textures, </a:t>
                </a:r>
                <a:r>
                  <a:rPr lang="en-AU" dirty="0" err="1"/>
                  <a:t>tileable</a:t>
                </a:r>
                <a:r>
                  <a:rPr lang="en-AU" dirty="0"/>
                  <a:t> graphics, and operations involving Fast Fourier Transforms (FFT), where signals are naturally assumed to be periodic.</a:t>
                </a:r>
              </a:p>
              <a:p>
                <a:r>
                  <a:rPr lang="en-AU" b="1" dirty="0"/>
                  <a:t>1D Example:</a:t>
                </a:r>
                <a:endParaRPr lang="en-AU" dirty="0"/>
              </a:p>
              <a:p>
                <a:pPr lvl="1"/>
                <a:r>
                  <a:rPr lang="en-AU" dirty="0"/>
                  <a:t>Consider a 1D signal array: [10, 20, 30, 40]</a:t>
                </a:r>
              </a:p>
              <a:p>
                <a:pPr lvl="1"/>
                <a:r>
                  <a:rPr lang="en-AU" dirty="0"/>
                  <a:t>Pad by 2 elements on both sides: [30, 40 | 10, 20, 30, 40 | 10, 20]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C66138-89E8-3603-7BDF-C0FFC961A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5" y="1510748"/>
                <a:ext cx="10827026" cy="4982127"/>
              </a:xfrm>
              <a:blipFill>
                <a:blip r:embed="rId2"/>
                <a:stretch>
                  <a:fillRect l="-1055" t="-2290" r="-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72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EFBA-DBC3-1EEA-0C89-76EBAB11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Mirror (Reflection)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2A166-2694-17BD-F398-55344D2E0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Reflects pixels across the image boundary as if placing a mirror at the edge. </a:t>
            </a:r>
          </a:p>
          <a:p>
            <a:r>
              <a:rPr lang="en-AU" dirty="0"/>
              <a:t>This eliminates sharp intensity jumps at borders by maintaining local continuity.</a:t>
            </a:r>
          </a:p>
          <a:p>
            <a:r>
              <a:rPr lang="en-AU" dirty="0"/>
              <a:t>Example: Pad by 2 elements on both sides: </a:t>
            </a:r>
          </a:p>
          <a:p>
            <a:pPr lvl="1"/>
            <a:r>
              <a:rPr lang="en-AU" dirty="0"/>
              <a:t>[20, 10 | 10, 20, 30, 40 | 40, 30]</a:t>
            </a:r>
          </a:p>
          <a:p>
            <a:pPr lvl="0"/>
            <a:r>
              <a:rPr lang="en-AU" b="1" dirty="0"/>
              <a:t>Best used for:</a:t>
            </a:r>
            <a:r>
              <a:rPr lang="en-AU" dirty="0"/>
              <a:t> General image filtering, blurring, and edge detection where introducing artificial boundary artifacts must be avoided.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D10D-4523-B70B-3E22-1FF6EC94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r>
              <a:rPr lang="en-AU" b="1" dirty="0"/>
              <a:t>Extend (Linear Extrapolation)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61E-3A07-D57D-1DB5-90DD130EF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6024"/>
                <a:ext cx="10863470" cy="505225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sz="2400" dirty="0"/>
                  <a:t>Extends the signal boundary by subtracting the mirrored signal variation from the edge pixel value. This preserves both </a:t>
                </a:r>
                <a:r>
                  <a:rPr lang="en-AU" sz="2400" b="1" dirty="0"/>
                  <a:t>value continuity</a:t>
                </a:r>
                <a:r>
                  <a:rPr lang="en-AU" sz="2400" dirty="0"/>
                  <a:t> and </a:t>
                </a:r>
                <a:r>
                  <a:rPr lang="en-AU" sz="2400" b="1" dirty="0"/>
                  <a:t>first-derivative continuity</a:t>
                </a:r>
                <a:r>
                  <a:rPr lang="en-AU" sz="2400" dirty="0"/>
                  <a:t> (the slope) across the boundary, preventing gradient discontinuities.</a:t>
                </a:r>
              </a:p>
              <a:p>
                <a:pPr lvl="0"/>
                <a:r>
                  <a:rPr lang="en-AU" sz="2400" dirty="0"/>
                  <a:t>For edge pixel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sz="2400" dirty="0"/>
                  <a:t>, a step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beyond the boundary is given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AU" sz="2400" dirty="0"/>
                  <a:t>.</a:t>
                </a:r>
              </a:p>
              <a:p>
                <a:pPr lvl="0"/>
                <a:r>
                  <a:rPr lang="en-AU" sz="2400" b="1" dirty="0"/>
                  <a:t>Best used for:</a:t>
                </a:r>
                <a:r>
                  <a:rPr lang="en-AU" sz="2400" dirty="0"/>
                  <a:t> Wavelet transforms, gradient/derivative calculations, and signal processing models where preserving edge slopes is critical.</a:t>
                </a:r>
              </a:p>
              <a:p>
                <a:r>
                  <a:rPr lang="en-AU" sz="2400" dirty="0"/>
                  <a:t>Example: Consider a signal: [10, 20, 30, 40] (step increment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AU" sz="2400" dirty="0"/>
                  <a:t>)</a:t>
                </a:r>
              </a:p>
              <a:p>
                <a:pPr lvl="0"/>
                <a:r>
                  <a:rPr lang="en-AU" sz="2400" b="1" dirty="0"/>
                  <a:t>Left edge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AU" sz="2400" b="1" dirty="0"/>
                  <a:t>):</a:t>
                </a:r>
                <a:endParaRPr lang="en-AU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1800" i="0"/>
                      <m:t>st padded pixel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−20=0</m:t>
                    </m:r>
                  </m:oMath>
                </a14:m>
                <a:endParaRPr lang="en-AU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1800" i="0"/>
                      <m:t>nd padded pixel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−30=−10</m:t>
                    </m:r>
                  </m:oMath>
                </a14:m>
                <a:endParaRPr lang="en-AU" sz="1800" dirty="0"/>
              </a:p>
              <a:p>
                <a:pPr lvl="0"/>
                <a:r>
                  <a:rPr lang="en-AU" sz="2400" b="1" dirty="0"/>
                  <a:t>Right edge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lang="en-AU" sz="2400" b="1" dirty="0"/>
                  <a:t>):</a:t>
                </a:r>
                <a:endParaRPr lang="en-AU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1800" i="0"/>
                      <m:t>st padded pixel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−30=50</m:t>
                    </m:r>
                  </m:oMath>
                </a14:m>
                <a:endParaRPr lang="en-AU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1800" i="0"/>
                      <m:t>nd padded pixel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−20=60</m:t>
                    </m:r>
                  </m:oMath>
                </a14:m>
                <a:endParaRPr lang="en-AU" sz="1800" dirty="0"/>
              </a:p>
              <a:p>
                <a:pPr lvl="0"/>
                <a:r>
                  <a:rPr lang="en-AU" sz="2400" dirty="0"/>
                  <a:t>Padded signal: [-10, 0 | 10, 20, 30, 40 | 50, 60]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61E-3A07-D57D-1DB5-90DD130EF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6024"/>
                <a:ext cx="10863470" cy="5052253"/>
              </a:xfrm>
              <a:blipFill>
                <a:blip r:embed="rId3"/>
                <a:stretch>
                  <a:fillRect l="-701" t="-2005" r="-935" b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44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2DCE-9579-C033-F47E-04982164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Linear Extrapolation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30DF9-E0BA-24A6-3C12-70E5CECF1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39451"/>
                <a:ext cx="10982739" cy="485342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AU" b="1" dirty="0"/>
                  <a:t>Step-by-Step Calculation for Left Edge</a:t>
                </a:r>
              </a:p>
              <a:p>
                <a:pPr lvl="1"/>
                <a:r>
                  <a:rPr lang="en-AU" dirty="0"/>
                  <a:t>To step outward to the left, look forward into the array relative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AU" dirty="0"/>
                  <a:t>:</a:t>
                </a:r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b="1" dirty="0"/>
                  <a:t>into signal:</a:t>
                </a:r>
                <a:r>
                  <a:rPr lang="en-AU" dirty="0"/>
                  <a:t> Moves 1 step forward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0+1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AU" dirty="0"/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b="1" dirty="0"/>
                  <a:t>into signal:</a:t>
                </a:r>
                <a:r>
                  <a:rPr lang="en-AU" dirty="0"/>
                  <a:t> Moves 2 steps forward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0+2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AU" dirty="0"/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b="1" dirty="0"/>
                  <a:t>into signal:</a:t>
                </a:r>
                <a:r>
                  <a:rPr lang="en-AU" dirty="0"/>
                  <a:t> Moves 3 steps forward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0+3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AU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400" i="0"/>
                      <m:t>st padded pixel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−20=0</m:t>
                    </m:r>
                  </m:oMath>
                </a14:m>
                <a:endParaRPr lang="en-AU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i="0"/>
                      <m:t>nd padded pixel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2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−30=−10</m:t>
                    </m:r>
                  </m:oMath>
                </a14:m>
                <a:endParaRPr lang="en-AU" sz="2400" dirty="0"/>
              </a:p>
              <a:p>
                <a:r>
                  <a:rPr lang="en-AU" b="1" dirty="0"/>
                  <a:t>Step-by-Step Calculation for Right Edge</a:t>
                </a:r>
              </a:p>
              <a:p>
                <a:pPr lvl="1"/>
                <a:r>
                  <a:rPr lang="en-AU" dirty="0"/>
                  <a:t>Step backward into the array from the boundary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AU" dirty="0"/>
                  <a:t>):</a:t>
                </a:r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b="1" dirty="0"/>
                  <a:t>:</a:t>
                </a:r>
                <a:r>
                  <a:rPr lang="en-AU" dirty="0"/>
                  <a:t> Moves 1 step back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3−1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AU" dirty="0"/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b="1" dirty="0"/>
                  <a:t>:</a:t>
                </a:r>
                <a:r>
                  <a:rPr lang="en-AU" dirty="0"/>
                  <a:t> Moves 2 steps back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3−2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AU" dirty="0"/>
              </a:p>
              <a:p>
                <a:pPr lvl="1"/>
                <a:r>
                  <a:rPr lang="en-AU" b="1" dirty="0"/>
                  <a:t>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b="1" dirty="0"/>
                  <a:t>:</a:t>
                </a:r>
                <a:r>
                  <a:rPr lang="en-AU" dirty="0"/>
                  <a:t> Moves 3 steps back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3−3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AU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400" i="0"/>
                      <m:t>st padded pixel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AU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0" smtClean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en-AU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400" i="0"/>
                      <m:t>nd padded pixel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AU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0" smtClean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0=</m:t>
                    </m:r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30DF9-E0BA-24A6-3C12-70E5CECF1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39451"/>
                <a:ext cx="10982739" cy="4853424"/>
              </a:xfrm>
              <a:blipFill>
                <a:blip r:embed="rId3"/>
                <a:stretch>
                  <a:fillRect l="-808" t="-3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950EAF-D5AD-EBA8-E26A-3B1F75DBE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795316"/>
              </p:ext>
            </p:extLst>
          </p:nvPr>
        </p:nvGraphicFramePr>
        <p:xfrm>
          <a:off x="9705965" y="393503"/>
          <a:ext cx="200443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070">
                  <a:extLst>
                    <a:ext uri="{9D8B030D-6E8A-4147-A177-3AD203B41FA5}">
                      <a16:colId xmlns:a16="http://schemas.microsoft.com/office/drawing/2014/main" val="808508855"/>
                    </a:ext>
                  </a:extLst>
                </a:gridCol>
                <a:gridCol w="477079">
                  <a:extLst>
                    <a:ext uri="{9D8B030D-6E8A-4147-A177-3AD203B41FA5}">
                      <a16:colId xmlns:a16="http://schemas.microsoft.com/office/drawing/2014/main" val="3831837412"/>
                    </a:ext>
                  </a:extLst>
                </a:gridCol>
                <a:gridCol w="543339">
                  <a:extLst>
                    <a:ext uri="{9D8B030D-6E8A-4147-A177-3AD203B41FA5}">
                      <a16:colId xmlns:a16="http://schemas.microsoft.com/office/drawing/2014/main" val="2564221304"/>
                    </a:ext>
                  </a:extLst>
                </a:gridCol>
                <a:gridCol w="559950">
                  <a:extLst>
                    <a:ext uri="{9D8B030D-6E8A-4147-A177-3AD203B41FA5}">
                      <a16:colId xmlns:a16="http://schemas.microsoft.com/office/drawing/2014/main" val="3204798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0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6983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7AA823-845D-D9D1-696B-15E11342787B}"/>
                  </a:ext>
                </a:extLst>
              </p:cNvPr>
              <p:cNvSpPr txBox="1"/>
              <p:nvPr/>
            </p:nvSpPr>
            <p:spPr>
              <a:xfrm>
                <a:off x="8902147" y="1270120"/>
                <a:ext cx="30865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/>
                        <m:t>Padded Pixel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=2⋅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7AA823-845D-D9D1-696B-15E113427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147" y="1270120"/>
                <a:ext cx="3086551" cy="369332"/>
              </a:xfrm>
              <a:prstGeom prst="rect">
                <a:avLst/>
              </a:prstGeom>
              <a:blipFill>
                <a:blip r:embed="rId4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92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30A6-3672-AD2D-B802-7421038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312"/>
            <a:ext cx="3163957" cy="859277"/>
          </a:xfrm>
        </p:spPr>
        <p:txBody>
          <a:bodyPr/>
          <a:lstStyle/>
          <a:p>
            <a:r>
              <a:rPr lang="en-US" b="1" dirty="0"/>
              <a:t>2D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57441-875E-990F-26C8-162597638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95860" y="213761"/>
            <a:ext cx="3698737" cy="10106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B10BA8-F381-1E77-0E22-9760833532DC}"/>
                  </a:ext>
                </a:extLst>
              </p:cNvPr>
              <p:cNvSpPr txBox="1"/>
              <p:nvPr/>
            </p:nvSpPr>
            <p:spPr>
              <a:xfrm>
                <a:off x="838200" y="1254953"/>
                <a:ext cx="745766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Step 1: Pad Rows (Horizontal Extension)</a:t>
                </a:r>
              </a:p>
              <a:p>
                <a:r>
                  <a:rPr lang="en-AU" b="1" dirty="0"/>
                  <a:t>Row 1: [10, 20, 30]</a:t>
                </a:r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b="1" dirty="0"/>
                  <a:t>Left edge (10):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−20=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|</m:t>
                    </m:r>
                  </m:oMath>
                </a14:m>
                <a:r>
                  <a:rPr lang="en-AU" b="1" dirty="0"/>
                  <a:t> Right edge (30):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−20=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𝟒𝟎</m:t>
                    </m:r>
                  </m:oMath>
                </a14:m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i="1" dirty="0"/>
                  <a:t>Row becomes:</a:t>
                </a:r>
                <a:r>
                  <a:rPr lang="en-AU" dirty="0"/>
                  <a:t> [0 | 10, 20, 30 | 40]</a:t>
                </a:r>
              </a:p>
              <a:p>
                <a:r>
                  <a:rPr lang="en-AU" b="1" dirty="0"/>
                  <a:t>Row 3: [30, 40, 50]</a:t>
                </a:r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b="1" dirty="0"/>
                  <a:t>Left edge (30):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−40=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AU" dirty="0"/>
                  <a:t> | </a:t>
                </a:r>
                <a:r>
                  <a:rPr lang="en-AU" b="1" dirty="0"/>
                  <a:t>Right edge (50):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−40=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𝟔𝟎</m:t>
                    </m:r>
                  </m:oMath>
                </a14:m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i="1" dirty="0"/>
                  <a:t>Row becomes:</a:t>
                </a:r>
                <a:r>
                  <a:rPr lang="en-AU" dirty="0"/>
                  <a:t> [20 | 30, 40, 50 | 60]</a:t>
                </a:r>
              </a:p>
              <a:p>
                <a:r>
                  <a:rPr lang="en-AU" b="1" dirty="0"/>
                  <a:t>Step 2: Pad Columns (Vertical Extension)</a:t>
                </a:r>
              </a:p>
              <a:p>
                <a:r>
                  <a:rPr lang="en-AU" dirty="0"/>
                  <a:t>We take the result from Step 1 and now apply the anti-symmetric formula to every column independently, including the new columns. </a:t>
                </a:r>
              </a:p>
              <a:p>
                <a:r>
                  <a:rPr lang="en-AU" b="1" dirty="0"/>
                  <a:t>Middle Column 3: [20, 25, 40]</a:t>
                </a:r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b="1" dirty="0"/>
                  <a:t>Top edge (20):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−25=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AU" dirty="0"/>
                  <a:t> | </a:t>
                </a:r>
                <a:r>
                  <a:rPr lang="en-AU" b="1" dirty="0"/>
                  <a:t>Bottom edge (40):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−25=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𝟓𝟓</m:t>
                    </m:r>
                  </m:oMath>
                </a14:m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i="1" dirty="0"/>
                  <a:t>Col becomes:</a:t>
                </a:r>
                <a:r>
                  <a:rPr lang="en-AU" dirty="0"/>
                  <a:t> [15 | 20, 25, 40 | 55]</a:t>
                </a:r>
              </a:p>
              <a:p>
                <a:r>
                  <a:rPr lang="en-AU" b="1" dirty="0"/>
                  <a:t>Right Padded Column 5: [40, 45, 60]</a:t>
                </a:r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b="1" dirty="0"/>
                  <a:t>Top edge (40):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−45=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𝟑𝟓</m:t>
                    </m:r>
                  </m:oMath>
                </a14:m>
                <a:r>
                  <a:rPr lang="en-AU" b="1" dirty="0"/>
                  <a:t> | Bottom edge (60):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−45=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𝟕𝟓</m:t>
                    </m:r>
                  </m:oMath>
                </a14:m>
                <a:endParaRPr lang="en-AU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AU" i="1" dirty="0"/>
                  <a:t>Col becomes:</a:t>
                </a:r>
                <a:r>
                  <a:rPr lang="en-AU" dirty="0"/>
                  <a:t> [35 | 40, 45, 60 | 75]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B10BA8-F381-1E77-0E22-97608335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54953"/>
                <a:ext cx="7457660" cy="4524315"/>
              </a:xfrm>
              <a:prstGeom prst="rect">
                <a:avLst/>
              </a:prstGeom>
              <a:blipFill>
                <a:blip r:embed="rId4"/>
                <a:stretch>
                  <a:fillRect l="-850" t="-559" b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BF0A4E-23EE-506E-081D-D3C4DE23FAD7}"/>
                  </a:ext>
                </a:extLst>
              </p:cNvPr>
              <p:cNvSpPr txBox="1"/>
              <p:nvPr/>
            </p:nvSpPr>
            <p:spPr>
              <a:xfrm>
                <a:off x="5088835" y="402500"/>
                <a:ext cx="2832699" cy="701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boundary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internal</m:t>
                        </m:r>
                      </m:sub>
                    </m:sSub>
                  </m:oMath>
                </a14:m>
                <a:r>
                  <a:rPr lang="en-AU" dirty="0"/>
                  <a:t>) </a:t>
                </a:r>
              </a:p>
              <a:p>
                <a:r>
                  <a:rPr lang="en-AU" dirty="0"/>
                  <a:t>to every row independently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BF0A4E-23EE-506E-081D-D3C4DE23F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835" y="402500"/>
                <a:ext cx="2832699" cy="701089"/>
              </a:xfrm>
              <a:prstGeom prst="rect">
                <a:avLst/>
              </a:prstGeom>
              <a:blipFill>
                <a:blip r:embed="rId5"/>
                <a:stretch>
                  <a:fillRect l="-1786" t="-3571" r="-89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3C9FC1-EE83-1658-C34F-1202C62FCA68}"/>
                  </a:ext>
                </a:extLst>
              </p:cNvPr>
              <p:cNvSpPr txBox="1"/>
              <p:nvPr/>
            </p:nvSpPr>
            <p:spPr>
              <a:xfrm>
                <a:off x="8998226" y="1578447"/>
                <a:ext cx="2665986" cy="1101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1" dirty="0"/>
                  <a:t>Step 1 (Rows Extended):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3C9FC1-EE83-1658-C34F-1202C62FC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8226" y="1578447"/>
                <a:ext cx="2665986" cy="1101968"/>
              </a:xfrm>
              <a:prstGeom prst="rect">
                <a:avLst/>
              </a:prstGeom>
              <a:blipFill>
                <a:blip r:embed="rId6"/>
                <a:stretch>
                  <a:fillRect l="-1896" t="-3409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9FF3BF-1047-1228-2D46-252E1D6CCE37}"/>
                  </a:ext>
                </a:extLst>
              </p:cNvPr>
              <p:cNvSpPr txBox="1"/>
              <p:nvPr/>
            </p:nvSpPr>
            <p:spPr>
              <a:xfrm>
                <a:off x="8806201" y="2901074"/>
                <a:ext cx="3385799" cy="2756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1" dirty="0"/>
                  <a:t>Final Padded 2D Array (5x5)</a:t>
                </a:r>
              </a:p>
              <a:p>
                <a:r>
                  <a:rPr lang="en-AU" dirty="0"/>
                  <a:t>After extending both rows and </a:t>
                </a:r>
              </a:p>
              <a:p>
                <a:r>
                  <a:rPr lang="en-AU" dirty="0"/>
                  <a:t>columns, we get the final result. </a:t>
                </a:r>
              </a:p>
              <a:p>
                <a:r>
                  <a:rPr lang="en-AU" dirty="0"/>
                  <a:t>The original 3x3 data is preserved </a:t>
                </a:r>
              </a:p>
              <a:p>
                <a:r>
                  <a:rPr lang="en-AU" dirty="0"/>
                  <a:t>in the </a:t>
                </a:r>
                <a:r>
                  <a:rPr lang="en-AU" dirty="0" err="1"/>
                  <a:t>center</a:t>
                </a:r>
                <a:r>
                  <a:rPr lang="en-AU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9FF3BF-1047-1228-2D46-252E1D6CC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201" y="2901074"/>
                <a:ext cx="3385799" cy="2756845"/>
              </a:xfrm>
              <a:prstGeom prst="rect">
                <a:avLst/>
              </a:prstGeom>
              <a:blipFill>
                <a:blip r:embed="rId7"/>
                <a:stretch>
                  <a:fillRect l="-1493" t="-917" r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2FF395-390F-B07C-7502-E248A55E6AC6}"/>
              </a:ext>
            </a:extLst>
          </p:cNvPr>
          <p:cNvCxnSpPr/>
          <p:nvPr/>
        </p:nvCxnSpPr>
        <p:spPr>
          <a:xfrm>
            <a:off x="8507897" y="1351722"/>
            <a:ext cx="0" cy="518160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11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9CC4EC-583C-2AE4-3472-A85F42567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492" y="520148"/>
            <a:ext cx="9892549" cy="58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8E13-FE7C-A13E-4821-500C8740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dimension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D8E37-443A-C425-A78E-B137E89089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713784"/>
              </a:xfrm>
            </p:spPr>
            <p:txBody>
              <a:bodyPr/>
              <a:lstStyle/>
              <a:p>
                <a:r>
                  <a:rPr lang="en-US" dirty="0"/>
                  <a:t>Given an image size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kernel size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the output dimension depends on two parameters:</a:t>
                </a:r>
              </a:p>
              <a:p>
                <a:pPr lvl="1"/>
                <a:r>
                  <a:rPr lang="en-AU" b="0" dirty="0"/>
                  <a:t>Padding size: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AU" b="0" dirty="0"/>
              </a:p>
              <a:p>
                <a:pPr lvl="1"/>
                <a:r>
                  <a:rPr lang="en-US" dirty="0"/>
                  <a:t>Stride: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 It is the distance between spatial locations where the convolution kernel is applied. By default,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in both dimension.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⌊"/>
                          <m:endChr m:val="⌋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⌊"/>
                          <m:endChr m:val="⌋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D8E37-443A-C425-A78E-B137E8908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713784"/>
              </a:xfrm>
              <a:blipFill>
                <a:blip r:embed="rId2"/>
                <a:stretch>
                  <a:fillRect l="-1086" t="-2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50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D81D-E504-220B-233D-CD901FA1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272360"/>
            <a:ext cx="10889974" cy="1325563"/>
          </a:xfrm>
        </p:spPr>
        <p:txBody>
          <a:bodyPr/>
          <a:lstStyle/>
          <a:p>
            <a:r>
              <a:rPr lang="en-US" b="1" dirty="0"/>
              <a:t>Why do we care about the </a:t>
            </a:r>
            <a:r>
              <a:rPr lang="en-AU" b="1" dirty="0"/>
              <a:t>Associative property</a:t>
            </a:r>
            <a:r>
              <a:rPr lang="en-US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7346F-DB81-F19F-D088-AD0C59931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A convolution operation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(multiply-add) operations per pixel, where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dirty="0"/>
                  <a:t> is the size (width or height) of the kernel. </a:t>
                </a:r>
              </a:p>
              <a:p>
                <a:r>
                  <a:rPr lang="en-AU" dirty="0"/>
                  <a:t>This operation can be significantly sped up (in most cases). </a:t>
                </a:r>
              </a:p>
              <a:p>
                <a:pPr lvl="1"/>
                <a:r>
                  <a:rPr lang="en-AU" dirty="0"/>
                  <a:t>First, performing a one-dimensional horizontal convolution </a:t>
                </a:r>
              </a:p>
              <a:p>
                <a:pPr lvl="1"/>
                <a:r>
                  <a:rPr lang="en-AU" dirty="0"/>
                  <a:t>Then, a one-dimensional vertical convolution</a:t>
                </a:r>
              </a:p>
              <a:p>
                <a:r>
                  <a:rPr lang="en-AU" dirty="0"/>
                  <a:t>Requires a total of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dirty="0"/>
                  <a:t> operations per pixel.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D7346F-DB81-F19F-D088-AD0C59931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7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D512-1F8C-ABC8-E8F5-9D1C6460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Separable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665E95-81A9-B005-6BAB-70DBCF4DE2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AU" dirty="0"/>
                  <a:t>A convolution kernel for which horizontal and vertical separation is possible is said to be separable.</a:t>
                </a:r>
              </a:p>
              <a:p>
                <a:r>
                  <a:rPr lang="en-AU" dirty="0"/>
                  <a:t>The two-dimensional kernel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dirty="0"/>
                  <a:t> corresponding to successive convolution with a horizontal kernel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AU" dirty="0"/>
                  <a:t> and a vertical kernel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AU" dirty="0"/>
                  <a:t> is the outer product of the two kernels,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i="1" dirty="0" err="1" smtClean="0">
                        <a:latin typeface="Cambria Math" panose="02040503050406030204" pitchFamily="18" charset="0"/>
                      </a:rPr>
                      <m:t>𝑣</m:t>
                    </m:r>
                    <m:sSup>
                      <m:sSupPr>
                        <m:ctrlPr>
                          <a:rPr lang="en-AU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 err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dirty="0"/>
              </a:p>
              <a:p>
                <a:r>
                  <a:rPr lang="en-AU" dirty="0"/>
                  <a:t>How can we tell if a given kernel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dirty="0"/>
                  <a:t> is indeed separable? </a:t>
                </a:r>
              </a:p>
              <a:p>
                <a:pPr lvl="1"/>
                <a:r>
                  <a:rPr lang="en-AU" b="0" dirty="0"/>
                  <a:t>SVD: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nary>
                  </m:oMath>
                </a14:m>
                <a:endParaRPr lang="en-AU" dirty="0"/>
              </a:p>
              <a:p>
                <a:r>
                  <a:rPr lang="en-AU" dirty="0"/>
                  <a:t>If only the first singular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dirty="0"/>
                  <a:t>is non-zero, the kernel is separable.</a:t>
                </a:r>
              </a:p>
              <a:p>
                <a:pPr lvl="1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 dirty="0"/>
                  <a:t>: is the vertical kernel </a:t>
                </a:r>
              </a:p>
              <a:p>
                <a:pPr lvl="1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AU" dirty="0"/>
                  <a:t> provides horizontal kernels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665E95-81A9-B005-6BAB-70DBCF4DE2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F696B70-0CAA-B1E5-FEFD-CCB265CB2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66" y="681037"/>
            <a:ext cx="22352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16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1F69-4B22-39DF-89E8-0228FB8B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Kernel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8F649-9D48-F700-43F3-DD31462C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 kernel, convolution matrix, or mask is a small (weight) matrix.</a:t>
            </a:r>
          </a:p>
          <a:p>
            <a:r>
              <a:rPr lang="en-AU" dirty="0"/>
              <a:t>It is used for :</a:t>
            </a:r>
          </a:p>
          <a:p>
            <a:pPr lvl="1"/>
            <a:r>
              <a:rPr lang="en-AU" dirty="0"/>
              <a:t>blurring,</a:t>
            </a:r>
          </a:p>
          <a:p>
            <a:pPr lvl="1"/>
            <a:r>
              <a:rPr lang="en-AU" dirty="0"/>
              <a:t>sharpening,</a:t>
            </a:r>
          </a:p>
          <a:p>
            <a:pPr lvl="1"/>
            <a:r>
              <a:rPr lang="en-AU" dirty="0"/>
              <a:t>embossing,</a:t>
            </a:r>
          </a:p>
          <a:p>
            <a:pPr lvl="1"/>
            <a:r>
              <a:rPr lang="en-AU" dirty="0"/>
              <a:t>edge detection,</a:t>
            </a:r>
          </a:p>
          <a:p>
            <a:r>
              <a:rPr lang="en-AU" dirty="0"/>
              <a:t>Above mentioned tasks are accomplished by doing a convolution between a kernel and an image.</a:t>
            </a:r>
          </a:p>
        </p:txBody>
      </p:sp>
    </p:spTree>
    <p:extLst>
      <p:ext uri="{BB962C8B-B14F-4D97-AF65-F5344CB8AC3E}">
        <p14:creationId xmlns:p14="http://schemas.microsoft.com/office/powerpoint/2010/main" val="2269470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F349E1-E9AF-9228-8C9A-1E2FA3B619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0782" y="566668"/>
                <a:ext cx="3813313" cy="2719871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AU" b="1" dirty="0"/>
                  <a:t>Identity kernel</a:t>
                </a:r>
                <a:r>
                  <a:rPr lang="en-AU" dirty="0"/>
                  <a:t> </a:t>
                </a:r>
              </a:p>
              <a:p>
                <a:pPr marL="0" indent="0" algn="ctr">
                  <a:buNone/>
                </a:pPr>
                <a:r>
                  <a:rPr lang="en-AU" dirty="0"/>
                  <a:t>Leaves the image unchanged.</a:t>
                </a:r>
              </a:p>
              <a:p>
                <a:pPr marL="1371600" lvl="3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F349E1-E9AF-9228-8C9A-1E2FA3B619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0782" y="566668"/>
                <a:ext cx="3813313" cy="2719871"/>
              </a:xfrm>
              <a:blipFill>
                <a:blip r:embed="rId3"/>
                <a:stretch>
                  <a:fillRect t="-3721" b="-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50C1E66-ACA4-72F2-0DA4-6F20292891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2531" y="493777"/>
                <a:ext cx="4793974" cy="27198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AU" b="1" dirty="0"/>
                  <a:t>Box blur (averaging filter)</a:t>
                </a:r>
              </a:p>
              <a:p>
                <a:pPr marL="0" indent="0" algn="ctr">
                  <a:buNone/>
                </a:pPr>
                <a:r>
                  <a:rPr lang="en-AU" dirty="0"/>
                  <a:t>Smooths the image by averaging </a:t>
                </a:r>
                <a:r>
                  <a:rPr lang="en-AU" dirty="0" err="1"/>
                  <a:t>neighboring</a:t>
                </a:r>
                <a:r>
                  <a:rPr lang="en-AU" dirty="0"/>
                  <a:t> pixels.</a:t>
                </a:r>
              </a:p>
              <a:p>
                <a:pPr marL="0" indent="0" algn="ctr">
                  <a:buNone/>
                </a:pPr>
                <a:endParaRPr lang="en-AU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50C1E66-ACA4-72F2-0DA4-6F202928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31" y="493777"/>
                <a:ext cx="4793974" cy="2719871"/>
              </a:xfrm>
              <a:prstGeom prst="rect">
                <a:avLst/>
              </a:prstGeom>
              <a:blipFill>
                <a:blip r:embed="rId4"/>
                <a:stretch>
                  <a:fillRect t="-5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1898EB1-F2EE-2917-8E58-356660F67C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318" y="3644353"/>
                <a:ext cx="5362160" cy="27198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AU" b="1" dirty="0"/>
                  <a:t>Gaussian blur</a:t>
                </a:r>
                <a:r>
                  <a:rPr lang="en-AU" dirty="0"/>
                  <a:t> </a:t>
                </a:r>
              </a:p>
              <a:p>
                <a:pPr marL="0" indent="0" algn="ctr">
                  <a:buNone/>
                </a:pPr>
                <a:r>
                  <a:rPr lang="en-AU" dirty="0"/>
                  <a:t>A weighted smoothing filter that reduces high-frequency noise.</a:t>
                </a:r>
              </a:p>
              <a:p>
                <a:pPr marL="0" indent="0" algn="ctr">
                  <a:buNone/>
                </a:pPr>
                <a:endParaRPr lang="en-AU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1898EB1-F2EE-2917-8E58-356660F67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18" y="3644353"/>
                <a:ext cx="5362160" cy="2719871"/>
              </a:xfrm>
              <a:prstGeom prst="rect">
                <a:avLst/>
              </a:prstGeom>
              <a:blipFill>
                <a:blip r:embed="rId5"/>
                <a:stretch>
                  <a:fillRect t="-4186" b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3E98B6-7596-ADE2-104E-626384336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2725" y="3644353"/>
                <a:ext cx="5024231" cy="30347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AU" b="1" dirty="0"/>
                  <a:t>Sharpening filter </a:t>
                </a:r>
              </a:p>
              <a:p>
                <a:pPr marL="0" indent="0" algn="ctr">
                  <a:buNone/>
                </a:pPr>
                <a:r>
                  <a:rPr lang="en-AU" dirty="0"/>
                  <a:t>Enhances edges by emphasizing differences. </a:t>
                </a:r>
              </a:p>
              <a:p>
                <a:pPr marL="0" indent="0" algn="ctr">
                  <a:buNone/>
                </a:pPr>
                <a:endParaRPr lang="en-AU" sz="1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3E98B6-7596-ADE2-104E-626384336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725" y="3644353"/>
                <a:ext cx="5024231" cy="3034744"/>
              </a:xfrm>
              <a:prstGeom prst="rect">
                <a:avLst/>
              </a:prstGeom>
              <a:blipFill>
                <a:blip r:embed="rId6"/>
                <a:stretch>
                  <a:fillRect l="-252" t="-3750" r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19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91AF-0569-4B94-27F2-61C9DFD3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Gaussian Filter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05D98-F220-CEDC-E7BD-CA331F3EF2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7378147" cy="3727036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A Gaussian filter with standard deviation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AU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The parameter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controls the size of the </a:t>
                </a:r>
                <a:r>
                  <a:rPr lang="en-AU" dirty="0" err="1"/>
                  <a:t>neighborhood</a:t>
                </a:r>
                <a:r>
                  <a:rPr lang="en-AU" dirty="0"/>
                  <a:t> used in the averaging. </a:t>
                </a:r>
              </a:p>
              <a:p>
                <a:r>
                  <a:rPr lang="en-AU" dirty="0"/>
                  <a:t>For effective discrete approximation, the kernel size should be chosen in proportion to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b="1" dirty="0"/>
                  <a:t>Heuristic</a:t>
                </a:r>
                <a:r>
                  <a:rPr lang="en-AU" dirty="0"/>
                  <a:t>: set the kernel’s half-width to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05D98-F220-CEDC-E7BD-CA331F3EF2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7378147" cy="3727036"/>
              </a:xfrm>
              <a:blipFill>
                <a:blip r:embed="rId2"/>
                <a:stretch>
                  <a:fillRect l="-1546" t="-2712" r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6F4DC31-894B-B0BB-44A6-8AB7F107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61" y="1825625"/>
            <a:ext cx="3660639" cy="337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58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B878-D007-BC81-E4CD-97D1CCC8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86600" cy="1047396"/>
          </a:xfrm>
        </p:spPr>
        <p:txBody>
          <a:bodyPr/>
          <a:lstStyle/>
          <a:p>
            <a:r>
              <a:rPr lang="en-AU" b="1" dirty="0"/>
              <a:t>The Math Behind the Numbers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F9F73-4FED-BD24-5907-EA0495C4A8E9}"/>
                  </a:ext>
                </a:extLst>
              </p:cNvPr>
              <p:cNvSpPr txBox="1"/>
              <p:nvPr/>
            </p:nvSpPr>
            <p:spPr>
              <a:xfrm>
                <a:off x="9011415" y="1690688"/>
                <a:ext cx="2721259" cy="1066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F9F73-4FED-BD24-5907-EA0495C4A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415" y="1690688"/>
                <a:ext cx="2721259" cy="1066574"/>
              </a:xfrm>
              <a:prstGeom prst="rect">
                <a:avLst/>
              </a:prstGeom>
              <a:blipFill>
                <a:blip r:embed="rId2"/>
                <a:stretch>
                  <a:fillRect l="-4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CCAF6C-5931-9431-5F93-ABA2496D0681}"/>
                  </a:ext>
                </a:extLst>
              </p:cNvPr>
              <p:cNvSpPr txBox="1"/>
              <p:nvPr/>
            </p:nvSpPr>
            <p:spPr>
              <a:xfrm>
                <a:off x="9011415" y="3146999"/>
                <a:ext cx="3101747" cy="5640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Where is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AU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AU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C00000"/>
                    </a:solidFill>
                  </a:rPr>
                  <a:t>??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CCAF6C-5931-9431-5F93-ABA2496D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415" y="3146999"/>
                <a:ext cx="3101747" cy="564001"/>
              </a:xfrm>
              <a:prstGeom prst="rect">
                <a:avLst/>
              </a:prstGeom>
              <a:blipFill>
                <a:blip r:embed="rId3"/>
                <a:stretch>
                  <a:fillRect l="-4082" t="-8696" r="-3265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6E25BE-BF60-6936-5EA0-A9B87C43F642}"/>
                  </a:ext>
                </a:extLst>
              </p:cNvPr>
              <p:cNvSpPr txBox="1"/>
              <p:nvPr/>
            </p:nvSpPr>
            <p:spPr>
              <a:xfrm>
                <a:off x="8777378" y="669358"/>
                <a:ext cx="3189335" cy="753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24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6E25BE-BF60-6936-5EA0-A9B87C43F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378" y="669358"/>
                <a:ext cx="3189335" cy="753348"/>
              </a:xfrm>
              <a:prstGeom prst="rect">
                <a:avLst/>
              </a:prstGeom>
              <a:blipFill>
                <a:blip r:embed="rId4"/>
                <a:stretch>
                  <a:fillRect l="-1984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6EB595-3256-9EAD-A98E-665FF5BBD0F8}"/>
                  </a:ext>
                </a:extLst>
              </p:cNvPr>
              <p:cNvSpPr txBox="1"/>
              <p:nvPr/>
            </p:nvSpPr>
            <p:spPr>
              <a:xfrm>
                <a:off x="710561" y="2738298"/>
                <a:ext cx="3262745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−1,1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−1,0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1,0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−1,−1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0,−1</m:t>
                                    </m:r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>
                                        <a:latin typeface="Cambria Math" panose="02040503050406030204" pitchFamily="18" charset="0"/>
                                      </a:rPr>
                                      <m:t>1,−1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6EB595-3256-9EAD-A98E-665FF5BBD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1" y="2738298"/>
                <a:ext cx="3262745" cy="972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539B65C-78B1-DA56-2EF7-C6CC88F841F2}"/>
              </a:ext>
            </a:extLst>
          </p:cNvPr>
          <p:cNvSpPr txBox="1"/>
          <p:nvPr/>
        </p:nvSpPr>
        <p:spPr>
          <a:xfrm>
            <a:off x="5652654" y="36783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527849-F20B-3658-CD57-D1D161DA1F3A}"/>
                  </a:ext>
                </a:extLst>
              </p:cNvPr>
              <p:cNvSpPr txBox="1"/>
              <p:nvPr/>
            </p:nvSpPr>
            <p:spPr>
              <a:xfrm>
                <a:off x="838200" y="1422706"/>
                <a:ext cx="22236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Let,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=0.85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527849-F20B-3658-CD57-D1D161DA1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22706"/>
                <a:ext cx="2223654" cy="461665"/>
              </a:xfrm>
              <a:prstGeom prst="rect">
                <a:avLst/>
              </a:prstGeom>
              <a:blipFill>
                <a:blip r:embed="rId6"/>
                <a:stretch>
                  <a:fillRect l="-4571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50549E-3889-ADF7-7BB2-120B3235F873}"/>
                  </a:ext>
                </a:extLst>
              </p:cNvPr>
              <p:cNvSpPr txBox="1"/>
              <p:nvPr/>
            </p:nvSpPr>
            <p:spPr>
              <a:xfrm>
                <a:off x="838200" y="2223975"/>
                <a:ext cx="47662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How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b="1" dirty="0">
                    <a:solidFill>
                      <a:srgbClr val="C00000"/>
                    </a:solidFill>
                  </a:rPr>
                  <a:t>maps to matrix location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??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50549E-3889-ADF7-7BB2-120B3235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23975"/>
                <a:ext cx="4766241" cy="461665"/>
              </a:xfrm>
              <a:prstGeom prst="rect">
                <a:avLst/>
              </a:prstGeom>
              <a:blipFill>
                <a:blip r:embed="rId7"/>
                <a:stretch>
                  <a:fillRect l="-2128" t="-8108" r="-106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849A07-5E6E-17EF-25BF-A199D2C3F65F}"/>
                  </a:ext>
                </a:extLst>
              </p:cNvPr>
              <p:cNvSpPr txBox="1"/>
              <p:nvPr/>
            </p:nvSpPr>
            <p:spPr>
              <a:xfrm>
                <a:off x="4663158" y="2686424"/>
                <a:ext cx="326164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849A07-5E6E-17EF-25BF-A199D2C3F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58" y="2686424"/>
                <a:ext cx="3261642" cy="1076449"/>
              </a:xfrm>
              <a:prstGeom prst="rect">
                <a:avLst/>
              </a:prstGeom>
              <a:blipFill>
                <a:blip r:embed="rId8"/>
                <a:stretch>
                  <a:fillRect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FF5B1D1-B15D-1DA1-D064-2CD267B78C5F}"/>
              </a:ext>
            </a:extLst>
          </p:cNvPr>
          <p:cNvSpPr txBox="1"/>
          <p:nvPr/>
        </p:nvSpPr>
        <p:spPr>
          <a:xfrm>
            <a:off x="710560" y="4083038"/>
            <a:ext cx="9887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Integer Kernel Matrix: </a:t>
            </a:r>
            <a:r>
              <a:rPr lang="en-AU" sz="2000" dirty="0"/>
              <a:t>Multiplying the entire matrix by 20 (why 20?) converts the matrix to </a:t>
            </a:r>
          </a:p>
          <a:p>
            <a:r>
              <a:rPr lang="en-AU" sz="2000" dirty="0"/>
              <a:t>standard integer values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4E54D1-6958-28CE-72B7-309795B1FFA6}"/>
                  </a:ext>
                </a:extLst>
              </p:cNvPr>
              <p:cNvSpPr txBox="1"/>
              <p:nvPr/>
            </p:nvSpPr>
            <p:spPr>
              <a:xfrm>
                <a:off x="710560" y="4918581"/>
                <a:ext cx="1751497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4E54D1-6958-28CE-72B7-309795B1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0" y="4918581"/>
                <a:ext cx="1751497" cy="1076449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B5CEFD4-EC14-171F-106C-771B257623FE}"/>
              </a:ext>
            </a:extLst>
          </p:cNvPr>
          <p:cNvSpPr txBox="1"/>
          <p:nvPr/>
        </p:nvSpPr>
        <p:spPr>
          <a:xfrm>
            <a:off x="3879273" y="5394993"/>
            <a:ext cx="6109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sum of the matrix elements = 16</a:t>
            </a:r>
          </a:p>
          <a:p>
            <a:r>
              <a:rPr lang="en-AU" sz="2000" dirty="0"/>
              <a:t>To ensure the filter doesn't artificially brighten the image during convolution, we divide by that total sum.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314A43-9B39-237A-7896-AD0B529C39FE}"/>
                  </a:ext>
                </a:extLst>
              </p:cNvPr>
              <p:cNvSpPr txBox="1"/>
              <p:nvPr/>
            </p:nvSpPr>
            <p:spPr>
              <a:xfrm>
                <a:off x="3879273" y="4839927"/>
                <a:ext cx="3032305" cy="536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000" b="1" dirty="0">
                    <a:solidFill>
                      <a:srgbClr val="C00000"/>
                    </a:solidFill>
                  </a:rPr>
                  <a:t>Where the</a:t>
                </a:r>
                <a14:m>
                  <m:oMath xmlns:m="http://schemas.openxmlformats.org/officeDocument/2006/math">
                    <m:r>
                      <a:rPr lang="en-AU" sz="20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r>
                  <a:rPr lang="en-AU" sz="2000" b="1" dirty="0">
                    <a:solidFill>
                      <a:srgbClr val="C00000"/>
                    </a:solidFill>
                  </a:rPr>
                  <a:t> comes from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?</a:t>
                </a:r>
                <a:endParaRPr lang="en-AU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314A43-9B39-237A-7896-AD0B529C3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273" y="4839927"/>
                <a:ext cx="3032305" cy="536942"/>
              </a:xfrm>
              <a:prstGeom prst="rect">
                <a:avLst/>
              </a:prstGeom>
              <a:blipFill>
                <a:blip r:embed="rId10"/>
                <a:stretch>
                  <a:fillRect l="-2083" r="-833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2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  <p:bldP spid="13" grpId="0"/>
      <p:bldP spid="14" grpId="0"/>
      <p:bldP spid="17" grpId="0"/>
      <p:bldP spid="20" grpId="0"/>
      <p:bldP spid="21" grpId="0"/>
      <p:bldP spid="22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3F190-6978-AA0A-18F5-304DA24D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221D-D73C-7D5D-BD9C-62B3BD77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27783" cy="1515153"/>
          </a:xfrm>
        </p:spPr>
        <p:txBody>
          <a:bodyPr/>
          <a:lstStyle/>
          <a:p>
            <a:r>
              <a:rPr lang="en-AU" b="1" dirty="0"/>
              <a:t>Gaussian Filter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045BD-2EA5-8AAD-90AB-E2E78FF7D7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034687"/>
                <a:ext cx="10929731" cy="457814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dirty="0"/>
                  <a:t>Gaussian kernels remove high-frequency noise and blur images by calculating a weighted average of surrounding pixels based on the Gaussian (bell curve) distribution.</a:t>
                </a:r>
              </a:p>
              <a:p>
                <a:r>
                  <a:rPr lang="en-AU" dirty="0"/>
                  <a:t>New pixel value 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AU" b="0" dirty="0"/>
              </a:p>
              <a:p>
                <a:pPr lvl="1"/>
                <a:r>
                  <a:rPr lang="en-AU" dirty="0"/>
                  <a:t>the pixel value stays exactly 100</a:t>
                </a:r>
                <a:r>
                  <a:rPr lang="en-AU" sz="1600" dirty="0"/>
                  <a:t>, </a:t>
                </a:r>
                <a:r>
                  <a:rPr lang="en-AU" dirty="0"/>
                  <a:t>the overall brightness is preserved.</a:t>
                </a:r>
                <a:endParaRPr lang="en-US" dirty="0"/>
              </a:p>
              <a:p>
                <a:r>
                  <a:rPr lang="en-AU" dirty="0"/>
                  <a:t>New pixel value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=140</m:t>
                    </m:r>
                  </m:oMath>
                </a14:m>
                <a:endParaRPr lang="en-AU" dirty="0"/>
              </a:p>
              <a:p>
                <a:pPr lvl="1"/>
                <a:r>
                  <a:rPr lang="en-AU" dirty="0"/>
                  <a:t>the noise spike of 260 has been </a:t>
                </a:r>
                <a:r>
                  <a:rPr lang="en-AU" b="1" dirty="0"/>
                  <a:t>pulled down to 140</a:t>
                </a:r>
                <a:r>
                  <a:rPr lang="en-AU" dirty="0"/>
                  <a:t> because it was forced to blend with its </a:t>
                </a:r>
                <a:r>
                  <a:rPr lang="en-AU" dirty="0" err="1"/>
                  <a:t>neighbors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Gaussian kernel acts as a </a:t>
                </a:r>
                <a:r>
                  <a:rPr lang="en-AU" b="1" dirty="0"/>
                  <a:t>weighted local average</a:t>
                </a:r>
                <a:r>
                  <a:rPr lang="en-AU" dirty="0"/>
                  <a:t>, it forces sharp transitions to smooth out. </a:t>
                </a:r>
              </a:p>
              <a:p>
                <a:r>
                  <a:rPr lang="en-AU" dirty="0"/>
                  <a:t>An isolated spike of noise cannot survive the averaging process because its </a:t>
                </a:r>
                <a:r>
                  <a:rPr lang="en-AU" dirty="0" err="1"/>
                  <a:t>neighbors</a:t>
                </a:r>
                <a:r>
                  <a:rPr lang="en-AU" dirty="0"/>
                  <a:t> outvote it.</a:t>
                </a:r>
              </a:p>
              <a:p>
                <a:pPr lvl="1"/>
                <a:endParaRPr lang="en-A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045BD-2EA5-8AAD-90AB-E2E78FF7D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034687"/>
                <a:ext cx="10929731" cy="4578148"/>
              </a:xfrm>
              <a:blipFill>
                <a:blip r:embed="rId3"/>
                <a:stretch>
                  <a:fillRect l="-812" t="-2770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7DBBB9-F397-89BD-0EFF-2116930025FD}"/>
                  </a:ext>
                </a:extLst>
              </p:cNvPr>
              <p:cNvSpPr txBox="1"/>
              <p:nvPr/>
            </p:nvSpPr>
            <p:spPr>
              <a:xfrm>
                <a:off x="5251998" y="709124"/>
                <a:ext cx="1928191" cy="1171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AU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7DBBB9-F397-89BD-0EFF-211693002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98" y="709124"/>
                <a:ext cx="1928191" cy="1171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73ECA7-35B1-6B01-CFD0-AC5BFE2FFD93}"/>
                  </a:ext>
                </a:extLst>
              </p:cNvPr>
              <p:cNvSpPr txBox="1"/>
              <p:nvPr/>
            </p:nvSpPr>
            <p:spPr>
              <a:xfrm>
                <a:off x="7195931" y="672960"/>
                <a:ext cx="2199863" cy="1276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AU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AU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73ECA7-35B1-6B01-CFD0-AC5BFE2F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931" y="672960"/>
                <a:ext cx="2199863" cy="1276568"/>
              </a:xfrm>
              <a:prstGeom prst="rect">
                <a:avLst/>
              </a:prstGeom>
              <a:blipFill>
                <a:blip r:embed="rId5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D0AC0A-A9EB-42CA-6598-1959F0758C84}"/>
                  </a:ext>
                </a:extLst>
              </p:cNvPr>
              <p:cNvSpPr txBox="1"/>
              <p:nvPr/>
            </p:nvSpPr>
            <p:spPr>
              <a:xfrm>
                <a:off x="9274866" y="666805"/>
                <a:ext cx="2239616" cy="1255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sz="1800" b="0" i="1" smtClean="0">
                                    <a:latin typeface="Cambria Math" panose="02040503050406030204" pitchFamily="18" charset="0"/>
                                  </a:rPr>
                                  <m:t>260</m:t>
                                </m:r>
                              </m:e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AU" sz="1800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  <a:p>
                <a:endParaRPr lang="en-AU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D0AC0A-A9EB-42CA-6598-1959F0758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866" y="666805"/>
                <a:ext cx="2239616" cy="12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572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FEF9-71DA-1BA6-F767-2D03086B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Hybrid 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00E5FD-2825-8589-1E0C-99CAA79EC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250" y="1518720"/>
            <a:ext cx="10072317" cy="445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1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0AA4-FE38-0231-194C-318FDE235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Hybrid Images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1F9BD-1272-1109-0353-168BA73D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single image that combines details from two different images:</a:t>
            </a:r>
          </a:p>
          <a:p>
            <a:pPr lvl="1"/>
            <a:r>
              <a:rPr lang="en-AU" dirty="0"/>
              <a:t>At a close distance, the image appears as one object.</a:t>
            </a:r>
          </a:p>
          <a:p>
            <a:pPr lvl="1"/>
            <a:r>
              <a:rPr lang="en-AU" dirty="0"/>
              <a:t>From a far distance, the image appears as another object.</a:t>
            </a:r>
          </a:p>
          <a:p>
            <a:r>
              <a:rPr lang="en-AU" dirty="0"/>
              <a:t>This effect is achieved by </a:t>
            </a:r>
            <a:r>
              <a:rPr lang="en-AU" b="1" dirty="0"/>
              <a:t>blending</a:t>
            </a:r>
            <a:r>
              <a:rPr lang="en-AU" dirty="0"/>
              <a:t> the </a:t>
            </a:r>
            <a:r>
              <a:rPr lang="en-AU" b="1" dirty="0"/>
              <a:t>low-frequency components </a:t>
            </a:r>
            <a:r>
              <a:rPr lang="en-AU" dirty="0"/>
              <a:t>of one image </a:t>
            </a:r>
            <a:r>
              <a:rPr lang="en-AU" b="1" dirty="0"/>
              <a:t>with the high-frequency components </a:t>
            </a:r>
            <a:r>
              <a:rPr lang="en-AU" dirty="0"/>
              <a:t>of another image.</a:t>
            </a:r>
          </a:p>
          <a:p>
            <a:r>
              <a:rPr lang="en-AU" i="1" dirty="0"/>
              <a:t>Human visual system perceives high frequencies better up close and low frequencies better at a distance</a:t>
            </a:r>
            <a:r>
              <a:rPr lang="en-AU" dirty="0"/>
              <a:t>:</a:t>
            </a:r>
          </a:p>
          <a:p>
            <a:pPr lvl="1"/>
            <a:r>
              <a:rPr lang="en-AU" sz="2800" dirty="0"/>
              <a:t>the image appears different depending on the viewing</a:t>
            </a:r>
          </a:p>
        </p:txBody>
      </p:sp>
    </p:spTree>
    <p:extLst>
      <p:ext uri="{BB962C8B-B14F-4D97-AF65-F5344CB8AC3E}">
        <p14:creationId xmlns:p14="http://schemas.microsoft.com/office/powerpoint/2010/main" val="1307433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4C33-D6E3-8944-7479-961B9A92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AU" b="1" dirty="0"/>
              <a:t>Mathematics - Hybrid Images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2D4D2-BDE1-C12F-2335-640A7FD84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0748"/>
                <a:ext cx="10515600" cy="51153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b="1" dirty="0"/>
                  <a:t>Step 1</a:t>
                </a:r>
                <a:r>
                  <a:rPr lang="en-AU" dirty="0"/>
                  <a:t>: Compute the Low-Frequency Image by convolving with a Gaussian filter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en-AU" dirty="0"/>
                  <a:t>(acts as a low-pass filter):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  <a:p>
                <a:pPr marL="0" indent="0">
                  <a:buNone/>
                  <a:tabLst>
                    <a:tab pos="352425" algn="l"/>
                  </a:tabLst>
                </a:pPr>
                <a:r>
                  <a:rPr lang="en-AU" dirty="0"/>
                  <a:t>	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en-AU" dirty="0"/>
                  <a:t> is a Gaussian filter with std. dev.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AU" dirty="0"/>
                  <a:t>, </a:t>
                </a:r>
                <a:r>
                  <a:rPr lang="en-AU" b="1" dirty="0"/>
                  <a:t>removes high-freq. components</a:t>
                </a:r>
                <a:r>
                  <a:rPr lang="en-AU" dirty="0"/>
                  <a:t>.</a:t>
                </a:r>
              </a:p>
              <a:p>
                <a:pPr marL="0" indent="0">
                  <a:buNone/>
                  <a:tabLst>
                    <a:tab pos="352425" algn="l"/>
                  </a:tabLst>
                </a:pPr>
                <a:r>
                  <a:rPr lang="en-AU" dirty="0"/>
                  <a:t>	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</m:oMath>
                </a14:m>
                <a:r>
                  <a:rPr lang="en-AU" dirty="0"/>
                  <a:t> retains only smooth, large-scale structures.</a:t>
                </a:r>
              </a:p>
              <a:p>
                <a:r>
                  <a:rPr lang="en-AU" b="1" dirty="0"/>
                  <a:t>Step 2</a:t>
                </a:r>
                <a:r>
                  <a:rPr lang="en-AU" dirty="0"/>
                  <a:t>: Compute the High-Frequency Image by subtracting its low-frequency version from the original: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ℎ𝑖𝑔ℎ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tabLst>
                    <a:tab pos="392113" algn="l"/>
                  </a:tabLst>
                </a:pPr>
                <a:r>
                  <a:rPr lang="en-AU" dirty="0"/>
                  <a:t>	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en-AU" dirty="0"/>
                  <a:t> is the low-frequency version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/>
                  <a:t>.</a:t>
                </a:r>
              </a:p>
              <a:p>
                <a:pPr marL="0" indent="0">
                  <a:buNone/>
                  <a:tabLst>
                    <a:tab pos="392113" algn="l"/>
                  </a:tabLst>
                </a:pPr>
                <a:r>
                  <a:rPr lang="en-AU" dirty="0"/>
                  <a:t>	- Subtraction removes smooth details </a:t>
                </a:r>
                <a:r>
                  <a:rPr lang="en-AU" b="1" dirty="0"/>
                  <a:t>leaving only edges and textures</a:t>
                </a:r>
                <a:r>
                  <a:rPr lang="en-AU" dirty="0"/>
                  <a:t>.</a:t>
                </a:r>
              </a:p>
              <a:p>
                <a:r>
                  <a:rPr lang="en-AU" b="1" dirty="0"/>
                  <a:t>Step 3</a:t>
                </a:r>
                <a:r>
                  <a:rPr lang="en-AU" dirty="0"/>
                  <a:t>: Combine Low- and High-Frequency Images.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ℎ𝑦𝑏𝑟𝑖𝑑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ℎ𝑖𝑔ℎ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82D4D2-BDE1-C12F-2335-640A7FD84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0748"/>
                <a:ext cx="10515600" cy="5115339"/>
              </a:xfrm>
              <a:blipFill>
                <a:blip r:embed="rId2"/>
                <a:stretch>
                  <a:fillRect l="-965" t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91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1C31-717E-18B5-21B1-058B6814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filtering in practice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E1B119-61D6-2208-FA41-0C1B71FAB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675" y="1994970"/>
            <a:ext cx="10142125" cy="2868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07BE4C-A06D-BA23-3B01-A6CB6925C9B2}"/>
                  </a:ext>
                </a:extLst>
              </p:cNvPr>
              <p:cNvSpPr txBox="1"/>
              <p:nvPr/>
            </p:nvSpPr>
            <p:spPr>
              <a:xfrm>
                <a:off x="4167809" y="5167312"/>
                <a:ext cx="430033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 ??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07BE4C-A06D-BA23-3B01-A6CB6925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809" y="5167312"/>
                <a:ext cx="4300330" cy="553998"/>
              </a:xfrm>
              <a:prstGeom prst="rect">
                <a:avLst/>
              </a:prstGeom>
              <a:blipFill>
                <a:blip r:embed="rId3"/>
                <a:stretch>
                  <a:fillRect t="-9091" b="-38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107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3EBC-8EE5-BF95-30C0-DB955C09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9E99-5A6E-89FB-12AB-B165D75B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filtering in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9A0BA-4B88-1248-E0C8-4804088E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01" y="1813615"/>
            <a:ext cx="10453193" cy="3155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77921-BEDC-161B-3624-0058550E14D7}"/>
                  </a:ext>
                </a:extLst>
              </p:cNvPr>
              <p:cNvSpPr txBox="1"/>
              <p:nvPr/>
            </p:nvSpPr>
            <p:spPr>
              <a:xfrm>
                <a:off x="8978349" y="4253947"/>
                <a:ext cx="176916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sz="3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77921-BEDC-161B-3624-0058550E1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349" y="4253947"/>
                <a:ext cx="1769165" cy="553998"/>
              </a:xfrm>
              <a:prstGeom prst="rect">
                <a:avLst/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219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BC2F-84A4-5535-4240-4F894C59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05A6-8D56-DEFB-3B5E-5E29359C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filtering in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12411-5C01-1BC4-09FB-22DBDA20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37" y="1715536"/>
            <a:ext cx="9366126" cy="342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13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F5836-E9B7-C743-A65A-0630C8F61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832" y="320812"/>
            <a:ext cx="5245100" cy="347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307A16-F5C5-126B-B757-F1A3ED61F4C9}"/>
              </a:ext>
            </a:extLst>
          </p:cNvPr>
          <p:cNvSpPr txBox="1"/>
          <p:nvPr/>
        </p:nvSpPr>
        <p:spPr>
          <a:xfrm>
            <a:off x="621809" y="3972890"/>
            <a:ext cx="10948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This method is called “Unsharp” masking / filtering. It sharpens an image.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58851-DE2B-8B96-5DEB-CDD75635A7E1}"/>
              </a:ext>
            </a:extLst>
          </p:cNvPr>
          <p:cNvSpPr txBox="1"/>
          <p:nvPr/>
        </p:nvSpPr>
        <p:spPr>
          <a:xfrm>
            <a:off x="754852" y="4690529"/>
            <a:ext cx="1068229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The unsharp filter is a versatile sharpening tool that improves the definition of fine detail by enhancing edges (and other high frequency components) in the original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/>
              <a:t>The name derives from the fact that the technique uses a blurred, or “unsharp”, negative image to create a mask of the original image.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5C9C02-35DB-02C8-020A-59A7BB3A1BA6}"/>
                  </a:ext>
                </a:extLst>
              </p:cNvPr>
              <p:cNvSpPr txBox="1"/>
              <p:nvPr/>
            </p:nvSpPr>
            <p:spPr>
              <a:xfrm>
                <a:off x="6612834" y="949772"/>
                <a:ext cx="5327375" cy="1935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𝑠ℎ𝑎𝑟𝑝</m:t>
                          </m:r>
                        </m:sub>
                      </m:sSub>
                      <m:r>
                        <m:rPr>
                          <m:aln/>
                        </m:rP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𝑏𝑙𝑢𝑟𝑟𝑒𝑑</m:t>
                              </m:r>
                            </m:sub>
                          </m:sSub>
                        </m:e>
                      </m:d>
                    </m:oMath>
                    <m:oMath>
                      <m:r>
                        <a:rPr lang="en-AU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𝑏𝑙𝑢𝑟𝑟𝑒𝑑</m:t>
                          </m:r>
                        </m:sub>
                      </m:sSub>
                      <m:r>
                        <m:rPr>
                          <m:aln/>
                        </m:rP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𝐻𝐹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𝑏𝑙𝑢𝑟𝑟𝑒𝑑</m:t>
                          </m:r>
                        </m:sub>
                      </m:sSub>
                      <m:r>
                        <m:rPr>
                          <m:aln/>
                        </m:rP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𝑏𝑙𝑢𝑟𝑟𝑒𝑑</m:t>
                          </m:r>
                        </m:sub>
                      </m:sSub>
                      <m:r>
                        <m:rPr>
                          <m:aln/>
                        </m:rP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</a:t>
                </a:r>
                <a:endParaRPr lang="en-AU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5C9C02-35DB-02C8-020A-59A7BB3A1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834" y="949772"/>
                <a:ext cx="5327375" cy="1935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22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B0DF-31F1-4269-5DF5-48DC5A14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7DA1-612F-8FE5-1229-00EFA05F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Edge detection is one of the most important pre-processing step for various computer vision tasks i.e. </a:t>
            </a:r>
          </a:p>
          <a:p>
            <a:pPr lvl="1"/>
            <a:r>
              <a:rPr lang="en-AU" sz="2800" dirty="0"/>
              <a:t>object detection </a:t>
            </a:r>
          </a:p>
          <a:p>
            <a:pPr lvl="1"/>
            <a:r>
              <a:rPr lang="en-AU" sz="2800" dirty="0"/>
              <a:t>object recognition </a:t>
            </a:r>
          </a:p>
          <a:p>
            <a:pPr lvl="1"/>
            <a:r>
              <a:rPr lang="en-AU" sz="2800" dirty="0"/>
              <a:t>shape analysis etc.</a:t>
            </a:r>
          </a:p>
          <a:p>
            <a:r>
              <a:rPr lang="en-AU" sz="3200" dirty="0"/>
              <a:t>To isolate an object from its background and </a:t>
            </a:r>
            <a:r>
              <a:rPr lang="en-AU" sz="3200" dirty="0" err="1"/>
              <a:t>neighboring</a:t>
            </a:r>
            <a:r>
              <a:rPr lang="en-AU" sz="3200" dirty="0"/>
              <a:t> object pixels, first step is to recognize its edges.</a:t>
            </a:r>
          </a:p>
          <a:p>
            <a:r>
              <a:rPr lang="en-AU" sz="3200" dirty="0"/>
              <a:t>An edge is a contour across which the image’s brightness or hue changes abruptly.</a:t>
            </a:r>
          </a:p>
        </p:txBody>
      </p:sp>
    </p:spTree>
    <p:extLst>
      <p:ext uri="{BB962C8B-B14F-4D97-AF65-F5344CB8AC3E}">
        <p14:creationId xmlns:p14="http://schemas.microsoft.com/office/powerpoint/2010/main" val="2543529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E78B-B6AD-D7C6-9690-5412F2BF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BC87-A293-73EC-9B0D-4E85AE41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731"/>
            <a:ext cx="10515600" cy="2226366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The goal of edge detection is to identify sudden changes (discontinuities) in an image.</a:t>
            </a:r>
          </a:p>
          <a:p>
            <a:r>
              <a:rPr lang="en-AU" dirty="0"/>
              <a:t>We want edge operator / detector that produces :</a:t>
            </a:r>
          </a:p>
          <a:p>
            <a:pPr lvl="1"/>
            <a:r>
              <a:rPr lang="en-AU" b="1" dirty="0"/>
              <a:t>Edge position</a:t>
            </a:r>
            <a:r>
              <a:rPr lang="en-AU" dirty="0"/>
              <a:t>: exact location in an image</a:t>
            </a:r>
          </a:p>
          <a:p>
            <a:pPr lvl="1"/>
            <a:r>
              <a:rPr lang="en-AU" b="1" dirty="0"/>
              <a:t>Edge magnitude (strength)</a:t>
            </a:r>
            <a:r>
              <a:rPr lang="en-AU" dirty="0"/>
              <a:t>: to threshold to decide whether its an edge.</a:t>
            </a:r>
          </a:p>
          <a:p>
            <a:pPr lvl="1"/>
            <a:r>
              <a:rPr lang="en-AU" b="1" dirty="0"/>
              <a:t>Edge orientation (direction)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09C50-7388-0FC3-6C93-FDEFBB72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038" y="3631096"/>
            <a:ext cx="3340100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9A9CD0-9143-2FCD-F924-025CE6941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780" y="3631096"/>
            <a:ext cx="33401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5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1512-3E27-81ED-FA40-AA62B19C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9B49-AD6A-4BBC-01D0-EC970FCD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Two methods of edge detection:</a:t>
            </a:r>
          </a:p>
          <a:p>
            <a:pPr lvl="1"/>
            <a:r>
              <a:rPr lang="en-AU" dirty="0"/>
              <a:t>Thresholding</a:t>
            </a:r>
          </a:p>
          <a:p>
            <a:pPr lvl="1"/>
            <a:r>
              <a:rPr lang="en-AU" dirty="0"/>
              <a:t>Convolution</a:t>
            </a:r>
          </a:p>
          <a:p>
            <a:r>
              <a:rPr lang="en-AU" b="1" dirty="0"/>
              <a:t>Question is now how to figure out that pixel on location </a:t>
            </a:r>
            <a:r>
              <a:rPr lang="en-AU" b="1" dirty="0" err="1"/>
              <a:t>x,y</a:t>
            </a:r>
            <a:r>
              <a:rPr lang="en-AU" b="1" dirty="0"/>
              <a:t> is an edge pixel?</a:t>
            </a:r>
          </a:p>
          <a:p>
            <a:r>
              <a:rPr lang="en-AU" dirty="0"/>
              <a:t>These are two representation of same signal (one is image and other is height map).</a:t>
            </a:r>
          </a:p>
          <a:p>
            <a:r>
              <a:rPr lang="en-AU" dirty="0"/>
              <a:t>Edge are clearly visible in height map as where there is an edge, there is “steep cliff” in intensity.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643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A31BBE-2EEA-59E6-CE08-5C48D0E63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844" y="778703"/>
            <a:ext cx="5549687" cy="4972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DB62D8-A15F-E025-8D2B-FA94434C7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012" y="778703"/>
            <a:ext cx="6265988" cy="526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48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542C-B8DE-F53A-90CB-B5C38D59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5D83-9753-BBED-90CA-538EEAACD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2200" cy="4351338"/>
          </a:xfrm>
        </p:spPr>
        <p:txBody>
          <a:bodyPr/>
          <a:lstStyle/>
          <a:p>
            <a:r>
              <a:rPr lang="en-AU" dirty="0"/>
              <a:t>Basic idea: Look for a </a:t>
            </a:r>
            <a:r>
              <a:rPr lang="en-AU" dirty="0" err="1"/>
              <a:t>neighborhood</a:t>
            </a:r>
            <a:r>
              <a:rPr lang="en-AU" dirty="0"/>
              <a:t> with strong sign of change.</a:t>
            </a:r>
          </a:p>
          <a:p>
            <a:r>
              <a:rPr lang="en-AU" dirty="0"/>
              <a:t>Problems:</a:t>
            </a:r>
          </a:p>
          <a:p>
            <a:pPr lvl="1"/>
            <a:r>
              <a:rPr lang="en-AU" dirty="0" err="1"/>
              <a:t>Neighborhood</a:t>
            </a:r>
            <a:r>
              <a:rPr lang="en-AU" dirty="0"/>
              <a:t> size</a:t>
            </a:r>
          </a:p>
          <a:p>
            <a:pPr lvl="1"/>
            <a:r>
              <a:rPr lang="en-AU" dirty="0"/>
              <a:t>How to detect change (how big ∆ should be called it a change? 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B9459-BD7D-8DDD-0F0D-934C2C36D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043" y="1690688"/>
            <a:ext cx="2895600" cy="307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5BA84-74E8-9461-AEEC-7D0F55B411A1}"/>
              </a:ext>
            </a:extLst>
          </p:cNvPr>
          <p:cNvSpPr txBox="1"/>
          <p:nvPr/>
        </p:nvSpPr>
        <p:spPr>
          <a:xfrm>
            <a:off x="7408179" y="5073988"/>
            <a:ext cx="46113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There is a change in intensities i.e. 80’s are</a:t>
            </a:r>
          </a:p>
          <a:p>
            <a:r>
              <a:rPr lang="en-AU" sz="2000" dirty="0"/>
              <a:t>on the one side, while the 20’s are on the</a:t>
            </a:r>
          </a:p>
          <a:p>
            <a:r>
              <a:rPr lang="en-AU" sz="2000" dirty="0"/>
              <a:t>other side.</a:t>
            </a:r>
          </a:p>
        </p:txBody>
      </p:sp>
    </p:spTree>
    <p:extLst>
      <p:ext uri="{BB962C8B-B14F-4D97-AF65-F5344CB8AC3E}">
        <p14:creationId xmlns:p14="http://schemas.microsoft.com/office/powerpoint/2010/main" val="235557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850E-D392-EF1C-71D1-66D8E007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3588"/>
          </a:xfrm>
        </p:spPr>
        <p:txBody>
          <a:bodyPr/>
          <a:lstStyle/>
          <a:p>
            <a:r>
              <a:rPr lang="en-US" b="1" dirty="0"/>
              <a:t>Edge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D48A-C6AE-B096-2685-F167986CD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08" y="1298715"/>
            <a:ext cx="11072191" cy="1325216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An edge is a place of rapid change in the image intensity function.</a:t>
            </a:r>
          </a:p>
          <a:p>
            <a:r>
              <a:rPr lang="en-AU" dirty="0"/>
              <a:t>Change in function is detected from derivatives.</a:t>
            </a:r>
          </a:p>
          <a:p>
            <a:r>
              <a:rPr lang="en-AU" dirty="0"/>
              <a:t>Finding edges → finding peaks in derivatives.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B0622-8A64-E202-CF3F-6185B045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6870700" cy="3225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2DF2E-613C-2B1A-9C0F-84E2665EC4B5}"/>
                  </a:ext>
                </a:extLst>
              </p:cNvPr>
              <p:cNvSpPr txBox="1"/>
              <p:nvPr/>
            </p:nvSpPr>
            <p:spPr>
              <a:xfrm>
                <a:off x="7178813" y="2270897"/>
                <a:ext cx="4731579" cy="403636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 image gradient is defined as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represents the horizontal gradient.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AU" dirty="0"/>
                  <a:t> represents the vertical gradient.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The gradient points in the direction of the most rapid intensity increase.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The gradient direction is given by: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arctan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 </m:t>
                      </m:r>
                    </m:oMath>
                  </m:oMathPara>
                </a14:m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The gradient magnitude, which measures the strength of an edge, is given by: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2DF2E-613C-2B1A-9C0F-84E2665EC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813" y="2270897"/>
                <a:ext cx="4731579" cy="4036361"/>
              </a:xfrm>
              <a:prstGeom prst="rect">
                <a:avLst/>
              </a:prstGeom>
              <a:blipFill>
                <a:blip r:embed="rId3"/>
                <a:stretch>
                  <a:fillRect l="-1072" t="-943" r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107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5B28-8C06-FA7E-195B-755939E6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derivative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F1A7-683F-F068-083D-ACCD99EF4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4692720"/>
          </a:xfrm>
        </p:spPr>
        <p:txBody>
          <a:bodyPr>
            <a:normAutofit/>
          </a:bodyPr>
          <a:lstStyle/>
          <a:p>
            <a:r>
              <a:rPr lang="en-AU" sz="3200" dirty="0"/>
              <a:t>How to find image derivatives?</a:t>
            </a:r>
          </a:p>
          <a:p>
            <a:pPr lvl="1"/>
            <a:r>
              <a:rPr lang="en-AU" sz="2800" dirty="0"/>
              <a:t>The same way as we did to remove noise i.e. run some filters.</a:t>
            </a:r>
          </a:p>
          <a:p>
            <a:pPr lvl="1"/>
            <a:r>
              <a:rPr lang="en-AU" sz="2800" dirty="0"/>
              <a:t>We need filter or differential operator (in this case).</a:t>
            </a:r>
          </a:p>
          <a:p>
            <a:pPr lvl="1"/>
            <a:r>
              <a:rPr lang="en-AU" sz="2800" dirty="0"/>
              <a:t>Differential operators when applied to an image returns derivatives / gradient.</a:t>
            </a:r>
          </a:p>
          <a:p>
            <a:pPr lvl="1"/>
            <a:r>
              <a:rPr lang="en-AU" sz="2800" dirty="0"/>
              <a:t>These operators can be </a:t>
            </a:r>
            <a:r>
              <a:rPr lang="en-AU" sz="2800" dirty="0" err="1"/>
              <a:t>modeled</a:t>
            </a:r>
            <a:r>
              <a:rPr lang="en-AU" sz="2800" dirty="0"/>
              <a:t> as filter / masks / kernels.</a:t>
            </a:r>
          </a:p>
          <a:p>
            <a:pPr lvl="1"/>
            <a:r>
              <a:rPr lang="en-AU" sz="2800" dirty="0"/>
              <a:t>In the last, some thresholding is applied to “gradients” to select the edge pixels.</a:t>
            </a:r>
          </a:p>
        </p:txBody>
      </p:sp>
    </p:spTree>
    <p:extLst>
      <p:ext uri="{BB962C8B-B14F-4D97-AF65-F5344CB8AC3E}">
        <p14:creationId xmlns:p14="http://schemas.microsoft.com/office/powerpoint/2010/main" val="66131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4DAF-AD28-38CB-DD69-8A1F2391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3E835-6F4C-7821-7055-77C388DA5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/>
                  <a:t>For 2D function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 the partial derivative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  <a:p>
                <a:endParaRPr lang="en-AU" sz="900" dirty="0"/>
              </a:p>
              <a:p>
                <a:r>
                  <a:rPr lang="en-AU" dirty="0"/>
                  <a:t>In computer vision, we are dealing with discrete data (images), we can approximate using finite differences: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r>
                  <a:rPr lang="en-AU" dirty="0"/>
                  <a:t>This is “right derivative” or forward difference. In the same way, we can compute “backward difference” or “central difference”.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3E835-6F4C-7821-7055-77C388DA5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951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8FDD-1512-FB62-F82A-E07EA1C0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A61153-54DA-F50F-D416-67A173105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dirty="0"/>
                  <a:t>What will be masks for “right derivative” or forward difference, “backward difference” and “central difference” in 1−D. ?</a:t>
                </a:r>
              </a:p>
              <a:p>
                <a:r>
                  <a:rPr lang="en-AU" dirty="0"/>
                  <a:t>Forward difference: [1,−1]</a:t>
                </a:r>
              </a:p>
              <a:p>
                <a:r>
                  <a:rPr lang="en-AU" dirty="0"/>
                  <a:t>Backward difference: [−1,1]</a:t>
                </a:r>
              </a:p>
              <a:p>
                <a:r>
                  <a:rPr lang="en-AU" dirty="0"/>
                  <a:t>Central difference: [−1,0,1]</a:t>
                </a:r>
              </a:p>
              <a:p>
                <a:endParaRPr lang="en-AU" dirty="0"/>
              </a:p>
              <a:p>
                <a:r>
                  <a:rPr lang="en-AU" dirty="0"/>
                  <a:t>The simplest derivative filters 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.             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These compute the </a:t>
                </a:r>
                <a:r>
                  <a:rPr lang="en-AU" dirty="0" err="1"/>
                  <a:t>centered</a:t>
                </a:r>
                <a:r>
                  <a:rPr lang="en-AU" dirty="0"/>
                  <a:t> pixel-wise differences along the horizontal and vertical directions.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A61153-54DA-F50F-D416-67A173105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65" t="-2439" r="-241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92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64E9-09B6-6E16-114A-EEF078C67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Noise and Smoothing Before Edge Detection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FA9E2-991B-819D-80AE-D3732CFD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Derivative filters are highly sensitive to image noise. </a:t>
            </a:r>
          </a:p>
          <a:p>
            <a:pPr lvl="1"/>
            <a:r>
              <a:rPr lang="en-AU" dirty="0"/>
              <a:t>To mitigate noise, first smooth the image using a Gaussian filter before applying the derivative filter</a:t>
            </a:r>
          </a:p>
          <a:p>
            <a:r>
              <a:rPr lang="en-AU" dirty="0"/>
              <a:t>Since </a:t>
            </a:r>
            <a:r>
              <a:rPr lang="en-AU" b="1" dirty="0"/>
              <a:t>convolution is associative</a:t>
            </a:r>
            <a:r>
              <a:rPr lang="en-AU" dirty="0"/>
              <a:t>, applying a Gaussian filter followed by a derivative filter is equivalent to convolving the image with a single filter that is the convolution of the Gaussian filter with the derivative filter. </a:t>
            </a:r>
          </a:p>
          <a:p>
            <a:r>
              <a:rPr lang="en-AU" dirty="0"/>
              <a:t>These derivatives of Gaussian filters simultaneously smooth the image and compute derivatives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294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617E66-4196-8447-1410-D11E0B81E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798" y="898291"/>
            <a:ext cx="8947150" cy="506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0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DD74-5FB5-6546-02EF-0AE1B066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408-0329-138A-87FD-E29997D49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Szeliski</a:t>
            </a:r>
            <a:r>
              <a:rPr lang="en-US" dirty="0"/>
              <a:t> book – Chap 3: Image processing</a:t>
            </a:r>
          </a:p>
          <a:p>
            <a:pPr lvl="1"/>
            <a:r>
              <a:rPr lang="en-US" dirty="0"/>
              <a:t>Sections: 3.2</a:t>
            </a:r>
          </a:p>
          <a:p>
            <a:r>
              <a:rPr lang="en-US" dirty="0">
                <a:hlinkClick r:id="rId3"/>
              </a:rPr>
              <a:t>https://cvl-umass.github.io/intro-cv-spring-2025/assets/notes/imageprocessing.pdf</a:t>
            </a:r>
            <a:endParaRPr lang="en-US" dirty="0"/>
          </a:p>
          <a:p>
            <a:pPr lvl="1"/>
            <a:r>
              <a:rPr lang="en-US" dirty="0"/>
              <a:t>Sections: 4, 5, 7 and 8</a:t>
            </a:r>
          </a:p>
          <a:p>
            <a:r>
              <a:rPr lang="en-US" dirty="0"/>
              <a:t>Computer Vision - A Modern Approach - D. Forsyth, J. Ponce</a:t>
            </a:r>
          </a:p>
          <a:p>
            <a:pPr lvl="1"/>
            <a:r>
              <a:rPr lang="en-US" dirty="0"/>
              <a:t>Chap 5: </a:t>
            </a:r>
            <a:r>
              <a:rPr lang="en-AU" dirty="0"/>
              <a:t>Local Image Features.</a:t>
            </a:r>
          </a:p>
          <a:p>
            <a:pPr lvl="2"/>
            <a:r>
              <a:rPr lang="en-AU" dirty="0"/>
              <a:t>Sections</a:t>
            </a:r>
            <a:r>
              <a:rPr lang="en-AU"/>
              <a:t>: 5.1</a:t>
            </a:r>
            <a:endParaRPr lang="en-US" dirty="0"/>
          </a:p>
          <a:p>
            <a:r>
              <a:rPr lang="en-US" dirty="0"/>
              <a:t>Notebooks: </a:t>
            </a:r>
          </a:p>
          <a:p>
            <a:pPr lvl="1"/>
            <a:r>
              <a:rPr lang="en-US" dirty="0">
                <a:hlinkClick r:id="rId4"/>
              </a:rPr>
              <a:t>https://www.kaggle.com/code/zahidbd/lecture9-nb1-kernel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24239</TotalTime>
  <Words>2836</Words>
  <Application>Microsoft Macintosh PowerPoint</Application>
  <PresentationFormat>Widescreen</PresentationFormat>
  <Paragraphs>306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Office Theme</vt:lpstr>
      <vt:lpstr>COMPUTER VISION</vt:lpstr>
      <vt:lpstr>Padding: Understanding the problem</vt:lpstr>
      <vt:lpstr>Padding: Understanding the problem</vt:lpstr>
      <vt:lpstr>Padding</vt:lpstr>
      <vt:lpstr>Dealing with image boundary</vt:lpstr>
      <vt:lpstr>Cyclic / Wrap (Repeat or Tile)</vt:lpstr>
      <vt:lpstr>Mirror (Reflection)</vt:lpstr>
      <vt:lpstr>Extend (Linear Extrapolation)</vt:lpstr>
      <vt:lpstr>Linear Extrapolation</vt:lpstr>
      <vt:lpstr>2D Example</vt:lpstr>
      <vt:lpstr>PowerPoint Presentation</vt:lpstr>
      <vt:lpstr>Output dimension</vt:lpstr>
      <vt:lpstr>Why do we care about the Associative property?</vt:lpstr>
      <vt:lpstr>Separable kernel</vt:lpstr>
      <vt:lpstr>Kernel weights</vt:lpstr>
      <vt:lpstr>PowerPoint Presentation</vt:lpstr>
      <vt:lpstr>Gaussian Filter</vt:lpstr>
      <vt:lpstr>The Math Behind the Numbers</vt:lpstr>
      <vt:lpstr>Gaussian Filter</vt:lpstr>
      <vt:lpstr>Hybrid Images</vt:lpstr>
      <vt:lpstr>Hybrid Images</vt:lpstr>
      <vt:lpstr>Mathematics - Hybrid Images</vt:lpstr>
      <vt:lpstr>Linear filtering in practice</vt:lpstr>
      <vt:lpstr>Linear filtering in practice</vt:lpstr>
      <vt:lpstr>Linear filtering in practice</vt:lpstr>
      <vt:lpstr>PowerPoint Presentation</vt:lpstr>
      <vt:lpstr>Edges</vt:lpstr>
      <vt:lpstr>Edge detector</vt:lpstr>
      <vt:lpstr>Edge detection methods</vt:lpstr>
      <vt:lpstr>PowerPoint Presentation</vt:lpstr>
      <vt:lpstr>Edge detection</vt:lpstr>
      <vt:lpstr>Edge detection</vt:lpstr>
      <vt:lpstr>Image derivative</vt:lpstr>
      <vt:lpstr>Image derivative</vt:lpstr>
      <vt:lpstr>Image derivative</vt:lpstr>
      <vt:lpstr>Noise and Smoothing Before Edge Detection</vt:lpstr>
      <vt:lpstr>PowerPoint Presentation</vt:lpstr>
      <vt:lpstr>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Zahidul Islam</dc:creator>
  <cp:lastModifiedBy>Md Zahidul Islam</cp:lastModifiedBy>
  <cp:revision>771</cp:revision>
  <dcterms:created xsi:type="dcterms:W3CDTF">2026-08-04T00:11:14Z</dcterms:created>
  <dcterms:modified xsi:type="dcterms:W3CDTF">2026-09-08T18:06:21Z</dcterms:modified>
</cp:coreProperties>
</file>