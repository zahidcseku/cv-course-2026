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6" r:id="rId1"/>
  </p:sldMasterIdLst>
  <p:notesMasterIdLst>
    <p:notesMasterId r:id="rId35"/>
  </p:notesMasterIdLst>
  <p:sldIdLst>
    <p:sldId id="256" r:id="rId2"/>
    <p:sldId id="303" r:id="rId3"/>
    <p:sldId id="304" r:id="rId4"/>
    <p:sldId id="305" r:id="rId5"/>
    <p:sldId id="306" r:id="rId6"/>
    <p:sldId id="307" r:id="rId7"/>
    <p:sldId id="298" r:id="rId8"/>
    <p:sldId id="299" r:id="rId9"/>
    <p:sldId id="300" r:id="rId10"/>
    <p:sldId id="308" r:id="rId11"/>
    <p:sldId id="301" r:id="rId12"/>
    <p:sldId id="309" r:id="rId13"/>
    <p:sldId id="312" r:id="rId14"/>
    <p:sldId id="310" r:id="rId15"/>
    <p:sldId id="311" r:id="rId16"/>
    <p:sldId id="313" r:id="rId17"/>
    <p:sldId id="302" r:id="rId18"/>
    <p:sldId id="314" r:id="rId19"/>
    <p:sldId id="315" r:id="rId20"/>
    <p:sldId id="316" r:id="rId21"/>
    <p:sldId id="317" r:id="rId22"/>
    <p:sldId id="318" r:id="rId23"/>
    <p:sldId id="319" r:id="rId24"/>
    <p:sldId id="320" r:id="rId25"/>
    <p:sldId id="322" r:id="rId26"/>
    <p:sldId id="324" r:id="rId27"/>
    <p:sldId id="323" r:id="rId28"/>
    <p:sldId id="325" r:id="rId29"/>
    <p:sldId id="326" r:id="rId30"/>
    <p:sldId id="327" r:id="rId31"/>
    <p:sldId id="329" r:id="rId32"/>
    <p:sldId id="328" r:id="rId33"/>
    <p:sldId id="29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55"/>
    <p:restoredTop sz="78833"/>
  </p:normalViewPr>
  <p:slideViewPr>
    <p:cSldViewPr snapToGrid="0">
      <p:cViewPr varScale="1">
        <p:scale>
          <a:sx n="100" d="100"/>
          <a:sy n="100" d="100"/>
        </p:scale>
        <p:origin x="280" y="160"/>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F69E75-2F2A-4340-80BD-3C270EF90E93}" type="datetimeFigureOut">
              <a:rPr lang="en-US" smtClean="0"/>
              <a:t>8/12/26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A5E430-97AE-C04C-BB4B-47DC21A043A5}" type="slidenum">
              <a:rPr lang="en-US" smtClean="0"/>
              <a:t>‹#›</a:t>
            </a:fld>
            <a:endParaRPr lang="en-US"/>
          </a:p>
        </p:txBody>
      </p:sp>
    </p:spTree>
    <p:extLst>
      <p:ext uri="{BB962C8B-B14F-4D97-AF65-F5344CB8AC3E}">
        <p14:creationId xmlns:p14="http://schemas.microsoft.com/office/powerpoint/2010/main" val="1091297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0" dirty="0"/>
              <a:t>- Depth of field is defined for </a:t>
            </a:r>
            <a:r>
              <a:rPr lang="en-AU" dirty="0"/>
              <a:t>a camera.</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 Depth of field (</a:t>
            </a:r>
            <a:r>
              <a:rPr lang="en-AU" dirty="0" err="1"/>
              <a:t>DoF</a:t>
            </a:r>
            <a:r>
              <a:rPr lang="en-AU" dirty="0"/>
              <a:t>) is the area that appears sharp in your photo.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AU" b="1" dirty="0"/>
              <a:t>Pinhole camera</a:t>
            </a:r>
            <a:r>
              <a:rPr lang="en-AU" dirty="0"/>
              <a:t>: has an infinite depth of field, meaning that objects at any depth appear perfectly sharp. </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2</a:t>
            </a:fld>
            <a:endParaRPr lang="en-US"/>
          </a:p>
        </p:txBody>
      </p:sp>
    </p:spTree>
    <p:extLst>
      <p:ext uri="{BB962C8B-B14F-4D97-AF65-F5344CB8AC3E}">
        <p14:creationId xmlns:p14="http://schemas.microsoft.com/office/powerpoint/2010/main" val="2863315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 The depth of field is </a:t>
            </a:r>
            <a:r>
              <a:rPr lang="en-AU" b="1" dirty="0"/>
              <a:t>inversely related to the focal length. </a:t>
            </a:r>
            <a:r>
              <a:rPr lang="en-AU" dirty="0"/>
              <a:t>Cameras with a small focal length (e.g., microscopes) have a narrow depth of field, while those with a large focal length (e.g., telescopes) have a large depth of field.</a:t>
            </a:r>
          </a:p>
          <a:p>
            <a:r>
              <a:rPr lang="en-US" dirty="0"/>
              <a:t>- </a:t>
            </a:r>
            <a:r>
              <a:rPr lang="en-AU" b="1" dirty="0"/>
              <a:t>Focal length effect:</a:t>
            </a:r>
            <a:r>
              <a:rPr lang="en-AU" dirty="0"/>
              <a:t> A shorter focal length gives a deep depth of field. A longer focal length gives a shallow depth of field.</a:t>
            </a:r>
          </a:p>
          <a:p>
            <a:pPr lvl="0"/>
            <a:r>
              <a:rPr lang="en-AU" b="1" dirty="0"/>
              <a:t>- Microscope reality:</a:t>
            </a:r>
            <a:r>
              <a:rPr lang="en-AU" dirty="0"/>
              <a:t> Microscopes use high magnification and long effective focal lengths/close focus, which results in an extremely narrow (shallow) depth of field.</a:t>
            </a:r>
          </a:p>
          <a:p>
            <a:pPr lvl="0"/>
            <a:r>
              <a:rPr lang="en-AU" b="1" dirty="0"/>
              <a:t>- Telescope reality:</a:t>
            </a:r>
            <a:r>
              <a:rPr lang="en-AU" dirty="0"/>
              <a:t> Telescopes focus on distant objects and often have deep focus across celestial fields, but the traditional photographic rule states long lenses compress space and blur backgrounds.</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3</a:t>
            </a:fld>
            <a:endParaRPr lang="en-US"/>
          </a:p>
        </p:txBody>
      </p:sp>
    </p:spTree>
    <p:extLst>
      <p:ext uri="{BB962C8B-B14F-4D97-AF65-F5344CB8AC3E}">
        <p14:creationId xmlns:p14="http://schemas.microsoft.com/office/powerpoint/2010/main" val="22939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 We can control the depth of field by adjusting the aperture size. Reducing the aperture size increases the depth of field.</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4</a:t>
            </a:fld>
            <a:endParaRPr lang="en-US"/>
          </a:p>
        </p:txBody>
      </p:sp>
    </p:spTree>
    <p:extLst>
      <p:ext uri="{BB962C8B-B14F-4D97-AF65-F5344CB8AC3E}">
        <p14:creationId xmlns:p14="http://schemas.microsoft.com/office/powerpoint/2010/main" val="2008633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5</a:t>
            </a:fld>
            <a:endParaRPr lang="en-US"/>
          </a:p>
        </p:txBody>
      </p:sp>
    </p:spTree>
    <p:extLst>
      <p:ext uri="{BB962C8B-B14F-4D97-AF65-F5344CB8AC3E}">
        <p14:creationId xmlns:p14="http://schemas.microsoft.com/office/powerpoint/2010/main" val="1005516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This causes some shifts in </a:t>
            </a:r>
            <a:r>
              <a:rPr lang="en-AU" dirty="0" err="1"/>
              <a:t>color</a:t>
            </a:r>
            <a:r>
              <a:rPr lang="en-AU" dirty="0"/>
              <a:t> in the image. On the right is an image of a printed sheet of paper. Even though the sheet itself has no </a:t>
            </a:r>
            <a:r>
              <a:rPr lang="en-AU" dirty="0" err="1"/>
              <a:t>color</a:t>
            </a:r>
            <a:r>
              <a:rPr lang="en-AU" dirty="0"/>
              <a:t> (it has only shades of </a:t>
            </a:r>
            <a:r>
              <a:rPr lang="en-AU" dirty="0" err="1"/>
              <a:t>gray</a:t>
            </a:r>
            <a:r>
              <a:rPr lang="en-AU" dirty="0"/>
              <a:t>), its image has </a:t>
            </a:r>
            <a:r>
              <a:rPr lang="en-AU" dirty="0" err="1"/>
              <a:t>color</a:t>
            </a:r>
            <a:r>
              <a:rPr lang="en-AU" dirty="0"/>
              <a:t> effects around the edges of the printed letters. This is called chromatic aberration.'</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6</a:t>
            </a:fld>
            <a:endParaRPr lang="en-US"/>
          </a:p>
        </p:txBody>
      </p:sp>
    </p:spTree>
    <p:extLst>
      <p:ext uri="{BB962C8B-B14F-4D97-AF65-F5344CB8AC3E}">
        <p14:creationId xmlns:p14="http://schemas.microsoft.com/office/powerpoint/2010/main" val="3877309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Caused by imperfect lenses</a:t>
            </a:r>
          </a:p>
          <a:p>
            <a:r>
              <a:rPr lang="en-AU" dirty="0"/>
              <a:t>Deviations are most noticeable near the edge of the lens</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7</a:t>
            </a:fld>
            <a:endParaRPr lang="en-US"/>
          </a:p>
        </p:txBody>
      </p:sp>
    </p:spTree>
    <p:extLst>
      <p:ext uri="{BB962C8B-B14F-4D97-AF65-F5344CB8AC3E}">
        <p14:creationId xmlns:p14="http://schemas.microsoft.com/office/powerpoint/2010/main" val="258690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Barrel distortion is often found in images taken with wide-angle lenses. On the left is an image taken with one such lens.</a:t>
            </a:r>
            <a:br>
              <a:rPr lang="en-AU" dirty="0"/>
            </a:br>
            <a:r>
              <a:rPr lang="en-AU" dirty="0"/>
              <a:t>Note that straight lines in the scene no longer map to straight lines in the image. </a:t>
            </a:r>
          </a:p>
          <a:p>
            <a:r>
              <a:rPr lang="en-AU" dirty="0"/>
              <a:t>If we know a priori what the barrel distortion is, we can take this captured image and apply a simple mapping software to obtain a pure perspective image, such as the one on the right. </a:t>
            </a:r>
          </a:p>
          <a:p>
            <a:r>
              <a:rPr lang="en-AU" dirty="0"/>
              <a:t>In the right image, all straight lines in the scene do end up as straight lines in the image. An interesting thing to note here is that the field of view of the corrected image is not rectangular because, due to barrel distortion, the field of view of the original image itself was not rectangular even though the image was formed on a rectangular sensor.</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10</a:t>
            </a:fld>
            <a:endParaRPr lang="en-US"/>
          </a:p>
        </p:txBody>
      </p:sp>
    </p:spTree>
    <p:extLst>
      <p:ext uri="{BB962C8B-B14F-4D97-AF65-F5344CB8AC3E}">
        <p14:creationId xmlns:p14="http://schemas.microsoft.com/office/powerpoint/2010/main" val="2351402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AU" sz="1200" kern="1200" dirty="0">
                <a:solidFill>
                  <a:schemeClr val="tx1"/>
                </a:solidFill>
                <a:effectLst/>
                <a:latin typeface="+mn-lt"/>
                <a:ea typeface="+mn-ea"/>
                <a:cs typeface="+mn-cs"/>
              </a:rPr>
              <a:t>Figure shows the principal manner in which array sensors are used. </a:t>
            </a:r>
          </a:p>
          <a:p>
            <a:pPr marL="171450" indent="-171450">
              <a:buFontTx/>
              <a:buChar char="-"/>
            </a:pPr>
            <a:r>
              <a:rPr lang="en-AU" sz="1200" kern="1200" dirty="0">
                <a:solidFill>
                  <a:schemeClr val="tx1"/>
                </a:solidFill>
                <a:effectLst/>
                <a:latin typeface="+mn-lt"/>
                <a:ea typeface="+mn-ea"/>
                <a:cs typeface="+mn-cs"/>
              </a:rPr>
              <a:t>This figure shows the energy from an illumination source being reflected from a scene. </a:t>
            </a:r>
          </a:p>
          <a:p>
            <a:pPr marL="171450" indent="-171450">
              <a:buFontTx/>
              <a:buChar char="-"/>
            </a:pPr>
            <a:r>
              <a:rPr lang="en-AU" sz="1200" kern="1200" dirty="0">
                <a:solidFill>
                  <a:schemeClr val="tx1"/>
                </a:solidFill>
                <a:effectLst/>
                <a:latin typeface="+mn-lt"/>
                <a:ea typeface="+mn-ea"/>
                <a:cs typeface="+mn-cs"/>
              </a:rPr>
              <a:t>The first function performed by the imaging system is to collect the incoming energy and focus it onto an image plane. </a:t>
            </a:r>
          </a:p>
          <a:p>
            <a:pPr marL="171450" indent="-171450">
              <a:buFontTx/>
              <a:buChar char="-"/>
            </a:pPr>
            <a:r>
              <a:rPr lang="en-AU" sz="1200" kern="1200" dirty="0">
                <a:solidFill>
                  <a:schemeClr val="tx1"/>
                </a:solidFill>
                <a:effectLst/>
                <a:latin typeface="+mn-lt"/>
                <a:ea typeface="+mn-ea"/>
                <a:cs typeface="+mn-cs"/>
              </a:rPr>
              <a:t>The front end of the imaging system is an optical lens that projects the viewed scene onto the focal plane of the lens, as Fig. 2.15(d) shows. </a:t>
            </a:r>
          </a:p>
          <a:p>
            <a:pPr marL="171450" indent="-171450">
              <a:buFontTx/>
              <a:buChar char="-"/>
            </a:pPr>
            <a:r>
              <a:rPr lang="en-AU" sz="1200" kern="1200" dirty="0">
                <a:solidFill>
                  <a:schemeClr val="tx1"/>
                </a:solidFill>
                <a:effectLst/>
                <a:latin typeface="+mn-lt"/>
                <a:ea typeface="+mn-ea"/>
                <a:cs typeface="+mn-cs"/>
              </a:rPr>
              <a:t>The sensor array, which is coincident with the focal plane, produces outputs proportional to the integral of the light received at each sensor. </a:t>
            </a:r>
          </a:p>
          <a:p>
            <a:pPr marL="171450" indent="-171450">
              <a:buFontTx/>
              <a:buChar char="-"/>
            </a:pPr>
            <a:r>
              <a:rPr lang="en-AU" sz="1200" kern="1200" dirty="0">
                <a:solidFill>
                  <a:schemeClr val="tx1"/>
                </a:solidFill>
                <a:effectLst/>
                <a:latin typeface="+mn-lt"/>
                <a:ea typeface="+mn-ea"/>
                <a:cs typeface="+mn-cs"/>
              </a:rPr>
              <a:t>Digital and </a:t>
            </a:r>
            <a:r>
              <a:rPr lang="en-AU" sz="1200" kern="1200" dirty="0" err="1">
                <a:solidFill>
                  <a:schemeClr val="tx1"/>
                </a:solidFill>
                <a:effectLst/>
                <a:latin typeface="+mn-lt"/>
                <a:ea typeface="+mn-ea"/>
                <a:cs typeface="+mn-cs"/>
              </a:rPr>
              <a:t>analog</a:t>
            </a:r>
            <a:r>
              <a:rPr lang="en-AU" sz="1200" kern="1200" dirty="0">
                <a:solidFill>
                  <a:schemeClr val="tx1"/>
                </a:solidFill>
                <a:effectLst/>
                <a:latin typeface="+mn-lt"/>
                <a:ea typeface="+mn-ea"/>
                <a:cs typeface="+mn-cs"/>
              </a:rPr>
              <a:t> circuitry sweep these outputs and convert them to an </a:t>
            </a:r>
            <a:r>
              <a:rPr lang="en-AU" sz="1200" kern="1200" dirty="0" err="1">
                <a:solidFill>
                  <a:schemeClr val="tx1"/>
                </a:solidFill>
                <a:effectLst/>
                <a:latin typeface="+mn-lt"/>
                <a:ea typeface="+mn-ea"/>
                <a:cs typeface="+mn-cs"/>
              </a:rPr>
              <a:t>analog</a:t>
            </a:r>
            <a:r>
              <a:rPr lang="en-AU" sz="1200" kern="1200" dirty="0">
                <a:solidFill>
                  <a:schemeClr val="tx1"/>
                </a:solidFill>
                <a:effectLst/>
                <a:latin typeface="+mn-lt"/>
                <a:ea typeface="+mn-ea"/>
                <a:cs typeface="+mn-cs"/>
              </a:rPr>
              <a:t> signal, which is then digitized by another section of the imaging system. </a:t>
            </a:r>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13</a:t>
            </a:fld>
            <a:endParaRPr lang="en-US"/>
          </a:p>
        </p:txBody>
      </p:sp>
    </p:spTree>
    <p:extLst>
      <p:ext uri="{BB962C8B-B14F-4D97-AF65-F5344CB8AC3E}">
        <p14:creationId xmlns:p14="http://schemas.microsoft.com/office/powerpoint/2010/main" val="29204876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Reflectance is bounded by 0 (total absorption) and 1 (total reflectance). </a:t>
            </a:r>
          </a:p>
          <a:p>
            <a:r>
              <a:rPr lang="en-AU" sz="1200" kern="1200" dirty="0">
                <a:solidFill>
                  <a:schemeClr val="tx1"/>
                </a:solidFill>
                <a:effectLst/>
                <a:latin typeface="+mn-lt"/>
                <a:ea typeface="+mn-ea"/>
                <a:cs typeface="+mn-cs"/>
              </a:rPr>
              <a:t>The nature of </a:t>
            </a:r>
            <a:r>
              <a:rPr lang="en-AU" sz="1200" kern="1200" dirty="0" err="1">
                <a:solidFill>
                  <a:schemeClr val="tx1"/>
                </a:solidFill>
                <a:effectLst/>
                <a:latin typeface="+mn-lt"/>
                <a:ea typeface="+mn-ea"/>
                <a:cs typeface="+mn-cs"/>
              </a:rPr>
              <a:t>i</a:t>
            </a:r>
            <a:r>
              <a:rPr lang="en-AU" sz="1200" kern="1200" dirty="0">
                <a:solidFill>
                  <a:schemeClr val="tx1"/>
                </a:solidFill>
                <a:effectLst/>
                <a:latin typeface="+mn-lt"/>
                <a:ea typeface="+mn-ea"/>
                <a:cs typeface="+mn-cs"/>
              </a:rPr>
              <a:t> (x, y) is determined by the illumination source, and r (x, y) is determined</a:t>
            </a:r>
          </a:p>
          <a:p>
            <a:r>
              <a:rPr lang="en-AU" sz="1200" kern="1200" dirty="0">
                <a:solidFill>
                  <a:schemeClr val="tx1"/>
                </a:solidFill>
                <a:effectLst/>
                <a:latin typeface="+mn-lt"/>
                <a:ea typeface="+mn-ea"/>
                <a:cs typeface="+mn-cs"/>
              </a:rPr>
              <a:t>by the characteristics of the imaged objects. </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14</a:t>
            </a:fld>
            <a:endParaRPr lang="en-US"/>
          </a:p>
        </p:txBody>
      </p:sp>
    </p:spTree>
    <p:extLst>
      <p:ext uri="{BB962C8B-B14F-4D97-AF65-F5344CB8AC3E}">
        <p14:creationId xmlns:p14="http://schemas.microsoft.com/office/powerpoint/2010/main" val="2873110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AU" sz="1200" kern="1200" dirty="0">
                <a:solidFill>
                  <a:schemeClr val="tx1"/>
                </a:solidFill>
                <a:effectLst/>
                <a:latin typeface="+mn-lt"/>
                <a:ea typeface="+mn-ea"/>
                <a:cs typeface="+mn-cs"/>
              </a:rPr>
              <a:t>The random variations are due to image noise.</a:t>
            </a:r>
          </a:p>
          <a:p>
            <a:pPr marL="171450" indent="-171450">
              <a:buFontTx/>
              <a:buChar char="-"/>
            </a:pPr>
            <a:r>
              <a:rPr lang="en-AU" sz="1200" kern="1200" dirty="0">
                <a:solidFill>
                  <a:schemeClr val="tx1"/>
                </a:solidFill>
                <a:effectLst/>
                <a:latin typeface="+mn-lt"/>
                <a:ea typeface="+mn-ea"/>
                <a:cs typeface="+mn-cs"/>
              </a:rPr>
              <a:t>To sample this function, we take equally spaced samples along line AB, as shown in Fig. 2.16(c). </a:t>
            </a:r>
          </a:p>
          <a:p>
            <a:pPr marL="171450" indent="-171450">
              <a:buFontTx/>
              <a:buChar char="-"/>
            </a:pPr>
            <a:r>
              <a:rPr lang="en-AU" sz="1200" kern="1200" dirty="0">
                <a:solidFill>
                  <a:schemeClr val="tx1"/>
                </a:solidFill>
                <a:effectLst/>
                <a:latin typeface="+mn-lt"/>
                <a:ea typeface="+mn-ea"/>
                <a:cs typeface="+mn-cs"/>
              </a:rPr>
              <a:t>The discrete spatial locations of the samples are indicated by corresponding tick marks in the bottom of the figure.</a:t>
            </a:r>
          </a:p>
          <a:p>
            <a:pPr marL="171450" indent="-171450">
              <a:buFontTx/>
              <a:buChar char="-"/>
            </a:pPr>
            <a:r>
              <a:rPr lang="en-AU" sz="1200" kern="1200" dirty="0">
                <a:solidFill>
                  <a:schemeClr val="tx1"/>
                </a:solidFill>
                <a:effectLst/>
                <a:latin typeface="+mn-lt"/>
                <a:ea typeface="+mn-ea"/>
                <a:cs typeface="+mn-cs"/>
              </a:rPr>
              <a:t>The set of dark squares constitute the sampled function. </a:t>
            </a:r>
          </a:p>
          <a:p>
            <a:pPr marL="171450" indent="-171450">
              <a:buFontTx/>
              <a:buChar char="-"/>
            </a:pPr>
            <a:r>
              <a:rPr lang="en-AU" sz="1200" kern="1200" dirty="0">
                <a:solidFill>
                  <a:schemeClr val="tx1"/>
                </a:solidFill>
                <a:effectLst/>
                <a:latin typeface="+mn-lt"/>
                <a:ea typeface="+mn-ea"/>
                <a:cs typeface="+mn-cs"/>
              </a:rPr>
              <a:t>However, the values of the samples still span (vertically) a continuous range of intensity values. </a:t>
            </a:r>
          </a:p>
          <a:p>
            <a:pPr marL="171450" indent="-171450">
              <a:buFontTx/>
              <a:buChar char="-"/>
            </a:pPr>
            <a:r>
              <a:rPr lang="en-AU" sz="1200" kern="1200" dirty="0">
                <a:solidFill>
                  <a:schemeClr val="tx1"/>
                </a:solidFill>
                <a:effectLst/>
                <a:latin typeface="+mn-lt"/>
                <a:ea typeface="+mn-ea"/>
                <a:cs typeface="+mn-cs"/>
              </a:rPr>
              <a:t>In order to form a digital function, the intensity values also must be converted (quantized) into discrete quantities.</a:t>
            </a:r>
          </a:p>
          <a:p>
            <a:pPr marL="171450" indent="-171450">
              <a:buFontTx/>
              <a:buChar char="-"/>
            </a:pPr>
            <a:r>
              <a:rPr lang="en-AU" sz="1200" kern="1200" dirty="0">
                <a:solidFill>
                  <a:schemeClr val="tx1"/>
                </a:solidFill>
                <a:effectLst/>
                <a:latin typeface="+mn-lt"/>
                <a:ea typeface="+mn-ea"/>
                <a:cs typeface="+mn-cs"/>
              </a:rPr>
              <a:t>The vertical </a:t>
            </a:r>
            <a:r>
              <a:rPr lang="en-AU" sz="1200" kern="1200" dirty="0" err="1">
                <a:solidFill>
                  <a:schemeClr val="tx1"/>
                </a:solidFill>
                <a:effectLst/>
                <a:latin typeface="+mn-lt"/>
                <a:ea typeface="+mn-ea"/>
                <a:cs typeface="+mn-cs"/>
              </a:rPr>
              <a:t>gray</a:t>
            </a:r>
            <a:r>
              <a:rPr lang="en-AU" sz="1200" kern="1200" dirty="0">
                <a:solidFill>
                  <a:schemeClr val="tx1"/>
                </a:solidFill>
                <a:effectLst/>
                <a:latin typeface="+mn-lt"/>
                <a:ea typeface="+mn-ea"/>
                <a:cs typeface="+mn-cs"/>
              </a:rPr>
              <a:t> bar in Fig. 2.16(c) depicts the intensity scale divided into eight discrete intervals, ranging from black to white. </a:t>
            </a:r>
          </a:p>
          <a:p>
            <a:pPr marL="171450" indent="-171450">
              <a:buFontTx/>
              <a:buChar char="-"/>
            </a:pPr>
            <a:r>
              <a:rPr lang="en-AU" sz="1200" kern="1200" dirty="0">
                <a:solidFill>
                  <a:schemeClr val="tx1"/>
                </a:solidFill>
                <a:effectLst/>
                <a:latin typeface="+mn-lt"/>
                <a:ea typeface="+mn-ea"/>
                <a:cs typeface="+mn-cs"/>
              </a:rPr>
              <a:t>The vertical tick marks indicate the specific value assigned to each of the eight intensity intervals. </a:t>
            </a:r>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15</a:t>
            </a:fld>
            <a:endParaRPr lang="en-US"/>
          </a:p>
        </p:txBody>
      </p:sp>
    </p:spTree>
    <p:extLst>
      <p:ext uri="{BB962C8B-B14F-4D97-AF65-F5344CB8AC3E}">
        <p14:creationId xmlns:p14="http://schemas.microsoft.com/office/powerpoint/2010/main" val="21316731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Here, the notation (0, 1) is used to denote the second sample along the first row. It does not mean that these are</a:t>
            </a:r>
          </a:p>
          <a:p>
            <a:r>
              <a:rPr lang="en-AU" sz="1200" kern="1200" dirty="0">
                <a:solidFill>
                  <a:schemeClr val="tx1"/>
                </a:solidFill>
                <a:effectLst/>
                <a:latin typeface="+mn-lt"/>
                <a:ea typeface="+mn-ea"/>
                <a:cs typeface="+mn-cs"/>
              </a:rPr>
              <a:t>the values of the physical coordinates when the image was sampled.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16</a:t>
            </a:fld>
            <a:endParaRPr lang="en-US"/>
          </a:p>
        </p:txBody>
      </p:sp>
    </p:spTree>
    <p:extLst>
      <p:ext uri="{BB962C8B-B14F-4D97-AF65-F5344CB8AC3E}">
        <p14:creationId xmlns:p14="http://schemas.microsoft.com/office/powerpoint/2010/main" val="1294363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Tx/>
              <a:buChar char="-"/>
            </a:pPr>
            <a:r>
              <a:rPr lang="en-AU" dirty="0"/>
              <a:t>Sensors converts light into a different signal.</a:t>
            </a:r>
          </a:p>
          <a:p>
            <a:pPr marL="171450" lvl="0" indent="-171450">
              <a:buFontTx/>
              <a:buChar char="-"/>
            </a:pPr>
            <a:r>
              <a:rPr lang="en-AU" dirty="0"/>
              <a:t>On top of each of these </a:t>
            </a:r>
            <a:r>
              <a:rPr lang="en-AU" dirty="0" err="1"/>
              <a:t>colors</a:t>
            </a:r>
            <a:r>
              <a:rPr lang="en-AU" dirty="0"/>
              <a:t> is a little tiny lens they focuses the lights onto the specific colour sensors.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AU" dirty="0"/>
              <a:t>Each pixel so each of those little cells that we are seeing is going to correspond to a single Pixel in the image. </a:t>
            </a:r>
          </a:p>
          <a:p>
            <a:pPr marL="171450" lvl="0" indent="-171450">
              <a:buFontTx/>
              <a:buChar char="-"/>
            </a:pPr>
            <a:endParaRPr lang="en-AU" dirty="0"/>
          </a:p>
          <a:p>
            <a:pPr lvl="0"/>
            <a:r>
              <a:rPr lang="en-AU" dirty="0"/>
              <a:t>In a 35 </a:t>
            </a:r>
            <a:r>
              <a:rPr lang="en-AU" dirty="0" err="1"/>
              <a:t>millimeter</a:t>
            </a:r>
            <a:r>
              <a:rPr lang="en-AU" dirty="0"/>
              <a:t> negative (sensor) it uses a photo process to convert light into something that can be recorded and exposed and made into an image. </a:t>
            </a:r>
          </a:p>
          <a:p>
            <a:pPr lvl="0"/>
            <a:r>
              <a:rPr lang="en-AU" dirty="0"/>
              <a:t>Here we can divert it into a digital signal so it's a sort of an </a:t>
            </a:r>
            <a:r>
              <a:rPr lang="en-AU" dirty="0" err="1"/>
              <a:t>analog</a:t>
            </a:r>
            <a:r>
              <a:rPr lang="en-AU" dirty="0"/>
              <a:t> to digital converter. </a:t>
            </a:r>
          </a:p>
          <a:p>
            <a:pPr lvl="0"/>
            <a:r>
              <a:rPr lang="en-AU" dirty="0"/>
              <a:t>In this perspective, digital cameras are some sort of </a:t>
            </a:r>
            <a:r>
              <a:rPr lang="en-AU" dirty="0" err="1"/>
              <a:t>analog</a:t>
            </a:r>
            <a:r>
              <a:rPr lang="en-AU" dirty="0"/>
              <a:t> to digital converter.</a:t>
            </a:r>
          </a:p>
          <a:p>
            <a:pPr lvl="0"/>
            <a:r>
              <a:rPr lang="en-AU" dirty="0"/>
              <a:t>Digital cameras take photons and convert the photons into pixels. </a:t>
            </a:r>
          </a:p>
          <a:p>
            <a:pPr lvl="0"/>
            <a:r>
              <a:rPr lang="en-AU" dirty="0"/>
              <a:t>We're going to read out the amount of light that strikes and </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17</a:t>
            </a:fld>
            <a:endParaRPr lang="en-US"/>
          </a:p>
        </p:txBody>
      </p:sp>
    </p:spTree>
    <p:extLst>
      <p:ext uri="{BB962C8B-B14F-4D97-AF65-F5344CB8AC3E}">
        <p14:creationId xmlns:p14="http://schemas.microsoft.com/office/powerpoint/2010/main" val="21205774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Back in the day the original digital cameras which were huge had three sensors and some </a:t>
            </a:r>
            <a:r>
              <a:rPr lang="en-AU" i="1" dirty="0"/>
              <a:t>beam splitting Optics</a:t>
            </a:r>
            <a:r>
              <a:rPr lang="en-AU" dirty="0"/>
              <a:t> that split the light into three sensors.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Consequences:</a:t>
            </a:r>
            <a:br>
              <a:rPr lang="en-AU" dirty="0"/>
            </a:br>
            <a:r>
              <a:rPr lang="en-AU" dirty="0"/>
              <a:t>- reducing the light input by a factor of 3 i.e., you had a low light yield because you were spreading the light</a:t>
            </a:r>
            <a:br>
              <a:rPr lang="en-AU" dirty="0"/>
            </a:br>
            <a:r>
              <a:rPr lang="en-AU" dirty="0"/>
              <a:t>- you had three sensors which was very expensive </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18</a:t>
            </a:fld>
            <a:endParaRPr lang="en-US"/>
          </a:p>
        </p:txBody>
      </p:sp>
    </p:spTree>
    <p:extLst>
      <p:ext uri="{BB962C8B-B14F-4D97-AF65-F5344CB8AC3E}">
        <p14:creationId xmlns:p14="http://schemas.microsoft.com/office/powerpoint/2010/main" val="1228610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and you can see that this cell up here for example is going to record the red light it's </a:t>
            </a:r>
            <a:r>
              <a:rPr lang="en-AU" dirty="0" err="1"/>
              <a:t>colored</a:t>
            </a:r>
            <a:r>
              <a:rPr lang="en-AU" dirty="0"/>
              <a:t> red the next one is going to be green and then red and then green and then the blues and so on and so forth.</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20</a:t>
            </a:fld>
            <a:endParaRPr lang="en-US"/>
          </a:p>
        </p:txBody>
      </p:sp>
    </p:spTree>
    <p:extLst>
      <p:ext uri="{BB962C8B-B14F-4D97-AF65-F5344CB8AC3E}">
        <p14:creationId xmlns:p14="http://schemas.microsoft.com/office/powerpoint/2010/main" val="41781139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AU" dirty="0"/>
              <a:t>What it means is down here where we have my three Channel we are missing a bunch of pixels all of these black pixels here are missing</a:t>
            </a:r>
          </a:p>
          <a:p>
            <a:pPr lvl="0"/>
            <a:r>
              <a:rPr lang="en-AU" dirty="0"/>
              <a:t>In a modern digital camera for years for decades we are only recording one-third of all the pixels we need to represent a full-blown RGB </a:t>
            </a:r>
            <a:r>
              <a:rPr lang="en-AU" dirty="0" err="1"/>
              <a:t>color</a:t>
            </a:r>
            <a:r>
              <a:rPr lang="en-AU" dirty="0"/>
              <a:t> image.</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21</a:t>
            </a:fld>
            <a:endParaRPr lang="en-US"/>
          </a:p>
        </p:txBody>
      </p:sp>
    </p:spTree>
    <p:extLst>
      <p:ext uri="{BB962C8B-B14F-4D97-AF65-F5344CB8AC3E}">
        <p14:creationId xmlns:p14="http://schemas.microsoft.com/office/powerpoint/2010/main" val="22112503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23</a:t>
            </a:fld>
            <a:endParaRPr lang="en-US"/>
          </a:p>
        </p:txBody>
      </p:sp>
    </p:spTree>
    <p:extLst>
      <p:ext uri="{BB962C8B-B14F-4D97-AF65-F5344CB8AC3E}">
        <p14:creationId xmlns:p14="http://schemas.microsoft.com/office/powerpoint/2010/main" val="2845409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24</a:t>
            </a:fld>
            <a:endParaRPr lang="en-US"/>
          </a:p>
        </p:txBody>
      </p:sp>
    </p:spTree>
    <p:extLst>
      <p:ext uri="{BB962C8B-B14F-4D97-AF65-F5344CB8AC3E}">
        <p14:creationId xmlns:p14="http://schemas.microsoft.com/office/powerpoint/2010/main" val="35404750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791EB-123D-2712-EFEF-403203C157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53428-9986-73B1-D736-2566FCFA43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9FF93-B260-1E08-CF9B-A020412A5A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2B8BA9-D763-13BB-9071-4D39292047C3}"/>
              </a:ext>
            </a:extLst>
          </p:cNvPr>
          <p:cNvSpPr>
            <a:spLocks noGrp="1"/>
          </p:cNvSpPr>
          <p:nvPr>
            <p:ph type="sldNum" sz="quarter" idx="5"/>
          </p:nvPr>
        </p:nvSpPr>
        <p:spPr/>
        <p:txBody>
          <a:bodyPr/>
          <a:lstStyle/>
          <a:p>
            <a:fld id="{21A5E430-97AE-C04C-BB4B-47DC21A043A5}" type="slidenum">
              <a:rPr lang="en-US" smtClean="0"/>
              <a:t>25</a:t>
            </a:fld>
            <a:endParaRPr lang="en-US"/>
          </a:p>
        </p:txBody>
      </p:sp>
    </p:spTree>
    <p:extLst>
      <p:ext uri="{BB962C8B-B14F-4D97-AF65-F5344CB8AC3E}">
        <p14:creationId xmlns:p14="http://schemas.microsoft.com/office/powerpoint/2010/main" val="21202910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0D048-DA90-B22D-4E10-1E2B703B7D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8B4F2-DB3A-EE79-AF70-8557A72697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73B132-FA41-810E-D990-7A7172F4F6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64AA7C-47D1-02FD-5087-371AB89B00E5}"/>
              </a:ext>
            </a:extLst>
          </p:cNvPr>
          <p:cNvSpPr>
            <a:spLocks noGrp="1"/>
          </p:cNvSpPr>
          <p:nvPr>
            <p:ph type="sldNum" sz="quarter" idx="5"/>
          </p:nvPr>
        </p:nvSpPr>
        <p:spPr/>
        <p:txBody>
          <a:bodyPr/>
          <a:lstStyle/>
          <a:p>
            <a:fld id="{21A5E430-97AE-C04C-BB4B-47DC21A043A5}" type="slidenum">
              <a:rPr lang="en-US" smtClean="0"/>
              <a:t>26</a:t>
            </a:fld>
            <a:endParaRPr lang="en-US"/>
          </a:p>
        </p:txBody>
      </p:sp>
    </p:spTree>
    <p:extLst>
      <p:ext uri="{BB962C8B-B14F-4D97-AF65-F5344CB8AC3E}">
        <p14:creationId xmlns:p14="http://schemas.microsoft.com/office/powerpoint/2010/main" val="3099372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44550-3E6B-4951-B202-3DD39DA43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A8FA5-77E7-6673-E281-3AC4FEE0B8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057AC2-FF92-3FCB-1226-102A4CFD62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9C57E2-8648-6A2C-B03A-FC86BAB90352}"/>
              </a:ext>
            </a:extLst>
          </p:cNvPr>
          <p:cNvSpPr>
            <a:spLocks noGrp="1"/>
          </p:cNvSpPr>
          <p:nvPr>
            <p:ph type="sldNum" sz="quarter" idx="5"/>
          </p:nvPr>
        </p:nvSpPr>
        <p:spPr/>
        <p:txBody>
          <a:bodyPr/>
          <a:lstStyle/>
          <a:p>
            <a:fld id="{21A5E430-97AE-C04C-BB4B-47DC21A043A5}" type="slidenum">
              <a:rPr lang="en-US" smtClean="0"/>
              <a:t>27</a:t>
            </a:fld>
            <a:endParaRPr lang="en-US"/>
          </a:p>
        </p:txBody>
      </p:sp>
    </p:spTree>
    <p:extLst>
      <p:ext uri="{BB962C8B-B14F-4D97-AF65-F5344CB8AC3E}">
        <p14:creationId xmlns:p14="http://schemas.microsoft.com/office/powerpoint/2010/main" val="1741469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DEBDC-2EA3-A205-FB15-4D755CE77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5A65C-A872-3583-3DF4-A66E43BF91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C48861-CBB7-7C1E-5F55-A23D575EBE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B1EBA2-F470-66FE-718E-7B37A68DBD15}"/>
              </a:ext>
            </a:extLst>
          </p:cNvPr>
          <p:cNvSpPr>
            <a:spLocks noGrp="1"/>
          </p:cNvSpPr>
          <p:nvPr>
            <p:ph type="sldNum" sz="quarter" idx="5"/>
          </p:nvPr>
        </p:nvSpPr>
        <p:spPr/>
        <p:txBody>
          <a:bodyPr/>
          <a:lstStyle/>
          <a:p>
            <a:fld id="{21A5E430-97AE-C04C-BB4B-47DC21A043A5}" type="slidenum">
              <a:rPr lang="en-US" smtClean="0"/>
              <a:t>28</a:t>
            </a:fld>
            <a:endParaRPr lang="en-US"/>
          </a:p>
        </p:txBody>
      </p:sp>
    </p:spTree>
    <p:extLst>
      <p:ext uri="{BB962C8B-B14F-4D97-AF65-F5344CB8AC3E}">
        <p14:creationId xmlns:p14="http://schemas.microsoft.com/office/powerpoint/2010/main" val="42437156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F054F-00BE-A2A4-5478-9A6C97BCA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BB4FD8-85E3-DCDE-2250-687F9C1C6F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0D9BA3-9F03-223E-D3E1-80304AD240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567B76-043D-FBB3-D5BC-DC9B219B75B6}"/>
              </a:ext>
            </a:extLst>
          </p:cNvPr>
          <p:cNvSpPr>
            <a:spLocks noGrp="1"/>
          </p:cNvSpPr>
          <p:nvPr>
            <p:ph type="sldNum" sz="quarter" idx="5"/>
          </p:nvPr>
        </p:nvSpPr>
        <p:spPr/>
        <p:txBody>
          <a:bodyPr/>
          <a:lstStyle/>
          <a:p>
            <a:fld id="{21A5E430-97AE-C04C-BB4B-47DC21A043A5}" type="slidenum">
              <a:rPr lang="en-US" smtClean="0"/>
              <a:t>29</a:t>
            </a:fld>
            <a:endParaRPr lang="en-US"/>
          </a:p>
        </p:txBody>
      </p:sp>
    </p:spTree>
    <p:extLst>
      <p:ext uri="{BB962C8B-B14F-4D97-AF65-F5344CB8AC3E}">
        <p14:creationId xmlns:p14="http://schemas.microsoft.com/office/powerpoint/2010/main" val="30579633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28E6D-8E83-70DA-22D0-8BFB9F893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71E21-4772-B0D2-E966-DA45AA180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869BBC-3B2A-BE8F-A4E7-3D0CF4782F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DF533F-2293-998A-FAA6-3130F8A27FC5}"/>
              </a:ext>
            </a:extLst>
          </p:cNvPr>
          <p:cNvSpPr>
            <a:spLocks noGrp="1"/>
          </p:cNvSpPr>
          <p:nvPr>
            <p:ph type="sldNum" sz="quarter" idx="5"/>
          </p:nvPr>
        </p:nvSpPr>
        <p:spPr/>
        <p:txBody>
          <a:bodyPr/>
          <a:lstStyle/>
          <a:p>
            <a:fld id="{21A5E430-97AE-C04C-BB4B-47DC21A043A5}" type="slidenum">
              <a:rPr lang="en-US" smtClean="0"/>
              <a:t>30</a:t>
            </a:fld>
            <a:endParaRPr lang="en-US"/>
          </a:p>
        </p:txBody>
      </p:sp>
    </p:spTree>
    <p:extLst>
      <p:ext uri="{BB962C8B-B14F-4D97-AF65-F5344CB8AC3E}">
        <p14:creationId xmlns:p14="http://schemas.microsoft.com/office/powerpoint/2010/main" val="24378460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FE858-C851-BC9A-7003-35B4463D65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ECFA8-DD71-772B-F614-C4308AA1A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C55A35-53C1-7A97-C4F9-A742C85637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56A24A-691A-5AE6-1BE9-5E96687889DA}"/>
              </a:ext>
            </a:extLst>
          </p:cNvPr>
          <p:cNvSpPr>
            <a:spLocks noGrp="1"/>
          </p:cNvSpPr>
          <p:nvPr>
            <p:ph type="sldNum" sz="quarter" idx="5"/>
          </p:nvPr>
        </p:nvSpPr>
        <p:spPr/>
        <p:txBody>
          <a:bodyPr/>
          <a:lstStyle/>
          <a:p>
            <a:fld id="{21A5E430-97AE-C04C-BB4B-47DC21A043A5}" type="slidenum">
              <a:rPr lang="en-US" smtClean="0"/>
              <a:t>31</a:t>
            </a:fld>
            <a:endParaRPr lang="en-US"/>
          </a:p>
        </p:txBody>
      </p:sp>
    </p:spTree>
    <p:extLst>
      <p:ext uri="{BB962C8B-B14F-4D97-AF65-F5344CB8AC3E}">
        <p14:creationId xmlns:p14="http://schemas.microsoft.com/office/powerpoint/2010/main" val="18910804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2D864-E6F9-A10C-7657-DC7F6D6F5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6EE5F-D695-74B7-391B-835798125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2087E-853D-202F-25B5-DC928B80F3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A5263C-A57C-BCE1-6DD6-30BAFBEED93A}"/>
              </a:ext>
            </a:extLst>
          </p:cNvPr>
          <p:cNvSpPr>
            <a:spLocks noGrp="1"/>
          </p:cNvSpPr>
          <p:nvPr>
            <p:ph type="sldNum" sz="quarter" idx="5"/>
          </p:nvPr>
        </p:nvSpPr>
        <p:spPr/>
        <p:txBody>
          <a:bodyPr/>
          <a:lstStyle/>
          <a:p>
            <a:fld id="{21A5E430-97AE-C04C-BB4B-47DC21A043A5}" type="slidenum">
              <a:rPr lang="en-US" smtClean="0"/>
              <a:t>32</a:t>
            </a:fld>
            <a:endParaRPr lang="en-US"/>
          </a:p>
        </p:txBody>
      </p:sp>
    </p:spTree>
    <p:extLst>
      <p:ext uri="{BB962C8B-B14F-4D97-AF65-F5344CB8AC3E}">
        <p14:creationId xmlns:p14="http://schemas.microsoft.com/office/powerpoint/2010/main" val="24069026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33</a:t>
            </a:fld>
            <a:endParaRPr lang="en-US"/>
          </a:p>
        </p:txBody>
      </p:sp>
    </p:spTree>
    <p:extLst>
      <p:ext uri="{BB962C8B-B14F-4D97-AF65-F5344CB8AC3E}">
        <p14:creationId xmlns:p14="http://schemas.microsoft.com/office/powerpoint/2010/main" val="3086017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10ABA-4290-90CD-CC55-F20491E4001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7F24B89-364B-EE61-91C7-B9F06B42CD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EBF63DC-9861-DCAD-6ABF-69C738D52412}"/>
              </a:ext>
            </a:extLst>
          </p:cNvPr>
          <p:cNvSpPr>
            <a:spLocks noGrp="1"/>
          </p:cNvSpPr>
          <p:nvPr>
            <p:ph type="dt" sz="half" idx="10"/>
          </p:nvPr>
        </p:nvSpPr>
        <p:spPr/>
        <p:txBody>
          <a:bodyPr/>
          <a:lstStyle/>
          <a:p>
            <a:fld id="{B61BEF0D-F0BB-DE4B-95CE-6DB70DBA9567}" type="datetimeFigureOut">
              <a:rPr lang="en-US" smtClean="0"/>
              <a:pPr/>
              <a:t>8/12/26</a:t>
            </a:fld>
            <a:endParaRPr lang="en-US" dirty="0"/>
          </a:p>
        </p:txBody>
      </p:sp>
      <p:sp>
        <p:nvSpPr>
          <p:cNvPr id="5" name="Footer Placeholder 4">
            <a:extLst>
              <a:ext uri="{FF2B5EF4-FFF2-40B4-BE49-F238E27FC236}">
                <a16:creationId xmlns:a16="http://schemas.microsoft.com/office/drawing/2014/main" id="{12614E29-F2F6-0C59-6484-F3A7E29D6B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7BCAEEB-1E1D-36B5-14CA-0489A122989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3520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AF66E-2238-2945-30ED-0D5D903A9A7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216DA5-3118-31B7-4826-91DCF97495C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6A64AF0-DB24-1918-D680-D607CC937796}"/>
              </a:ext>
            </a:extLst>
          </p:cNvPr>
          <p:cNvSpPr>
            <a:spLocks noGrp="1"/>
          </p:cNvSpPr>
          <p:nvPr>
            <p:ph type="dt" sz="half" idx="10"/>
          </p:nvPr>
        </p:nvSpPr>
        <p:spPr/>
        <p:txBody>
          <a:bodyPr/>
          <a:lstStyle/>
          <a:p>
            <a:fld id="{B61BEF0D-F0BB-DE4B-95CE-6DB70DBA9567}" type="datetimeFigureOut">
              <a:rPr lang="en-US" smtClean="0"/>
              <a:pPr/>
              <a:t>8/12/26</a:t>
            </a:fld>
            <a:endParaRPr lang="en-US" dirty="0"/>
          </a:p>
        </p:txBody>
      </p:sp>
      <p:sp>
        <p:nvSpPr>
          <p:cNvPr id="5" name="Footer Placeholder 4">
            <a:extLst>
              <a:ext uri="{FF2B5EF4-FFF2-40B4-BE49-F238E27FC236}">
                <a16:creationId xmlns:a16="http://schemas.microsoft.com/office/drawing/2014/main" id="{0268A90F-2980-A2E6-466C-5402C1FC4D9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7868EC3-A8B5-7BBB-739B-70BA6D09F96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37852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C189-E67A-DEEB-8B84-7C335EFE0C4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24ED7FA-A772-AA86-E957-C377B21763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FC76E92-A603-E836-46A2-21459F70329C}"/>
              </a:ext>
            </a:extLst>
          </p:cNvPr>
          <p:cNvSpPr>
            <a:spLocks noGrp="1"/>
          </p:cNvSpPr>
          <p:nvPr>
            <p:ph type="dt" sz="half" idx="10"/>
          </p:nvPr>
        </p:nvSpPr>
        <p:spPr/>
        <p:txBody>
          <a:bodyPr/>
          <a:lstStyle/>
          <a:p>
            <a:fld id="{B61BEF0D-F0BB-DE4B-95CE-6DB70DBA9567}" type="datetimeFigureOut">
              <a:rPr lang="en-US" smtClean="0"/>
              <a:pPr/>
              <a:t>8/12/26</a:t>
            </a:fld>
            <a:endParaRPr lang="en-US" dirty="0"/>
          </a:p>
        </p:txBody>
      </p:sp>
      <p:sp>
        <p:nvSpPr>
          <p:cNvPr id="5" name="Footer Placeholder 4">
            <a:extLst>
              <a:ext uri="{FF2B5EF4-FFF2-40B4-BE49-F238E27FC236}">
                <a16:creationId xmlns:a16="http://schemas.microsoft.com/office/drawing/2014/main" id="{D2E73A2D-7527-2749-6AC2-791551C544E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2646D8-F5E0-55C9-DFA9-AE038A78394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42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4EC26-3DD7-E942-7FD3-AD4642215FD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C8AE2B3-6415-0C9F-2B63-AAD8FE7CB5D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DD4849E-962A-A5CF-1EFF-A5D9F6D2D63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8A4F206-C4C3-7740-140B-91013CDDE4E5}"/>
              </a:ext>
            </a:extLst>
          </p:cNvPr>
          <p:cNvSpPr>
            <a:spLocks noGrp="1"/>
          </p:cNvSpPr>
          <p:nvPr>
            <p:ph type="dt" sz="half" idx="10"/>
          </p:nvPr>
        </p:nvSpPr>
        <p:spPr/>
        <p:txBody>
          <a:bodyPr/>
          <a:lstStyle/>
          <a:p>
            <a:fld id="{B61BEF0D-F0BB-DE4B-95CE-6DB70DBA9567}" type="datetimeFigureOut">
              <a:rPr lang="en-US" smtClean="0"/>
              <a:pPr/>
              <a:t>8/12/26</a:t>
            </a:fld>
            <a:endParaRPr lang="en-US" dirty="0"/>
          </a:p>
        </p:txBody>
      </p:sp>
      <p:sp>
        <p:nvSpPr>
          <p:cNvPr id="6" name="Footer Placeholder 5">
            <a:extLst>
              <a:ext uri="{FF2B5EF4-FFF2-40B4-BE49-F238E27FC236}">
                <a16:creationId xmlns:a16="http://schemas.microsoft.com/office/drawing/2014/main" id="{AF950921-80EB-4B2D-95C6-1C999B36057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3CF45F9-5E9B-8C6E-6D1D-0A82EC8FE6F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97694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95D9A-3AD0-657C-C3CB-A50C2397909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B9496E7-6FDA-8F23-1869-AFDF16E7DF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661602A-B874-4D33-8037-C166D9D32A8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6538C1A-755F-F467-FB5F-2740E9A8A6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9968491-33EA-3F5E-3142-9D822916CDB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E6F0A4D-B479-3C8E-68BA-F49180D7D4A7}"/>
              </a:ext>
            </a:extLst>
          </p:cNvPr>
          <p:cNvSpPr>
            <a:spLocks noGrp="1"/>
          </p:cNvSpPr>
          <p:nvPr>
            <p:ph type="dt" sz="half" idx="10"/>
          </p:nvPr>
        </p:nvSpPr>
        <p:spPr/>
        <p:txBody>
          <a:bodyPr/>
          <a:lstStyle/>
          <a:p>
            <a:fld id="{B61BEF0D-F0BB-DE4B-95CE-6DB70DBA9567}" type="datetimeFigureOut">
              <a:rPr lang="en-US" smtClean="0"/>
              <a:pPr/>
              <a:t>8/12/26</a:t>
            </a:fld>
            <a:endParaRPr lang="en-US" dirty="0"/>
          </a:p>
        </p:txBody>
      </p:sp>
      <p:sp>
        <p:nvSpPr>
          <p:cNvPr id="8" name="Footer Placeholder 7">
            <a:extLst>
              <a:ext uri="{FF2B5EF4-FFF2-40B4-BE49-F238E27FC236}">
                <a16:creationId xmlns:a16="http://schemas.microsoft.com/office/drawing/2014/main" id="{EFEA6669-6B95-0CBE-1D95-890C54EE827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44083EE-4D9B-D81A-FD71-5D6A16DDF18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60772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E6E9B-AD06-B997-1AE7-3073AFFCB84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7726203-6C54-59B6-ADFE-EA8A4741EDA9}"/>
              </a:ext>
            </a:extLst>
          </p:cNvPr>
          <p:cNvSpPr>
            <a:spLocks noGrp="1"/>
          </p:cNvSpPr>
          <p:nvPr>
            <p:ph type="dt" sz="half" idx="10"/>
          </p:nvPr>
        </p:nvSpPr>
        <p:spPr/>
        <p:txBody>
          <a:bodyPr/>
          <a:lstStyle/>
          <a:p>
            <a:fld id="{B61BEF0D-F0BB-DE4B-95CE-6DB70DBA9567}" type="datetimeFigureOut">
              <a:rPr lang="en-US" smtClean="0"/>
              <a:pPr/>
              <a:t>8/12/26</a:t>
            </a:fld>
            <a:endParaRPr lang="en-US" dirty="0"/>
          </a:p>
        </p:txBody>
      </p:sp>
      <p:sp>
        <p:nvSpPr>
          <p:cNvPr id="4" name="Footer Placeholder 3">
            <a:extLst>
              <a:ext uri="{FF2B5EF4-FFF2-40B4-BE49-F238E27FC236}">
                <a16:creationId xmlns:a16="http://schemas.microsoft.com/office/drawing/2014/main" id="{B0FE622D-800D-BD21-04BE-E0E9D2C3969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3B3FC2C-3FA0-9A58-0F7D-02622CA35CF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0367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F2467D-6BE5-9E50-E767-5B64065B9B61}"/>
              </a:ext>
            </a:extLst>
          </p:cNvPr>
          <p:cNvSpPr>
            <a:spLocks noGrp="1"/>
          </p:cNvSpPr>
          <p:nvPr>
            <p:ph type="dt" sz="half" idx="10"/>
          </p:nvPr>
        </p:nvSpPr>
        <p:spPr/>
        <p:txBody>
          <a:bodyPr/>
          <a:lstStyle/>
          <a:p>
            <a:fld id="{B61BEF0D-F0BB-DE4B-95CE-6DB70DBA9567}" type="datetimeFigureOut">
              <a:rPr lang="en-US" smtClean="0"/>
              <a:pPr/>
              <a:t>8/12/26</a:t>
            </a:fld>
            <a:endParaRPr lang="en-US" dirty="0"/>
          </a:p>
        </p:txBody>
      </p:sp>
      <p:sp>
        <p:nvSpPr>
          <p:cNvPr id="3" name="Footer Placeholder 2">
            <a:extLst>
              <a:ext uri="{FF2B5EF4-FFF2-40B4-BE49-F238E27FC236}">
                <a16:creationId xmlns:a16="http://schemas.microsoft.com/office/drawing/2014/main" id="{2D5DD547-4603-D852-B1B3-A5C380C6748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BA6508D-341E-E5BD-C22D-E2BF3A6A6B6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879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61ED0-75A3-6E0F-3006-4E70B9C79DC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61213C3-01A6-E614-D555-D3BC4C59D2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C1C72D1-C96F-3382-A48C-F0612B2997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DC90C82-959E-DF3F-38A5-159F3E4EE801}"/>
              </a:ext>
            </a:extLst>
          </p:cNvPr>
          <p:cNvSpPr>
            <a:spLocks noGrp="1"/>
          </p:cNvSpPr>
          <p:nvPr>
            <p:ph type="dt" sz="half" idx="10"/>
          </p:nvPr>
        </p:nvSpPr>
        <p:spPr/>
        <p:txBody>
          <a:bodyPr/>
          <a:lstStyle/>
          <a:p>
            <a:fld id="{B61BEF0D-F0BB-DE4B-95CE-6DB70DBA9567}" type="datetimeFigureOut">
              <a:rPr lang="en-US" smtClean="0"/>
              <a:pPr/>
              <a:t>8/12/26</a:t>
            </a:fld>
            <a:endParaRPr lang="en-US" dirty="0"/>
          </a:p>
        </p:txBody>
      </p:sp>
      <p:sp>
        <p:nvSpPr>
          <p:cNvPr id="6" name="Footer Placeholder 5">
            <a:extLst>
              <a:ext uri="{FF2B5EF4-FFF2-40B4-BE49-F238E27FC236}">
                <a16:creationId xmlns:a16="http://schemas.microsoft.com/office/drawing/2014/main" id="{57569977-4322-D261-2170-1A0B6CD763D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3E4B5F3-686B-5E91-86E8-81B85A12262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06304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0422-F15A-4C2C-3C8A-BB5AFE652DB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63BD814-F5EA-2E89-F8F7-F916825568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345475-4926-2118-0A8D-7E5E64E202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1CE74AE-202B-63F1-CC92-B6A0B149A619}"/>
              </a:ext>
            </a:extLst>
          </p:cNvPr>
          <p:cNvSpPr>
            <a:spLocks noGrp="1"/>
          </p:cNvSpPr>
          <p:nvPr>
            <p:ph type="dt" sz="half" idx="10"/>
          </p:nvPr>
        </p:nvSpPr>
        <p:spPr/>
        <p:txBody>
          <a:bodyPr/>
          <a:lstStyle/>
          <a:p>
            <a:fld id="{B61BEF0D-F0BB-DE4B-95CE-6DB70DBA9567}" type="datetimeFigureOut">
              <a:rPr lang="en-US" smtClean="0"/>
              <a:pPr/>
              <a:t>8/12/26</a:t>
            </a:fld>
            <a:endParaRPr lang="en-US" dirty="0"/>
          </a:p>
        </p:txBody>
      </p:sp>
      <p:sp>
        <p:nvSpPr>
          <p:cNvPr id="6" name="Footer Placeholder 5">
            <a:extLst>
              <a:ext uri="{FF2B5EF4-FFF2-40B4-BE49-F238E27FC236}">
                <a16:creationId xmlns:a16="http://schemas.microsoft.com/office/drawing/2014/main" id="{D0385DEF-4986-D816-B5EC-52508C7475E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C0C0EB8-9FF8-3665-DFC3-2A23C436C1B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42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4349C-55F4-8DD2-B5B3-F25C3269E19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7961ACD-3ECA-19BE-9063-F5AAB3BE801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7746CB2-8338-345D-B066-B1D7BFD27E92}"/>
              </a:ext>
            </a:extLst>
          </p:cNvPr>
          <p:cNvSpPr>
            <a:spLocks noGrp="1"/>
          </p:cNvSpPr>
          <p:nvPr>
            <p:ph type="dt" sz="half" idx="10"/>
          </p:nvPr>
        </p:nvSpPr>
        <p:spPr/>
        <p:txBody>
          <a:bodyPr/>
          <a:lstStyle/>
          <a:p>
            <a:fld id="{B61BEF0D-F0BB-DE4B-95CE-6DB70DBA9567}" type="datetimeFigureOut">
              <a:rPr lang="en-US" smtClean="0"/>
              <a:pPr/>
              <a:t>8/12/26</a:t>
            </a:fld>
            <a:endParaRPr lang="en-US" dirty="0"/>
          </a:p>
        </p:txBody>
      </p:sp>
      <p:sp>
        <p:nvSpPr>
          <p:cNvPr id="5" name="Footer Placeholder 4">
            <a:extLst>
              <a:ext uri="{FF2B5EF4-FFF2-40B4-BE49-F238E27FC236}">
                <a16:creationId xmlns:a16="http://schemas.microsoft.com/office/drawing/2014/main" id="{68CEA996-1CE2-090B-003F-5B7EB520599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1D362C-DC52-130E-3EDD-CFC6E248755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0568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A7662E-7958-3ADE-A998-F33C75EF65A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826EE86-C6DB-34C8-839F-4C05EA0D8B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8AB12CF-5E36-6937-CC03-FD4DAFCCF839}"/>
              </a:ext>
            </a:extLst>
          </p:cNvPr>
          <p:cNvSpPr>
            <a:spLocks noGrp="1"/>
          </p:cNvSpPr>
          <p:nvPr>
            <p:ph type="dt" sz="half" idx="10"/>
          </p:nvPr>
        </p:nvSpPr>
        <p:spPr/>
        <p:txBody>
          <a:bodyPr/>
          <a:lstStyle/>
          <a:p>
            <a:fld id="{B61BEF0D-F0BB-DE4B-95CE-6DB70DBA9567}" type="datetimeFigureOut">
              <a:rPr lang="en-US" smtClean="0"/>
              <a:pPr/>
              <a:t>8/12/26</a:t>
            </a:fld>
            <a:endParaRPr lang="en-US" dirty="0"/>
          </a:p>
        </p:txBody>
      </p:sp>
      <p:sp>
        <p:nvSpPr>
          <p:cNvPr id="5" name="Footer Placeholder 4">
            <a:extLst>
              <a:ext uri="{FF2B5EF4-FFF2-40B4-BE49-F238E27FC236}">
                <a16:creationId xmlns:a16="http://schemas.microsoft.com/office/drawing/2014/main" id="{B3A791FE-5CDC-76E7-1D6A-CFFC7D5024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B481ADC-D743-398A-851E-E742E36C1CD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178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32BC51-9F87-6890-45C0-643E6F552D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F1906F5-F306-E89C-5151-AA5BF69AA1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A6B21F-4F09-4E1F-433A-CF40F62B9D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8/12/26</a:t>
            </a:fld>
            <a:endParaRPr lang="en-US" dirty="0"/>
          </a:p>
        </p:txBody>
      </p:sp>
      <p:sp>
        <p:nvSpPr>
          <p:cNvPr id="5" name="Footer Placeholder 4">
            <a:extLst>
              <a:ext uri="{FF2B5EF4-FFF2-40B4-BE49-F238E27FC236}">
                <a16:creationId xmlns:a16="http://schemas.microsoft.com/office/drawing/2014/main" id="{392909DE-CA0F-77A5-6135-84F8389D9B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2256ADA-A62D-616A-836C-0D9BA5F7E5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23103942"/>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youtube.com/watch?v=lyf5jGIrwQE&amp;list=PLhwIOYE-ldwL6h-peJADfNm8bbO3GlKEy&amp;index=11" TargetMode="External"/><Relationship Id="rId7" Type="http://schemas.openxmlformats.org/officeDocument/2006/relationships/hyperlink" Target="https://www.kaggle.com/code/zahidbd/lecture3-nb-2"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hyperlink" Target="https://www.kaggle.com/code/zahidbd/cv-color-lecture3/" TargetMode="External"/><Relationship Id="rId5" Type="http://schemas.openxmlformats.org/officeDocument/2006/relationships/hyperlink" Target="https://cvl-umass.github.io/intro-cv-spring-2025/assets/notes/imageformation.pdf" TargetMode="External"/><Relationship Id="rId4" Type="http://schemas.openxmlformats.org/officeDocument/2006/relationships/hyperlink" Target="https://www.youtube.com/watch?v=NBbzmOSJkTg&amp;list=PLhwIOYE-ldwL6h-peJADfNm8bbO3GlKEy&amp;index=12&amp;t=608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89241-48AD-583C-9840-CDD40301C01C}"/>
              </a:ext>
            </a:extLst>
          </p:cNvPr>
          <p:cNvSpPr>
            <a:spLocks noGrp="1"/>
          </p:cNvSpPr>
          <p:nvPr>
            <p:ph type="ctrTitle"/>
          </p:nvPr>
        </p:nvSpPr>
        <p:spPr/>
        <p:txBody>
          <a:bodyPr/>
          <a:lstStyle/>
          <a:p>
            <a:r>
              <a:rPr lang="en-US" dirty="0"/>
              <a:t>COMPUTER VISION</a:t>
            </a:r>
          </a:p>
        </p:txBody>
      </p:sp>
      <p:sp>
        <p:nvSpPr>
          <p:cNvPr id="3" name="Subtitle 2">
            <a:extLst>
              <a:ext uri="{FF2B5EF4-FFF2-40B4-BE49-F238E27FC236}">
                <a16:creationId xmlns:a16="http://schemas.microsoft.com/office/drawing/2014/main" id="{B1F2094C-5F63-31E5-6117-5B63798264D5}"/>
              </a:ext>
            </a:extLst>
          </p:cNvPr>
          <p:cNvSpPr>
            <a:spLocks noGrp="1"/>
          </p:cNvSpPr>
          <p:nvPr>
            <p:ph type="subTitle" idx="1"/>
          </p:nvPr>
        </p:nvSpPr>
        <p:spPr/>
        <p:txBody>
          <a:bodyPr/>
          <a:lstStyle/>
          <a:p>
            <a:r>
              <a:rPr lang="en-US" b="1" dirty="0"/>
              <a:t>Week 3</a:t>
            </a:r>
          </a:p>
          <a:p>
            <a:r>
              <a:rPr lang="en-US" dirty="0"/>
              <a:t>Lecture 3 (11/08/2026)</a:t>
            </a:r>
          </a:p>
          <a:p>
            <a:r>
              <a:rPr lang="en-US" dirty="0"/>
              <a:t>0714 02 CSE 4239</a:t>
            </a:r>
          </a:p>
        </p:txBody>
      </p:sp>
    </p:spTree>
    <p:extLst>
      <p:ext uri="{BB962C8B-B14F-4D97-AF65-F5344CB8AC3E}">
        <p14:creationId xmlns:p14="http://schemas.microsoft.com/office/powerpoint/2010/main" val="3060475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747381-FBB5-C3DA-5B52-957A35865D0B}"/>
              </a:ext>
            </a:extLst>
          </p:cNvPr>
          <p:cNvSpPr>
            <a:spLocks noGrp="1"/>
          </p:cNvSpPr>
          <p:nvPr>
            <p:ph idx="1"/>
          </p:nvPr>
        </p:nvSpPr>
        <p:spPr>
          <a:xfrm>
            <a:off x="838200" y="1825625"/>
            <a:ext cx="5043616" cy="4351338"/>
          </a:xfrm>
        </p:spPr>
        <p:txBody>
          <a:bodyPr/>
          <a:lstStyle/>
          <a:p>
            <a:r>
              <a:rPr lang="en-AU" b="1" dirty="0"/>
              <a:t>Depth of field</a:t>
            </a:r>
            <a:r>
              <a:rPr lang="en-AU" dirty="0"/>
              <a:t> refers to the range of depth values for which objects appear acceptably sharp in the image.</a:t>
            </a:r>
          </a:p>
          <a:p>
            <a:r>
              <a:rPr lang="en-AU" b="1" dirty="0"/>
              <a:t>Pinhole camera</a:t>
            </a:r>
            <a:r>
              <a:rPr lang="en-AU" dirty="0"/>
              <a:t>: has an infinite depth of field. </a:t>
            </a:r>
          </a:p>
          <a:p>
            <a:pPr lvl="0"/>
            <a:r>
              <a:rPr lang="en-AU" b="1" dirty="0"/>
              <a:t>Lens camera</a:t>
            </a:r>
            <a:r>
              <a:rPr lang="en-AU" dirty="0"/>
              <a:t>: a lens camera has a finite depth of field. </a:t>
            </a:r>
          </a:p>
        </p:txBody>
      </p:sp>
      <p:pic>
        <p:nvPicPr>
          <p:cNvPr id="4" name="Picture 3">
            <a:extLst>
              <a:ext uri="{FF2B5EF4-FFF2-40B4-BE49-F238E27FC236}">
                <a16:creationId xmlns:a16="http://schemas.microsoft.com/office/drawing/2014/main" id="{69771370-6C4C-D652-A3EE-9AD4856A0AD6}"/>
              </a:ext>
            </a:extLst>
          </p:cNvPr>
          <p:cNvPicPr>
            <a:picLocks noChangeAspect="1"/>
          </p:cNvPicPr>
          <p:nvPr/>
        </p:nvPicPr>
        <p:blipFill>
          <a:blip r:embed="rId3"/>
          <a:stretch>
            <a:fillRect/>
          </a:stretch>
        </p:blipFill>
        <p:spPr>
          <a:xfrm>
            <a:off x="5753099" y="335581"/>
            <a:ext cx="5927623" cy="6263656"/>
          </a:xfrm>
          <a:prstGeom prst="rect">
            <a:avLst/>
          </a:prstGeom>
        </p:spPr>
      </p:pic>
      <p:sp>
        <p:nvSpPr>
          <p:cNvPr id="2" name="Title 1">
            <a:extLst>
              <a:ext uri="{FF2B5EF4-FFF2-40B4-BE49-F238E27FC236}">
                <a16:creationId xmlns:a16="http://schemas.microsoft.com/office/drawing/2014/main" id="{5A454745-794B-7A91-4E7A-EEDB7759BB33}"/>
              </a:ext>
            </a:extLst>
          </p:cNvPr>
          <p:cNvSpPr>
            <a:spLocks noGrp="1"/>
          </p:cNvSpPr>
          <p:nvPr>
            <p:ph type="title"/>
          </p:nvPr>
        </p:nvSpPr>
        <p:spPr/>
        <p:txBody>
          <a:bodyPr/>
          <a:lstStyle/>
          <a:p>
            <a:r>
              <a:rPr lang="en-AU" b="1" dirty="0"/>
              <a:t>Lens Phenomenon: </a:t>
            </a:r>
            <a:r>
              <a:rPr lang="en-AU" b="1" dirty="0" err="1"/>
              <a:t>DoF</a:t>
            </a:r>
            <a:endParaRPr lang="en-US" b="1" dirty="0"/>
          </a:p>
        </p:txBody>
      </p:sp>
    </p:spTree>
    <p:extLst>
      <p:ext uri="{BB962C8B-B14F-4D97-AF65-F5344CB8AC3E}">
        <p14:creationId xmlns:p14="http://schemas.microsoft.com/office/powerpoint/2010/main" val="3529590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85EE1-5856-C4BD-0734-3ABB8132644E}"/>
              </a:ext>
            </a:extLst>
          </p:cNvPr>
          <p:cNvSpPr>
            <a:spLocks noGrp="1"/>
          </p:cNvSpPr>
          <p:nvPr>
            <p:ph type="title"/>
          </p:nvPr>
        </p:nvSpPr>
        <p:spPr/>
        <p:txBody>
          <a:bodyPr/>
          <a:lstStyle/>
          <a:p>
            <a:r>
              <a:rPr lang="en-AU" b="1" dirty="0"/>
              <a:t>Lens Phenomenon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5290B3-5ED7-1338-AD56-9F4E31E5ECF0}"/>
                  </a:ext>
                </a:extLst>
              </p:cNvPr>
              <p:cNvSpPr>
                <a:spLocks noGrp="1"/>
              </p:cNvSpPr>
              <p:nvPr>
                <p:ph idx="1"/>
              </p:nvPr>
            </p:nvSpPr>
            <p:spPr>
              <a:xfrm>
                <a:off x="838200" y="1825625"/>
                <a:ext cx="11063748" cy="2200685"/>
              </a:xfrm>
            </p:spPr>
            <p:txBody>
              <a:bodyPr/>
              <a:lstStyle/>
              <a:p>
                <a:r>
                  <a:rPr lang="en-AU" b="1" dirty="0"/>
                  <a:t>Focal point</a:t>
                </a:r>
                <a:r>
                  <a:rPr lang="en-AU" dirty="0"/>
                  <a:t>: the point where lenses focus all parallel light rays to the optical axis.</a:t>
                </a:r>
              </a:p>
              <a:p>
                <a:pPr lvl="0"/>
                <a:r>
                  <a:rPr lang="en-AU" b="1" dirty="0"/>
                  <a:t>Focal length</a:t>
                </a:r>
                <a:r>
                  <a:rPr lang="en-AU" dirty="0"/>
                  <a:t>: distance between the focal point and the </a:t>
                </a:r>
                <a:r>
                  <a:rPr lang="en-AU" dirty="0" err="1"/>
                  <a:t>center</a:t>
                </a:r>
                <a:r>
                  <a:rPr lang="en-AU" dirty="0"/>
                  <a:t> of the lens is referred to as the focal length </a:t>
                </a:r>
                <a14:m>
                  <m:oMath xmlns:m="http://schemas.openxmlformats.org/officeDocument/2006/math">
                    <m:r>
                      <a:rPr lang="en-AU" i="1" dirty="0" smtClean="0">
                        <a:latin typeface="Cambria Math" panose="02040503050406030204" pitchFamily="18" charset="0"/>
                      </a:rPr>
                      <m:t>𝑓</m:t>
                    </m:r>
                  </m:oMath>
                </a14:m>
                <a:r>
                  <a:rPr lang="en-AU" dirty="0"/>
                  <a:t>.</a:t>
                </a:r>
              </a:p>
            </p:txBody>
          </p:sp>
        </mc:Choice>
        <mc:Fallback xmlns="">
          <p:sp>
            <p:nvSpPr>
              <p:cNvPr id="3" name="Content Placeholder 2">
                <a:extLst>
                  <a:ext uri="{FF2B5EF4-FFF2-40B4-BE49-F238E27FC236}">
                    <a16:creationId xmlns:a16="http://schemas.microsoft.com/office/drawing/2014/main" id="{295290B3-5ED7-1338-AD56-9F4E31E5ECF0}"/>
                  </a:ext>
                </a:extLst>
              </p:cNvPr>
              <p:cNvSpPr>
                <a:spLocks noGrp="1" noRot="1" noChangeAspect="1" noMove="1" noResize="1" noEditPoints="1" noAdjustHandles="1" noChangeArrowheads="1" noChangeShapeType="1" noTextEdit="1"/>
              </p:cNvSpPr>
              <p:nvPr>
                <p:ph idx="1"/>
              </p:nvPr>
            </p:nvSpPr>
            <p:spPr>
              <a:xfrm>
                <a:off x="838200" y="1825625"/>
                <a:ext cx="11063748" cy="2200685"/>
              </a:xfrm>
              <a:blipFill>
                <a:blip r:embed="rId3"/>
                <a:stretch>
                  <a:fillRect l="-1033" t="-4598" r="-45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38CD1CC-3826-FBCC-E4D3-E60C357EB2BE}"/>
              </a:ext>
            </a:extLst>
          </p:cNvPr>
          <p:cNvPicPr>
            <a:picLocks noChangeAspect="1"/>
          </p:cNvPicPr>
          <p:nvPr/>
        </p:nvPicPr>
        <p:blipFill>
          <a:blip r:embed="rId4"/>
          <a:stretch>
            <a:fillRect/>
          </a:stretch>
        </p:blipFill>
        <p:spPr>
          <a:xfrm>
            <a:off x="3999487" y="3604060"/>
            <a:ext cx="7902461" cy="2888815"/>
          </a:xfrm>
          <a:prstGeom prst="rect">
            <a:avLst/>
          </a:prstGeom>
        </p:spPr>
      </p:pic>
      <p:sp>
        <p:nvSpPr>
          <p:cNvPr id="5" name="TextBox 4">
            <a:extLst>
              <a:ext uri="{FF2B5EF4-FFF2-40B4-BE49-F238E27FC236}">
                <a16:creationId xmlns:a16="http://schemas.microsoft.com/office/drawing/2014/main" id="{04944895-1EDF-FBA6-E194-B6EEF505E750}"/>
              </a:ext>
            </a:extLst>
          </p:cNvPr>
          <p:cNvSpPr txBox="1"/>
          <p:nvPr/>
        </p:nvSpPr>
        <p:spPr>
          <a:xfrm>
            <a:off x="310108" y="4161247"/>
            <a:ext cx="4217471" cy="1938992"/>
          </a:xfrm>
          <a:prstGeom prst="rect">
            <a:avLst/>
          </a:prstGeom>
          <a:noFill/>
        </p:spPr>
        <p:txBody>
          <a:bodyPr wrap="square" rtlCol="0">
            <a:spAutoFit/>
          </a:bodyPr>
          <a:lstStyle/>
          <a:p>
            <a:r>
              <a:rPr lang="en-AU" sz="2000" dirty="0"/>
              <a:t>The depth of field is </a:t>
            </a:r>
            <a:r>
              <a:rPr lang="en-AU" sz="2000" b="1" dirty="0"/>
              <a:t>inversely related to the focal length.</a:t>
            </a:r>
          </a:p>
          <a:p>
            <a:r>
              <a:rPr lang="en-AU" sz="2000" b="1" dirty="0"/>
              <a:t>- </a:t>
            </a:r>
            <a:r>
              <a:rPr lang="en-AU" sz="2000" dirty="0"/>
              <a:t>Microscopes use high magnification and </a:t>
            </a:r>
            <a:r>
              <a:rPr lang="en-AU" sz="2000" b="1" dirty="0"/>
              <a:t>long effective focal lengths</a:t>
            </a:r>
            <a:r>
              <a:rPr lang="en-AU" sz="2000" dirty="0"/>
              <a:t>/close focus, which results in an </a:t>
            </a:r>
            <a:r>
              <a:rPr lang="en-AU" sz="2000" b="1" dirty="0"/>
              <a:t>extremely narrow (shallow) depth of field</a:t>
            </a:r>
            <a:r>
              <a:rPr lang="en-AU" sz="2000" dirty="0"/>
              <a:t>.</a:t>
            </a:r>
          </a:p>
        </p:txBody>
      </p:sp>
    </p:spTree>
    <p:extLst>
      <p:ext uri="{BB962C8B-B14F-4D97-AF65-F5344CB8AC3E}">
        <p14:creationId xmlns:p14="http://schemas.microsoft.com/office/powerpoint/2010/main" val="1152212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ECF74-27D8-D4B7-52BA-ADD5B3B79054}"/>
              </a:ext>
            </a:extLst>
          </p:cNvPr>
          <p:cNvSpPr>
            <a:spLocks noGrp="1"/>
          </p:cNvSpPr>
          <p:nvPr>
            <p:ph type="title"/>
          </p:nvPr>
        </p:nvSpPr>
        <p:spPr/>
        <p:txBody>
          <a:bodyPr/>
          <a:lstStyle/>
          <a:p>
            <a:r>
              <a:rPr lang="en-AU" b="1" dirty="0"/>
              <a:t>Depth of Field</a:t>
            </a:r>
            <a:endParaRPr lang="en-US" b="1" dirty="0"/>
          </a:p>
        </p:txBody>
      </p:sp>
      <p:sp>
        <p:nvSpPr>
          <p:cNvPr id="3" name="Content Placeholder 2">
            <a:extLst>
              <a:ext uri="{FF2B5EF4-FFF2-40B4-BE49-F238E27FC236}">
                <a16:creationId xmlns:a16="http://schemas.microsoft.com/office/drawing/2014/main" id="{31FACEDD-13DE-8C56-BDA5-F740136E601B}"/>
              </a:ext>
            </a:extLst>
          </p:cNvPr>
          <p:cNvSpPr>
            <a:spLocks noGrp="1"/>
          </p:cNvSpPr>
          <p:nvPr>
            <p:ph idx="1"/>
          </p:nvPr>
        </p:nvSpPr>
        <p:spPr>
          <a:xfrm>
            <a:off x="838199" y="1825625"/>
            <a:ext cx="5927623" cy="1603375"/>
          </a:xfrm>
        </p:spPr>
        <p:txBody>
          <a:bodyPr>
            <a:normAutofit lnSpcReduction="10000"/>
          </a:bodyPr>
          <a:lstStyle/>
          <a:p>
            <a:r>
              <a:rPr lang="en-AU" b="1" dirty="0"/>
              <a:t>Focal length:</a:t>
            </a:r>
            <a:r>
              <a:rPr lang="en-AU" dirty="0"/>
              <a:t> A wide lens (small mm) gives a large depth of field. A telephoto lens (large mm) gives a narrow depth of field.</a:t>
            </a:r>
          </a:p>
          <a:p>
            <a:endParaRPr lang="en-US" dirty="0"/>
          </a:p>
        </p:txBody>
      </p:sp>
      <p:pic>
        <p:nvPicPr>
          <p:cNvPr id="4" name="Picture 3">
            <a:extLst>
              <a:ext uri="{FF2B5EF4-FFF2-40B4-BE49-F238E27FC236}">
                <a16:creationId xmlns:a16="http://schemas.microsoft.com/office/drawing/2014/main" id="{9EB0C7D0-1950-D484-3864-B63AFEA9EFA1}"/>
              </a:ext>
            </a:extLst>
          </p:cNvPr>
          <p:cNvPicPr>
            <a:picLocks noChangeAspect="1"/>
          </p:cNvPicPr>
          <p:nvPr/>
        </p:nvPicPr>
        <p:blipFill>
          <a:blip r:embed="rId3"/>
          <a:stretch>
            <a:fillRect/>
          </a:stretch>
        </p:blipFill>
        <p:spPr>
          <a:xfrm>
            <a:off x="6096000" y="594344"/>
            <a:ext cx="5927623" cy="6263656"/>
          </a:xfrm>
          <a:prstGeom prst="rect">
            <a:avLst/>
          </a:prstGeom>
        </p:spPr>
      </p:pic>
      <p:sp>
        <p:nvSpPr>
          <p:cNvPr id="5" name="TextBox 4">
            <a:extLst>
              <a:ext uri="{FF2B5EF4-FFF2-40B4-BE49-F238E27FC236}">
                <a16:creationId xmlns:a16="http://schemas.microsoft.com/office/drawing/2014/main" id="{6494CAF0-5611-15EE-E8E0-04663D427159}"/>
              </a:ext>
            </a:extLst>
          </p:cNvPr>
          <p:cNvSpPr txBox="1"/>
          <p:nvPr/>
        </p:nvSpPr>
        <p:spPr>
          <a:xfrm>
            <a:off x="353961" y="3952568"/>
            <a:ext cx="5383161" cy="1569660"/>
          </a:xfrm>
          <a:prstGeom prst="rect">
            <a:avLst/>
          </a:prstGeom>
          <a:noFill/>
        </p:spPr>
        <p:txBody>
          <a:bodyPr wrap="square" rtlCol="0">
            <a:spAutoFit/>
          </a:bodyPr>
          <a:lstStyle/>
          <a:p>
            <a:r>
              <a:rPr lang="en-AU" sz="2400" dirty="0"/>
              <a:t>We can control the depth of field by adjusting the aperture size. </a:t>
            </a:r>
          </a:p>
          <a:p>
            <a:r>
              <a:rPr lang="en-AU" sz="2400" dirty="0"/>
              <a:t>- Reducing the aperture size increases the depth of field.</a:t>
            </a:r>
          </a:p>
        </p:txBody>
      </p:sp>
      <p:pic>
        <p:nvPicPr>
          <p:cNvPr id="6" name="Picture 5">
            <a:extLst>
              <a:ext uri="{FF2B5EF4-FFF2-40B4-BE49-F238E27FC236}">
                <a16:creationId xmlns:a16="http://schemas.microsoft.com/office/drawing/2014/main" id="{7B474D15-2972-61F3-8FEA-637DEBD856F1}"/>
              </a:ext>
            </a:extLst>
          </p:cNvPr>
          <p:cNvPicPr>
            <a:picLocks noChangeAspect="1"/>
          </p:cNvPicPr>
          <p:nvPr/>
        </p:nvPicPr>
        <p:blipFill>
          <a:blip r:embed="rId4"/>
          <a:stretch>
            <a:fillRect/>
          </a:stretch>
        </p:blipFill>
        <p:spPr>
          <a:xfrm>
            <a:off x="5949950" y="2627312"/>
            <a:ext cx="6073672" cy="3545711"/>
          </a:xfrm>
          <a:prstGeom prst="rect">
            <a:avLst/>
          </a:prstGeom>
        </p:spPr>
      </p:pic>
    </p:spTree>
    <p:extLst>
      <p:ext uri="{BB962C8B-B14F-4D97-AF65-F5344CB8AC3E}">
        <p14:creationId xmlns:p14="http://schemas.microsoft.com/office/powerpoint/2010/main" val="2735322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xit" presetSubtype="0" fill="hold" nodeType="afterEffect">
                                  <p:stCondLst>
                                    <p:cond delay="0"/>
                                  </p:stCondLst>
                                  <p:childTnLst>
                                    <p:set>
                                      <p:cBhvr>
                                        <p:cTn id="9" dur="1" fill="hold">
                                          <p:stCondLst>
                                            <p:cond delay="0"/>
                                          </p:stCondLst>
                                        </p:cTn>
                                        <p:tgtEl>
                                          <p:spTgt spid="4"/>
                                        </p:tgtEl>
                                        <p:attrNameLst>
                                          <p:attrName>style.visibility</p:attrName>
                                        </p:attrNameLst>
                                      </p:cBhvr>
                                      <p:to>
                                        <p:strVal val="hidden"/>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C570-29A4-48F6-FC6B-035896B8A971}"/>
              </a:ext>
            </a:extLst>
          </p:cNvPr>
          <p:cNvSpPr>
            <a:spLocks noGrp="1"/>
          </p:cNvSpPr>
          <p:nvPr>
            <p:ph type="title"/>
          </p:nvPr>
        </p:nvSpPr>
        <p:spPr>
          <a:xfrm>
            <a:off x="543235" y="365125"/>
            <a:ext cx="10515600" cy="1021223"/>
          </a:xfrm>
        </p:spPr>
        <p:txBody>
          <a:bodyPr/>
          <a:lstStyle/>
          <a:p>
            <a:r>
              <a:rPr lang="en-AU" b="1" dirty="0"/>
              <a:t>Lens Flaws</a:t>
            </a:r>
            <a:endParaRPr lang="en-US" b="1" dirty="0"/>
          </a:p>
        </p:txBody>
      </p:sp>
      <p:pic>
        <p:nvPicPr>
          <p:cNvPr id="5" name="Picture 4">
            <a:extLst>
              <a:ext uri="{FF2B5EF4-FFF2-40B4-BE49-F238E27FC236}">
                <a16:creationId xmlns:a16="http://schemas.microsoft.com/office/drawing/2014/main" id="{B0A66B06-27AE-9287-4AA3-EA6EA19CB918}"/>
              </a:ext>
            </a:extLst>
          </p:cNvPr>
          <p:cNvPicPr>
            <a:picLocks noChangeAspect="1"/>
          </p:cNvPicPr>
          <p:nvPr/>
        </p:nvPicPr>
        <p:blipFill>
          <a:blip r:embed="rId3"/>
          <a:srcRect t="16207"/>
          <a:stretch>
            <a:fillRect/>
          </a:stretch>
        </p:blipFill>
        <p:spPr>
          <a:xfrm>
            <a:off x="8364588" y="601099"/>
            <a:ext cx="3580581" cy="1968909"/>
          </a:xfrm>
          <a:prstGeom prst="rect">
            <a:avLst/>
          </a:prstGeom>
        </p:spPr>
      </p:pic>
      <p:sp>
        <p:nvSpPr>
          <p:cNvPr id="3" name="Content Placeholder 2">
            <a:extLst>
              <a:ext uri="{FF2B5EF4-FFF2-40B4-BE49-F238E27FC236}">
                <a16:creationId xmlns:a16="http://schemas.microsoft.com/office/drawing/2014/main" id="{FA945535-90A4-DDF3-57F4-93BC9F994AD9}"/>
              </a:ext>
            </a:extLst>
          </p:cNvPr>
          <p:cNvSpPr>
            <a:spLocks noGrp="1"/>
          </p:cNvSpPr>
          <p:nvPr>
            <p:ph idx="1"/>
          </p:nvPr>
        </p:nvSpPr>
        <p:spPr>
          <a:xfrm>
            <a:off x="336759" y="1401097"/>
            <a:ext cx="7907590" cy="4775866"/>
          </a:xfrm>
        </p:spPr>
        <p:txBody>
          <a:bodyPr>
            <a:normAutofit/>
          </a:bodyPr>
          <a:lstStyle/>
          <a:p>
            <a:r>
              <a:rPr lang="en-AU" dirty="0"/>
              <a:t>Wavelength of visible light: from 400 to 700 </a:t>
            </a:r>
            <a:r>
              <a:rPr lang="en-AU" dirty="0" err="1"/>
              <a:t>nanom</a:t>
            </a:r>
            <a:r>
              <a:rPr lang="en-AU" dirty="0"/>
              <a:t>,</a:t>
            </a:r>
          </a:p>
          <a:p>
            <a:pPr lvl="1"/>
            <a:r>
              <a:rPr lang="en-AU" dirty="0"/>
              <a:t>Blue light:</a:t>
            </a:r>
            <a:r>
              <a:rPr lang="en-AU" b="1" dirty="0"/>
              <a:t> </a:t>
            </a:r>
            <a:r>
              <a:rPr lang="en-AU" dirty="0"/>
              <a:t>400</a:t>
            </a:r>
          </a:p>
          <a:p>
            <a:pPr lvl="1"/>
            <a:r>
              <a:rPr lang="en-AU" dirty="0"/>
              <a:t>Red light: 700 </a:t>
            </a:r>
          </a:p>
          <a:p>
            <a:pPr lvl="1"/>
            <a:r>
              <a:rPr lang="en-AU" dirty="0"/>
              <a:t>Green light is at about 550 </a:t>
            </a:r>
            <a:r>
              <a:rPr lang="en-AU" dirty="0" err="1"/>
              <a:t>nanometers</a:t>
            </a:r>
            <a:r>
              <a:rPr lang="en-AU" dirty="0"/>
              <a:t>. </a:t>
            </a:r>
          </a:p>
          <a:p>
            <a:r>
              <a:rPr lang="en-AU" dirty="0"/>
              <a:t>The property that models the </a:t>
            </a:r>
            <a:r>
              <a:rPr lang="en-AU" dirty="0" err="1"/>
              <a:t>bendingness</a:t>
            </a:r>
            <a:r>
              <a:rPr lang="en-AU" dirty="0"/>
              <a:t> of light rays in lens is called the </a:t>
            </a:r>
            <a:r>
              <a:rPr lang="en-AU" b="1" dirty="0"/>
              <a:t>refractive index</a:t>
            </a:r>
            <a:r>
              <a:rPr lang="en-AU" dirty="0"/>
              <a:t>. </a:t>
            </a:r>
          </a:p>
          <a:p>
            <a:r>
              <a:rPr lang="en-AU" dirty="0"/>
              <a:t>Raw materials for lens e.g., glass or plastic has different refractive indices. </a:t>
            </a:r>
          </a:p>
          <a:p>
            <a:r>
              <a:rPr lang="en-AU" dirty="0"/>
              <a:t>Refractive index is a function of the wavelength i.e., the focal length of a lens also depends on the wavelength.</a:t>
            </a:r>
          </a:p>
        </p:txBody>
      </p:sp>
      <p:pic>
        <p:nvPicPr>
          <p:cNvPr id="6" name="Picture 5" descr="Refractive index versus wavelength for amorphous selenium thin film |  Download Scientific Diagram">
            <a:extLst>
              <a:ext uri="{FF2B5EF4-FFF2-40B4-BE49-F238E27FC236}">
                <a16:creationId xmlns:a16="http://schemas.microsoft.com/office/drawing/2014/main" id="{951CB816-1F3B-E119-D2FA-9B767665C6EB}"/>
              </a:ext>
            </a:extLst>
          </p:cNvPr>
          <p:cNvPicPr>
            <a:picLocks noChangeAspect="1"/>
          </p:cNvPicPr>
          <p:nvPr/>
        </p:nvPicPr>
        <p:blipFill>
          <a:blip r:embed="rId4"/>
          <a:stretch>
            <a:fillRect/>
          </a:stretch>
        </p:blipFill>
        <p:spPr>
          <a:xfrm>
            <a:off x="8970983" y="2967345"/>
            <a:ext cx="2809491" cy="250430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C3CEE03-7A4C-B55F-BD79-A1A2E4DB093D}"/>
                  </a:ext>
                </a:extLst>
              </p:cNvPr>
              <p:cNvSpPr txBox="1"/>
              <p:nvPr/>
            </p:nvSpPr>
            <p:spPr>
              <a:xfrm>
                <a:off x="6994092" y="5716275"/>
                <a:ext cx="1771254" cy="369332"/>
              </a:xfrm>
              <a:prstGeom prst="rect">
                <a:avLst/>
              </a:prstGeom>
              <a:noFill/>
            </p:spPr>
            <p:txBody>
              <a:bodyPr wrap="none" rtlCol="0">
                <a:spAutoFit/>
              </a:bodyPr>
              <a:lstStyle/>
              <a:p>
                <a14:m>
                  <m:oMath xmlns:m="http://schemas.openxmlformats.org/officeDocument/2006/math">
                    <m:r>
                      <a:rPr lang="en-US" i="1" dirty="0">
                        <a:latin typeface="Cambria Math" panose="02040503050406030204" pitchFamily="18" charset="0"/>
                      </a:rPr>
                      <m:t>𝑓</m:t>
                    </m:r>
                  </m:oMath>
                </a14:m>
                <a:r>
                  <a:rPr lang="en-US" dirty="0"/>
                  <a:t> depends on </a:t>
                </a:r>
                <a14:m>
                  <m:oMath xmlns:m="http://schemas.openxmlformats.org/officeDocument/2006/math">
                    <m:r>
                      <a:rPr lang="en-US" i="1" dirty="0" smtClean="0">
                        <a:latin typeface="Cambria Math" panose="02040503050406030204" pitchFamily="18" charset="0"/>
                      </a:rPr>
                      <m:t>𝑅𝐼</m:t>
                    </m:r>
                  </m:oMath>
                </a14:m>
                <a:endParaRPr lang="en-US" dirty="0"/>
              </a:p>
            </p:txBody>
          </p:sp>
        </mc:Choice>
        <mc:Fallback xmlns="">
          <p:sp>
            <p:nvSpPr>
              <p:cNvPr id="7" name="TextBox 6">
                <a:extLst>
                  <a:ext uri="{FF2B5EF4-FFF2-40B4-BE49-F238E27FC236}">
                    <a16:creationId xmlns:a16="http://schemas.microsoft.com/office/drawing/2014/main" id="{AC3CEE03-7A4C-B55F-BD79-A1A2E4DB093D}"/>
                  </a:ext>
                </a:extLst>
              </p:cNvPr>
              <p:cNvSpPr txBox="1">
                <a:spLocks noRot="1" noChangeAspect="1" noMove="1" noResize="1" noEditPoints="1" noAdjustHandles="1" noChangeArrowheads="1" noChangeShapeType="1" noTextEdit="1"/>
              </p:cNvSpPr>
              <p:nvPr/>
            </p:nvSpPr>
            <p:spPr>
              <a:xfrm>
                <a:off x="6994092" y="5716275"/>
                <a:ext cx="1771254" cy="369332"/>
              </a:xfrm>
              <a:prstGeom prst="rect">
                <a:avLst/>
              </a:prstGeom>
              <a:blipFill>
                <a:blip r:embed="rId5"/>
                <a:stretch>
                  <a:fillRect l="-709" t="-10000"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39E1422-28E7-0F2B-B336-8450BBBF8073}"/>
                  </a:ext>
                </a:extLst>
              </p:cNvPr>
              <p:cNvSpPr txBox="1"/>
              <p:nvPr/>
            </p:nvSpPr>
            <p:spPr>
              <a:xfrm>
                <a:off x="6909293" y="6284712"/>
                <a:ext cx="1940852" cy="369332"/>
              </a:xfrm>
              <a:prstGeom prst="rect">
                <a:avLst/>
              </a:prstGeom>
              <a:noFill/>
            </p:spPr>
            <p:txBody>
              <a:bodyPr wrap="none" rtlCol="0">
                <a:spAutoFit/>
              </a:bodyPr>
              <a:lstStyle/>
              <a:p>
                <a14:m>
                  <m:oMath xmlns:m="http://schemas.openxmlformats.org/officeDocument/2006/math">
                    <m:r>
                      <a:rPr lang="en-AU" b="0" i="1" dirty="0" smtClean="0">
                        <a:latin typeface="Cambria Math" panose="02040503050406030204" pitchFamily="18" charset="0"/>
                      </a:rPr>
                      <m:t>𝑅𝐼</m:t>
                    </m:r>
                  </m:oMath>
                </a14:m>
                <a:r>
                  <a:rPr lang="en-US" dirty="0"/>
                  <a:t> depends on WL</a:t>
                </a:r>
              </a:p>
            </p:txBody>
          </p:sp>
        </mc:Choice>
        <mc:Fallback xmlns="">
          <p:sp>
            <p:nvSpPr>
              <p:cNvPr id="8" name="TextBox 7">
                <a:extLst>
                  <a:ext uri="{FF2B5EF4-FFF2-40B4-BE49-F238E27FC236}">
                    <a16:creationId xmlns:a16="http://schemas.microsoft.com/office/drawing/2014/main" id="{439E1422-28E7-0F2B-B336-8450BBBF8073}"/>
                  </a:ext>
                </a:extLst>
              </p:cNvPr>
              <p:cNvSpPr txBox="1">
                <a:spLocks noRot="1" noChangeAspect="1" noMove="1" noResize="1" noEditPoints="1" noAdjustHandles="1" noChangeArrowheads="1" noChangeShapeType="1" noTextEdit="1"/>
              </p:cNvSpPr>
              <p:nvPr/>
            </p:nvSpPr>
            <p:spPr>
              <a:xfrm>
                <a:off x="6909293" y="6284712"/>
                <a:ext cx="1940852" cy="369332"/>
              </a:xfrm>
              <a:prstGeom prst="rect">
                <a:avLst/>
              </a:prstGeom>
              <a:blipFill>
                <a:blip r:embed="rId6"/>
                <a:stretch>
                  <a:fillRect t="-6452" r="-194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4760E3F-D44C-359B-E57C-F194EA47AAF7}"/>
                  </a:ext>
                </a:extLst>
              </p:cNvPr>
              <p:cNvSpPr txBox="1"/>
              <p:nvPr/>
            </p:nvSpPr>
            <p:spPr>
              <a:xfrm>
                <a:off x="9904383" y="5968587"/>
                <a:ext cx="1876091" cy="369332"/>
              </a:xfrm>
              <a:prstGeom prst="rect">
                <a:avLst/>
              </a:prstGeom>
              <a:noFill/>
            </p:spPr>
            <p:txBody>
              <a:bodyPr wrap="none" rtlCol="0">
                <a:spAutoFit/>
              </a:bodyPr>
              <a:lstStyle/>
              <a:p>
                <a14:m>
                  <m:oMath xmlns:m="http://schemas.openxmlformats.org/officeDocument/2006/math">
                    <m:r>
                      <a:rPr lang="en-US" i="1" dirty="0" smtClean="0">
                        <a:latin typeface="Cambria Math" panose="02040503050406030204" pitchFamily="18" charset="0"/>
                      </a:rPr>
                      <m:t>𝑓</m:t>
                    </m:r>
                  </m:oMath>
                </a14:m>
                <a:r>
                  <a:rPr lang="en-US" dirty="0"/>
                  <a:t> depends on </a:t>
                </a:r>
                <a14:m>
                  <m:oMath xmlns:m="http://schemas.openxmlformats.org/officeDocument/2006/math">
                    <m:r>
                      <a:rPr lang="en-AU" b="0" i="1" dirty="0" smtClean="0">
                        <a:latin typeface="Cambria Math" panose="02040503050406030204" pitchFamily="18" charset="0"/>
                      </a:rPr>
                      <m:t>𝑊𝐿</m:t>
                    </m:r>
                  </m:oMath>
                </a14:m>
                <a:endParaRPr lang="en-US" dirty="0"/>
              </a:p>
            </p:txBody>
          </p:sp>
        </mc:Choice>
        <mc:Fallback xmlns="">
          <p:sp>
            <p:nvSpPr>
              <p:cNvPr id="11" name="TextBox 10">
                <a:extLst>
                  <a:ext uri="{FF2B5EF4-FFF2-40B4-BE49-F238E27FC236}">
                    <a16:creationId xmlns:a16="http://schemas.microsoft.com/office/drawing/2014/main" id="{04760E3F-D44C-359B-E57C-F194EA47AAF7}"/>
                  </a:ext>
                </a:extLst>
              </p:cNvPr>
              <p:cNvSpPr txBox="1">
                <a:spLocks noRot="1" noChangeAspect="1" noMove="1" noResize="1" noEditPoints="1" noAdjustHandles="1" noChangeArrowheads="1" noChangeShapeType="1" noTextEdit="1"/>
              </p:cNvSpPr>
              <p:nvPr/>
            </p:nvSpPr>
            <p:spPr>
              <a:xfrm>
                <a:off x="9904383" y="5968587"/>
                <a:ext cx="1876091" cy="369332"/>
              </a:xfrm>
              <a:prstGeom prst="rect">
                <a:avLst/>
              </a:prstGeom>
              <a:blipFill>
                <a:blip r:embed="rId7"/>
                <a:stretch>
                  <a:fillRect l="-1351" t="-3226" b="-22581"/>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B54EB712-DE30-C376-3FEB-002F2EB316BF}"/>
              </a:ext>
            </a:extLst>
          </p:cNvPr>
          <p:cNvCxnSpPr>
            <a:stCxn id="7" idx="3"/>
            <a:endCxn id="11" idx="1"/>
          </p:cNvCxnSpPr>
          <p:nvPr/>
        </p:nvCxnSpPr>
        <p:spPr>
          <a:xfrm>
            <a:off x="8765346" y="5900941"/>
            <a:ext cx="1139037" cy="252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5059B74-B539-A094-F770-24FF2046021A}"/>
              </a:ext>
            </a:extLst>
          </p:cNvPr>
          <p:cNvCxnSpPr>
            <a:cxnSpLocks/>
            <a:endCxn id="11" idx="1"/>
          </p:cNvCxnSpPr>
          <p:nvPr/>
        </p:nvCxnSpPr>
        <p:spPr>
          <a:xfrm flipV="1">
            <a:off x="8765346" y="6153253"/>
            <a:ext cx="1139037" cy="316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6949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458D4-8E39-D0AE-DA72-51E9FB5682F1}"/>
              </a:ext>
            </a:extLst>
          </p:cNvPr>
          <p:cNvSpPr>
            <a:spLocks noGrp="1"/>
          </p:cNvSpPr>
          <p:nvPr>
            <p:ph type="title"/>
          </p:nvPr>
        </p:nvSpPr>
        <p:spPr/>
        <p:txBody>
          <a:bodyPr/>
          <a:lstStyle/>
          <a:p>
            <a:r>
              <a:rPr lang="en-AU" b="1" dirty="0"/>
              <a:t>Lens Flaws</a:t>
            </a: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6D52B2B-8D20-6E74-D1B5-CF21EBA44936}"/>
                  </a:ext>
                </a:extLst>
              </p:cNvPr>
              <p:cNvSpPr txBox="1"/>
              <p:nvPr/>
            </p:nvSpPr>
            <p:spPr>
              <a:xfrm>
                <a:off x="77080" y="1675866"/>
                <a:ext cx="6594213" cy="1015663"/>
              </a:xfrm>
              <a:prstGeom prst="rect">
                <a:avLst/>
              </a:prstGeom>
              <a:noFill/>
            </p:spPr>
            <p:txBody>
              <a:bodyPr wrap="square" rtlCol="0">
                <a:spAutoFit/>
              </a:bodyPr>
              <a:lstStyle/>
              <a:p>
                <a:pPr marL="742950" lvl="1" indent="-285750">
                  <a:buFont typeface="Arial" panose="020B0604020202020204" pitchFamily="34" charset="0"/>
                  <a:buChar char="•"/>
                </a:pPr>
                <a:r>
                  <a:rPr lang="en-AU" sz="2000" dirty="0"/>
                  <a:t>Red light WL of Blue light &lt; WL of Green light &lt; WL Red light</a:t>
                </a:r>
              </a:p>
              <a:p>
                <a:pPr marL="742950" lvl="1" indent="-285750">
                  <a:buFont typeface="Arial" panose="020B0604020202020204" pitchFamily="34" charset="0"/>
                  <a:buChar char="•"/>
                </a:pPr>
                <a14:m>
                  <m:oMath xmlns:m="http://schemas.openxmlformats.org/officeDocument/2006/math">
                    <m:r>
                      <a:rPr lang="en-AU" sz="2000" b="0" i="1" smtClean="0">
                        <a:latin typeface="Cambria Math" panose="02040503050406030204" pitchFamily="18" charset="0"/>
                      </a:rPr>
                      <m:t>𝑓</m:t>
                    </m:r>
                  </m:oMath>
                </a14:m>
                <a:r>
                  <a:rPr lang="en-AU" sz="2000" dirty="0"/>
                  <a:t> of Blue light &lt; </a:t>
                </a:r>
                <a14:m>
                  <m:oMath xmlns:m="http://schemas.openxmlformats.org/officeDocument/2006/math">
                    <m:r>
                      <a:rPr lang="en-AU" sz="2000" b="0" i="1" dirty="0" smtClean="0">
                        <a:latin typeface="Cambria Math" panose="02040503050406030204" pitchFamily="18" charset="0"/>
                      </a:rPr>
                      <m:t>𝑓</m:t>
                    </m:r>
                  </m:oMath>
                </a14:m>
                <a:r>
                  <a:rPr lang="en-AU" sz="2000" dirty="0"/>
                  <a:t> of Green light &lt; </a:t>
                </a:r>
                <a14:m>
                  <m:oMath xmlns:m="http://schemas.openxmlformats.org/officeDocument/2006/math">
                    <m:r>
                      <a:rPr lang="en-AU" sz="2000" i="1" dirty="0">
                        <a:latin typeface="Cambria Math" panose="02040503050406030204" pitchFamily="18" charset="0"/>
                      </a:rPr>
                      <m:t>𝑓</m:t>
                    </m:r>
                  </m:oMath>
                </a14:m>
                <a:r>
                  <a:rPr lang="en-AU" sz="2000" dirty="0"/>
                  <a:t> Red light</a:t>
                </a:r>
              </a:p>
            </p:txBody>
          </p:sp>
        </mc:Choice>
        <mc:Fallback xmlns="">
          <p:sp>
            <p:nvSpPr>
              <p:cNvPr id="7" name="TextBox 6">
                <a:extLst>
                  <a:ext uri="{FF2B5EF4-FFF2-40B4-BE49-F238E27FC236}">
                    <a16:creationId xmlns:a16="http://schemas.microsoft.com/office/drawing/2014/main" id="{96D52B2B-8D20-6E74-D1B5-CF21EBA44936}"/>
                  </a:ext>
                </a:extLst>
              </p:cNvPr>
              <p:cNvSpPr txBox="1">
                <a:spLocks noRot="1" noChangeAspect="1" noMove="1" noResize="1" noEditPoints="1" noAdjustHandles="1" noChangeArrowheads="1" noChangeShapeType="1" noTextEdit="1"/>
              </p:cNvSpPr>
              <p:nvPr/>
            </p:nvSpPr>
            <p:spPr>
              <a:xfrm>
                <a:off x="77080" y="1675866"/>
                <a:ext cx="6594213" cy="1015663"/>
              </a:xfrm>
              <a:prstGeom prst="rect">
                <a:avLst/>
              </a:prstGeom>
              <a:blipFill>
                <a:blip r:embed="rId3"/>
                <a:stretch>
                  <a:fillRect t="-3704" r="-1538" b="-8642"/>
                </a:stretch>
              </a:blipFill>
            </p:spPr>
            <p:txBody>
              <a:bodyPr/>
              <a:lstStyle/>
              <a:p>
                <a:r>
                  <a:rPr lang="en-US">
                    <a:noFill/>
                  </a:rPr>
                  <a:t> </a:t>
                </a:r>
              </a:p>
            </p:txBody>
          </p:sp>
        </mc:Fallback>
      </mc:AlternateContent>
      <p:grpSp>
        <p:nvGrpSpPr>
          <p:cNvPr id="76" name="Group 75">
            <a:extLst>
              <a:ext uri="{FF2B5EF4-FFF2-40B4-BE49-F238E27FC236}">
                <a16:creationId xmlns:a16="http://schemas.microsoft.com/office/drawing/2014/main" id="{95FA6DDB-B465-CC66-13A0-E0684E38C6EC}"/>
              </a:ext>
            </a:extLst>
          </p:cNvPr>
          <p:cNvGrpSpPr/>
          <p:nvPr/>
        </p:nvGrpSpPr>
        <p:grpSpPr>
          <a:xfrm>
            <a:off x="6758887" y="612119"/>
            <a:ext cx="5255999" cy="3181507"/>
            <a:chOff x="3263984" y="2440919"/>
            <a:chExt cx="5255999" cy="3181507"/>
          </a:xfrm>
        </p:grpSpPr>
        <p:sp>
          <p:nvSpPr>
            <p:cNvPr id="8" name="Oval 7">
              <a:extLst>
                <a:ext uri="{FF2B5EF4-FFF2-40B4-BE49-F238E27FC236}">
                  <a16:creationId xmlns:a16="http://schemas.microsoft.com/office/drawing/2014/main" id="{07783945-CE3F-E975-4710-5B34B91FC973}"/>
                </a:ext>
              </a:extLst>
            </p:cNvPr>
            <p:cNvSpPr/>
            <p:nvPr/>
          </p:nvSpPr>
          <p:spPr>
            <a:xfrm>
              <a:off x="5641988" y="2743200"/>
              <a:ext cx="279708" cy="261921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E6BAE7A-A7B2-CA23-36C7-F092D4892046}"/>
                </a:ext>
              </a:extLst>
            </p:cNvPr>
            <p:cNvCxnSpPr>
              <a:cxnSpLocks/>
            </p:cNvCxnSpPr>
            <p:nvPr/>
          </p:nvCxnSpPr>
          <p:spPr>
            <a:xfrm flipV="1">
              <a:off x="3263984" y="4051688"/>
              <a:ext cx="5255999" cy="11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3055A9-7D9D-3727-B16F-713F6716795E}"/>
                </a:ext>
              </a:extLst>
            </p:cNvPr>
            <p:cNvCxnSpPr>
              <a:cxnSpLocks/>
            </p:cNvCxnSpPr>
            <p:nvPr/>
          </p:nvCxnSpPr>
          <p:spPr>
            <a:xfrm>
              <a:off x="3506971" y="2955105"/>
              <a:ext cx="2274871"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C9E46DD-B96A-BDE2-C7D6-0AE3584F2D25}"/>
                </a:ext>
              </a:extLst>
            </p:cNvPr>
            <p:cNvCxnSpPr>
              <a:cxnSpLocks/>
            </p:cNvCxnSpPr>
            <p:nvPr/>
          </p:nvCxnSpPr>
          <p:spPr>
            <a:xfrm>
              <a:off x="3515567" y="2977098"/>
              <a:ext cx="226627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84E46E5-4BB5-C52E-FE63-FD6C25F89B14}"/>
                </a:ext>
              </a:extLst>
            </p:cNvPr>
            <p:cNvCxnSpPr>
              <a:cxnSpLocks/>
            </p:cNvCxnSpPr>
            <p:nvPr/>
          </p:nvCxnSpPr>
          <p:spPr>
            <a:xfrm>
              <a:off x="3515567" y="2927101"/>
              <a:ext cx="226739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9C4B838-3542-102A-1D0A-45B5A9FC7EB6}"/>
                </a:ext>
              </a:extLst>
            </p:cNvPr>
            <p:cNvCxnSpPr>
              <a:cxnSpLocks/>
            </p:cNvCxnSpPr>
            <p:nvPr/>
          </p:nvCxnSpPr>
          <p:spPr>
            <a:xfrm>
              <a:off x="5775158" y="2957095"/>
              <a:ext cx="2048042" cy="1387885"/>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4A3AF3D-233C-663A-29FF-D64DE448962B}"/>
                </a:ext>
              </a:extLst>
            </p:cNvPr>
            <p:cNvCxnSpPr>
              <a:cxnSpLocks/>
            </p:cNvCxnSpPr>
            <p:nvPr/>
          </p:nvCxnSpPr>
          <p:spPr>
            <a:xfrm>
              <a:off x="5778511" y="2927101"/>
              <a:ext cx="2598552" cy="14849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B6D9744-7102-2435-95DB-BD1E023CAE47}"/>
                </a:ext>
              </a:extLst>
            </p:cNvPr>
            <p:cNvCxnSpPr>
              <a:cxnSpLocks/>
            </p:cNvCxnSpPr>
            <p:nvPr/>
          </p:nvCxnSpPr>
          <p:spPr>
            <a:xfrm>
              <a:off x="3515567" y="5102553"/>
              <a:ext cx="2244864"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B29D956-1F74-17F2-E925-B0D58153C636}"/>
                </a:ext>
              </a:extLst>
            </p:cNvPr>
            <p:cNvCxnSpPr>
              <a:cxnSpLocks/>
            </p:cNvCxnSpPr>
            <p:nvPr/>
          </p:nvCxnSpPr>
          <p:spPr>
            <a:xfrm>
              <a:off x="3494156" y="5080183"/>
              <a:ext cx="226627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449AEDF-8A92-23CA-107F-394416BF1E33}"/>
                </a:ext>
              </a:extLst>
            </p:cNvPr>
            <p:cNvCxnSpPr>
              <a:cxnSpLocks/>
            </p:cNvCxnSpPr>
            <p:nvPr/>
          </p:nvCxnSpPr>
          <p:spPr>
            <a:xfrm>
              <a:off x="3515567" y="5126938"/>
              <a:ext cx="224598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A860E87-DB66-203C-DCDF-1A309F2E733D}"/>
                </a:ext>
              </a:extLst>
            </p:cNvPr>
            <p:cNvCxnSpPr>
              <a:cxnSpLocks/>
            </p:cNvCxnSpPr>
            <p:nvPr/>
          </p:nvCxnSpPr>
          <p:spPr>
            <a:xfrm flipV="1">
              <a:off x="5778511" y="3738812"/>
              <a:ext cx="2598552" cy="138812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DE805B8-E034-6793-1641-180A7C1E4DA3}"/>
                </a:ext>
              </a:extLst>
            </p:cNvPr>
            <p:cNvCxnSpPr>
              <a:cxnSpLocks/>
            </p:cNvCxnSpPr>
            <p:nvPr/>
          </p:nvCxnSpPr>
          <p:spPr>
            <a:xfrm flipV="1">
              <a:off x="5775158" y="3779847"/>
              <a:ext cx="2048042" cy="132270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431C8EB-AB33-C37F-C7C7-4CF87E9788C4}"/>
                </a:ext>
              </a:extLst>
            </p:cNvPr>
            <p:cNvCxnSpPr>
              <a:cxnSpLocks/>
            </p:cNvCxnSpPr>
            <p:nvPr/>
          </p:nvCxnSpPr>
          <p:spPr>
            <a:xfrm flipV="1">
              <a:off x="5760431" y="3779847"/>
              <a:ext cx="1725885" cy="130325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3D4CF4F-509E-06D0-746B-C22E6753F2D2}"/>
                </a:ext>
              </a:extLst>
            </p:cNvPr>
            <p:cNvCxnSpPr>
              <a:cxnSpLocks/>
            </p:cNvCxnSpPr>
            <p:nvPr/>
          </p:nvCxnSpPr>
          <p:spPr>
            <a:xfrm>
              <a:off x="5781842" y="2996126"/>
              <a:ext cx="1738244" cy="1389889"/>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947EA75-114F-766F-C3C0-B04E506AC328}"/>
                </a:ext>
              </a:extLst>
            </p:cNvPr>
            <p:cNvCxnSpPr>
              <a:cxnSpLocks/>
            </p:cNvCxnSpPr>
            <p:nvPr/>
          </p:nvCxnSpPr>
          <p:spPr>
            <a:xfrm>
              <a:off x="5782960" y="2440919"/>
              <a:ext cx="0" cy="318150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F105A1B-4BF0-B2FC-86A2-41B5F1A69892}"/>
                    </a:ext>
                  </a:extLst>
                </p:cNvPr>
                <p:cNvSpPr txBox="1"/>
                <p:nvPr/>
              </p:nvSpPr>
              <p:spPr>
                <a:xfrm>
                  <a:off x="5786510" y="3050657"/>
                  <a:ext cx="22277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b="0" i="1" smtClean="0">
                                <a:latin typeface="Cambria Math" panose="02040503050406030204" pitchFamily="18" charset="0"/>
                                <a:ea typeface="Cambria Math" panose="02040503050406030204" pitchFamily="18" charset="0"/>
                              </a:rPr>
                            </m:ctrlPr>
                          </m:sSubPr>
                          <m:e>
                            <m:r>
                              <a:rPr lang="en-US" i="1" smtClean="0">
                                <a:solidFill>
                                  <a:srgbClr val="FF0000"/>
                                </a:solidFill>
                                <a:latin typeface="Cambria Math" panose="02040503050406030204" pitchFamily="18" charset="0"/>
                                <a:ea typeface="Cambria Math" panose="02040503050406030204" pitchFamily="18" charset="0"/>
                              </a:rPr>
                              <m:t>𝜃</m:t>
                            </m:r>
                          </m:e>
                          <m:sub>
                            <m:r>
                              <a:rPr lang="en-AU" b="0" i="1" smtClean="0">
                                <a:solidFill>
                                  <a:srgbClr val="FF0000"/>
                                </a:solidFill>
                                <a:latin typeface="Cambria Math" panose="02040503050406030204" pitchFamily="18" charset="0"/>
                                <a:ea typeface="Cambria Math" panose="02040503050406030204" pitchFamily="18" charset="0"/>
                              </a:rPr>
                              <m:t>𝑅</m:t>
                            </m:r>
                          </m:sub>
                        </m:sSub>
                      </m:oMath>
                    </m:oMathPara>
                  </a14:m>
                  <a:endParaRPr lang="en-US" dirty="0"/>
                </a:p>
              </p:txBody>
            </p:sp>
          </mc:Choice>
          <mc:Fallback xmlns="">
            <p:sp>
              <p:nvSpPr>
                <p:cNvPr id="71" name="TextBox 70">
                  <a:extLst>
                    <a:ext uri="{FF2B5EF4-FFF2-40B4-BE49-F238E27FC236}">
                      <a16:creationId xmlns:a16="http://schemas.microsoft.com/office/drawing/2014/main" id="{9F105A1B-4BF0-B2FC-86A2-41B5F1A69892}"/>
                    </a:ext>
                  </a:extLst>
                </p:cNvPr>
                <p:cNvSpPr txBox="1">
                  <a:spLocks noRot="1" noChangeAspect="1" noMove="1" noResize="1" noEditPoints="1" noAdjustHandles="1" noChangeArrowheads="1" noChangeShapeType="1" noTextEdit="1"/>
                </p:cNvSpPr>
                <p:nvPr/>
              </p:nvSpPr>
              <p:spPr>
                <a:xfrm>
                  <a:off x="5786510" y="3050657"/>
                  <a:ext cx="222779" cy="276999"/>
                </a:xfrm>
                <a:prstGeom prst="rect">
                  <a:avLst/>
                </a:prstGeom>
                <a:blipFill>
                  <a:blip r:embed="rId4"/>
                  <a:stretch>
                    <a:fillRect l="-38889" r="-27778"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23667671-9CD7-D1D0-F1CA-2E1447F7D124}"/>
                    </a:ext>
                  </a:extLst>
                </p:cNvPr>
                <p:cNvSpPr txBox="1"/>
                <p:nvPr/>
              </p:nvSpPr>
              <p:spPr>
                <a:xfrm>
                  <a:off x="6054866" y="3302796"/>
                  <a:ext cx="23568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b="0" i="1" smtClean="0">
                                <a:latin typeface="Cambria Math" panose="02040503050406030204" pitchFamily="18" charset="0"/>
                                <a:ea typeface="Cambria Math" panose="02040503050406030204" pitchFamily="18" charset="0"/>
                              </a:rPr>
                            </m:ctrlPr>
                          </m:sSubPr>
                          <m:e>
                            <m:r>
                              <a:rPr lang="en-US" i="1" smtClean="0">
                                <a:solidFill>
                                  <a:schemeClr val="accent6"/>
                                </a:solidFill>
                                <a:latin typeface="Cambria Math" panose="02040503050406030204" pitchFamily="18" charset="0"/>
                                <a:ea typeface="Cambria Math" panose="02040503050406030204" pitchFamily="18" charset="0"/>
                              </a:rPr>
                              <m:t>𝜃</m:t>
                            </m:r>
                          </m:e>
                          <m:sub>
                            <m:r>
                              <a:rPr lang="en-AU" b="0" i="1" smtClean="0">
                                <a:solidFill>
                                  <a:schemeClr val="accent6"/>
                                </a:solidFill>
                                <a:latin typeface="Cambria Math" panose="02040503050406030204" pitchFamily="18" charset="0"/>
                                <a:ea typeface="Cambria Math" panose="02040503050406030204" pitchFamily="18" charset="0"/>
                              </a:rPr>
                              <m:t>𝐺</m:t>
                            </m:r>
                          </m:sub>
                        </m:sSub>
                      </m:oMath>
                    </m:oMathPara>
                  </a14:m>
                  <a:endParaRPr lang="en-US" dirty="0"/>
                </a:p>
              </p:txBody>
            </p:sp>
          </mc:Choice>
          <mc:Fallback xmlns="">
            <p:sp>
              <p:nvSpPr>
                <p:cNvPr id="72" name="TextBox 71">
                  <a:extLst>
                    <a:ext uri="{FF2B5EF4-FFF2-40B4-BE49-F238E27FC236}">
                      <a16:creationId xmlns:a16="http://schemas.microsoft.com/office/drawing/2014/main" id="{23667671-9CD7-D1D0-F1CA-2E1447F7D124}"/>
                    </a:ext>
                  </a:extLst>
                </p:cNvPr>
                <p:cNvSpPr txBox="1">
                  <a:spLocks noRot="1" noChangeAspect="1" noMove="1" noResize="1" noEditPoints="1" noAdjustHandles="1" noChangeArrowheads="1" noChangeShapeType="1" noTextEdit="1"/>
                </p:cNvSpPr>
                <p:nvPr/>
              </p:nvSpPr>
              <p:spPr>
                <a:xfrm>
                  <a:off x="6054866" y="3302796"/>
                  <a:ext cx="235689" cy="276999"/>
                </a:xfrm>
                <a:prstGeom prst="rect">
                  <a:avLst/>
                </a:prstGeom>
                <a:blipFill>
                  <a:blip r:embed="rId5"/>
                  <a:stretch>
                    <a:fillRect l="-36842" r="-21053"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8D75F518-7520-ADDB-2FD3-2C69C71058FC}"/>
                    </a:ext>
                  </a:extLst>
                </p:cNvPr>
                <p:cNvSpPr txBox="1"/>
                <p:nvPr/>
              </p:nvSpPr>
              <p:spPr>
                <a:xfrm>
                  <a:off x="5982349" y="2814072"/>
                  <a:ext cx="23568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b="0" i="1" smtClean="0">
                                <a:latin typeface="Cambria Math" panose="02040503050406030204" pitchFamily="18" charset="0"/>
                                <a:ea typeface="Cambria Math" panose="02040503050406030204" pitchFamily="18" charset="0"/>
                              </a:rPr>
                            </m:ctrlPr>
                          </m:sSubPr>
                          <m:e>
                            <m:r>
                              <a:rPr lang="en-US" i="1" smtClean="0">
                                <a:solidFill>
                                  <a:schemeClr val="accent1"/>
                                </a:solidFill>
                                <a:latin typeface="Cambria Math" panose="02040503050406030204" pitchFamily="18" charset="0"/>
                                <a:ea typeface="Cambria Math" panose="02040503050406030204" pitchFamily="18" charset="0"/>
                              </a:rPr>
                              <m:t>𝜃</m:t>
                            </m:r>
                          </m:e>
                          <m:sub>
                            <m:r>
                              <a:rPr lang="en-AU" b="0" i="1" smtClean="0">
                                <a:solidFill>
                                  <a:schemeClr val="accent1"/>
                                </a:solidFill>
                                <a:latin typeface="Cambria Math" panose="02040503050406030204" pitchFamily="18" charset="0"/>
                                <a:ea typeface="Cambria Math" panose="02040503050406030204" pitchFamily="18" charset="0"/>
                              </a:rPr>
                              <m:t>𝐵</m:t>
                            </m:r>
                          </m:sub>
                        </m:sSub>
                      </m:oMath>
                    </m:oMathPara>
                  </a14:m>
                  <a:endParaRPr lang="en-US" dirty="0"/>
                </a:p>
              </p:txBody>
            </p:sp>
          </mc:Choice>
          <mc:Fallback xmlns="">
            <p:sp>
              <p:nvSpPr>
                <p:cNvPr id="73" name="TextBox 72">
                  <a:extLst>
                    <a:ext uri="{FF2B5EF4-FFF2-40B4-BE49-F238E27FC236}">
                      <a16:creationId xmlns:a16="http://schemas.microsoft.com/office/drawing/2014/main" id="{8D75F518-7520-ADDB-2FD3-2C69C71058FC}"/>
                    </a:ext>
                  </a:extLst>
                </p:cNvPr>
                <p:cNvSpPr txBox="1">
                  <a:spLocks noRot="1" noChangeAspect="1" noMove="1" noResize="1" noEditPoints="1" noAdjustHandles="1" noChangeArrowheads="1" noChangeShapeType="1" noTextEdit="1"/>
                </p:cNvSpPr>
                <p:nvPr/>
              </p:nvSpPr>
              <p:spPr>
                <a:xfrm>
                  <a:off x="5982349" y="2814072"/>
                  <a:ext cx="235689" cy="276999"/>
                </a:xfrm>
                <a:prstGeom prst="rect">
                  <a:avLst/>
                </a:prstGeom>
                <a:blipFill>
                  <a:blip r:embed="rId6"/>
                  <a:stretch>
                    <a:fillRect l="-31579" r="-21053" b="-13043"/>
                  </a:stretch>
                </a:blipFill>
              </p:spPr>
              <p:txBody>
                <a:bodyPr/>
                <a:lstStyle/>
                <a:p>
                  <a:r>
                    <a:rPr lang="en-US">
                      <a:noFill/>
                    </a:rPr>
                    <a:t> </a:t>
                  </a:r>
                </a:p>
              </p:txBody>
            </p:sp>
          </mc:Fallback>
        </mc:AlternateContent>
        <p:sp>
          <p:nvSpPr>
            <p:cNvPr id="45" name="Oval 44">
              <a:extLst>
                <a:ext uri="{FF2B5EF4-FFF2-40B4-BE49-F238E27FC236}">
                  <a16:creationId xmlns:a16="http://schemas.microsoft.com/office/drawing/2014/main" id="{FD9D6728-2783-392B-374B-FE709C210A2E}"/>
                </a:ext>
              </a:extLst>
            </p:cNvPr>
            <p:cNvSpPr/>
            <p:nvPr/>
          </p:nvSpPr>
          <p:spPr>
            <a:xfrm>
              <a:off x="3404156" y="5016048"/>
              <a:ext cx="180000" cy="180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70BDE21-91E9-7633-3C49-267A838A84B3}"/>
                </a:ext>
              </a:extLst>
            </p:cNvPr>
            <p:cNvSpPr/>
            <p:nvPr/>
          </p:nvSpPr>
          <p:spPr>
            <a:xfrm>
              <a:off x="3425567" y="2855810"/>
              <a:ext cx="180000" cy="180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9" name="Straight Arrow Connector 78">
            <a:extLst>
              <a:ext uri="{FF2B5EF4-FFF2-40B4-BE49-F238E27FC236}">
                <a16:creationId xmlns:a16="http://schemas.microsoft.com/office/drawing/2014/main" id="{779BF2AC-8931-53D3-E1DE-F52AF9CD181D}"/>
              </a:ext>
            </a:extLst>
          </p:cNvPr>
          <p:cNvCxnSpPr>
            <a:cxnSpLocks/>
          </p:cNvCxnSpPr>
          <p:nvPr/>
        </p:nvCxnSpPr>
        <p:spPr>
          <a:xfrm>
            <a:off x="9276745" y="3643745"/>
            <a:ext cx="1999413" cy="0"/>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E67E0854-E1E6-1341-A8FD-B2CD4FCBCFDC}"/>
              </a:ext>
            </a:extLst>
          </p:cNvPr>
          <p:cNvCxnSpPr>
            <a:cxnSpLocks/>
          </p:cNvCxnSpPr>
          <p:nvPr/>
        </p:nvCxnSpPr>
        <p:spPr>
          <a:xfrm>
            <a:off x="9276745" y="3743292"/>
            <a:ext cx="1613519" cy="0"/>
          </a:xfrm>
          <a:prstGeom prst="straightConnector1">
            <a:avLst/>
          </a:prstGeom>
          <a:ln w="28575">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E5344D9C-CA03-6147-A22E-F7E84E42DA2A}"/>
              </a:ext>
            </a:extLst>
          </p:cNvPr>
          <p:cNvCxnSpPr>
            <a:cxnSpLocks/>
          </p:cNvCxnSpPr>
          <p:nvPr/>
        </p:nvCxnSpPr>
        <p:spPr>
          <a:xfrm>
            <a:off x="9286469" y="3545203"/>
            <a:ext cx="1336555" cy="0"/>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2F1CF847-5F87-58B9-B930-CAC125B06167}"/>
                  </a:ext>
                </a:extLst>
              </p:cNvPr>
              <p:cNvSpPr txBox="1"/>
              <p:nvPr/>
            </p:nvSpPr>
            <p:spPr>
              <a:xfrm>
                <a:off x="10911676" y="3647998"/>
                <a:ext cx="2710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b="0" i="1" smtClean="0">
                              <a:solidFill>
                                <a:schemeClr val="accent6"/>
                              </a:solidFill>
                              <a:latin typeface="Cambria Math" panose="02040503050406030204" pitchFamily="18" charset="0"/>
                            </a:rPr>
                          </m:ctrlPr>
                        </m:sSubPr>
                        <m:e>
                          <m:r>
                            <a:rPr lang="en-AU" b="0" i="1" smtClean="0">
                              <a:solidFill>
                                <a:schemeClr val="accent6"/>
                              </a:solidFill>
                              <a:latin typeface="Cambria Math" panose="02040503050406030204" pitchFamily="18" charset="0"/>
                            </a:rPr>
                            <m:t>𝑓</m:t>
                          </m:r>
                        </m:e>
                        <m:sub>
                          <m:r>
                            <a:rPr lang="en-AU" b="0" i="1" smtClean="0">
                              <a:solidFill>
                                <a:schemeClr val="accent6"/>
                              </a:solidFill>
                              <a:latin typeface="Cambria Math" panose="02040503050406030204" pitchFamily="18" charset="0"/>
                            </a:rPr>
                            <m:t>𝐺</m:t>
                          </m:r>
                        </m:sub>
                      </m:sSub>
                    </m:oMath>
                  </m:oMathPara>
                </a14:m>
                <a:endParaRPr lang="en-US" dirty="0"/>
              </a:p>
            </p:txBody>
          </p:sp>
        </mc:Choice>
        <mc:Fallback xmlns="">
          <p:sp>
            <p:nvSpPr>
              <p:cNvPr id="89" name="TextBox 88">
                <a:extLst>
                  <a:ext uri="{FF2B5EF4-FFF2-40B4-BE49-F238E27FC236}">
                    <a16:creationId xmlns:a16="http://schemas.microsoft.com/office/drawing/2014/main" id="{2F1CF847-5F87-58B9-B930-CAC125B06167}"/>
                  </a:ext>
                </a:extLst>
              </p:cNvPr>
              <p:cNvSpPr txBox="1">
                <a:spLocks noRot="1" noChangeAspect="1" noMove="1" noResize="1" noEditPoints="1" noAdjustHandles="1" noChangeArrowheads="1" noChangeShapeType="1" noTextEdit="1"/>
              </p:cNvSpPr>
              <p:nvPr/>
            </p:nvSpPr>
            <p:spPr>
              <a:xfrm>
                <a:off x="10911676" y="3647998"/>
                <a:ext cx="271035" cy="276999"/>
              </a:xfrm>
              <a:prstGeom prst="rect">
                <a:avLst/>
              </a:prstGeom>
              <a:blipFill>
                <a:blip r:embed="rId7"/>
                <a:stretch>
                  <a:fillRect l="-31818" t="-4348" r="-4545"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B3E0B2CA-E339-B223-9932-067FBAD021CB}"/>
                  </a:ext>
                </a:extLst>
              </p:cNvPr>
              <p:cNvSpPr txBox="1"/>
              <p:nvPr/>
            </p:nvSpPr>
            <p:spPr>
              <a:xfrm>
                <a:off x="11276158" y="3502267"/>
                <a:ext cx="268728" cy="276999"/>
              </a:xfrm>
              <a:prstGeom prst="rect">
                <a:avLst/>
              </a:prstGeom>
              <a:noFill/>
            </p:spPr>
            <p:txBody>
              <a:bodyPr wrap="none" lIns="0" tIns="0" rIns="0" bIns="0" rtlCol="0">
                <a:spAutoFit/>
              </a:bodyPr>
              <a:lstStyle/>
              <a:p>
                <a14:m>
                  <m:oMath xmlns:m="http://schemas.openxmlformats.org/officeDocument/2006/math">
                    <m:sSub>
                      <m:sSubPr>
                        <m:ctrlPr>
                          <a:rPr lang="en-AU" b="0" i="1" smtClean="0">
                            <a:solidFill>
                              <a:srgbClr val="FF0000"/>
                            </a:solidFill>
                            <a:latin typeface="Cambria Math" panose="02040503050406030204" pitchFamily="18" charset="0"/>
                          </a:rPr>
                        </m:ctrlPr>
                      </m:sSubPr>
                      <m:e>
                        <m:r>
                          <a:rPr lang="en-AU" b="0" i="1" smtClean="0">
                            <a:solidFill>
                              <a:srgbClr val="FF0000"/>
                            </a:solidFill>
                            <a:latin typeface="Cambria Math" panose="02040503050406030204" pitchFamily="18" charset="0"/>
                          </a:rPr>
                          <m:t>𝑓</m:t>
                        </m:r>
                      </m:e>
                      <m:sub>
                        <m:r>
                          <a:rPr lang="en-AU" b="0" i="1" smtClean="0">
                            <a:solidFill>
                              <a:srgbClr val="FF0000"/>
                            </a:solidFill>
                            <a:latin typeface="Cambria Math" panose="02040503050406030204" pitchFamily="18" charset="0"/>
                          </a:rPr>
                          <m:t>𝑅</m:t>
                        </m:r>
                      </m:sub>
                    </m:sSub>
                  </m:oMath>
                </a14:m>
                <a:r>
                  <a:rPr lang="en-US" dirty="0">
                    <a:solidFill>
                      <a:srgbClr val="FF0000"/>
                    </a:solidFill>
                  </a:rPr>
                  <a:t> </a:t>
                </a:r>
              </a:p>
            </p:txBody>
          </p:sp>
        </mc:Choice>
        <mc:Fallback xmlns="">
          <p:sp>
            <p:nvSpPr>
              <p:cNvPr id="90" name="TextBox 89">
                <a:extLst>
                  <a:ext uri="{FF2B5EF4-FFF2-40B4-BE49-F238E27FC236}">
                    <a16:creationId xmlns:a16="http://schemas.microsoft.com/office/drawing/2014/main" id="{B3E0B2CA-E339-B223-9932-067FBAD021CB}"/>
                  </a:ext>
                </a:extLst>
              </p:cNvPr>
              <p:cNvSpPr txBox="1">
                <a:spLocks noRot="1" noChangeAspect="1" noMove="1" noResize="1" noEditPoints="1" noAdjustHandles="1" noChangeArrowheads="1" noChangeShapeType="1" noTextEdit="1"/>
              </p:cNvSpPr>
              <p:nvPr/>
            </p:nvSpPr>
            <p:spPr>
              <a:xfrm>
                <a:off x="11276158" y="3502267"/>
                <a:ext cx="268728" cy="276999"/>
              </a:xfrm>
              <a:prstGeom prst="rect">
                <a:avLst/>
              </a:prstGeom>
              <a:blipFill>
                <a:blip r:embed="rId8"/>
                <a:stretch>
                  <a:fillRect l="-40909" t="-4545" b="-363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798AC43E-A244-B6AC-A398-654978751A00}"/>
                  </a:ext>
                </a:extLst>
              </p:cNvPr>
              <p:cNvSpPr txBox="1"/>
              <p:nvPr/>
            </p:nvSpPr>
            <p:spPr>
              <a:xfrm>
                <a:off x="10623024" y="3393130"/>
                <a:ext cx="27135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b="0" i="1" smtClean="0">
                              <a:solidFill>
                                <a:schemeClr val="accent1"/>
                              </a:solidFill>
                              <a:latin typeface="Cambria Math" panose="02040503050406030204" pitchFamily="18" charset="0"/>
                            </a:rPr>
                          </m:ctrlPr>
                        </m:sSubPr>
                        <m:e>
                          <m:r>
                            <a:rPr lang="en-AU" b="0" i="1" smtClean="0">
                              <a:solidFill>
                                <a:schemeClr val="accent1"/>
                              </a:solidFill>
                              <a:latin typeface="Cambria Math" panose="02040503050406030204" pitchFamily="18" charset="0"/>
                            </a:rPr>
                            <m:t>𝑓</m:t>
                          </m:r>
                        </m:e>
                        <m:sub>
                          <m:r>
                            <a:rPr lang="en-AU" b="0" i="1" smtClean="0">
                              <a:solidFill>
                                <a:schemeClr val="accent1"/>
                              </a:solidFill>
                              <a:latin typeface="Cambria Math" panose="02040503050406030204" pitchFamily="18" charset="0"/>
                            </a:rPr>
                            <m:t>𝐵</m:t>
                          </m:r>
                        </m:sub>
                      </m:sSub>
                    </m:oMath>
                  </m:oMathPara>
                </a14:m>
                <a:endParaRPr lang="en-US" dirty="0"/>
              </a:p>
            </p:txBody>
          </p:sp>
        </mc:Choice>
        <mc:Fallback xmlns="">
          <p:sp>
            <p:nvSpPr>
              <p:cNvPr id="91" name="TextBox 90">
                <a:extLst>
                  <a:ext uri="{FF2B5EF4-FFF2-40B4-BE49-F238E27FC236}">
                    <a16:creationId xmlns:a16="http://schemas.microsoft.com/office/drawing/2014/main" id="{798AC43E-A244-B6AC-A398-654978751A00}"/>
                  </a:ext>
                </a:extLst>
              </p:cNvPr>
              <p:cNvSpPr txBox="1">
                <a:spLocks noRot="1" noChangeAspect="1" noMove="1" noResize="1" noEditPoints="1" noAdjustHandles="1" noChangeArrowheads="1" noChangeShapeType="1" noTextEdit="1"/>
              </p:cNvSpPr>
              <p:nvPr/>
            </p:nvSpPr>
            <p:spPr>
              <a:xfrm>
                <a:off x="10623024" y="3393130"/>
                <a:ext cx="271356" cy="276999"/>
              </a:xfrm>
              <a:prstGeom prst="rect">
                <a:avLst/>
              </a:prstGeom>
              <a:blipFill>
                <a:blip r:embed="rId9"/>
                <a:stretch>
                  <a:fillRect l="-31818" t="-4545" r="-4545" b="-40909"/>
                </a:stretch>
              </a:blipFill>
            </p:spPr>
            <p:txBody>
              <a:bodyPr/>
              <a:lstStyle/>
              <a:p>
                <a:r>
                  <a:rPr lang="en-US">
                    <a:noFill/>
                  </a:rPr>
                  <a:t> </a:t>
                </a:r>
              </a:p>
            </p:txBody>
          </p:sp>
        </mc:Fallback>
      </mc:AlternateContent>
      <p:pic>
        <p:nvPicPr>
          <p:cNvPr id="101" name="Picture 100">
            <a:extLst>
              <a:ext uri="{FF2B5EF4-FFF2-40B4-BE49-F238E27FC236}">
                <a16:creationId xmlns:a16="http://schemas.microsoft.com/office/drawing/2014/main" id="{59312BB6-EC84-7FED-468F-0C01E9F4B987}"/>
              </a:ext>
            </a:extLst>
          </p:cNvPr>
          <p:cNvPicPr>
            <a:picLocks noChangeAspect="1"/>
          </p:cNvPicPr>
          <p:nvPr/>
        </p:nvPicPr>
        <p:blipFill>
          <a:blip r:embed="rId10"/>
          <a:stretch>
            <a:fillRect/>
          </a:stretch>
        </p:blipFill>
        <p:spPr>
          <a:xfrm>
            <a:off x="877290" y="3001429"/>
            <a:ext cx="2772142" cy="3709265"/>
          </a:xfrm>
          <a:prstGeom prst="rect">
            <a:avLst/>
          </a:prstGeom>
        </p:spPr>
      </p:pic>
      <p:pic>
        <p:nvPicPr>
          <p:cNvPr id="102" name="Picture 101">
            <a:extLst>
              <a:ext uri="{FF2B5EF4-FFF2-40B4-BE49-F238E27FC236}">
                <a16:creationId xmlns:a16="http://schemas.microsoft.com/office/drawing/2014/main" id="{E50C39B4-99DE-ABFD-1882-9E3C96A152F9}"/>
              </a:ext>
            </a:extLst>
          </p:cNvPr>
          <p:cNvPicPr>
            <a:picLocks noChangeAspect="1"/>
          </p:cNvPicPr>
          <p:nvPr/>
        </p:nvPicPr>
        <p:blipFill>
          <a:blip r:embed="rId11"/>
          <a:stretch>
            <a:fillRect/>
          </a:stretch>
        </p:blipFill>
        <p:spPr>
          <a:xfrm>
            <a:off x="4249359" y="3597982"/>
            <a:ext cx="2312287" cy="2304145"/>
          </a:xfrm>
          <a:prstGeom prst="rect">
            <a:avLst/>
          </a:prstGeom>
        </p:spPr>
      </p:pic>
      <p:cxnSp>
        <p:nvCxnSpPr>
          <p:cNvPr id="103" name="Straight Arrow Connector 102">
            <a:extLst>
              <a:ext uri="{FF2B5EF4-FFF2-40B4-BE49-F238E27FC236}">
                <a16:creationId xmlns:a16="http://schemas.microsoft.com/office/drawing/2014/main" id="{7AE285E9-8329-EDFB-71E5-CA931A6A32F0}"/>
              </a:ext>
            </a:extLst>
          </p:cNvPr>
          <p:cNvCxnSpPr>
            <a:cxnSpLocks/>
            <a:endCxn id="102" idx="1"/>
          </p:cNvCxnSpPr>
          <p:nvPr/>
        </p:nvCxnSpPr>
        <p:spPr>
          <a:xfrm flipV="1">
            <a:off x="1436315" y="4750055"/>
            <a:ext cx="2813044" cy="61130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05" name="Picture 104">
            <a:extLst>
              <a:ext uri="{FF2B5EF4-FFF2-40B4-BE49-F238E27FC236}">
                <a16:creationId xmlns:a16="http://schemas.microsoft.com/office/drawing/2014/main" id="{CD121A9F-AAB6-47A4-1AD2-10E30A434AC2}"/>
              </a:ext>
            </a:extLst>
          </p:cNvPr>
          <p:cNvPicPr>
            <a:picLocks noChangeAspect="1"/>
          </p:cNvPicPr>
          <p:nvPr/>
        </p:nvPicPr>
        <p:blipFill>
          <a:blip r:embed="rId12"/>
          <a:srcRect l="48249" b="29207"/>
          <a:stretch>
            <a:fillRect/>
          </a:stretch>
        </p:blipFill>
        <p:spPr>
          <a:xfrm>
            <a:off x="7399427" y="3864917"/>
            <a:ext cx="2695343" cy="2219581"/>
          </a:xfrm>
          <a:prstGeom prst="rect">
            <a:avLst/>
          </a:prstGeom>
        </p:spPr>
      </p:pic>
    </p:spTree>
    <p:extLst>
      <p:ext uri="{BB962C8B-B14F-4D97-AF65-F5344CB8AC3E}">
        <p14:creationId xmlns:p14="http://schemas.microsoft.com/office/powerpoint/2010/main" val="2254907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6641B-5D2B-4085-EAA5-573F77CF64DF}"/>
              </a:ext>
            </a:extLst>
          </p:cNvPr>
          <p:cNvSpPr>
            <a:spLocks noGrp="1"/>
          </p:cNvSpPr>
          <p:nvPr>
            <p:ph type="title"/>
          </p:nvPr>
        </p:nvSpPr>
        <p:spPr/>
        <p:txBody>
          <a:bodyPr/>
          <a:lstStyle/>
          <a:p>
            <a:r>
              <a:rPr lang="en-AU" dirty="0"/>
              <a:t>Lens flaws: Spherical (radial) aberration</a:t>
            </a:r>
            <a:endParaRPr lang="en-US" dirty="0"/>
          </a:p>
        </p:txBody>
      </p:sp>
      <p:sp>
        <p:nvSpPr>
          <p:cNvPr id="3" name="Content Placeholder 2">
            <a:extLst>
              <a:ext uri="{FF2B5EF4-FFF2-40B4-BE49-F238E27FC236}">
                <a16:creationId xmlns:a16="http://schemas.microsoft.com/office/drawing/2014/main" id="{28C409D2-1371-70F0-C10C-AF380F1D2936}"/>
              </a:ext>
            </a:extLst>
          </p:cNvPr>
          <p:cNvSpPr>
            <a:spLocks noGrp="1"/>
          </p:cNvSpPr>
          <p:nvPr>
            <p:ph idx="1"/>
          </p:nvPr>
        </p:nvSpPr>
        <p:spPr>
          <a:xfrm>
            <a:off x="838200" y="1825625"/>
            <a:ext cx="6000482" cy="4351338"/>
          </a:xfrm>
        </p:spPr>
        <p:txBody>
          <a:bodyPr>
            <a:normAutofit/>
          </a:bodyPr>
          <a:lstStyle/>
          <a:p>
            <a:r>
              <a:rPr lang="en-AU" dirty="0"/>
              <a:t>Spherical lenses don’t focus light perfectly</a:t>
            </a:r>
          </a:p>
          <a:p>
            <a:r>
              <a:rPr lang="en-AU" dirty="0"/>
              <a:t>Rays farther from the optical axis focus closer</a:t>
            </a:r>
          </a:p>
          <a:p>
            <a:r>
              <a:rPr lang="en-AU" dirty="0"/>
              <a:t>Deviations are most noticeable for rays that pass through the edge of the lens</a:t>
            </a:r>
          </a:p>
          <a:p>
            <a:r>
              <a:rPr lang="en-AU" dirty="0"/>
              <a:t>As we move away from the </a:t>
            </a:r>
            <a:r>
              <a:rPr lang="en-AU" dirty="0" err="1"/>
              <a:t>center</a:t>
            </a:r>
            <a:r>
              <a:rPr lang="en-AU" dirty="0"/>
              <a:t> of the image plane, points tend to get pushed</a:t>
            </a:r>
          </a:p>
          <a:p>
            <a:endParaRPr lang="en-AU" dirty="0"/>
          </a:p>
        </p:txBody>
      </p:sp>
      <p:pic>
        <p:nvPicPr>
          <p:cNvPr id="5" name="Picture 4">
            <a:extLst>
              <a:ext uri="{FF2B5EF4-FFF2-40B4-BE49-F238E27FC236}">
                <a16:creationId xmlns:a16="http://schemas.microsoft.com/office/drawing/2014/main" id="{1F791331-9597-803D-78CF-DBFD3B43341A}"/>
              </a:ext>
            </a:extLst>
          </p:cNvPr>
          <p:cNvPicPr>
            <a:picLocks noChangeAspect="1"/>
          </p:cNvPicPr>
          <p:nvPr/>
        </p:nvPicPr>
        <p:blipFill>
          <a:blip r:embed="rId3"/>
          <a:stretch>
            <a:fillRect/>
          </a:stretch>
        </p:blipFill>
        <p:spPr>
          <a:xfrm>
            <a:off x="7059174" y="3563319"/>
            <a:ext cx="4917105" cy="2302099"/>
          </a:xfrm>
          <a:prstGeom prst="rect">
            <a:avLst/>
          </a:prstGeom>
        </p:spPr>
      </p:pic>
      <p:sp>
        <p:nvSpPr>
          <p:cNvPr id="6" name="TextBox 5">
            <a:extLst>
              <a:ext uri="{FF2B5EF4-FFF2-40B4-BE49-F238E27FC236}">
                <a16:creationId xmlns:a16="http://schemas.microsoft.com/office/drawing/2014/main" id="{8CDB1E7C-8DC9-8750-1D75-58C4D827CAFD}"/>
              </a:ext>
            </a:extLst>
          </p:cNvPr>
          <p:cNvSpPr txBox="1"/>
          <p:nvPr/>
        </p:nvSpPr>
        <p:spPr>
          <a:xfrm>
            <a:off x="7241147" y="1694244"/>
            <a:ext cx="4735132" cy="1600438"/>
          </a:xfrm>
          <a:prstGeom prst="rect">
            <a:avLst/>
          </a:prstGeom>
          <a:noFill/>
        </p:spPr>
        <p:txBody>
          <a:bodyPr wrap="square" rtlCol="0">
            <a:spAutoFit/>
          </a:bodyPr>
          <a:lstStyle/>
          <a:p>
            <a:r>
              <a:rPr lang="en-AU" sz="2000" b="1" dirty="0"/>
              <a:t>Geometric aberration</a:t>
            </a:r>
          </a:p>
          <a:p>
            <a:r>
              <a:rPr lang="en-AU" sz="2000" dirty="0"/>
              <a:t>Two well-known geometric distortions are:</a:t>
            </a:r>
          </a:p>
          <a:p>
            <a:pPr marL="285750" lvl="0" indent="-285750">
              <a:buFont typeface="Arial" panose="020B0604020202020204" pitchFamily="34" charset="0"/>
              <a:buChar char="•"/>
            </a:pPr>
            <a:r>
              <a:rPr lang="en-AU" sz="2000" dirty="0"/>
              <a:t>Spherical or radial or barrel distortion </a:t>
            </a:r>
          </a:p>
          <a:p>
            <a:pPr marL="285750" lvl="0" indent="-285750">
              <a:buFont typeface="Arial" panose="020B0604020202020204" pitchFamily="34" charset="0"/>
              <a:buChar char="•"/>
            </a:pPr>
            <a:r>
              <a:rPr lang="en-AU" sz="2000" dirty="0"/>
              <a:t>Tangential distortion.</a:t>
            </a:r>
          </a:p>
          <a:p>
            <a:endParaRPr lang="en-US" dirty="0"/>
          </a:p>
        </p:txBody>
      </p:sp>
    </p:spTree>
    <p:extLst>
      <p:ext uri="{BB962C8B-B14F-4D97-AF65-F5344CB8AC3E}">
        <p14:creationId xmlns:p14="http://schemas.microsoft.com/office/powerpoint/2010/main" val="527745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E9BCA-0EA7-A1B3-8B51-09E429A3D9AC}"/>
              </a:ext>
            </a:extLst>
          </p:cNvPr>
          <p:cNvSpPr>
            <a:spLocks noGrp="1"/>
          </p:cNvSpPr>
          <p:nvPr>
            <p:ph type="title"/>
          </p:nvPr>
        </p:nvSpPr>
        <p:spPr/>
        <p:txBody>
          <a:bodyPr/>
          <a:lstStyle/>
          <a:p>
            <a:r>
              <a:rPr lang="en-AU" dirty="0"/>
              <a:t>Radial Distortion</a:t>
            </a:r>
            <a:endParaRPr lang="en-US" dirty="0"/>
          </a:p>
        </p:txBody>
      </p:sp>
      <p:pic>
        <p:nvPicPr>
          <p:cNvPr id="5" name="Picture 4">
            <a:extLst>
              <a:ext uri="{FF2B5EF4-FFF2-40B4-BE49-F238E27FC236}">
                <a16:creationId xmlns:a16="http://schemas.microsoft.com/office/drawing/2014/main" id="{887F906F-D4A3-860F-3B1B-571F4013EEAC}"/>
              </a:ext>
            </a:extLst>
          </p:cNvPr>
          <p:cNvPicPr>
            <a:picLocks noChangeAspect="1"/>
          </p:cNvPicPr>
          <p:nvPr/>
        </p:nvPicPr>
        <p:blipFill>
          <a:blip r:embed="rId2"/>
          <a:stretch>
            <a:fillRect/>
          </a:stretch>
        </p:blipFill>
        <p:spPr>
          <a:xfrm>
            <a:off x="5241702" y="424281"/>
            <a:ext cx="6428478" cy="6009437"/>
          </a:xfrm>
          <a:prstGeom prst="rect">
            <a:avLst/>
          </a:prstGeom>
        </p:spPr>
      </p:pic>
    </p:spTree>
    <p:extLst>
      <p:ext uri="{BB962C8B-B14F-4D97-AF65-F5344CB8AC3E}">
        <p14:creationId xmlns:p14="http://schemas.microsoft.com/office/powerpoint/2010/main" val="4007296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E4F7-CC41-BF7F-F140-7870DABC7D0C}"/>
              </a:ext>
            </a:extLst>
          </p:cNvPr>
          <p:cNvSpPr>
            <a:spLocks noGrp="1"/>
          </p:cNvSpPr>
          <p:nvPr>
            <p:ph type="title"/>
          </p:nvPr>
        </p:nvSpPr>
        <p:spPr/>
        <p:txBody>
          <a:bodyPr>
            <a:normAutofit/>
          </a:bodyPr>
          <a:lstStyle/>
          <a:p>
            <a:r>
              <a:rPr lang="en-AU" dirty="0"/>
              <a:t>Issues with lenses: Radial Distortion</a:t>
            </a:r>
            <a:br>
              <a:rPr lang="en-AU" dirty="0"/>
            </a:br>
            <a:endParaRPr lang="en-US" dirty="0"/>
          </a:p>
        </p:txBody>
      </p:sp>
      <p:pic>
        <p:nvPicPr>
          <p:cNvPr id="8" name="Picture 7">
            <a:extLst>
              <a:ext uri="{FF2B5EF4-FFF2-40B4-BE49-F238E27FC236}">
                <a16:creationId xmlns:a16="http://schemas.microsoft.com/office/drawing/2014/main" id="{EEF799F6-DE73-0DAB-B53B-32E88D4AC872}"/>
              </a:ext>
            </a:extLst>
          </p:cNvPr>
          <p:cNvPicPr>
            <a:picLocks noChangeAspect="1"/>
          </p:cNvPicPr>
          <p:nvPr/>
        </p:nvPicPr>
        <p:blipFill>
          <a:blip r:embed="rId2"/>
          <a:srcRect t="16170" b="21350"/>
          <a:stretch>
            <a:fillRect/>
          </a:stretch>
        </p:blipFill>
        <p:spPr>
          <a:xfrm>
            <a:off x="3961236" y="1318165"/>
            <a:ext cx="7895913" cy="3659475"/>
          </a:xfrm>
          <a:prstGeom prst="rect">
            <a:avLst/>
          </a:prstGeom>
        </p:spPr>
      </p:pic>
      <p:sp>
        <p:nvSpPr>
          <p:cNvPr id="9" name="TextBox 8">
            <a:extLst>
              <a:ext uri="{FF2B5EF4-FFF2-40B4-BE49-F238E27FC236}">
                <a16:creationId xmlns:a16="http://schemas.microsoft.com/office/drawing/2014/main" id="{0E91C07D-1219-432D-CA82-EC1A3A741402}"/>
              </a:ext>
            </a:extLst>
          </p:cNvPr>
          <p:cNvSpPr txBox="1"/>
          <p:nvPr/>
        </p:nvSpPr>
        <p:spPr>
          <a:xfrm>
            <a:off x="220015" y="3710097"/>
            <a:ext cx="4300470" cy="1938992"/>
          </a:xfrm>
          <a:prstGeom prst="rect">
            <a:avLst/>
          </a:prstGeom>
          <a:noFill/>
        </p:spPr>
        <p:txBody>
          <a:bodyPr wrap="square" rtlCol="0">
            <a:spAutoFit/>
          </a:bodyPr>
          <a:lstStyle/>
          <a:p>
            <a:r>
              <a:rPr lang="en-AU" sz="2400" dirty="0"/>
              <a:t>A high-quality lens tends to be made of several individual lenses whose shapes and materials are optimized to minimize all of the above effects.</a:t>
            </a:r>
          </a:p>
        </p:txBody>
      </p:sp>
    </p:spTree>
    <p:extLst>
      <p:ext uri="{BB962C8B-B14F-4D97-AF65-F5344CB8AC3E}">
        <p14:creationId xmlns:p14="http://schemas.microsoft.com/office/powerpoint/2010/main" val="572095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B2EDE-0251-D2BC-CDDD-66B56C60FD3B}"/>
              </a:ext>
            </a:extLst>
          </p:cNvPr>
          <p:cNvSpPr>
            <a:spLocks noGrp="1"/>
          </p:cNvSpPr>
          <p:nvPr>
            <p:ph type="title"/>
          </p:nvPr>
        </p:nvSpPr>
        <p:spPr/>
        <p:txBody>
          <a:bodyPr/>
          <a:lstStyle/>
          <a:p>
            <a:r>
              <a:rPr lang="en-US" b="1" dirty="0"/>
              <a:t>Geometric distortion correction</a:t>
            </a:r>
          </a:p>
        </p:txBody>
      </p:sp>
      <p:pic>
        <p:nvPicPr>
          <p:cNvPr id="4" name="Content Placeholder 3">
            <a:extLst>
              <a:ext uri="{FF2B5EF4-FFF2-40B4-BE49-F238E27FC236}">
                <a16:creationId xmlns:a16="http://schemas.microsoft.com/office/drawing/2014/main" id="{BC06455B-40A2-AE10-6BA1-207A64839682}"/>
              </a:ext>
            </a:extLst>
          </p:cNvPr>
          <p:cNvPicPr>
            <a:picLocks noGrp="1" noChangeAspect="1"/>
          </p:cNvPicPr>
          <p:nvPr>
            <p:ph idx="1"/>
          </p:nvPr>
        </p:nvPicPr>
        <p:blipFill>
          <a:blip r:embed="rId3"/>
          <a:srcRect t="25123"/>
          <a:stretch>
            <a:fillRect/>
          </a:stretch>
        </p:blipFill>
        <p:spPr>
          <a:xfrm>
            <a:off x="5457849" y="1446898"/>
            <a:ext cx="6734151" cy="2897747"/>
          </a:xfrm>
          <a:prstGeom prst="rect">
            <a:avLst/>
          </a:prstGeom>
        </p:spPr>
      </p:pic>
      <p:sp>
        <p:nvSpPr>
          <p:cNvPr id="5" name="TextBox 4">
            <a:extLst>
              <a:ext uri="{FF2B5EF4-FFF2-40B4-BE49-F238E27FC236}">
                <a16:creationId xmlns:a16="http://schemas.microsoft.com/office/drawing/2014/main" id="{ADB04278-05F6-9006-055E-375035F2747D}"/>
              </a:ext>
            </a:extLst>
          </p:cNvPr>
          <p:cNvSpPr txBox="1"/>
          <p:nvPr/>
        </p:nvSpPr>
        <p:spPr>
          <a:xfrm>
            <a:off x="399246" y="1867436"/>
            <a:ext cx="4610636" cy="2215991"/>
          </a:xfrm>
          <a:prstGeom prst="rect">
            <a:avLst/>
          </a:prstGeom>
          <a:noFill/>
        </p:spPr>
        <p:txBody>
          <a:bodyPr wrap="square" rtlCol="0">
            <a:spAutoFit/>
          </a:bodyPr>
          <a:lstStyle/>
          <a:p>
            <a:r>
              <a:rPr lang="en-AU" sz="2800" dirty="0"/>
              <a:t>Barrel distortion is often found in images taken with wide-angle lenses.</a:t>
            </a:r>
          </a:p>
          <a:p>
            <a:endParaRPr lang="en-AU" dirty="0"/>
          </a:p>
          <a:p>
            <a:endParaRPr lang="en-AU" dirty="0"/>
          </a:p>
          <a:p>
            <a:endParaRPr lang="en-US" dirty="0"/>
          </a:p>
        </p:txBody>
      </p:sp>
      <p:sp>
        <p:nvSpPr>
          <p:cNvPr id="6" name="TextBox 5">
            <a:extLst>
              <a:ext uri="{FF2B5EF4-FFF2-40B4-BE49-F238E27FC236}">
                <a16:creationId xmlns:a16="http://schemas.microsoft.com/office/drawing/2014/main" id="{6FFF9B11-2226-0030-DCE0-4F03CD6E3C20}"/>
              </a:ext>
            </a:extLst>
          </p:cNvPr>
          <p:cNvSpPr txBox="1"/>
          <p:nvPr/>
        </p:nvSpPr>
        <p:spPr>
          <a:xfrm>
            <a:off x="399246" y="4826253"/>
            <a:ext cx="11699613" cy="1200329"/>
          </a:xfrm>
          <a:prstGeom prst="rect">
            <a:avLst/>
          </a:prstGeom>
          <a:noFill/>
        </p:spPr>
        <p:txBody>
          <a:bodyPr wrap="none" rtlCol="0">
            <a:spAutoFit/>
          </a:bodyPr>
          <a:lstStyle/>
          <a:p>
            <a:r>
              <a:rPr lang="en-AU" sz="2400" dirty="0">
                <a:solidFill>
                  <a:schemeClr val="accent1">
                    <a:lumMod val="75000"/>
                  </a:schemeClr>
                </a:solidFill>
              </a:rPr>
              <a:t>The field of view of the corrected image is not rectangular because, due to barrel distortion, </a:t>
            </a:r>
          </a:p>
          <a:p>
            <a:r>
              <a:rPr lang="en-AU" sz="2400" dirty="0">
                <a:solidFill>
                  <a:schemeClr val="accent1">
                    <a:lumMod val="75000"/>
                  </a:schemeClr>
                </a:solidFill>
              </a:rPr>
              <a:t>the field of view of the original image itself was not rectangular even though the image </a:t>
            </a:r>
          </a:p>
          <a:p>
            <a:r>
              <a:rPr lang="en-AU" sz="2400" dirty="0">
                <a:solidFill>
                  <a:schemeClr val="accent1">
                    <a:lumMod val="75000"/>
                  </a:schemeClr>
                </a:solidFill>
              </a:rPr>
              <a:t>was formed on a rectangular sensor.</a:t>
            </a:r>
          </a:p>
        </p:txBody>
      </p:sp>
    </p:spTree>
    <p:extLst>
      <p:ext uri="{BB962C8B-B14F-4D97-AF65-F5344CB8AC3E}">
        <p14:creationId xmlns:p14="http://schemas.microsoft.com/office/powerpoint/2010/main" val="1210756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080C8-E747-BB68-7910-5EB000C7C87C}"/>
              </a:ext>
            </a:extLst>
          </p:cNvPr>
          <p:cNvSpPr>
            <a:spLocks noGrp="1"/>
          </p:cNvSpPr>
          <p:nvPr>
            <p:ph type="title"/>
          </p:nvPr>
        </p:nvSpPr>
        <p:spPr/>
        <p:txBody>
          <a:bodyPr/>
          <a:lstStyle/>
          <a:p>
            <a:r>
              <a:rPr lang="en-US" b="1" dirty="0"/>
              <a:t>Image acquisition</a:t>
            </a:r>
          </a:p>
        </p:txBody>
      </p:sp>
      <p:pic>
        <p:nvPicPr>
          <p:cNvPr id="4" name="Content Placeholder 3">
            <a:extLst>
              <a:ext uri="{FF2B5EF4-FFF2-40B4-BE49-F238E27FC236}">
                <a16:creationId xmlns:a16="http://schemas.microsoft.com/office/drawing/2014/main" id="{2B032580-5527-B81E-9344-09EA5AA41978}"/>
              </a:ext>
            </a:extLst>
          </p:cNvPr>
          <p:cNvPicPr>
            <a:picLocks noGrp="1" noChangeAspect="1"/>
          </p:cNvPicPr>
          <p:nvPr>
            <p:ph idx="1"/>
          </p:nvPr>
        </p:nvPicPr>
        <p:blipFill>
          <a:blip r:embed="rId2"/>
          <a:srcRect t="31616"/>
          <a:stretch>
            <a:fillRect/>
          </a:stretch>
        </p:blipFill>
        <p:spPr>
          <a:xfrm>
            <a:off x="262315" y="2137719"/>
            <a:ext cx="5504338" cy="2866770"/>
          </a:xfrm>
          <a:prstGeom prst="rect">
            <a:avLst/>
          </a:prstGeom>
        </p:spPr>
      </p:pic>
      <p:pic>
        <p:nvPicPr>
          <p:cNvPr id="5" name="Picture 4">
            <a:extLst>
              <a:ext uri="{FF2B5EF4-FFF2-40B4-BE49-F238E27FC236}">
                <a16:creationId xmlns:a16="http://schemas.microsoft.com/office/drawing/2014/main" id="{62F27E78-3436-451C-229F-FAE39D840F51}"/>
              </a:ext>
            </a:extLst>
          </p:cNvPr>
          <p:cNvPicPr>
            <a:picLocks noChangeAspect="1"/>
          </p:cNvPicPr>
          <p:nvPr/>
        </p:nvPicPr>
        <p:blipFill>
          <a:blip r:embed="rId3"/>
          <a:srcRect t="31923"/>
          <a:stretch>
            <a:fillRect/>
          </a:stretch>
        </p:blipFill>
        <p:spPr>
          <a:xfrm>
            <a:off x="6095999" y="3212757"/>
            <a:ext cx="5685031" cy="2965621"/>
          </a:xfrm>
          <a:prstGeom prst="rect">
            <a:avLst/>
          </a:prstGeom>
        </p:spPr>
      </p:pic>
    </p:spTree>
    <p:extLst>
      <p:ext uri="{BB962C8B-B14F-4D97-AF65-F5344CB8AC3E}">
        <p14:creationId xmlns:p14="http://schemas.microsoft.com/office/powerpoint/2010/main" val="171441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AD371-8096-561C-F2AA-4B3A5E8D1B3C}"/>
              </a:ext>
            </a:extLst>
          </p:cNvPr>
          <p:cNvSpPr>
            <a:spLocks noGrp="1"/>
          </p:cNvSpPr>
          <p:nvPr>
            <p:ph type="title"/>
          </p:nvPr>
        </p:nvSpPr>
        <p:spPr/>
        <p:txBody>
          <a:bodyPr/>
          <a:lstStyle/>
          <a:p>
            <a:r>
              <a:rPr lang="en-US" b="1" dirty="0"/>
              <a:t>Sensor arrays</a:t>
            </a:r>
          </a:p>
        </p:txBody>
      </p:sp>
      <p:pic>
        <p:nvPicPr>
          <p:cNvPr id="5" name="Content Placeholder 4">
            <a:extLst>
              <a:ext uri="{FF2B5EF4-FFF2-40B4-BE49-F238E27FC236}">
                <a16:creationId xmlns:a16="http://schemas.microsoft.com/office/drawing/2014/main" id="{E762C8B7-816B-5655-125A-1F29EBA1BA70}"/>
              </a:ext>
            </a:extLst>
          </p:cNvPr>
          <p:cNvPicPr>
            <a:picLocks noGrp="1" noChangeAspect="1"/>
          </p:cNvPicPr>
          <p:nvPr>
            <p:ph idx="1"/>
          </p:nvPr>
        </p:nvPicPr>
        <p:blipFill>
          <a:blip r:embed="rId2"/>
          <a:stretch>
            <a:fillRect/>
          </a:stretch>
        </p:blipFill>
        <p:spPr>
          <a:xfrm>
            <a:off x="6599483" y="1485346"/>
            <a:ext cx="4524062" cy="4343100"/>
          </a:xfrm>
          <a:prstGeom prst="rect">
            <a:avLst/>
          </a:prstGeom>
        </p:spPr>
      </p:pic>
      <p:sp>
        <p:nvSpPr>
          <p:cNvPr id="6" name="TextBox 5">
            <a:extLst>
              <a:ext uri="{FF2B5EF4-FFF2-40B4-BE49-F238E27FC236}">
                <a16:creationId xmlns:a16="http://schemas.microsoft.com/office/drawing/2014/main" id="{5634C580-AA51-07E1-C6D1-2D302C14AC55}"/>
              </a:ext>
            </a:extLst>
          </p:cNvPr>
          <p:cNvSpPr txBox="1"/>
          <p:nvPr/>
        </p:nvSpPr>
        <p:spPr>
          <a:xfrm>
            <a:off x="1210613" y="2905780"/>
            <a:ext cx="4381905" cy="523220"/>
          </a:xfrm>
          <a:prstGeom prst="rect">
            <a:avLst/>
          </a:prstGeom>
          <a:noFill/>
        </p:spPr>
        <p:txBody>
          <a:bodyPr wrap="none" rtlCol="0">
            <a:spAutoFit/>
          </a:bodyPr>
          <a:lstStyle/>
          <a:p>
            <a:r>
              <a:rPr lang="en-US" sz="2800" dirty="0"/>
              <a:t>Revision form </a:t>
            </a:r>
            <a:r>
              <a:rPr lang="en-AU" sz="2800" dirty="0"/>
              <a:t>Gonzalez</a:t>
            </a:r>
            <a:r>
              <a:rPr lang="en-US" sz="2800" dirty="0"/>
              <a:t> book</a:t>
            </a:r>
          </a:p>
        </p:txBody>
      </p:sp>
    </p:spTree>
    <p:extLst>
      <p:ext uri="{BB962C8B-B14F-4D97-AF65-F5344CB8AC3E}">
        <p14:creationId xmlns:p14="http://schemas.microsoft.com/office/powerpoint/2010/main" val="903733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7091B-5728-5A71-8F4C-D06F754C4A7D}"/>
              </a:ext>
            </a:extLst>
          </p:cNvPr>
          <p:cNvSpPr>
            <a:spLocks noGrp="1"/>
          </p:cNvSpPr>
          <p:nvPr>
            <p:ph type="title"/>
          </p:nvPr>
        </p:nvSpPr>
        <p:spPr/>
        <p:txBody>
          <a:bodyPr/>
          <a:lstStyle/>
          <a:p>
            <a:r>
              <a:rPr lang="en-US" dirty="0"/>
              <a:t>Image acquisition</a:t>
            </a:r>
          </a:p>
        </p:txBody>
      </p:sp>
      <p:pic>
        <p:nvPicPr>
          <p:cNvPr id="5" name="Content Placeholder 4">
            <a:extLst>
              <a:ext uri="{FF2B5EF4-FFF2-40B4-BE49-F238E27FC236}">
                <a16:creationId xmlns:a16="http://schemas.microsoft.com/office/drawing/2014/main" id="{2664B9AE-B08A-BDD9-2168-643030E478D0}"/>
              </a:ext>
            </a:extLst>
          </p:cNvPr>
          <p:cNvPicPr>
            <a:picLocks noGrp="1" noChangeAspect="1"/>
          </p:cNvPicPr>
          <p:nvPr>
            <p:ph idx="1"/>
          </p:nvPr>
        </p:nvPicPr>
        <p:blipFill>
          <a:blip r:embed="rId3"/>
          <a:stretch>
            <a:fillRect/>
          </a:stretch>
        </p:blipFill>
        <p:spPr>
          <a:xfrm>
            <a:off x="1211283" y="1484416"/>
            <a:ext cx="8831361" cy="5070296"/>
          </a:xfrm>
          <a:prstGeom prst="rect">
            <a:avLst/>
          </a:prstGeom>
        </p:spPr>
      </p:pic>
    </p:spTree>
    <p:extLst>
      <p:ext uri="{BB962C8B-B14F-4D97-AF65-F5344CB8AC3E}">
        <p14:creationId xmlns:p14="http://schemas.microsoft.com/office/powerpoint/2010/main" val="2249825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ECB80-8174-833D-3ADF-2A18EB1BBEF4}"/>
              </a:ext>
            </a:extLst>
          </p:cNvPr>
          <p:cNvSpPr>
            <a:spLocks noGrp="1"/>
          </p:cNvSpPr>
          <p:nvPr>
            <p:ph type="title"/>
          </p:nvPr>
        </p:nvSpPr>
        <p:spPr>
          <a:xfrm>
            <a:off x="172527" y="152332"/>
            <a:ext cx="10515600" cy="1325563"/>
          </a:xfrm>
        </p:spPr>
        <p:txBody>
          <a:bodyPr/>
          <a:lstStyle/>
          <a:p>
            <a:r>
              <a:rPr lang="en-US" b="1" dirty="0"/>
              <a:t>Image formation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BE504B-18B9-303E-A373-169AE7F5626A}"/>
                  </a:ext>
                </a:extLst>
              </p:cNvPr>
              <p:cNvSpPr>
                <a:spLocks noGrp="1"/>
              </p:cNvSpPr>
              <p:nvPr>
                <p:ph idx="1"/>
              </p:nvPr>
            </p:nvSpPr>
            <p:spPr>
              <a:xfrm>
                <a:off x="178599" y="1477895"/>
                <a:ext cx="6360224" cy="4351338"/>
              </a:xfrm>
            </p:spPr>
            <p:txBody>
              <a:bodyPr>
                <a:normAutofit/>
              </a:bodyPr>
              <a:lstStyle/>
              <a:p>
                <a:r>
                  <a:rPr lang="en-US" dirty="0"/>
                  <a:t>A 2D function </a:t>
                </a:r>
                <a14:m>
                  <m:oMath xmlns:m="http://schemas.openxmlformats.org/officeDocument/2006/math">
                    <m:r>
                      <a:rPr lang="en-AU" b="0" i="1" smtClean="0">
                        <a:latin typeface="Cambria Math" panose="02040503050406030204" pitchFamily="18" charset="0"/>
                      </a:rPr>
                      <m:t>𝑓</m:t>
                    </m:r>
                    <m:d>
                      <m:dPr>
                        <m:ctrlPr>
                          <a:rPr lang="en-AU" b="0" i="1" smtClean="0">
                            <a:latin typeface="Cambria Math" panose="02040503050406030204" pitchFamily="18" charset="0"/>
                          </a:rPr>
                        </m:ctrlPr>
                      </m:dPr>
                      <m:e>
                        <m:r>
                          <a:rPr lang="en-AU" b="0" i="1" smtClean="0">
                            <a:latin typeface="Cambria Math" panose="02040503050406030204" pitchFamily="18" charset="0"/>
                          </a:rPr>
                          <m:t>𝑥</m:t>
                        </m:r>
                        <m:r>
                          <a:rPr lang="en-AU" b="0" i="1" smtClean="0">
                            <a:latin typeface="Cambria Math" panose="02040503050406030204" pitchFamily="18" charset="0"/>
                          </a:rPr>
                          <m:t>,</m:t>
                        </m:r>
                        <m:r>
                          <a:rPr lang="en-AU" b="0" i="1" smtClean="0">
                            <a:latin typeface="Cambria Math" panose="02040503050406030204" pitchFamily="18" charset="0"/>
                          </a:rPr>
                          <m:t>𝑦</m:t>
                        </m:r>
                      </m:e>
                    </m:d>
                  </m:oMath>
                </a14:m>
                <a:endParaRPr lang="en-AU" b="0" i="1" dirty="0">
                  <a:latin typeface="Cambria Math" panose="02040503050406030204" pitchFamily="18" charset="0"/>
                </a:endParaRPr>
              </a:p>
              <a:p>
                <a:pPr lvl="1"/>
                <a14:m>
                  <m:oMath xmlns:m="http://schemas.openxmlformats.org/officeDocument/2006/math">
                    <m:r>
                      <a:rPr lang="en-AU">
                        <a:latin typeface="Cambria Math" panose="02040503050406030204" pitchFamily="18" charset="0"/>
                      </a:rPr>
                      <m:t>𝑓</m:t>
                    </m:r>
                  </m:oMath>
                </a14:m>
                <a:r>
                  <a:rPr lang="en-AU" dirty="0"/>
                  <a:t> at spatial coordinates </a:t>
                </a:r>
                <a14:m>
                  <m:oMath xmlns:m="http://schemas.openxmlformats.org/officeDocument/2006/math">
                    <m:r>
                      <a:rPr lang="en-AU" dirty="0">
                        <a:latin typeface="Cambria Math" panose="02040503050406030204" pitchFamily="18" charset="0"/>
                      </a:rPr>
                      <m:t>(</m:t>
                    </m:r>
                    <m:r>
                      <a:rPr lang="en-AU" dirty="0">
                        <a:latin typeface="Cambria Math" panose="02040503050406030204" pitchFamily="18" charset="0"/>
                      </a:rPr>
                      <m:t>𝑥</m:t>
                    </m:r>
                    <m:r>
                      <a:rPr lang="en-AU" dirty="0">
                        <a:latin typeface="Cambria Math" panose="02040503050406030204" pitchFamily="18" charset="0"/>
                      </a:rPr>
                      <m:t>, </m:t>
                    </m:r>
                    <m:r>
                      <a:rPr lang="en-AU" dirty="0">
                        <a:latin typeface="Cambria Math" panose="02040503050406030204" pitchFamily="18" charset="0"/>
                      </a:rPr>
                      <m:t>𝑦</m:t>
                    </m:r>
                    <m:r>
                      <a:rPr lang="en-AU" dirty="0">
                        <a:latin typeface="Cambria Math" panose="02040503050406030204" pitchFamily="18" charset="0"/>
                      </a:rPr>
                      <m:t>)</m:t>
                    </m:r>
                  </m:oMath>
                </a14:m>
                <a:r>
                  <a:rPr lang="en-AU" dirty="0"/>
                  <a:t> is a scalar quantity proportional to energy radiated by a physical source (e.g., electromagnetic waves).</a:t>
                </a:r>
              </a:p>
              <a:p>
                <a14:m>
                  <m:oMath xmlns:m="http://schemas.openxmlformats.org/officeDocument/2006/math">
                    <m:r>
                      <a:rPr lang="en-AU" i="1">
                        <a:latin typeface="Cambria Math" panose="02040503050406030204" pitchFamily="18" charset="0"/>
                      </a:rPr>
                      <m:t>𝑓</m:t>
                    </m:r>
                    <m:d>
                      <m:dPr>
                        <m:ctrlPr>
                          <a:rPr lang="en-AU" i="1">
                            <a:latin typeface="Cambria Math" panose="02040503050406030204" pitchFamily="18" charset="0"/>
                          </a:rPr>
                        </m:ctrlPr>
                      </m:dPr>
                      <m:e>
                        <m:r>
                          <a:rPr lang="en-AU" i="1">
                            <a:latin typeface="Cambria Math" panose="02040503050406030204" pitchFamily="18" charset="0"/>
                          </a:rPr>
                          <m:t>𝑥</m:t>
                        </m:r>
                        <m:r>
                          <a:rPr lang="en-AU" i="1">
                            <a:latin typeface="Cambria Math" panose="02040503050406030204" pitchFamily="18" charset="0"/>
                          </a:rPr>
                          <m:t>,</m:t>
                        </m:r>
                        <m:r>
                          <a:rPr lang="en-AU" i="1">
                            <a:latin typeface="Cambria Math" panose="02040503050406030204" pitchFamily="18" charset="0"/>
                          </a:rPr>
                          <m:t>𝑦</m:t>
                        </m:r>
                      </m:e>
                    </m:d>
                  </m:oMath>
                </a14:m>
                <a:r>
                  <a:rPr lang="en-US" dirty="0"/>
                  <a:t> has two components</a:t>
                </a:r>
              </a:p>
              <a:p>
                <a:pPr lvl="1"/>
                <a:r>
                  <a:rPr lang="en-AU" b="1" dirty="0"/>
                  <a:t>Illumination:</a:t>
                </a:r>
                <a:r>
                  <a:rPr lang="en-AU" dirty="0"/>
                  <a:t> the amount of source illumination</a:t>
                </a:r>
              </a:p>
              <a:p>
                <a:pPr lvl="1"/>
                <a:r>
                  <a:rPr lang="en-AU" b="1" dirty="0"/>
                  <a:t>Reflectance: </a:t>
                </a:r>
                <a:r>
                  <a:rPr lang="en-AU" dirty="0"/>
                  <a:t>the amount of reflected by the objects in the scene</a:t>
                </a:r>
              </a:p>
              <a:p>
                <a:pPr marL="457200" lvl="1"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𝑓</m:t>
                      </m:r>
                      <m:d>
                        <m:dPr>
                          <m:ctrlPr>
                            <a:rPr lang="en-AU" b="0" i="1" smtClean="0">
                              <a:latin typeface="Cambria Math" panose="02040503050406030204" pitchFamily="18" charset="0"/>
                            </a:rPr>
                          </m:ctrlPr>
                        </m:dPr>
                        <m:e>
                          <m:r>
                            <a:rPr lang="en-AU" b="0" i="1" smtClean="0">
                              <a:latin typeface="Cambria Math" panose="02040503050406030204" pitchFamily="18" charset="0"/>
                            </a:rPr>
                            <m:t>𝑥</m:t>
                          </m:r>
                          <m:r>
                            <a:rPr lang="en-AU" b="0" i="1" smtClean="0">
                              <a:latin typeface="Cambria Math" panose="02040503050406030204" pitchFamily="18" charset="0"/>
                            </a:rPr>
                            <m:t>,</m:t>
                          </m:r>
                          <m:r>
                            <a:rPr lang="en-AU" b="0" i="1" smtClean="0">
                              <a:latin typeface="Cambria Math" panose="02040503050406030204" pitchFamily="18" charset="0"/>
                            </a:rPr>
                            <m:t>𝑦</m:t>
                          </m:r>
                        </m:e>
                      </m:d>
                      <m:r>
                        <a:rPr lang="en-AU" b="0" i="1" smtClean="0">
                          <a:latin typeface="Cambria Math" panose="02040503050406030204" pitchFamily="18" charset="0"/>
                        </a:rPr>
                        <m:t>=</m:t>
                      </m:r>
                      <m:r>
                        <a:rPr lang="en-AU" b="0" i="1" smtClean="0">
                          <a:latin typeface="Cambria Math" panose="02040503050406030204" pitchFamily="18" charset="0"/>
                        </a:rPr>
                        <m:t>𝑖</m:t>
                      </m:r>
                      <m:d>
                        <m:dPr>
                          <m:ctrlPr>
                            <a:rPr lang="en-AU" b="0" i="1" smtClean="0">
                              <a:latin typeface="Cambria Math" panose="02040503050406030204" pitchFamily="18" charset="0"/>
                            </a:rPr>
                          </m:ctrlPr>
                        </m:dPr>
                        <m:e>
                          <m:r>
                            <a:rPr lang="en-AU" b="0" i="1" smtClean="0">
                              <a:latin typeface="Cambria Math" panose="02040503050406030204" pitchFamily="18" charset="0"/>
                            </a:rPr>
                            <m:t>𝑥</m:t>
                          </m:r>
                          <m:r>
                            <a:rPr lang="en-AU" b="0" i="1" smtClean="0">
                              <a:latin typeface="Cambria Math" panose="02040503050406030204" pitchFamily="18" charset="0"/>
                            </a:rPr>
                            <m:t>,</m:t>
                          </m:r>
                          <m:r>
                            <a:rPr lang="en-AU" b="0" i="1" smtClean="0">
                              <a:latin typeface="Cambria Math" panose="02040503050406030204" pitchFamily="18" charset="0"/>
                            </a:rPr>
                            <m:t>𝑦</m:t>
                          </m:r>
                        </m:e>
                      </m:d>
                      <m:r>
                        <a:rPr lang="en-AU" b="0" i="1" smtClean="0">
                          <a:latin typeface="Cambria Math" panose="02040503050406030204" pitchFamily="18" charset="0"/>
                        </a:rPr>
                        <m:t>𝑟</m:t>
                      </m:r>
                      <m:r>
                        <a:rPr lang="en-AU" b="0" i="1" smtClean="0">
                          <a:latin typeface="Cambria Math" panose="02040503050406030204" pitchFamily="18" charset="0"/>
                        </a:rPr>
                        <m:t>(</m:t>
                      </m:r>
                      <m:r>
                        <a:rPr lang="en-AU" b="0" i="1" smtClean="0">
                          <a:latin typeface="Cambria Math" panose="02040503050406030204" pitchFamily="18" charset="0"/>
                        </a:rPr>
                        <m:t>𝑥</m:t>
                      </m:r>
                      <m:r>
                        <a:rPr lang="en-AU" b="0" i="1" smtClean="0">
                          <a:latin typeface="Cambria Math" panose="02040503050406030204" pitchFamily="18" charset="0"/>
                        </a:rPr>
                        <m:t>,</m:t>
                      </m:r>
                      <m:r>
                        <a:rPr lang="en-AU" b="0" i="1" smtClean="0">
                          <a:latin typeface="Cambria Math" panose="02040503050406030204" pitchFamily="18" charset="0"/>
                        </a:rPr>
                        <m:t>𝑦</m:t>
                      </m:r>
                      <m:r>
                        <a:rPr lang="en-AU" b="0" i="1" smtClean="0">
                          <a:latin typeface="Cambria Math" panose="02040503050406030204" pitchFamily="18" charset="0"/>
                        </a:rPr>
                        <m:t>)</m:t>
                      </m:r>
                    </m:oMath>
                  </m:oMathPara>
                </a14:m>
                <a:endParaRPr lang="en-AU" dirty="0"/>
              </a:p>
              <a:p>
                <a:endParaRPr lang="en-AU" dirty="0"/>
              </a:p>
            </p:txBody>
          </p:sp>
        </mc:Choice>
        <mc:Fallback xmlns="">
          <p:sp>
            <p:nvSpPr>
              <p:cNvPr id="3" name="Content Placeholder 2">
                <a:extLst>
                  <a:ext uri="{FF2B5EF4-FFF2-40B4-BE49-F238E27FC236}">
                    <a16:creationId xmlns:a16="http://schemas.microsoft.com/office/drawing/2014/main" id="{C3BE504B-18B9-303E-A373-169AE7F5626A}"/>
                  </a:ext>
                </a:extLst>
              </p:cNvPr>
              <p:cNvSpPr>
                <a:spLocks noGrp="1" noRot="1" noChangeAspect="1" noMove="1" noResize="1" noEditPoints="1" noAdjustHandles="1" noChangeArrowheads="1" noChangeShapeType="1" noTextEdit="1"/>
              </p:cNvSpPr>
              <p:nvPr>
                <p:ph idx="1"/>
              </p:nvPr>
            </p:nvSpPr>
            <p:spPr>
              <a:xfrm>
                <a:off x="178599" y="1477895"/>
                <a:ext cx="6360224" cy="4351338"/>
              </a:xfrm>
              <a:blipFill>
                <a:blip r:embed="rId3"/>
                <a:stretch>
                  <a:fillRect l="-1590" t="-2332" r="-1392"/>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D3C1541-95C2-86B9-28DD-4A5F446581E8}"/>
              </a:ext>
            </a:extLst>
          </p:cNvPr>
          <p:cNvPicPr>
            <a:picLocks noChangeAspect="1"/>
          </p:cNvPicPr>
          <p:nvPr/>
        </p:nvPicPr>
        <p:blipFill>
          <a:blip r:embed="rId4"/>
          <a:stretch>
            <a:fillRect/>
          </a:stretch>
        </p:blipFill>
        <p:spPr>
          <a:xfrm>
            <a:off x="6753292" y="703952"/>
            <a:ext cx="5087580" cy="3402221"/>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6C4DACC-DC5D-8456-3B19-81C51618499C}"/>
                  </a:ext>
                </a:extLst>
              </p:cNvPr>
              <p:cNvSpPr txBox="1"/>
              <p:nvPr/>
            </p:nvSpPr>
            <p:spPr>
              <a:xfrm>
                <a:off x="8425420" y="4445000"/>
                <a:ext cx="226270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rPr>
                        <m:t>0≤</m:t>
                      </m:r>
                      <m:r>
                        <a:rPr lang="en-AU" b="0" i="1" smtClean="0">
                          <a:latin typeface="Cambria Math" panose="02040503050406030204" pitchFamily="18" charset="0"/>
                        </a:rPr>
                        <m:t>𝑓</m:t>
                      </m:r>
                      <m:d>
                        <m:dPr>
                          <m:ctrlPr>
                            <a:rPr lang="en-AU" i="1">
                              <a:latin typeface="Cambria Math" panose="02040503050406030204" pitchFamily="18" charset="0"/>
                            </a:rPr>
                          </m:ctrlPr>
                        </m:dPr>
                        <m:e>
                          <m:r>
                            <a:rPr lang="en-AU" i="1">
                              <a:latin typeface="Cambria Math" panose="02040503050406030204" pitchFamily="18" charset="0"/>
                            </a:rPr>
                            <m:t>𝑥</m:t>
                          </m:r>
                          <m:r>
                            <a:rPr lang="en-AU" i="1">
                              <a:latin typeface="Cambria Math" panose="02040503050406030204" pitchFamily="18" charset="0"/>
                            </a:rPr>
                            <m:t>,</m:t>
                          </m:r>
                          <m:r>
                            <a:rPr lang="en-AU" i="1">
                              <a:latin typeface="Cambria Math" panose="02040503050406030204" pitchFamily="18" charset="0"/>
                            </a:rPr>
                            <m:t>𝑦</m:t>
                          </m:r>
                        </m:e>
                      </m:d>
                      <m:r>
                        <a:rPr lang="en-AU" i="1">
                          <a:latin typeface="Cambria Math" panose="02040503050406030204" pitchFamily="18" charset="0"/>
                        </a:rPr>
                        <m:t>&lt;∞</m:t>
                      </m:r>
                    </m:oMath>
                  </m:oMathPara>
                </a14:m>
                <a:endParaRPr lang="en-US" dirty="0"/>
              </a:p>
            </p:txBody>
          </p:sp>
        </mc:Choice>
        <mc:Fallback xmlns="">
          <p:sp>
            <p:nvSpPr>
              <p:cNvPr id="6" name="TextBox 5">
                <a:extLst>
                  <a:ext uri="{FF2B5EF4-FFF2-40B4-BE49-F238E27FC236}">
                    <a16:creationId xmlns:a16="http://schemas.microsoft.com/office/drawing/2014/main" id="{E6C4DACC-DC5D-8456-3B19-81C51618499C}"/>
                  </a:ext>
                </a:extLst>
              </p:cNvPr>
              <p:cNvSpPr txBox="1">
                <a:spLocks noRot="1" noChangeAspect="1" noMove="1" noResize="1" noEditPoints="1" noAdjustHandles="1" noChangeArrowheads="1" noChangeShapeType="1" noTextEdit="1"/>
              </p:cNvSpPr>
              <p:nvPr/>
            </p:nvSpPr>
            <p:spPr>
              <a:xfrm>
                <a:off x="8425420" y="4445000"/>
                <a:ext cx="2262707" cy="369332"/>
              </a:xfrm>
              <a:prstGeom prst="rect">
                <a:avLst/>
              </a:prstGeom>
              <a:blipFill>
                <a:blip r:embed="rId5"/>
                <a:stretch>
                  <a:fillRect b="-129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D5B3ACD-2ED9-DE74-D9F6-0453FF1ECEF9}"/>
                  </a:ext>
                </a:extLst>
              </p:cNvPr>
              <p:cNvSpPr txBox="1"/>
              <p:nvPr/>
            </p:nvSpPr>
            <p:spPr>
              <a:xfrm>
                <a:off x="8425420" y="4846119"/>
                <a:ext cx="226270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0≤</m:t>
                      </m:r>
                      <m:r>
                        <a:rPr lang="en-AU" b="0" i="1" smtClean="0">
                          <a:latin typeface="Cambria Math" panose="02040503050406030204" pitchFamily="18" charset="0"/>
                        </a:rPr>
                        <m:t>𝑖</m:t>
                      </m:r>
                      <m:d>
                        <m:dPr>
                          <m:ctrlPr>
                            <a:rPr lang="en-AU" b="0" i="1" smtClean="0">
                              <a:latin typeface="Cambria Math" panose="02040503050406030204" pitchFamily="18" charset="0"/>
                            </a:rPr>
                          </m:ctrlPr>
                        </m:dPr>
                        <m:e>
                          <m:r>
                            <a:rPr lang="en-AU" b="0" i="1" smtClean="0">
                              <a:latin typeface="Cambria Math" panose="02040503050406030204" pitchFamily="18" charset="0"/>
                            </a:rPr>
                            <m:t>𝑥</m:t>
                          </m:r>
                          <m:r>
                            <a:rPr lang="en-AU" b="0" i="1" smtClean="0">
                              <a:latin typeface="Cambria Math" panose="02040503050406030204" pitchFamily="18" charset="0"/>
                            </a:rPr>
                            <m:t>,</m:t>
                          </m:r>
                          <m:r>
                            <a:rPr lang="en-AU" b="0" i="1" smtClean="0">
                              <a:latin typeface="Cambria Math" panose="02040503050406030204" pitchFamily="18" charset="0"/>
                            </a:rPr>
                            <m:t>𝑦</m:t>
                          </m:r>
                        </m:e>
                      </m:d>
                      <m:r>
                        <a:rPr lang="en-AU" b="0" i="1" smtClean="0">
                          <a:latin typeface="Cambria Math" panose="02040503050406030204" pitchFamily="18" charset="0"/>
                        </a:rPr>
                        <m:t>&lt;∞ </m:t>
                      </m:r>
                    </m:oMath>
                  </m:oMathPara>
                </a14:m>
                <a:endParaRPr lang="en-US" dirty="0"/>
              </a:p>
            </p:txBody>
          </p:sp>
        </mc:Choice>
        <mc:Fallback xmlns="">
          <p:sp>
            <p:nvSpPr>
              <p:cNvPr id="7" name="TextBox 6">
                <a:extLst>
                  <a:ext uri="{FF2B5EF4-FFF2-40B4-BE49-F238E27FC236}">
                    <a16:creationId xmlns:a16="http://schemas.microsoft.com/office/drawing/2014/main" id="{AD5B3ACD-2ED9-DE74-D9F6-0453FF1ECEF9}"/>
                  </a:ext>
                </a:extLst>
              </p:cNvPr>
              <p:cNvSpPr txBox="1">
                <a:spLocks noRot="1" noChangeAspect="1" noMove="1" noResize="1" noEditPoints="1" noAdjustHandles="1" noChangeArrowheads="1" noChangeShapeType="1" noTextEdit="1"/>
              </p:cNvSpPr>
              <p:nvPr/>
            </p:nvSpPr>
            <p:spPr>
              <a:xfrm>
                <a:off x="8425420" y="4846119"/>
                <a:ext cx="2262707" cy="369332"/>
              </a:xfrm>
              <a:prstGeom prst="rect">
                <a:avLst/>
              </a:prstGeom>
              <a:blipFill>
                <a:blip r:embed="rId6"/>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C21E0B6-DC1E-D666-64B5-4B38CD55DC95}"/>
                  </a:ext>
                </a:extLst>
              </p:cNvPr>
              <p:cNvSpPr txBox="1"/>
              <p:nvPr/>
            </p:nvSpPr>
            <p:spPr>
              <a:xfrm>
                <a:off x="8425420" y="5247238"/>
                <a:ext cx="226270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0≤</m:t>
                      </m:r>
                      <m:r>
                        <a:rPr lang="en-AU" b="0" i="1" smtClean="0">
                          <a:latin typeface="Cambria Math" panose="02040503050406030204" pitchFamily="18" charset="0"/>
                        </a:rPr>
                        <m:t>𝑟</m:t>
                      </m:r>
                      <m:d>
                        <m:dPr>
                          <m:ctrlPr>
                            <a:rPr lang="en-AU" b="0" i="1" smtClean="0">
                              <a:latin typeface="Cambria Math" panose="02040503050406030204" pitchFamily="18" charset="0"/>
                            </a:rPr>
                          </m:ctrlPr>
                        </m:dPr>
                        <m:e>
                          <m:r>
                            <a:rPr lang="en-AU" b="0" i="1" smtClean="0">
                              <a:latin typeface="Cambria Math" panose="02040503050406030204" pitchFamily="18" charset="0"/>
                            </a:rPr>
                            <m:t>𝑥</m:t>
                          </m:r>
                          <m:r>
                            <a:rPr lang="en-AU" b="0" i="1" smtClean="0">
                              <a:latin typeface="Cambria Math" panose="02040503050406030204" pitchFamily="18" charset="0"/>
                            </a:rPr>
                            <m:t>,</m:t>
                          </m:r>
                          <m:r>
                            <a:rPr lang="en-AU" b="0" i="1" smtClean="0">
                              <a:latin typeface="Cambria Math" panose="02040503050406030204" pitchFamily="18" charset="0"/>
                            </a:rPr>
                            <m:t>𝑦</m:t>
                          </m:r>
                        </m:e>
                      </m:d>
                      <m:r>
                        <a:rPr lang="en-AU" b="0" i="1" smtClean="0">
                          <a:latin typeface="Cambria Math" panose="02040503050406030204" pitchFamily="18" charset="0"/>
                        </a:rPr>
                        <m:t>&lt;1</m:t>
                      </m:r>
                    </m:oMath>
                  </m:oMathPara>
                </a14:m>
                <a:endParaRPr lang="en-US" dirty="0"/>
              </a:p>
            </p:txBody>
          </p:sp>
        </mc:Choice>
        <mc:Fallback xmlns="">
          <p:sp>
            <p:nvSpPr>
              <p:cNvPr id="8" name="TextBox 7">
                <a:extLst>
                  <a:ext uri="{FF2B5EF4-FFF2-40B4-BE49-F238E27FC236}">
                    <a16:creationId xmlns:a16="http://schemas.microsoft.com/office/drawing/2014/main" id="{DC21E0B6-DC1E-D666-64B5-4B38CD55DC95}"/>
                  </a:ext>
                </a:extLst>
              </p:cNvPr>
              <p:cNvSpPr txBox="1">
                <a:spLocks noRot="1" noChangeAspect="1" noMove="1" noResize="1" noEditPoints="1" noAdjustHandles="1" noChangeArrowheads="1" noChangeShapeType="1" noTextEdit="1"/>
              </p:cNvSpPr>
              <p:nvPr/>
            </p:nvSpPr>
            <p:spPr>
              <a:xfrm>
                <a:off x="8425420" y="5247238"/>
                <a:ext cx="2262707" cy="369332"/>
              </a:xfrm>
              <a:prstGeom prst="rect">
                <a:avLst/>
              </a:prstGeom>
              <a:blipFill>
                <a:blip r:embed="rId7"/>
                <a:stretch>
                  <a:fillRect b="-6667"/>
                </a:stretch>
              </a:blipFill>
            </p:spPr>
            <p:txBody>
              <a:bodyPr/>
              <a:lstStyle/>
              <a:p>
                <a:r>
                  <a:rPr lang="en-US">
                    <a:noFill/>
                  </a:rPr>
                  <a:t> </a:t>
                </a:r>
              </a:p>
            </p:txBody>
          </p:sp>
        </mc:Fallback>
      </mc:AlternateContent>
    </p:spTree>
    <p:extLst>
      <p:ext uri="{BB962C8B-B14F-4D97-AF65-F5344CB8AC3E}">
        <p14:creationId xmlns:p14="http://schemas.microsoft.com/office/powerpoint/2010/main" val="3713123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32A36-5DA7-DF27-0419-ADC1FA34B8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7BE3C-AE84-7B14-CE54-B862ADDE95BE}"/>
              </a:ext>
            </a:extLst>
          </p:cNvPr>
          <p:cNvSpPr>
            <a:spLocks noGrp="1"/>
          </p:cNvSpPr>
          <p:nvPr>
            <p:ph type="title"/>
          </p:nvPr>
        </p:nvSpPr>
        <p:spPr/>
        <p:txBody>
          <a:bodyPr/>
          <a:lstStyle/>
          <a:p>
            <a:r>
              <a:rPr lang="en-AU" b="1" dirty="0"/>
              <a:t>Sampling &amp; Quantization</a:t>
            </a:r>
            <a:endParaRPr lang="en-US" b="1" dirty="0"/>
          </a:p>
        </p:txBody>
      </p:sp>
      <p:pic>
        <p:nvPicPr>
          <p:cNvPr id="8" name="Content Placeholder 7">
            <a:extLst>
              <a:ext uri="{FF2B5EF4-FFF2-40B4-BE49-F238E27FC236}">
                <a16:creationId xmlns:a16="http://schemas.microsoft.com/office/drawing/2014/main" id="{6ED7A36D-27BA-273A-04DF-06479C8B88DE}"/>
              </a:ext>
            </a:extLst>
          </p:cNvPr>
          <p:cNvPicPr>
            <a:picLocks noGrp="1" noChangeAspect="1"/>
          </p:cNvPicPr>
          <p:nvPr>
            <p:ph idx="1"/>
          </p:nvPr>
        </p:nvPicPr>
        <p:blipFill>
          <a:blip r:embed="rId3"/>
          <a:stretch>
            <a:fillRect/>
          </a:stretch>
        </p:blipFill>
        <p:spPr>
          <a:xfrm>
            <a:off x="5094515" y="1173148"/>
            <a:ext cx="6730340" cy="5504253"/>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C4A8D38-C78B-00AB-8519-BD3607B2EFF2}"/>
                  </a:ext>
                </a:extLst>
              </p:cNvPr>
              <p:cNvSpPr txBox="1"/>
              <p:nvPr/>
            </p:nvSpPr>
            <p:spPr>
              <a:xfrm>
                <a:off x="924233" y="1714138"/>
                <a:ext cx="4004028" cy="2308324"/>
              </a:xfrm>
              <a:prstGeom prst="rect">
                <a:avLst/>
              </a:prstGeom>
              <a:noFill/>
            </p:spPr>
            <p:txBody>
              <a:bodyPr wrap="square" rtlCol="0">
                <a:spAutoFit/>
              </a:bodyPr>
              <a:lstStyle/>
              <a:p>
                <a:r>
                  <a:rPr lang="en-AU" dirty="0"/>
                  <a:t>An image is continuous with respect to </a:t>
                </a:r>
              </a:p>
              <a:p>
                <a:r>
                  <a:rPr lang="en-AU" dirty="0"/>
                  <a:t>the </a:t>
                </a:r>
                <a14:m>
                  <m:oMath xmlns:m="http://schemas.openxmlformats.org/officeDocument/2006/math">
                    <m:r>
                      <a:rPr lang="en-AU" i="1" dirty="0" smtClean="0">
                        <a:latin typeface="Cambria Math" panose="02040503050406030204" pitchFamily="18" charset="0"/>
                      </a:rPr>
                      <m:t>𝑥</m:t>
                    </m:r>
                  </m:oMath>
                </a14:m>
                <a:r>
                  <a:rPr lang="en-AU" dirty="0"/>
                  <a:t>- and </a:t>
                </a:r>
                <a14:m>
                  <m:oMath xmlns:m="http://schemas.openxmlformats.org/officeDocument/2006/math">
                    <m:r>
                      <a:rPr lang="en-AU" b="0" i="1" dirty="0" smtClean="0">
                        <a:latin typeface="Cambria Math" panose="02040503050406030204" pitchFamily="18" charset="0"/>
                      </a:rPr>
                      <m:t>𝑦</m:t>
                    </m:r>
                    <m:r>
                      <a:rPr lang="en-AU" i="1" dirty="0">
                        <a:latin typeface="Cambria Math" panose="02040503050406030204" pitchFamily="18" charset="0"/>
                      </a:rPr>
                      <m:t> </m:t>
                    </m:r>
                  </m:oMath>
                </a14:m>
                <a:r>
                  <a:rPr lang="en-AU" dirty="0"/>
                  <a:t>-coordinates, and also in amplitude.</a:t>
                </a:r>
              </a:p>
              <a:p>
                <a:pPr marL="285750" indent="-285750">
                  <a:buFont typeface="Arial" panose="020B0604020202020204" pitchFamily="34" charset="0"/>
                  <a:buChar char="•"/>
                </a:pPr>
                <a:r>
                  <a:rPr lang="en-AU" b="1" dirty="0"/>
                  <a:t>Sampling:</a:t>
                </a:r>
                <a:r>
                  <a:rPr lang="en-AU" dirty="0"/>
                  <a:t> digitizing the coordinate values</a:t>
                </a:r>
              </a:p>
              <a:p>
                <a:pPr marL="285750" indent="-285750">
                  <a:buFont typeface="Arial" panose="020B0604020202020204" pitchFamily="34" charset="0"/>
                  <a:buChar char="•"/>
                </a:pPr>
                <a:r>
                  <a:rPr lang="en-AU" b="1" dirty="0"/>
                  <a:t>Quantization: </a:t>
                </a:r>
                <a:r>
                  <a:rPr lang="en-AU" dirty="0"/>
                  <a:t>digitizing the amplitude values</a:t>
                </a:r>
              </a:p>
              <a:p>
                <a:pPr marL="285750" indent="-285750">
                  <a:buFont typeface="Arial" panose="020B0604020202020204" pitchFamily="34" charset="0"/>
                  <a:buChar char="•"/>
                </a:pPr>
                <a:endParaRPr lang="en-US" dirty="0"/>
              </a:p>
            </p:txBody>
          </p:sp>
        </mc:Choice>
        <mc:Fallback xmlns="">
          <p:sp>
            <p:nvSpPr>
              <p:cNvPr id="9" name="TextBox 8">
                <a:extLst>
                  <a:ext uri="{FF2B5EF4-FFF2-40B4-BE49-F238E27FC236}">
                    <a16:creationId xmlns:a16="http://schemas.microsoft.com/office/drawing/2014/main" id="{1C4A8D38-C78B-00AB-8519-BD3607B2EFF2}"/>
                  </a:ext>
                </a:extLst>
              </p:cNvPr>
              <p:cNvSpPr txBox="1">
                <a:spLocks noRot="1" noChangeAspect="1" noMove="1" noResize="1" noEditPoints="1" noAdjustHandles="1" noChangeArrowheads="1" noChangeShapeType="1" noTextEdit="1"/>
              </p:cNvSpPr>
              <p:nvPr/>
            </p:nvSpPr>
            <p:spPr>
              <a:xfrm>
                <a:off x="924233" y="1714138"/>
                <a:ext cx="4004028" cy="2308324"/>
              </a:xfrm>
              <a:prstGeom prst="rect">
                <a:avLst/>
              </a:prstGeom>
              <a:blipFill>
                <a:blip r:embed="rId4"/>
                <a:stretch>
                  <a:fillRect l="-1266" t="-1093"/>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42012F58-EE92-E0D9-85BF-64718C775000}"/>
              </a:ext>
            </a:extLst>
          </p:cNvPr>
          <p:cNvPicPr>
            <a:picLocks noChangeAspect="1"/>
          </p:cNvPicPr>
          <p:nvPr/>
        </p:nvPicPr>
        <p:blipFill>
          <a:blip r:embed="rId5"/>
          <a:stretch>
            <a:fillRect/>
          </a:stretch>
        </p:blipFill>
        <p:spPr>
          <a:xfrm>
            <a:off x="567625" y="3925274"/>
            <a:ext cx="4526890" cy="2569850"/>
          </a:xfrm>
          <a:prstGeom prst="rect">
            <a:avLst/>
          </a:prstGeom>
        </p:spPr>
      </p:pic>
    </p:spTree>
    <p:extLst>
      <p:ext uri="{BB962C8B-B14F-4D97-AF65-F5344CB8AC3E}">
        <p14:creationId xmlns:p14="http://schemas.microsoft.com/office/powerpoint/2010/main" val="2694530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10BB3-07F4-85C8-1AD7-ED499E464909}"/>
              </a:ext>
            </a:extLst>
          </p:cNvPr>
          <p:cNvSpPr>
            <a:spLocks noGrp="1"/>
          </p:cNvSpPr>
          <p:nvPr>
            <p:ph type="title"/>
          </p:nvPr>
        </p:nvSpPr>
        <p:spPr/>
        <p:txBody>
          <a:bodyPr/>
          <a:lstStyle/>
          <a:p>
            <a:r>
              <a:rPr lang="en-US" b="1" dirty="0"/>
              <a:t>Digital image representation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2ABC34-189F-61D7-A653-B0AE453F257C}"/>
                  </a:ext>
                </a:extLst>
              </p:cNvPr>
              <p:cNvSpPr>
                <a:spLocks noGrp="1"/>
              </p:cNvSpPr>
              <p:nvPr>
                <p:ph idx="1"/>
              </p:nvPr>
            </p:nvSpPr>
            <p:spPr>
              <a:xfrm>
                <a:off x="838200" y="1825625"/>
                <a:ext cx="9374579" cy="4351338"/>
              </a:xfrm>
            </p:spPr>
            <p:txBody>
              <a:bodyPr>
                <a:normAutofit/>
              </a:bodyPr>
              <a:lstStyle/>
              <a:p>
                <a:r>
                  <a:rPr lang="en-AU" dirty="0"/>
                  <a:t>A digital image, </a:t>
                </a:r>
                <a14:m>
                  <m:oMath xmlns:m="http://schemas.openxmlformats.org/officeDocument/2006/math">
                    <m:r>
                      <a:rPr lang="en-AU" i="1" dirty="0" smtClean="0">
                        <a:latin typeface="Cambria Math" panose="02040503050406030204" pitchFamily="18" charset="0"/>
                      </a:rPr>
                      <m:t>𝑓</m:t>
                    </m:r>
                    <m:r>
                      <a:rPr lang="en-AU" i="1" dirty="0" smtClean="0">
                        <a:latin typeface="Cambria Math" panose="02040503050406030204" pitchFamily="18" charset="0"/>
                      </a:rPr>
                      <m:t> (</m:t>
                    </m:r>
                    <m:r>
                      <a:rPr lang="en-AU" i="1" dirty="0">
                        <a:latin typeface="Cambria Math" panose="02040503050406030204" pitchFamily="18" charset="0"/>
                      </a:rPr>
                      <m:t>𝑥</m:t>
                    </m:r>
                    <m:r>
                      <a:rPr lang="en-AU" b="0" i="1" dirty="0" smtClean="0">
                        <a:latin typeface="Cambria Math" panose="02040503050406030204" pitchFamily="18" charset="0"/>
                      </a:rPr>
                      <m:t>, </m:t>
                    </m:r>
                    <m:r>
                      <a:rPr lang="en-AU" i="1" dirty="0">
                        <a:latin typeface="Cambria Math" panose="02040503050406030204" pitchFamily="18" charset="0"/>
                      </a:rPr>
                      <m:t>𝑦</m:t>
                    </m:r>
                    <m:r>
                      <a:rPr lang="en-AU" i="1" dirty="0" smtClean="0">
                        <a:latin typeface="Cambria Math" panose="02040503050406030204" pitchFamily="18" charset="0"/>
                      </a:rPr>
                      <m:t>)</m:t>
                    </m:r>
                  </m:oMath>
                </a14:m>
                <a:r>
                  <a:rPr lang="en-AU" dirty="0"/>
                  <a:t>, containing </a:t>
                </a:r>
                <a14:m>
                  <m:oMath xmlns:m="http://schemas.openxmlformats.org/officeDocument/2006/math">
                    <m:r>
                      <a:rPr lang="en-AU" i="1" dirty="0" smtClean="0">
                        <a:latin typeface="Cambria Math" panose="02040503050406030204" pitchFamily="18" charset="0"/>
                      </a:rPr>
                      <m:t>𝑀</m:t>
                    </m:r>
                  </m:oMath>
                </a14:m>
                <a:r>
                  <a:rPr lang="en-AU" dirty="0"/>
                  <a:t> rows and </a:t>
                </a:r>
                <a14:m>
                  <m:oMath xmlns:m="http://schemas.openxmlformats.org/officeDocument/2006/math">
                    <m:r>
                      <a:rPr lang="en-AU" i="1" dirty="0" smtClean="0">
                        <a:latin typeface="Cambria Math" panose="02040503050406030204" pitchFamily="18" charset="0"/>
                      </a:rPr>
                      <m:t>𝑁</m:t>
                    </m:r>
                  </m:oMath>
                </a14:m>
                <a:r>
                  <a:rPr lang="en-AU" dirty="0"/>
                  <a:t> columns. </a:t>
                </a:r>
              </a:p>
              <a:p>
                <a14:m>
                  <m:oMath xmlns:m="http://schemas.openxmlformats.org/officeDocument/2006/math">
                    <m:r>
                      <a:rPr lang="en-AU" i="1" dirty="0" smtClean="0">
                        <a:latin typeface="Cambria Math" panose="02040503050406030204" pitchFamily="18" charset="0"/>
                      </a:rPr>
                      <m:t>𝑥</m:t>
                    </m:r>
                    <m:r>
                      <a:rPr lang="en-AU" b="0" i="1" dirty="0" smtClean="0">
                        <a:latin typeface="Cambria Math" panose="02040503050406030204" pitchFamily="18" charset="0"/>
                      </a:rPr>
                      <m:t>,  </m:t>
                    </m:r>
                    <m:r>
                      <a:rPr lang="en-AU" i="1" dirty="0">
                        <a:latin typeface="Cambria Math" panose="02040503050406030204" pitchFamily="18" charset="0"/>
                      </a:rPr>
                      <m:t>𝑦</m:t>
                    </m:r>
                  </m:oMath>
                </a14:m>
                <a:r>
                  <a:rPr lang="en-AU" dirty="0"/>
                  <a:t> are discrete coordinates:</a:t>
                </a:r>
              </a:p>
              <a:p>
                <a:pPr lvl="1"/>
                <a14:m>
                  <m:oMath xmlns:m="http://schemas.openxmlformats.org/officeDocument/2006/math">
                    <m:r>
                      <a:rPr lang="en-AU" i="1" dirty="0" smtClean="0">
                        <a:latin typeface="Cambria Math" panose="02040503050406030204" pitchFamily="18" charset="0"/>
                      </a:rPr>
                      <m:t>𝑥</m:t>
                    </m:r>
                    <m:r>
                      <a:rPr lang="en-AU" i="1" dirty="0" smtClean="0">
                        <a:latin typeface="Cambria Math" panose="02040503050406030204" pitchFamily="18" charset="0"/>
                      </a:rPr>
                      <m:t> = 0, 1, </m:t>
                    </m:r>
                    <m:r>
                      <a:rPr lang="en-AU" i="1" dirty="0">
                        <a:latin typeface="Cambria Math" panose="02040503050406030204" pitchFamily="18" charset="0"/>
                      </a:rPr>
                      <m:t>2, </m:t>
                    </m:r>
                    <m:r>
                      <a:rPr lang="en-AU" b="0" i="1" dirty="0" smtClean="0">
                        <a:latin typeface="Cambria Math" panose="02040503050406030204" pitchFamily="18" charset="0"/>
                      </a:rPr>
                      <m:t>…, </m:t>
                    </m:r>
                    <m:r>
                      <a:rPr lang="en-AU" b="0" i="1" dirty="0" smtClean="0">
                        <a:latin typeface="Cambria Math" panose="02040503050406030204" pitchFamily="18" charset="0"/>
                      </a:rPr>
                      <m:t>𝑀</m:t>
                    </m:r>
                    <m:r>
                      <a:rPr lang="en-AU" b="0" i="1" dirty="0" smtClean="0">
                        <a:latin typeface="Cambria Math" panose="02040503050406030204" pitchFamily="18" charset="0"/>
                      </a:rPr>
                      <m:t>−1</m:t>
                    </m:r>
                  </m:oMath>
                </a14:m>
                <a:endParaRPr lang="en-AU" i="1" dirty="0">
                  <a:latin typeface="Cambria Math" panose="02040503050406030204" pitchFamily="18" charset="0"/>
                </a:endParaRPr>
              </a:p>
              <a:p>
                <a:pPr lvl="1"/>
                <a14:m>
                  <m:oMath xmlns:m="http://schemas.openxmlformats.org/officeDocument/2006/math">
                    <m:r>
                      <a:rPr lang="en-AU" b="0" i="1" dirty="0" smtClean="0">
                        <a:latin typeface="Cambria Math" panose="02040503050406030204" pitchFamily="18" charset="0"/>
                      </a:rPr>
                      <m:t>𝑦</m:t>
                    </m:r>
                    <m:r>
                      <a:rPr lang="en-AU" i="1" dirty="0">
                        <a:latin typeface="Cambria Math" panose="02040503050406030204" pitchFamily="18" charset="0"/>
                      </a:rPr>
                      <m:t> = 0, 1, 2, …, </m:t>
                    </m:r>
                    <m:r>
                      <a:rPr lang="en-AU" b="0" i="1" dirty="0" smtClean="0">
                        <a:latin typeface="Cambria Math" panose="02040503050406030204" pitchFamily="18" charset="0"/>
                      </a:rPr>
                      <m:t>𝑁</m:t>
                    </m:r>
                    <m:r>
                      <a:rPr lang="en-AU" i="1" dirty="0">
                        <a:latin typeface="Cambria Math" panose="02040503050406030204" pitchFamily="18" charset="0"/>
                      </a:rPr>
                      <m:t>−1</m:t>
                    </m:r>
                  </m:oMath>
                </a14:m>
                <a:endParaRPr lang="en-AU" i="1" dirty="0">
                  <a:latin typeface="Cambria Math" panose="02040503050406030204" pitchFamily="18" charset="0"/>
                </a:endParaRPr>
              </a:p>
              <a:p>
                <a:r>
                  <a:rPr lang="en-AU" dirty="0"/>
                  <a:t>The value of the digital image at the origin is </a:t>
                </a:r>
                <a14:m>
                  <m:oMath xmlns:m="http://schemas.openxmlformats.org/officeDocument/2006/math">
                    <m:r>
                      <a:rPr lang="en-AU" i="1" dirty="0" smtClean="0">
                        <a:latin typeface="Cambria Math" panose="02040503050406030204" pitchFamily="18" charset="0"/>
                      </a:rPr>
                      <m:t>𝑓</m:t>
                    </m:r>
                    <m:r>
                      <a:rPr lang="en-AU" i="1" dirty="0" smtClean="0">
                        <a:latin typeface="Cambria Math" panose="02040503050406030204" pitchFamily="18" charset="0"/>
                      </a:rPr>
                      <m:t> (0, 0)</m:t>
                    </m:r>
                  </m:oMath>
                </a14:m>
                <a:r>
                  <a:rPr lang="en-US" dirty="0"/>
                  <a:t>, </a:t>
                </a:r>
                <a:r>
                  <a:rPr lang="en-AU" dirty="0"/>
                  <a:t>its value at the next coordinates along the first row is </a:t>
                </a:r>
                <a14:m>
                  <m:oMath xmlns:m="http://schemas.openxmlformats.org/officeDocument/2006/math">
                    <m:r>
                      <a:rPr lang="en-AU" i="1" dirty="0">
                        <a:latin typeface="Cambria Math" panose="02040503050406030204" pitchFamily="18" charset="0"/>
                      </a:rPr>
                      <m:t>𝑓</m:t>
                    </m:r>
                    <m:r>
                      <a:rPr lang="en-AU" i="1" dirty="0">
                        <a:latin typeface="Cambria Math" panose="02040503050406030204" pitchFamily="18" charset="0"/>
                      </a:rPr>
                      <m:t> (0, 1) </m:t>
                    </m:r>
                  </m:oMath>
                </a14:m>
                <a:r>
                  <a:rPr lang="en-AU" dirty="0"/>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1B2ABC34-189F-61D7-A653-B0AE453F257C}"/>
                  </a:ext>
                </a:extLst>
              </p:cNvPr>
              <p:cNvSpPr>
                <a:spLocks noGrp="1" noRot="1" noChangeAspect="1" noMove="1" noResize="1" noEditPoints="1" noAdjustHandles="1" noChangeArrowheads="1" noChangeShapeType="1" noTextEdit="1"/>
              </p:cNvSpPr>
              <p:nvPr>
                <p:ph idx="1"/>
              </p:nvPr>
            </p:nvSpPr>
            <p:spPr>
              <a:xfrm>
                <a:off x="838200" y="1825625"/>
                <a:ext cx="9374579" cy="4351338"/>
              </a:xfrm>
              <a:blipFill>
                <a:blip r:embed="rId3"/>
                <a:stretch>
                  <a:fillRect l="-1218" t="-2326" r="-1759"/>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8A75D78-C422-7F2F-F589-1086AFB30F06}"/>
              </a:ext>
            </a:extLst>
          </p:cNvPr>
          <p:cNvSpPr txBox="1"/>
          <p:nvPr/>
        </p:nvSpPr>
        <p:spPr>
          <a:xfrm>
            <a:off x="8431481" y="2782669"/>
            <a:ext cx="3455719" cy="646331"/>
          </a:xfrm>
          <a:prstGeom prst="rect">
            <a:avLst/>
          </a:prstGeom>
          <a:noFill/>
        </p:spPr>
        <p:txBody>
          <a:bodyPr wrap="square" rtlCol="0">
            <a:spAutoFit/>
          </a:bodyPr>
          <a:lstStyle/>
          <a:p>
            <a:r>
              <a:rPr lang="en-AU" dirty="0"/>
              <a:t>these are not the values of the physical coordinates.</a:t>
            </a:r>
          </a:p>
        </p:txBody>
      </p:sp>
      <p:cxnSp>
        <p:nvCxnSpPr>
          <p:cNvPr id="6" name="Straight Arrow Connector 5">
            <a:extLst>
              <a:ext uri="{FF2B5EF4-FFF2-40B4-BE49-F238E27FC236}">
                <a16:creationId xmlns:a16="http://schemas.microsoft.com/office/drawing/2014/main" id="{05C2C948-F920-AC2C-21F7-EC05B2EDB778}"/>
              </a:ext>
            </a:extLst>
          </p:cNvPr>
          <p:cNvCxnSpPr/>
          <p:nvPr/>
        </p:nvCxnSpPr>
        <p:spPr>
          <a:xfrm flipV="1">
            <a:off x="8241475" y="3429000"/>
            <a:ext cx="475013" cy="2404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6D2FEB7-D475-F197-8E9F-3C087A04665F}"/>
              </a:ext>
            </a:extLst>
          </p:cNvPr>
          <p:cNvCxnSpPr>
            <a:cxnSpLocks/>
          </p:cNvCxnSpPr>
          <p:nvPr/>
        </p:nvCxnSpPr>
        <p:spPr>
          <a:xfrm flipV="1">
            <a:off x="8265226" y="3429000"/>
            <a:ext cx="593766" cy="7392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54762AF7-5ABD-F157-5DA3-11A9F4F3F2D8}"/>
              </a:ext>
            </a:extLst>
          </p:cNvPr>
          <p:cNvPicPr>
            <a:picLocks noChangeAspect="1"/>
          </p:cNvPicPr>
          <p:nvPr/>
        </p:nvPicPr>
        <p:blipFill>
          <a:blip r:embed="rId4"/>
          <a:stretch>
            <a:fillRect/>
          </a:stretch>
        </p:blipFill>
        <p:spPr>
          <a:xfrm>
            <a:off x="2552081" y="4814570"/>
            <a:ext cx="5946816" cy="1602110"/>
          </a:xfrm>
          <a:prstGeom prst="rect">
            <a:avLst/>
          </a:prstGeom>
        </p:spPr>
      </p:pic>
    </p:spTree>
    <p:extLst>
      <p:ext uri="{BB962C8B-B14F-4D97-AF65-F5344CB8AC3E}">
        <p14:creationId xmlns:p14="http://schemas.microsoft.com/office/powerpoint/2010/main" val="2843882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B1382-8612-D373-03B4-B6185C9FF4BC}"/>
              </a:ext>
            </a:extLst>
          </p:cNvPr>
          <p:cNvSpPr>
            <a:spLocks noGrp="1"/>
          </p:cNvSpPr>
          <p:nvPr>
            <p:ph type="title"/>
          </p:nvPr>
        </p:nvSpPr>
        <p:spPr/>
        <p:txBody>
          <a:bodyPr/>
          <a:lstStyle/>
          <a:p>
            <a:r>
              <a:rPr lang="en-AU" b="1" dirty="0"/>
              <a:t>What a CMOS sensor does? </a:t>
            </a:r>
            <a:endParaRPr lang="en-US" b="1" dirty="0"/>
          </a:p>
        </p:txBody>
      </p:sp>
      <p:sp>
        <p:nvSpPr>
          <p:cNvPr id="7" name="Content Placeholder 6">
            <a:extLst>
              <a:ext uri="{FF2B5EF4-FFF2-40B4-BE49-F238E27FC236}">
                <a16:creationId xmlns:a16="http://schemas.microsoft.com/office/drawing/2014/main" id="{375F3408-8262-422B-C630-A148E4B84A6D}"/>
              </a:ext>
            </a:extLst>
          </p:cNvPr>
          <p:cNvSpPr>
            <a:spLocks noGrp="1"/>
          </p:cNvSpPr>
          <p:nvPr>
            <p:ph idx="1"/>
          </p:nvPr>
        </p:nvSpPr>
        <p:spPr>
          <a:xfrm>
            <a:off x="838200" y="1825625"/>
            <a:ext cx="4419600" cy="4351338"/>
          </a:xfrm>
        </p:spPr>
        <p:txBody>
          <a:bodyPr>
            <a:normAutofit/>
          </a:bodyPr>
          <a:lstStyle/>
          <a:p>
            <a:pPr lvl="0"/>
            <a:r>
              <a:rPr lang="en-AU" dirty="0"/>
              <a:t>Sensors converts light into a different signal.</a:t>
            </a:r>
          </a:p>
          <a:p>
            <a:pPr lvl="0"/>
            <a:r>
              <a:rPr lang="en-AU" dirty="0"/>
              <a:t>Digital cameras take photons and convert the photons into pixels. </a:t>
            </a:r>
          </a:p>
        </p:txBody>
      </p:sp>
      <p:pic>
        <p:nvPicPr>
          <p:cNvPr id="8" name="Picture 7">
            <a:extLst>
              <a:ext uri="{FF2B5EF4-FFF2-40B4-BE49-F238E27FC236}">
                <a16:creationId xmlns:a16="http://schemas.microsoft.com/office/drawing/2014/main" id="{04B86421-C2D3-C9C1-329A-1AA5F9E58BA5}"/>
              </a:ext>
            </a:extLst>
          </p:cNvPr>
          <p:cNvPicPr>
            <a:picLocks noChangeAspect="1"/>
          </p:cNvPicPr>
          <p:nvPr/>
        </p:nvPicPr>
        <p:blipFill>
          <a:blip r:embed="rId3"/>
          <a:stretch>
            <a:fillRect/>
          </a:stretch>
        </p:blipFill>
        <p:spPr>
          <a:xfrm>
            <a:off x="7137400" y="512932"/>
            <a:ext cx="4330700" cy="6138141"/>
          </a:xfrm>
          <a:prstGeom prst="rect">
            <a:avLst/>
          </a:prstGeom>
        </p:spPr>
      </p:pic>
    </p:spTree>
    <p:extLst>
      <p:ext uri="{BB962C8B-B14F-4D97-AF65-F5344CB8AC3E}">
        <p14:creationId xmlns:p14="http://schemas.microsoft.com/office/powerpoint/2010/main" val="2405541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521D4-41F2-AF49-4CDA-0212167EA9F9}"/>
              </a:ext>
            </a:extLst>
          </p:cNvPr>
          <p:cNvSpPr>
            <a:spLocks noGrp="1"/>
          </p:cNvSpPr>
          <p:nvPr>
            <p:ph type="title"/>
          </p:nvPr>
        </p:nvSpPr>
        <p:spPr/>
        <p:txBody>
          <a:bodyPr/>
          <a:lstStyle/>
          <a:p>
            <a:r>
              <a:rPr lang="en-AU" b="1" dirty="0"/>
              <a:t>What is a </a:t>
            </a:r>
            <a:r>
              <a:rPr lang="en-AU" b="1" dirty="0" err="1"/>
              <a:t>color</a:t>
            </a:r>
            <a:r>
              <a:rPr lang="en-AU" b="1" dirty="0"/>
              <a:t> image? </a:t>
            </a:r>
            <a:endParaRPr lang="en-US" b="1" dirty="0"/>
          </a:p>
        </p:txBody>
      </p:sp>
      <p:sp>
        <p:nvSpPr>
          <p:cNvPr id="3" name="Content Placeholder 2">
            <a:extLst>
              <a:ext uri="{FF2B5EF4-FFF2-40B4-BE49-F238E27FC236}">
                <a16:creationId xmlns:a16="http://schemas.microsoft.com/office/drawing/2014/main" id="{569114E8-6693-981C-569B-2F4ACF44DF29}"/>
              </a:ext>
            </a:extLst>
          </p:cNvPr>
          <p:cNvSpPr>
            <a:spLocks noGrp="1"/>
          </p:cNvSpPr>
          <p:nvPr>
            <p:ph idx="1"/>
          </p:nvPr>
        </p:nvSpPr>
        <p:spPr>
          <a:xfrm>
            <a:off x="838200" y="1825625"/>
            <a:ext cx="5867400" cy="4351338"/>
          </a:xfrm>
        </p:spPr>
        <p:txBody>
          <a:bodyPr/>
          <a:lstStyle/>
          <a:p>
            <a:pPr lvl="0"/>
            <a:r>
              <a:rPr lang="en-AU" dirty="0"/>
              <a:t>A </a:t>
            </a:r>
            <a:r>
              <a:rPr lang="en-AU" dirty="0" err="1"/>
              <a:t>color</a:t>
            </a:r>
            <a:r>
              <a:rPr lang="en-AU" dirty="0"/>
              <a:t> image is a collection of pixels. </a:t>
            </a:r>
          </a:p>
          <a:p>
            <a:pPr lvl="0"/>
            <a:r>
              <a:rPr lang="en-AU" dirty="0"/>
              <a:t>Every pixel has three </a:t>
            </a:r>
            <a:r>
              <a:rPr lang="en-AU" dirty="0" err="1"/>
              <a:t>colors</a:t>
            </a:r>
            <a:r>
              <a:rPr lang="en-AU" dirty="0"/>
              <a:t> associated with it – red, green and blue </a:t>
            </a:r>
            <a:r>
              <a:rPr lang="en-AU" dirty="0" err="1"/>
              <a:t>colors</a:t>
            </a:r>
            <a:r>
              <a:rPr lang="en-AU" dirty="0"/>
              <a:t>.</a:t>
            </a:r>
          </a:p>
          <a:p>
            <a:pPr lvl="0"/>
            <a:r>
              <a:rPr lang="en-AU" dirty="0"/>
              <a:t>A camera records</a:t>
            </a:r>
            <a:r>
              <a:rPr lang="en-AU" b="1" dirty="0">
                <a:solidFill>
                  <a:srgbClr val="FF0000"/>
                </a:solidFill>
              </a:rPr>
              <a:t> at every pixel</a:t>
            </a:r>
            <a:r>
              <a:rPr lang="en-AU" dirty="0"/>
              <a:t> - </a:t>
            </a:r>
          </a:p>
          <a:p>
            <a:pPr lvl="1"/>
            <a:r>
              <a:rPr lang="en-AU" dirty="0"/>
              <a:t>how much red light came in the part of the visible spectrum </a:t>
            </a:r>
          </a:p>
          <a:p>
            <a:pPr lvl="1"/>
            <a:r>
              <a:rPr lang="en-AU" dirty="0"/>
              <a:t>how much green light in the part of the visible spectrum </a:t>
            </a:r>
          </a:p>
          <a:p>
            <a:pPr lvl="1"/>
            <a:r>
              <a:rPr lang="en-AU" dirty="0"/>
              <a:t>how much blue light</a:t>
            </a:r>
          </a:p>
          <a:p>
            <a:endParaRPr lang="en-US" dirty="0"/>
          </a:p>
        </p:txBody>
      </p:sp>
      <p:pic>
        <p:nvPicPr>
          <p:cNvPr id="4" name="Picture 3">
            <a:extLst>
              <a:ext uri="{FF2B5EF4-FFF2-40B4-BE49-F238E27FC236}">
                <a16:creationId xmlns:a16="http://schemas.microsoft.com/office/drawing/2014/main" id="{DB072898-B77A-0CFF-7C3A-D4AFCC88736D}"/>
              </a:ext>
            </a:extLst>
          </p:cNvPr>
          <p:cNvPicPr>
            <a:picLocks noChangeAspect="1"/>
          </p:cNvPicPr>
          <p:nvPr/>
        </p:nvPicPr>
        <p:blipFill>
          <a:blip r:embed="rId3"/>
          <a:stretch>
            <a:fillRect/>
          </a:stretch>
        </p:blipFill>
        <p:spPr>
          <a:xfrm>
            <a:off x="6705600" y="819150"/>
            <a:ext cx="5219700" cy="5219700"/>
          </a:xfrm>
          <a:prstGeom prst="rect">
            <a:avLst/>
          </a:prstGeom>
        </p:spPr>
      </p:pic>
    </p:spTree>
    <p:extLst>
      <p:ext uri="{BB962C8B-B14F-4D97-AF65-F5344CB8AC3E}">
        <p14:creationId xmlns:p14="http://schemas.microsoft.com/office/powerpoint/2010/main" val="647241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D6FAA-FCAD-77BE-1DBC-A94605EDF88D}"/>
              </a:ext>
            </a:extLst>
          </p:cNvPr>
          <p:cNvSpPr>
            <a:spLocks noGrp="1"/>
          </p:cNvSpPr>
          <p:nvPr>
            <p:ph type="title"/>
          </p:nvPr>
        </p:nvSpPr>
        <p:spPr/>
        <p:txBody>
          <a:bodyPr/>
          <a:lstStyle/>
          <a:p>
            <a:r>
              <a:rPr lang="en-US" b="1" dirty="0"/>
              <a:t>Limitations of 3 sensor models</a:t>
            </a:r>
          </a:p>
        </p:txBody>
      </p:sp>
      <p:sp>
        <p:nvSpPr>
          <p:cNvPr id="3" name="Content Placeholder 2">
            <a:extLst>
              <a:ext uri="{FF2B5EF4-FFF2-40B4-BE49-F238E27FC236}">
                <a16:creationId xmlns:a16="http://schemas.microsoft.com/office/drawing/2014/main" id="{3E74776C-E54D-8537-C2C3-964EE3A8334A}"/>
              </a:ext>
            </a:extLst>
          </p:cNvPr>
          <p:cNvSpPr>
            <a:spLocks noGrp="1"/>
          </p:cNvSpPr>
          <p:nvPr>
            <p:ph idx="1"/>
          </p:nvPr>
        </p:nvSpPr>
        <p:spPr/>
        <p:txBody>
          <a:bodyPr/>
          <a:lstStyle/>
          <a:p>
            <a:r>
              <a:rPr lang="en-AU" dirty="0"/>
              <a:t>Consequences: </a:t>
            </a:r>
          </a:p>
          <a:p>
            <a:pPr lvl="1"/>
            <a:r>
              <a:rPr lang="en-AU" dirty="0"/>
              <a:t>Reducing the light input by a factor of 3 </a:t>
            </a:r>
          </a:p>
          <a:p>
            <a:pPr lvl="1"/>
            <a:r>
              <a:rPr lang="en-AU" dirty="0"/>
              <a:t>A low light yield because of spreading the light</a:t>
            </a:r>
          </a:p>
          <a:p>
            <a:pPr lvl="1"/>
            <a:r>
              <a:rPr lang="en-AU" dirty="0"/>
              <a:t>Three sensors were very expensive </a:t>
            </a:r>
          </a:p>
          <a:p>
            <a:endParaRPr lang="en-US" dirty="0"/>
          </a:p>
        </p:txBody>
      </p:sp>
    </p:spTree>
    <p:extLst>
      <p:ext uri="{BB962C8B-B14F-4D97-AF65-F5344CB8AC3E}">
        <p14:creationId xmlns:p14="http://schemas.microsoft.com/office/powerpoint/2010/main" val="426681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81FED-CDFF-4B4F-DDA8-E06BEBC7B9CC}"/>
              </a:ext>
            </a:extLst>
          </p:cNvPr>
          <p:cNvSpPr>
            <a:spLocks noGrp="1"/>
          </p:cNvSpPr>
          <p:nvPr>
            <p:ph type="title"/>
          </p:nvPr>
        </p:nvSpPr>
        <p:spPr/>
        <p:txBody>
          <a:bodyPr/>
          <a:lstStyle/>
          <a:p>
            <a:r>
              <a:rPr lang="en-US" b="1" dirty="0"/>
              <a:t>The Bayer pattern</a:t>
            </a:r>
            <a:r>
              <a:rPr lang="en-US" dirty="0"/>
              <a:t> </a:t>
            </a:r>
          </a:p>
        </p:txBody>
      </p:sp>
      <p:sp>
        <p:nvSpPr>
          <p:cNvPr id="3" name="Content Placeholder 2">
            <a:extLst>
              <a:ext uri="{FF2B5EF4-FFF2-40B4-BE49-F238E27FC236}">
                <a16:creationId xmlns:a16="http://schemas.microsoft.com/office/drawing/2014/main" id="{F835C1CB-A11A-2A68-E04D-8F61B4919162}"/>
              </a:ext>
            </a:extLst>
          </p:cNvPr>
          <p:cNvSpPr>
            <a:spLocks noGrp="1"/>
          </p:cNvSpPr>
          <p:nvPr>
            <p:ph idx="1"/>
          </p:nvPr>
        </p:nvSpPr>
        <p:spPr>
          <a:xfrm>
            <a:off x="838200" y="1825625"/>
            <a:ext cx="4102100" cy="2212975"/>
          </a:xfrm>
        </p:spPr>
        <p:txBody>
          <a:bodyPr>
            <a:normAutofit/>
          </a:bodyPr>
          <a:lstStyle/>
          <a:p>
            <a:r>
              <a:rPr lang="en-AU" sz="2400" dirty="0"/>
              <a:t>Modern cameras use a </a:t>
            </a:r>
            <a:r>
              <a:rPr lang="en-AU" sz="2400" dirty="0" err="1"/>
              <a:t>color</a:t>
            </a:r>
            <a:r>
              <a:rPr lang="en-AU" sz="2400" dirty="0"/>
              <a:t> filter array in Bayer patterns.</a:t>
            </a:r>
          </a:p>
          <a:p>
            <a:pPr lvl="0"/>
            <a:r>
              <a:rPr lang="en-AU" sz="2400" dirty="0"/>
              <a:t>Every sensor only records one of the values that we need for a RGB image.</a:t>
            </a:r>
          </a:p>
        </p:txBody>
      </p:sp>
      <p:pic>
        <p:nvPicPr>
          <p:cNvPr id="4" name="Picture 3">
            <a:extLst>
              <a:ext uri="{FF2B5EF4-FFF2-40B4-BE49-F238E27FC236}">
                <a16:creationId xmlns:a16="http://schemas.microsoft.com/office/drawing/2014/main" id="{6AB7DD3D-6CB3-2BDE-9253-4D51F5C1CB78}"/>
              </a:ext>
            </a:extLst>
          </p:cNvPr>
          <p:cNvPicPr>
            <a:picLocks noChangeAspect="1"/>
          </p:cNvPicPr>
          <p:nvPr/>
        </p:nvPicPr>
        <p:blipFill>
          <a:blip r:embed="rId3"/>
          <a:stretch>
            <a:fillRect/>
          </a:stretch>
        </p:blipFill>
        <p:spPr>
          <a:xfrm>
            <a:off x="6445738" y="288925"/>
            <a:ext cx="3853962" cy="2505075"/>
          </a:xfrm>
          <a:prstGeom prst="rect">
            <a:avLst/>
          </a:prstGeom>
        </p:spPr>
      </p:pic>
      <p:pic>
        <p:nvPicPr>
          <p:cNvPr id="5" name="Picture 4">
            <a:extLst>
              <a:ext uri="{FF2B5EF4-FFF2-40B4-BE49-F238E27FC236}">
                <a16:creationId xmlns:a16="http://schemas.microsoft.com/office/drawing/2014/main" id="{4BD924CB-3C18-4280-DC1E-BEB4F42C0CFF}"/>
              </a:ext>
            </a:extLst>
          </p:cNvPr>
          <p:cNvPicPr>
            <a:picLocks noChangeAspect="1"/>
          </p:cNvPicPr>
          <p:nvPr/>
        </p:nvPicPr>
        <p:blipFill>
          <a:blip r:embed="rId4"/>
          <a:stretch>
            <a:fillRect/>
          </a:stretch>
        </p:blipFill>
        <p:spPr>
          <a:xfrm>
            <a:off x="6502401" y="2781300"/>
            <a:ext cx="5509608" cy="3526722"/>
          </a:xfrm>
          <a:prstGeom prst="rect">
            <a:avLst/>
          </a:prstGeom>
        </p:spPr>
      </p:pic>
      <p:sp>
        <p:nvSpPr>
          <p:cNvPr id="6" name="Content Placeholder 2">
            <a:extLst>
              <a:ext uri="{FF2B5EF4-FFF2-40B4-BE49-F238E27FC236}">
                <a16:creationId xmlns:a16="http://schemas.microsoft.com/office/drawing/2014/main" id="{A884F304-DFFD-4AB4-87EC-744C73EE7EEA}"/>
              </a:ext>
            </a:extLst>
          </p:cNvPr>
          <p:cNvSpPr txBox="1">
            <a:spLocks/>
          </p:cNvSpPr>
          <p:nvPr/>
        </p:nvSpPr>
        <p:spPr>
          <a:xfrm>
            <a:off x="539750" y="3819526"/>
            <a:ext cx="5905988" cy="267335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Why is green over represented here? </a:t>
            </a:r>
          </a:p>
          <a:p>
            <a:pPr lvl="1"/>
            <a:r>
              <a:rPr lang="en-AU" dirty="0"/>
              <a:t>In the world there are more things in the green part of the visible spectrum than in red and blue</a:t>
            </a:r>
          </a:p>
          <a:p>
            <a:pPr lvl="1"/>
            <a:r>
              <a:rPr lang="en-AU" dirty="0"/>
              <a:t>Human visual system is more sensitive to the green part of the visible spectrum</a:t>
            </a:r>
          </a:p>
          <a:p>
            <a:pPr lvl="1"/>
            <a:r>
              <a:rPr lang="en-AU" dirty="0"/>
              <a:t>Our retina over samples the green part of the visible spectrum</a:t>
            </a:r>
          </a:p>
        </p:txBody>
      </p:sp>
    </p:spTree>
    <p:extLst>
      <p:ext uri="{BB962C8B-B14F-4D97-AF65-F5344CB8AC3E}">
        <p14:creationId xmlns:p14="http://schemas.microsoft.com/office/powerpoint/2010/main" val="1619571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95558-EA8C-70D2-72B3-67732A4B8C0B}"/>
              </a:ext>
            </a:extLst>
          </p:cNvPr>
          <p:cNvSpPr>
            <a:spLocks noGrp="1"/>
          </p:cNvSpPr>
          <p:nvPr>
            <p:ph type="title"/>
          </p:nvPr>
        </p:nvSpPr>
        <p:spPr>
          <a:xfrm>
            <a:off x="228600" y="1127125"/>
            <a:ext cx="3517900" cy="1325563"/>
          </a:xfrm>
        </p:spPr>
        <p:txBody>
          <a:bodyPr/>
          <a:lstStyle/>
          <a:p>
            <a:r>
              <a:rPr lang="en-US" b="1" dirty="0"/>
              <a:t>The Bayer pattern</a:t>
            </a:r>
            <a:endParaRPr lang="en-US" dirty="0"/>
          </a:p>
        </p:txBody>
      </p:sp>
      <p:pic>
        <p:nvPicPr>
          <p:cNvPr id="11" name="Picture 10" descr="From photosites to pixels (iv) – the demosaicing process | Crafting Pixels">
            <a:extLst>
              <a:ext uri="{FF2B5EF4-FFF2-40B4-BE49-F238E27FC236}">
                <a16:creationId xmlns:a16="http://schemas.microsoft.com/office/drawing/2014/main" id="{0D6A7FC6-D2E6-F626-FB8A-3DD86479A87E}"/>
              </a:ext>
            </a:extLst>
          </p:cNvPr>
          <p:cNvPicPr>
            <a:picLocks noChangeAspect="1"/>
          </p:cNvPicPr>
          <p:nvPr/>
        </p:nvPicPr>
        <p:blipFill>
          <a:blip r:embed="rId3"/>
          <a:stretch>
            <a:fillRect/>
          </a:stretch>
        </p:blipFill>
        <p:spPr>
          <a:xfrm>
            <a:off x="3911600" y="0"/>
            <a:ext cx="8229600" cy="5947172"/>
          </a:xfrm>
          <a:prstGeom prst="rect">
            <a:avLst/>
          </a:prstGeom>
        </p:spPr>
      </p:pic>
      <p:sp>
        <p:nvSpPr>
          <p:cNvPr id="12" name="Rectangle 11">
            <a:extLst>
              <a:ext uri="{FF2B5EF4-FFF2-40B4-BE49-F238E27FC236}">
                <a16:creationId xmlns:a16="http://schemas.microsoft.com/office/drawing/2014/main" id="{A31F0601-1601-1EB5-3DC0-C8511DB5DC16}"/>
              </a:ext>
            </a:extLst>
          </p:cNvPr>
          <p:cNvSpPr/>
          <p:nvPr/>
        </p:nvSpPr>
        <p:spPr>
          <a:xfrm>
            <a:off x="8026400" y="177800"/>
            <a:ext cx="2565400" cy="57693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E29DF02-3DFA-BCA5-8182-5A07085CA223}"/>
              </a:ext>
            </a:extLst>
          </p:cNvPr>
          <p:cNvSpPr txBox="1"/>
          <p:nvPr/>
        </p:nvSpPr>
        <p:spPr>
          <a:xfrm>
            <a:off x="228600" y="2452688"/>
            <a:ext cx="3956596" cy="646331"/>
          </a:xfrm>
          <a:prstGeom prst="rect">
            <a:avLst/>
          </a:prstGeom>
          <a:noFill/>
        </p:spPr>
        <p:txBody>
          <a:bodyPr wrap="none" rtlCol="0">
            <a:spAutoFit/>
          </a:bodyPr>
          <a:lstStyle/>
          <a:p>
            <a:pPr lvl="0"/>
            <a:r>
              <a:rPr lang="en-AU" dirty="0"/>
              <a:t>In a modern digital camera only records </a:t>
            </a:r>
          </a:p>
          <a:p>
            <a:pPr lvl="0"/>
            <a:r>
              <a:rPr lang="en-AU" dirty="0"/>
              <a:t>one-third of all the pixels per channel</a:t>
            </a:r>
          </a:p>
        </p:txBody>
      </p:sp>
      <p:sp>
        <p:nvSpPr>
          <p:cNvPr id="14" name="TextBox 13">
            <a:extLst>
              <a:ext uri="{FF2B5EF4-FFF2-40B4-BE49-F238E27FC236}">
                <a16:creationId xmlns:a16="http://schemas.microsoft.com/office/drawing/2014/main" id="{25919468-ACA3-248F-2BD3-E32AEBA9DA33}"/>
              </a:ext>
            </a:extLst>
          </p:cNvPr>
          <p:cNvSpPr txBox="1"/>
          <p:nvPr/>
        </p:nvSpPr>
        <p:spPr>
          <a:xfrm>
            <a:off x="209005" y="3230433"/>
            <a:ext cx="3808094" cy="369332"/>
          </a:xfrm>
          <a:prstGeom prst="rect">
            <a:avLst/>
          </a:prstGeom>
          <a:noFill/>
        </p:spPr>
        <p:txBody>
          <a:bodyPr wrap="none" rtlCol="0">
            <a:spAutoFit/>
          </a:bodyPr>
          <a:lstStyle/>
          <a:p>
            <a:pPr lvl="0"/>
            <a:r>
              <a:rPr lang="en-AU" b="1" dirty="0"/>
              <a:t>How would we get the missing pixels?</a:t>
            </a:r>
          </a:p>
        </p:txBody>
      </p:sp>
      <p:grpSp>
        <p:nvGrpSpPr>
          <p:cNvPr id="26" name="Group 25">
            <a:extLst>
              <a:ext uri="{FF2B5EF4-FFF2-40B4-BE49-F238E27FC236}">
                <a16:creationId xmlns:a16="http://schemas.microsoft.com/office/drawing/2014/main" id="{5A594892-587D-5D85-F6AC-B1B886ABDD4A}"/>
              </a:ext>
            </a:extLst>
          </p:cNvPr>
          <p:cNvGrpSpPr/>
          <p:nvPr/>
        </p:nvGrpSpPr>
        <p:grpSpPr>
          <a:xfrm>
            <a:off x="201917" y="3731179"/>
            <a:ext cx="3430227" cy="1940717"/>
            <a:chOff x="201917" y="3731179"/>
            <a:chExt cx="3430227" cy="1940717"/>
          </a:xfrm>
        </p:grpSpPr>
        <p:pic>
          <p:nvPicPr>
            <p:cNvPr id="15" name="Picture 14">
              <a:extLst>
                <a:ext uri="{FF2B5EF4-FFF2-40B4-BE49-F238E27FC236}">
                  <a16:creationId xmlns:a16="http://schemas.microsoft.com/office/drawing/2014/main" id="{46893B13-8E8A-3B51-FFEB-BFFA1E96B6E5}"/>
                </a:ext>
              </a:extLst>
            </p:cNvPr>
            <p:cNvPicPr>
              <a:picLocks noChangeAspect="1"/>
            </p:cNvPicPr>
            <p:nvPr/>
          </p:nvPicPr>
          <p:blipFill>
            <a:blip r:embed="rId4"/>
            <a:srcRect l="23953" t="66720" r="54610"/>
            <a:stretch>
              <a:fillRect/>
            </a:stretch>
          </p:blipFill>
          <p:spPr>
            <a:xfrm>
              <a:off x="201917" y="3731179"/>
              <a:ext cx="1952948" cy="1940717"/>
            </a:xfrm>
            <a:prstGeom prst="rect">
              <a:avLst/>
            </a:prstGeom>
          </p:spPr>
        </p:pic>
        <p:cxnSp>
          <p:nvCxnSpPr>
            <p:cNvPr id="18" name="Straight Arrow Connector 17">
              <a:extLst>
                <a:ext uri="{FF2B5EF4-FFF2-40B4-BE49-F238E27FC236}">
                  <a16:creationId xmlns:a16="http://schemas.microsoft.com/office/drawing/2014/main" id="{B3AFE2B8-C4BF-C50A-BCD7-BF6BD350B935}"/>
                </a:ext>
              </a:extLst>
            </p:cNvPr>
            <p:cNvCxnSpPr>
              <a:cxnSpLocks/>
            </p:cNvCxnSpPr>
            <p:nvPr/>
          </p:nvCxnSpPr>
          <p:spPr>
            <a:xfrm>
              <a:off x="836428" y="4338084"/>
              <a:ext cx="1370123" cy="7259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42C1166-0D0B-EC52-6FFA-7B6670B49998}"/>
                </a:ext>
              </a:extLst>
            </p:cNvPr>
            <p:cNvSpPr txBox="1"/>
            <p:nvPr/>
          </p:nvSpPr>
          <p:spPr>
            <a:xfrm>
              <a:off x="420651" y="4153418"/>
              <a:ext cx="295274" cy="369332"/>
            </a:xfrm>
            <a:prstGeom prst="rect">
              <a:avLst/>
            </a:prstGeom>
            <a:noFill/>
          </p:spPr>
          <p:txBody>
            <a:bodyPr wrap="none" rtlCol="0">
              <a:spAutoFit/>
            </a:bodyPr>
            <a:lstStyle/>
            <a:p>
              <a:r>
                <a:rPr lang="en-US" dirty="0"/>
                <a:t>a</a:t>
              </a:r>
            </a:p>
          </p:txBody>
        </p:sp>
        <p:sp>
          <p:nvSpPr>
            <p:cNvPr id="20" name="TextBox 19">
              <a:extLst>
                <a:ext uri="{FF2B5EF4-FFF2-40B4-BE49-F238E27FC236}">
                  <a16:creationId xmlns:a16="http://schemas.microsoft.com/office/drawing/2014/main" id="{BBFC912E-3854-47BB-3F52-C83CA4C86777}"/>
                </a:ext>
              </a:extLst>
            </p:cNvPr>
            <p:cNvSpPr txBox="1"/>
            <p:nvPr/>
          </p:nvSpPr>
          <p:spPr>
            <a:xfrm>
              <a:off x="688791" y="3903046"/>
              <a:ext cx="306494" cy="369332"/>
            </a:xfrm>
            <a:prstGeom prst="rect">
              <a:avLst/>
            </a:prstGeom>
            <a:noFill/>
          </p:spPr>
          <p:txBody>
            <a:bodyPr wrap="none" rtlCol="0">
              <a:spAutoFit/>
            </a:bodyPr>
            <a:lstStyle/>
            <a:p>
              <a:r>
                <a:rPr lang="en-US" dirty="0"/>
                <a:t>b</a:t>
              </a:r>
            </a:p>
          </p:txBody>
        </p:sp>
        <p:sp>
          <p:nvSpPr>
            <p:cNvPr id="21" name="TextBox 20">
              <a:extLst>
                <a:ext uri="{FF2B5EF4-FFF2-40B4-BE49-F238E27FC236}">
                  <a16:creationId xmlns:a16="http://schemas.microsoft.com/office/drawing/2014/main" id="{EBC4F933-C837-F242-7754-31303F295CAA}"/>
                </a:ext>
              </a:extLst>
            </p:cNvPr>
            <p:cNvSpPr txBox="1"/>
            <p:nvPr/>
          </p:nvSpPr>
          <p:spPr>
            <a:xfrm>
              <a:off x="667737" y="4377510"/>
              <a:ext cx="282450" cy="369332"/>
            </a:xfrm>
            <a:prstGeom prst="rect">
              <a:avLst/>
            </a:prstGeom>
            <a:noFill/>
          </p:spPr>
          <p:txBody>
            <a:bodyPr wrap="none" rtlCol="0">
              <a:spAutoFit/>
            </a:bodyPr>
            <a:lstStyle/>
            <a:p>
              <a:r>
                <a:rPr lang="en-US" dirty="0"/>
                <a:t>c</a:t>
              </a:r>
            </a:p>
          </p:txBody>
        </p:sp>
        <p:sp>
          <p:nvSpPr>
            <p:cNvPr id="22" name="TextBox 21">
              <a:extLst>
                <a:ext uri="{FF2B5EF4-FFF2-40B4-BE49-F238E27FC236}">
                  <a16:creationId xmlns:a16="http://schemas.microsoft.com/office/drawing/2014/main" id="{B3637FE6-8685-BF9A-5FCA-53E474AE3395}"/>
                </a:ext>
              </a:extLst>
            </p:cNvPr>
            <p:cNvSpPr txBox="1"/>
            <p:nvPr/>
          </p:nvSpPr>
          <p:spPr>
            <a:xfrm>
              <a:off x="906307" y="4147366"/>
              <a:ext cx="306494" cy="369332"/>
            </a:xfrm>
            <a:prstGeom prst="rect">
              <a:avLst/>
            </a:prstGeom>
            <a:noFill/>
          </p:spPr>
          <p:txBody>
            <a:bodyPr wrap="none" rtlCol="0">
              <a:spAutoFit/>
            </a:bodyPr>
            <a:lstStyle/>
            <a:p>
              <a:r>
                <a:rPr lang="en-US" dirty="0"/>
                <a:t>d</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C722EE6-ACEC-184B-874C-AE99EADEEF0A}"/>
                    </a:ext>
                  </a:extLst>
                </p:cNvPr>
                <p:cNvSpPr txBox="1"/>
                <p:nvPr/>
              </p:nvSpPr>
              <p:spPr>
                <a:xfrm>
                  <a:off x="2049980" y="4516698"/>
                  <a:ext cx="1582164" cy="6164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AU" b="0" i="1" smtClean="0">
                                <a:latin typeface="Cambria Math" panose="02040503050406030204" pitchFamily="18" charset="0"/>
                              </a:rPr>
                            </m:ctrlPr>
                          </m:fPr>
                          <m:num>
                            <m:r>
                              <a:rPr lang="en-AU" b="0" i="1" smtClean="0">
                                <a:latin typeface="Cambria Math" panose="02040503050406030204" pitchFamily="18" charset="0"/>
                              </a:rPr>
                              <m:t>𝑎</m:t>
                            </m:r>
                            <m:r>
                              <a:rPr lang="en-AU" b="0" i="1" smtClean="0">
                                <a:latin typeface="Cambria Math" panose="02040503050406030204" pitchFamily="18" charset="0"/>
                              </a:rPr>
                              <m:t>+</m:t>
                            </m:r>
                            <m:r>
                              <a:rPr lang="en-AU" b="0" i="1" smtClean="0">
                                <a:latin typeface="Cambria Math" panose="02040503050406030204" pitchFamily="18" charset="0"/>
                              </a:rPr>
                              <m:t>𝑏</m:t>
                            </m:r>
                            <m:r>
                              <a:rPr lang="en-AU" b="0" i="1" smtClean="0">
                                <a:latin typeface="Cambria Math" panose="02040503050406030204" pitchFamily="18" charset="0"/>
                              </a:rPr>
                              <m:t>+</m:t>
                            </m:r>
                            <m:r>
                              <a:rPr lang="en-AU" b="0" i="1" smtClean="0">
                                <a:latin typeface="Cambria Math" panose="02040503050406030204" pitchFamily="18" charset="0"/>
                              </a:rPr>
                              <m:t>𝑐</m:t>
                            </m:r>
                            <m:r>
                              <a:rPr lang="en-AU" b="0" i="1" smtClean="0">
                                <a:latin typeface="Cambria Math" panose="02040503050406030204" pitchFamily="18" charset="0"/>
                              </a:rPr>
                              <m:t>+</m:t>
                            </m:r>
                            <m:r>
                              <a:rPr lang="en-AU" b="0" i="1" smtClean="0">
                                <a:latin typeface="Cambria Math" panose="02040503050406030204" pitchFamily="18" charset="0"/>
                              </a:rPr>
                              <m:t>𝑑</m:t>
                            </m:r>
                          </m:num>
                          <m:den>
                            <m:r>
                              <a:rPr lang="en-AU" b="0" i="1" smtClean="0">
                                <a:latin typeface="Cambria Math" panose="02040503050406030204" pitchFamily="18" charset="0"/>
                              </a:rPr>
                              <m:t>4</m:t>
                            </m:r>
                          </m:den>
                        </m:f>
                      </m:oMath>
                    </m:oMathPara>
                  </a14:m>
                  <a:endParaRPr lang="en-US" dirty="0"/>
                </a:p>
              </p:txBody>
            </p:sp>
          </mc:Choice>
          <mc:Fallback xmlns="">
            <p:sp>
              <p:nvSpPr>
                <p:cNvPr id="24" name="TextBox 23">
                  <a:extLst>
                    <a:ext uri="{FF2B5EF4-FFF2-40B4-BE49-F238E27FC236}">
                      <a16:creationId xmlns:a16="http://schemas.microsoft.com/office/drawing/2014/main" id="{8C722EE6-ACEC-184B-874C-AE99EADEEF0A}"/>
                    </a:ext>
                  </a:extLst>
                </p:cNvPr>
                <p:cNvSpPr txBox="1">
                  <a:spLocks noRot="1" noChangeAspect="1" noMove="1" noResize="1" noEditPoints="1" noAdjustHandles="1" noChangeArrowheads="1" noChangeShapeType="1" noTextEdit="1"/>
                </p:cNvSpPr>
                <p:nvPr/>
              </p:nvSpPr>
              <p:spPr>
                <a:xfrm>
                  <a:off x="2049980" y="4516698"/>
                  <a:ext cx="1582164" cy="616451"/>
                </a:xfrm>
                <a:prstGeom prst="rect">
                  <a:avLst/>
                </a:prstGeom>
                <a:blipFill>
                  <a:blip r:embed="rId5"/>
                  <a:stretch>
                    <a:fillRect b="-4000"/>
                  </a:stretch>
                </a:blipFill>
              </p:spPr>
              <p:txBody>
                <a:bodyPr/>
                <a:lstStyle/>
                <a:p>
                  <a:r>
                    <a:rPr lang="en-US">
                      <a:noFill/>
                    </a:rPr>
                    <a:t> </a:t>
                  </a:r>
                </a:p>
              </p:txBody>
            </p:sp>
          </mc:Fallback>
        </mc:AlternateContent>
      </p:grpSp>
      <p:sp>
        <p:nvSpPr>
          <p:cNvPr id="25" name="TextBox 24">
            <a:extLst>
              <a:ext uri="{FF2B5EF4-FFF2-40B4-BE49-F238E27FC236}">
                <a16:creationId xmlns:a16="http://schemas.microsoft.com/office/drawing/2014/main" id="{9BA2569C-462E-EA36-4784-1FE21BF9DEDA}"/>
              </a:ext>
            </a:extLst>
          </p:cNvPr>
          <p:cNvSpPr txBox="1"/>
          <p:nvPr/>
        </p:nvSpPr>
        <p:spPr>
          <a:xfrm>
            <a:off x="1502773" y="5034419"/>
            <a:ext cx="4818578" cy="2031325"/>
          </a:xfrm>
          <a:prstGeom prst="rect">
            <a:avLst/>
          </a:prstGeom>
          <a:noFill/>
        </p:spPr>
        <p:txBody>
          <a:bodyPr wrap="square" rtlCol="0">
            <a:spAutoFit/>
          </a:bodyPr>
          <a:lstStyle/>
          <a:p>
            <a:pPr marL="742950" lvl="1" indent="-285750">
              <a:buFont typeface="Arial" panose="020B0604020202020204" pitchFamily="34" charset="0"/>
              <a:buChar char="•"/>
            </a:pPr>
            <a:r>
              <a:rPr lang="en-AU" dirty="0"/>
              <a:t>bilinear and bicubic interpolation more sophisticated interpolation algorithms are </a:t>
            </a:r>
          </a:p>
          <a:p>
            <a:pPr marL="742950" lvl="1" indent="-285750">
              <a:buFont typeface="Arial" panose="020B0604020202020204" pitchFamily="34" charset="0"/>
              <a:buChar char="•"/>
            </a:pPr>
            <a:r>
              <a:rPr lang="en-AU" dirty="0"/>
              <a:t>gradient based adaptive </a:t>
            </a:r>
            <a:r>
              <a:rPr lang="en-AU" dirty="0" err="1"/>
              <a:t>color</a:t>
            </a:r>
            <a:r>
              <a:rPr lang="en-AU" dirty="0"/>
              <a:t> plane smooth Hue transition and</a:t>
            </a:r>
          </a:p>
          <a:p>
            <a:pPr marL="742950" lvl="1" indent="-285750">
              <a:buFont typeface="Arial" panose="020B0604020202020204" pitchFamily="34" charset="0"/>
              <a:buChar char="•"/>
            </a:pPr>
            <a:r>
              <a:rPr lang="en-AU" dirty="0"/>
              <a:t>some are proprietary for particular cameras.</a:t>
            </a:r>
          </a:p>
          <a:p>
            <a:endParaRPr lang="en-US" dirty="0"/>
          </a:p>
        </p:txBody>
      </p:sp>
    </p:spTree>
    <p:extLst>
      <p:ext uri="{BB962C8B-B14F-4D97-AF65-F5344CB8AC3E}">
        <p14:creationId xmlns:p14="http://schemas.microsoft.com/office/powerpoint/2010/main" val="2768809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50B0-5783-7EEE-7758-17556AC1151E}"/>
              </a:ext>
            </a:extLst>
          </p:cNvPr>
          <p:cNvSpPr>
            <a:spLocks noGrp="1"/>
          </p:cNvSpPr>
          <p:nvPr>
            <p:ph type="title"/>
          </p:nvPr>
        </p:nvSpPr>
        <p:spPr/>
        <p:txBody>
          <a:bodyPr/>
          <a:lstStyle/>
          <a:p>
            <a:r>
              <a:rPr lang="en-US" b="1" dirty="0"/>
              <a:t>Pixels</a:t>
            </a:r>
          </a:p>
        </p:txBody>
      </p:sp>
      <p:sp>
        <p:nvSpPr>
          <p:cNvPr id="3" name="Content Placeholder 2">
            <a:extLst>
              <a:ext uri="{FF2B5EF4-FFF2-40B4-BE49-F238E27FC236}">
                <a16:creationId xmlns:a16="http://schemas.microsoft.com/office/drawing/2014/main" id="{CC2A0D78-9B64-DDC1-0761-14806ED81689}"/>
              </a:ext>
            </a:extLst>
          </p:cNvPr>
          <p:cNvSpPr>
            <a:spLocks noGrp="1"/>
          </p:cNvSpPr>
          <p:nvPr>
            <p:ph idx="1"/>
          </p:nvPr>
        </p:nvSpPr>
        <p:spPr>
          <a:xfrm>
            <a:off x="936523" y="1690228"/>
            <a:ext cx="10515600" cy="4351338"/>
          </a:xfrm>
        </p:spPr>
        <p:txBody>
          <a:bodyPr>
            <a:normAutofit/>
          </a:bodyPr>
          <a:lstStyle/>
          <a:p>
            <a:r>
              <a:rPr lang="en-AU" dirty="0"/>
              <a:t>The image recorded by creating pixels by interpolating all of the missing pixels from the underlying bear pattern</a:t>
            </a:r>
          </a:p>
          <a:p>
            <a:r>
              <a:rPr lang="en-AU" dirty="0"/>
              <a:t>We started with electronic sensor that converts light into a digital signal based on how much light there is then we interpolate those missing pixels to get the RGB image. </a:t>
            </a:r>
          </a:p>
          <a:p>
            <a:pPr lvl="0"/>
            <a:r>
              <a:rPr lang="en-AU" dirty="0"/>
              <a:t>Every pixel is presented by a 8-bit number per channel i.e., a pixel is represented as three numbers in the range [0, 255]. </a:t>
            </a:r>
          </a:p>
          <a:p>
            <a:pPr lvl="0"/>
            <a:r>
              <a:rPr lang="en-AU" dirty="0"/>
              <a:t>For example: </a:t>
            </a:r>
          </a:p>
          <a:p>
            <a:pPr lvl="1"/>
            <a:r>
              <a:rPr lang="en-AU" dirty="0"/>
              <a:t>if I have a value of 0 it means it's black and </a:t>
            </a:r>
          </a:p>
          <a:p>
            <a:pPr lvl="1"/>
            <a:r>
              <a:rPr lang="en-AU" dirty="0"/>
              <a:t>if I have a value of 255 it's maximal value</a:t>
            </a:r>
          </a:p>
          <a:p>
            <a:endParaRPr lang="en-US" dirty="0"/>
          </a:p>
        </p:txBody>
      </p:sp>
    </p:spTree>
    <p:extLst>
      <p:ext uri="{BB962C8B-B14F-4D97-AF65-F5344CB8AC3E}">
        <p14:creationId xmlns:p14="http://schemas.microsoft.com/office/powerpoint/2010/main" val="1154369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06FCE-4E37-AD3E-8846-198FA7DCB6CB}"/>
              </a:ext>
            </a:extLst>
          </p:cNvPr>
          <p:cNvSpPr>
            <a:spLocks noGrp="1"/>
          </p:cNvSpPr>
          <p:nvPr>
            <p:ph type="title"/>
          </p:nvPr>
        </p:nvSpPr>
        <p:spPr/>
        <p:txBody>
          <a:bodyPr/>
          <a:lstStyle/>
          <a:p>
            <a:r>
              <a:rPr lang="en-AU" b="1" dirty="0"/>
              <a:t>What does the pixel values represent?</a:t>
            </a:r>
            <a:endParaRPr lang="en-US" dirty="0"/>
          </a:p>
        </p:txBody>
      </p:sp>
      <p:sp>
        <p:nvSpPr>
          <p:cNvPr id="3" name="Content Placeholder 2">
            <a:extLst>
              <a:ext uri="{FF2B5EF4-FFF2-40B4-BE49-F238E27FC236}">
                <a16:creationId xmlns:a16="http://schemas.microsoft.com/office/drawing/2014/main" id="{0DF9D6BC-BFF2-41B6-D418-7F7B905A8E35}"/>
              </a:ext>
            </a:extLst>
          </p:cNvPr>
          <p:cNvSpPr>
            <a:spLocks noGrp="1"/>
          </p:cNvSpPr>
          <p:nvPr>
            <p:ph idx="1"/>
          </p:nvPr>
        </p:nvSpPr>
        <p:spPr/>
        <p:txBody>
          <a:bodyPr/>
          <a:lstStyle/>
          <a:p>
            <a:pPr lvl="0"/>
            <a:r>
              <a:rPr lang="en-AU" dirty="0"/>
              <a:t>A column in the red Channel a 255 value means we have really really bright red and as that value goes left it gets darker and darker red</a:t>
            </a:r>
          </a:p>
          <a:p>
            <a:pPr lvl="0"/>
            <a:r>
              <a:rPr lang="en-AU" dirty="0"/>
              <a:t>Same with the green same and the blues</a:t>
            </a:r>
          </a:p>
          <a:p>
            <a:endParaRPr lang="en-US" dirty="0"/>
          </a:p>
        </p:txBody>
      </p:sp>
      <p:pic>
        <p:nvPicPr>
          <p:cNvPr id="4" name="Picture 3">
            <a:extLst>
              <a:ext uri="{FF2B5EF4-FFF2-40B4-BE49-F238E27FC236}">
                <a16:creationId xmlns:a16="http://schemas.microsoft.com/office/drawing/2014/main" id="{C8C4CF30-213B-9B2B-2FCA-7C54D5A724A1}"/>
              </a:ext>
            </a:extLst>
          </p:cNvPr>
          <p:cNvPicPr>
            <a:picLocks noChangeAspect="1"/>
          </p:cNvPicPr>
          <p:nvPr/>
        </p:nvPicPr>
        <p:blipFill>
          <a:blip r:embed="rId3"/>
          <a:srcRect r="11291"/>
          <a:stretch>
            <a:fillRect/>
          </a:stretch>
        </p:blipFill>
        <p:spPr>
          <a:xfrm>
            <a:off x="1187245" y="3222146"/>
            <a:ext cx="6894871" cy="2714458"/>
          </a:xfrm>
          <a:prstGeom prst="rect">
            <a:avLst/>
          </a:prstGeom>
        </p:spPr>
      </p:pic>
      <p:pic>
        <p:nvPicPr>
          <p:cNvPr id="5" name="Picture 4">
            <a:extLst>
              <a:ext uri="{FF2B5EF4-FFF2-40B4-BE49-F238E27FC236}">
                <a16:creationId xmlns:a16="http://schemas.microsoft.com/office/drawing/2014/main" id="{955DE431-831E-2B26-A695-FB60EB833143}"/>
              </a:ext>
            </a:extLst>
          </p:cNvPr>
          <p:cNvPicPr>
            <a:picLocks noChangeAspect="1"/>
          </p:cNvPicPr>
          <p:nvPr/>
        </p:nvPicPr>
        <p:blipFill>
          <a:blip r:embed="rId3"/>
          <a:srcRect l="93403" t="74571" r="762" b="8357"/>
          <a:stretch>
            <a:fillRect/>
          </a:stretch>
        </p:blipFill>
        <p:spPr>
          <a:xfrm>
            <a:off x="8937522" y="5279922"/>
            <a:ext cx="452284" cy="462116"/>
          </a:xfrm>
          <a:prstGeom prst="rect">
            <a:avLst/>
          </a:prstGeom>
        </p:spPr>
      </p:pic>
      <p:pic>
        <p:nvPicPr>
          <p:cNvPr id="7" name="Picture 6">
            <a:extLst>
              <a:ext uri="{FF2B5EF4-FFF2-40B4-BE49-F238E27FC236}">
                <a16:creationId xmlns:a16="http://schemas.microsoft.com/office/drawing/2014/main" id="{30089500-6D1F-583D-A9F0-E8CD4E70DC67}"/>
              </a:ext>
            </a:extLst>
          </p:cNvPr>
          <p:cNvPicPr>
            <a:picLocks noChangeAspect="1"/>
          </p:cNvPicPr>
          <p:nvPr/>
        </p:nvPicPr>
        <p:blipFill>
          <a:blip r:embed="rId4"/>
          <a:stretch>
            <a:fillRect/>
          </a:stretch>
        </p:blipFill>
        <p:spPr>
          <a:xfrm>
            <a:off x="8937522" y="4584647"/>
            <a:ext cx="495300" cy="520700"/>
          </a:xfrm>
          <a:prstGeom prst="rect">
            <a:avLst/>
          </a:prstGeom>
        </p:spPr>
      </p:pic>
      <p:grpSp>
        <p:nvGrpSpPr>
          <p:cNvPr id="11" name="Group 10">
            <a:extLst>
              <a:ext uri="{FF2B5EF4-FFF2-40B4-BE49-F238E27FC236}">
                <a16:creationId xmlns:a16="http://schemas.microsoft.com/office/drawing/2014/main" id="{A64FEE87-A63B-44AC-ED9C-48036BE00141}"/>
              </a:ext>
            </a:extLst>
          </p:cNvPr>
          <p:cNvGrpSpPr/>
          <p:nvPr/>
        </p:nvGrpSpPr>
        <p:grpSpPr>
          <a:xfrm>
            <a:off x="3141399" y="5388077"/>
            <a:ext cx="4714419" cy="131353"/>
            <a:chOff x="3141399" y="5388077"/>
            <a:chExt cx="4714419" cy="131353"/>
          </a:xfrm>
        </p:grpSpPr>
        <p:sp>
          <p:nvSpPr>
            <p:cNvPr id="8" name="Oval 7">
              <a:extLst>
                <a:ext uri="{FF2B5EF4-FFF2-40B4-BE49-F238E27FC236}">
                  <a16:creationId xmlns:a16="http://schemas.microsoft.com/office/drawing/2014/main" id="{2418D9D0-69FB-8206-AAD4-2366E5E89CE0}"/>
                </a:ext>
              </a:extLst>
            </p:cNvPr>
            <p:cNvSpPr/>
            <p:nvPr/>
          </p:nvSpPr>
          <p:spPr>
            <a:xfrm>
              <a:off x="7747818" y="5388077"/>
              <a:ext cx="108000" cy="10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CE99D7C-322D-0ABE-6E0A-DA568BC8F221}"/>
                </a:ext>
              </a:extLst>
            </p:cNvPr>
            <p:cNvSpPr/>
            <p:nvPr/>
          </p:nvSpPr>
          <p:spPr>
            <a:xfrm>
              <a:off x="5449524" y="5411430"/>
              <a:ext cx="108000" cy="10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142E174-0396-103B-6799-62995EE73592}"/>
                </a:ext>
              </a:extLst>
            </p:cNvPr>
            <p:cNvSpPr/>
            <p:nvPr/>
          </p:nvSpPr>
          <p:spPr>
            <a:xfrm>
              <a:off x="3141399" y="5401598"/>
              <a:ext cx="108000" cy="10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73C719D5-557F-02A8-FE34-5B5BBE2B9F3C}"/>
              </a:ext>
            </a:extLst>
          </p:cNvPr>
          <p:cNvGrpSpPr/>
          <p:nvPr/>
        </p:nvGrpSpPr>
        <p:grpSpPr>
          <a:xfrm>
            <a:off x="2438392" y="5383160"/>
            <a:ext cx="4714419" cy="131353"/>
            <a:chOff x="3141399" y="5388077"/>
            <a:chExt cx="4714419" cy="131353"/>
          </a:xfrm>
        </p:grpSpPr>
        <p:sp>
          <p:nvSpPr>
            <p:cNvPr id="13" name="Oval 12">
              <a:extLst>
                <a:ext uri="{FF2B5EF4-FFF2-40B4-BE49-F238E27FC236}">
                  <a16:creationId xmlns:a16="http://schemas.microsoft.com/office/drawing/2014/main" id="{0DD8924F-D07F-7180-0AE7-DB5AA49CBC02}"/>
                </a:ext>
              </a:extLst>
            </p:cNvPr>
            <p:cNvSpPr/>
            <p:nvPr/>
          </p:nvSpPr>
          <p:spPr>
            <a:xfrm>
              <a:off x="7747818" y="5388077"/>
              <a:ext cx="108000" cy="10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A2A985E-1B2E-88A5-C24D-03C31E44D308}"/>
                </a:ext>
              </a:extLst>
            </p:cNvPr>
            <p:cNvSpPr/>
            <p:nvPr/>
          </p:nvSpPr>
          <p:spPr>
            <a:xfrm>
              <a:off x="5449524" y="5411430"/>
              <a:ext cx="108000" cy="10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B6C39D8-38F6-451F-FABC-3D4499BD240A}"/>
                </a:ext>
              </a:extLst>
            </p:cNvPr>
            <p:cNvSpPr/>
            <p:nvPr/>
          </p:nvSpPr>
          <p:spPr>
            <a:xfrm>
              <a:off x="3141399" y="5401598"/>
              <a:ext cx="108000" cy="10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Picture 16">
            <a:extLst>
              <a:ext uri="{FF2B5EF4-FFF2-40B4-BE49-F238E27FC236}">
                <a16:creationId xmlns:a16="http://schemas.microsoft.com/office/drawing/2014/main" id="{8F5EA26C-C5C8-9307-AC68-80FBAF4F3CCC}"/>
              </a:ext>
            </a:extLst>
          </p:cNvPr>
          <p:cNvPicPr>
            <a:picLocks noChangeAspect="1"/>
          </p:cNvPicPr>
          <p:nvPr/>
        </p:nvPicPr>
        <p:blipFill>
          <a:blip r:embed="rId5"/>
          <a:stretch>
            <a:fillRect/>
          </a:stretch>
        </p:blipFill>
        <p:spPr>
          <a:xfrm>
            <a:off x="8937522" y="3877082"/>
            <a:ext cx="495300" cy="520700"/>
          </a:xfrm>
          <a:prstGeom prst="rect">
            <a:avLst/>
          </a:prstGeom>
        </p:spPr>
      </p:pic>
    </p:spTree>
    <p:extLst>
      <p:ext uri="{BB962C8B-B14F-4D97-AF65-F5344CB8AC3E}">
        <p14:creationId xmlns:p14="http://schemas.microsoft.com/office/powerpoint/2010/main" val="231324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E5874-0CEF-39F3-34CB-9D7B40944288}"/>
              </a:ext>
            </a:extLst>
          </p:cNvPr>
          <p:cNvSpPr>
            <a:spLocks noGrp="1"/>
          </p:cNvSpPr>
          <p:nvPr>
            <p:ph type="title"/>
          </p:nvPr>
        </p:nvSpPr>
        <p:spPr/>
        <p:txBody>
          <a:bodyPr/>
          <a:lstStyle/>
          <a:p>
            <a:r>
              <a:rPr lang="en-US" b="1" dirty="0"/>
              <a:t>Displays</a:t>
            </a:r>
            <a:r>
              <a:rPr lang="en-US" dirty="0"/>
              <a:t> </a:t>
            </a:r>
          </a:p>
        </p:txBody>
      </p:sp>
      <p:sp>
        <p:nvSpPr>
          <p:cNvPr id="3" name="Content Placeholder 2">
            <a:extLst>
              <a:ext uri="{FF2B5EF4-FFF2-40B4-BE49-F238E27FC236}">
                <a16:creationId xmlns:a16="http://schemas.microsoft.com/office/drawing/2014/main" id="{59F4FFF7-C3A2-5751-C58C-70029CCDCC38}"/>
              </a:ext>
            </a:extLst>
          </p:cNvPr>
          <p:cNvSpPr>
            <a:spLocks noGrp="1"/>
          </p:cNvSpPr>
          <p:nvPr>
            <p:ph idx="1"/>
          </p:nvPr>
        </p:nvSpPr>
        <p:spPr/>
        <p:txBody>
          <a:bodyPr>
            <a:normAutofit/>
          </a:bodyPr>
          <a:lstStyle/>
          <a:p>
            <a:r>
              <a:rPr lang="en-US" dirty="0"/>
              <a:t>How do we transform the 3D PGB values to visualization and display on screen?</a:t>
            </a:r>
          </a:p>
          <a:p>
            <a:pPr lvl="1"/>
            <a:r>
              <a:rPr lang="en-AU" dirty="0"/>
              <a:t>Every display converts the pixel representation (3D RGB values) into a brightness</a:t>
            </a:r>
          </a:p>
          <a:p>
            <a:r>
              <a:rPr lang="en-AU" dirty="0"/>
              <a:t>Typically: a value of 0 -&gt; Black, 255-&gt;White and 128-&gt; Gray</a:t>
            </a:r>
            <a:endParaRPr lang="en-US" dirty="0"/>
          </a:p>
          <a:p>
            <a:pPr lvl="1"/>
            <a:endParaRPr lang="en-AU" dirty="0"/>
          </a:p>
          <a:p>
            <a:pPr lvl="1"/>
            <a:endParaRPr lang="en-AU" dirty="0"/>
          </a:p>
          <a:p>
            <a:pPr lvl="1"/>
            <a:endParaRPr lang="en-AU" dirty="0"/>
          </a:p>
        </p:txBody>
      </p:sp>
    </p:spTree>
    <p:extLst>
      <p:ext uri="{BB962C8B-B14F-4D97-AF65-F5344CB8AC3E}">
        <p14:creationId xmlns:p14="http://schemas.microsoft.com/office/powerpoint/2010/main" val="1525455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628A4-CE5A-CBA1-F305-3AD7A1CF39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FF466-1155-396C-9123-45BD03F1E37A}"/>
              </a:ext>
            </a:extLst>
          </p:cNvPr>
          <p:cNvSpPr>
            <a:spLocks noGrp="1"/>
          </p:cNvSpPr>
          <p:nvPr>
            <p:ph type="title"/>
          </p:nvPr>
        </p:nvSpPr>
        <p:spPr/>
        <p:txBody>
          <a:bodyPr/>
          <a:lstStyle/>
          <a:p>
            <a:r>
              <a:rPr lang="en-US" b="1" dirty="0"/>
              <a:t>Displays</a:t>
            </a:r>
            <a:r>
              <a:rPr lang="en-US" dirty="0"/>
              <a:t> </a:t>
            </a:r>
          </a:p>
        </p:txBody>
      </p:sp>
      <p:pic>
        <p:nvPicPr>
          <p:cNvPr id="7" name="Picture 6">
            <a:extLst>
              <a:ext uri="{FF2B5EF4-FFF2-40B4-BE49-F238E27FC236}">
                <a16:creationId xmlns:a16="http://schemas.microsoft.com/office/drawing/2014/main" id="{2FA3CA6C-D338-CD04-1C60-F2E6E4307259}"/>
              </a:ext>
            </a:extLst>
          </p:cNvPr>
          <p:cNvPicPr>
            <a:picLocks noChangeAspect="1"/>
          </p:cNvPicPr>
          <p:nvPr/>
        </p:nvPicPr>
        <p:blipFill>
          <a:blip r:embed="rId3"/>
          <a:stretch>
            <a:fillRect/>
          </a:stretch>
        </p:blipFill>
        <p:spPr>
          <a:xfrm>
            <a:off x="4257368" y="1040136"/>
            <a:ext cx="6457701" cy="4777727"/>
          </a:xfrm>
          <a:prstGeom prst="rect">
            <a:avLst/>
          </a:prstGeom>
        </p:spPr>
      </p:pic>
    </p:spTree>
    <p:extLst>
      <p:ext uri="{BB962C8B-B14F-4D97-AF65-F5344CB8AC3E}">
        <p14:creationId xmlns:p14="http://schemas.microsoft.com/office/powerpoint/2010/main" val="31193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F6254-56DF-1130-A7C6-FB8FE5EE7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4C47FD-C398-5CFD-4479-E9A035D5DC8C}"/>
              </a:ext>
            </a:extLst>
          </p:cNvPr>
          <p:cNvSpPr>
            <a:spLocks noGrp="1"/>
          </p:cNvSpPr>
          <p:nvPr>
            <p:ph type="title"/>
          </p:nvPr>
        </p:nvSpPr>
        <p:spPr>
          <a:xfrm>
            <a:off x="887361" y="662680"/>
            <a:ext cx="3222523" cy="1325563"/>
          </a:xfrm>
        </p:spPr>
        <p:txBody>
          <a:bodyPr/>
          <a:lstStyle/>
          <a:p>
            <a:r>
              <a:rPr lang="en-US" b="1" dirty="0"/>
              <a:t>Displays Brightness</a:t>
            </a:r>
            <a:r>
              <a:rPr lang="en-US" dirty="0"/>
              <a:t> </a:t>
            </a:r>
          </a:p>
        </p:txBody>
      </p:sp>
      <p:pic>
        <p:nvPicPr>
          <p:cNvPr id="9" name="Picture 8">
            <a:extLst>
              <a:ext uri="{FF2B5EF4-FFF2-40B4-BE49-F238E27FC236}">
                <a16:creationId xmlns:a16="http://schemas.microsoft.com/office/drawing/2014/main" id="{BE631E45-B83B-F773-ED3D-30999F2844CA}"/>
              </a:ext>
            </a:extLst>
          </p:cNvPr>
          <p:cNvPicPr>
            <a:picLocks noChangeAspect="1"/>
          </p:cNvPicPr>
          <p:nvPr/>
        </p:nvPicPr>
        <p:blipFill>
          <a:blip r:embed="rId3"/>
          <a:stretch>
            <a:fillRect/>
          </a:stretch>
        </p:blipFill>
        <p:spPr>
          <a:xfrm>
            <a:off x="4513006" y="662680"/>
            <a:ext cx="7064272" cy="5226499"/>
          </a:xfrm>
          <a:prstGeom prst="rect">
            <a:avLst/>
          </a:prstGeom>
        </p:spPr>
      </p:pic>
    </p:spTree>
    <p:extLst>
      <p:ext uri="{BB962C8B-B14F-4D97-AF65-F5344CB8AC3E}">
        <p14:creationId xmlns:p14="http://schemas.microsoft.com/office/powerpoint/2010/main" val="2163374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C1584-4F03-7E03-97A4-B52F44F9E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27F06B-0083-7F1E-8AB1-DB36E621A526}"/>
              </a:ext>
            </a:extLst>
          </p:cNvPr>
          <p:cNvSpPr>
            <a:spLocks noGrp="1"/>
          </p:cNvSpPr>
          <p:nvPr>
            <p:ph type="title"/>
          </p:nvPr>
        </p:nvSpPr>
        <p:spPr/>
        <p:txBody>
          <a:bodyPr/>
          <a:lstStyle/>
          <a:p>
            <a:r>
              <a:rPr lang="en-US" b="1" dirty="0"/>
              <a:t>Displays</a:t>
            </a:r>
            <a:r>
              <a:rPr lang="en-US" dirty="0"/>
              <a:t> </a:t>
            </a:r>
          </a:p>
        </p:txBody>
      </p:sp>
      <p:pic>
        <p:nvPicPr>
          <p:cNvPr id="10" name="Picture 9">
            <a:extLst>
              <a:ext uri="{FF2B5EF4-FFF2-40B4-BE49-F238E27FC236}">
                <a16:creationId xmlns:a16="http://schemas.microsoft.com/office/drawing/2014/main" id="{6D2C20B7-5B38-1833-2EC5-0DEEB6D18152}"/>
              </a:ext>
            </a:extLst>
          </p:cNvPr>
          <p:cNvPicPr>
            <a:picLocks noChangeAspect="1"/>
          </p:cNvPicPr>
          <p:nvPr/>
        </p:nvPicPr>
        <p:blipFill>
          <a:blip r:embed="rId3"/>
          <a:stretch>
            <a:fillRect/>
          </a:stretch>
        </p:blipFill>
        <p:spPr>
          <a:xfrm>
            <a:off x="4288038" y="1006475"/>
            <a:ext cx="7304400" cy="5404158"/>
          </a:xfrm>
          <a:prstGeom prst="rect">
            <a:avLst/>
          </a:prstGeom>
        </p:spPr>
      </p:pic>
    </p:spTree>
    <p:extLst>
      <p:ext uri="{BB962C8B-B14F-4D97-AF65-F5344CB8AC3E}">
        <p14:creationId xmlns:p14="http://schemas.microsoft.com/office/powerpoint/2010/main" val="34369929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43BD8-C07F-418C-A294-F27F1788B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2EC3B-9218-5D8E-C1B2-CAB278702DD6}"/>
              </a:ext>
            </a:extLst>
          </p:cNvPr>
          <p:cNvSpPr>
            <a:spLocks noGrp="1"/>
          </p:cNvSpPr>
          <p:nvPr>
            <p:ph type="title"/>
          </p:nvPr>
        </p:nvSpPr>
        <p:spPr>
          <a:xfrm>
            <a:off x="838200" y="365125"/>
            <a:ext cx="2809568" cy="1325563"/>
          </a:xfrm>
        </p:spPr>
        <p:txBody>
          <a:bodyPr/>
          <a:lstStyle/>
          <a:p>
            <a:r>
              <a:rPr lang="en-US" b="1" dirty="0"/>
              <a:t>Displays </a:t>
            </a:r>
            <a:br>
              <a:rPr lang="en-US" b="1" dirty="0"/>
            </a:br>
            <a:r>
              <a:rPr lang="en-US" b="1" dirty="0"/>
              <a:t>Contrast</a:t>
            </a:r>
            <a:r>
              <a:rPr lang="en-US" dirty="0"/>
              <a:t> </a:t>
            </a:r>
          </a:p>
        </p:txBody>
      </p:sp>
      <p:pic>
        <p:nvPicPr>
          <p:cNvPr id="4" name="Picture 3">
            <a:extLst>
              <a:ext uri="{FF2B5EF4-FFF2-40B4-BE49-F238E27FC236}">
                <a16:creationId xmlns:a16="http://schemas.microsoft.com/office/drawing/2014/main" id="{5A91EF5F-BD25-A9EC-E2F2-C7A78088F677}"/>
              </a:ext>
            </a:extLst>
          </p:cNvPr>
          <p:cNvPicPr>
            <a:picLocks noChangeAspect="1"/>
          </p:cNvPicPr>
          <p:nvPr/>
        </p:nvPicPr>
        <p:blipFill>
          <a:blip r:embed="rId3"/>
          <a:stretch>
            <a:fillRect/>
          </a:stretch>
        </p:blipFill>
        <p:spPr>
          <a:xfrm>
            <a:off x="4677555" y="757083"/>
            <a:ext cx="6804064" cy="5033984"/>
          </a:xfrm>
          <a:prstGeom prst="rect">
            <a:avLst/>
          </a:prstGeom>
        </p:spPr>
      </p:pic>
    </p:spTree>
    <p:extLst>
      <p:ext uri="{BB962C8B-B14F-4D97-AF65-F5344CB8AC3E}">
        <p14:creationId xmlns:p14="http://schemas.microsoft.com/office/powerpoint/2010/main" val="31864978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366E5-A131-960E-F469-79F587F4F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EEF2D-C5AC-D012-2259-ABE0F27D402B}"/>
              </a:ext>
            </a:extLst>
          </p:cNvPr>
          <p:cNvSpPr>
            <a:spLocks noGrp="1"/>
          </p:cNvSpPr>
          <p:nvPr>
            <p:ph type="title"/>
          </p:nvPr>
        </p:nvSpPr>
        <p:spPr>
          <a:xfrm>
            <a:off x="838200" y="365125"/>
            <a:ext cx="2809568" cy="1325563"/>
          </a:xfrm>
        </p:spPr>
        <p:txBody>
          <a:bodyPr/>
          <a:lstStyle/>
          <a:p>
            <a:r>
              <a:rPr lang="en-US" b="1" dirty="0"/>
              <a:t>Displays </a:t>
            </a:r>
            <a:br>
              <a:rPr lang="en-US" b="1" dirty="0"/>
            </a:br>
            <a:r>
              <a:rPr lang="en-US" b="1" dirty="0"/>
              <a:t>gamma</a:t>
            </a:r>
            <a:r>
              <a:rPr lang="en-US" dirty="0"/>
              <a:t> </a:t>
            </a:r>
          </a:p>
        </p:txBody>
      </p:sp>
      <p:pic>
        <p:nvPicPr>
          <p:cNvPr id="5" name="Picture 4">
            <a:extLst>
              <a:ext uri="{FF2B5EF4-FFF2-40B4-BE49-F238E27FC236}">
                <a16:creationId xmlns:a16="http://schemas.microsoft.com/office/drawing/2014/main" id="{0D507E4F-82B5-3A90-D597-6BB5F8ED2E2B}"/>
              </a:ext>
            </a:extLst>
          </p:cNvPr>
          <p:cNvPicPr>
            <a:picLocks noChangeAspect="1"/>
          </p:cNvPicPr>
          <p:nvPr/>
        </p:nvPicPr>
        <p:blipFill>
          <a:blip r:embed="rId3"/>
          <a:stretch>
            <a:fillRect/>
          </a:stretch>
        </p:blipFill>
        <p:spPr>
          <a:xfrm>
            <a:off x="4628332" y="577927"/>
            <a:ext cx="6725468" cy="4975835"/>
          </a:xfrm>
          <a:prstGeom prst="rect">
            <a:avLst/>
          </a:prstGeom>
        </p:spPr>
      </p:pic>
    </p:spTree>
    <p:extLst>
      <p:ext uri="{BB962C8B-B14F-4D97-AF65-F5344CB8AC3E}">
        <p14:creationId xmlns:p14="http://schemas.microsoft.com/office/powerpoint/2010/main" val="1760700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FE4A6-306A-1468-10C5-E56E28E901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7FDE6-85E7-3877-8290-0948B415E1BC}"/>
              </a:ext>
            </a:extLst>
          </p:cNvPr>
          <p:cNvSpPr>
            <a:spLocks noGrp="1"/>
          </p:cNvSpPr>
          <p:nvPr>
            <p:ph type="title"/>
          </p:nvPr>
        </p:nvSpPr>
        <p:spPr>
          <a:xfrm>
            <a:off x="838200" y="365125"/>
            <a:ext cx="2809568" cy="1325563"/>
          </a:xfrm>
        </p:spPr>
        <p:txBody>
          <a:bodyPr/>
          <a:lstStyle/>
          <a:p>
            <a:r>
              <a:rPr lang="en-US" b="1" dirty="0"/>
              <a:t>Displays </a:t>
            </a:r>
            <a:br>
              <a:rPr lang="en-US" b="1" dirty="0"/>
            </a:br>
            <a:r>
              <a:rPr lang="en-US" b="1" dirty="0"/>
              <a:t>gamma</a:t>
            </a:r>
            <a:r>
              <a:rPr lang="en-US" dirty="0"/>
              <a:t> </a:t>
            </a:r>
          </a:p>
        </p:txBody>
      </p:sp>
      <p:pic>
        <p:nvPicPr>
          <p:cNvPr id="7" name="Picture 6">
            <a:extLst>
              <a:ext uri="{FF2B5EF4-FFF2-40B4-BE49-F238E27FC236}">
                <a16:creationId xmlns:a16="http://schemas.microsoft.com/office/drawing/2014/main" id="{FDACC30D-D55C-5D1E-500E-B276EF724E6B}"/>
              </a:ext>
            </a:extLst>
          </p:cNvPr>
          <p:cNvPicPr>
            <a:picLocks noChangeAspect="1"/>
          </p:cNvPicPr>
          <p:nvPr/>
        </p:nvPicPr>
        <p:blipFill>
          <a:blip r:embed="rId3"/>
          <a:stretch>
            <a:fillRect/>
          </a:stretch>
        </p:blipFill>
        <p:spPr>
          <a:xfrm>
            <a:off x="3920615" y="365125"/>
            <a:ext cx="7772400" cy="5750407"/>
          </a:xfrm>
          <a:prstGeom prst="rect">
            <a:avLst/>
          </a:prstGeom>
        </p:spPr>
      </p:pic>
    </p:spTree>
    <p:extLst>
      <p:ext uri="{BB962C8B-B14F-4D97-AF65-F5344CB8AC3E}">
        <p14:creationId xmlns:p14="http://schemas.microsoft.com/office/powerpoint/2010/main" val="3745495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B5BE8-A97D-285C-8A12-79F6A035D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3372E-1C31-BE12-5915-252C8DF207FC}"/>
              </a:ext>
            </a:extLst>
          </p:cNvPr>
          <p:cNvSpPr>
            <a:spLocks noGrp="1"/>
          </p:cNvSpPr>
          <p:nvPr>
            <p:ph type="title"/>
          </p:nvPr>
        </p:nvSpPr>
        <p:spPr>
          <a:xfrm>
            <a:off x="838200" y="365125"/>
            <a:ext cx="2809568" cy="1325563"/>
          </a:xfrm>
        </p:spPr>
        <p:txBody>
          <a:bodyPr/>
          <a:lstStyle/>
          <a:p>
            <a:r>
              <a:rPr lang="en-US" b="1" dirty="0"/>
              <a:t>Displays </a:t>
            </a:r>
            <a:br>
              <a:rPr lang="en-US" b="1" dirty="0"/>
            </a:br>
            <a:r>
              <a:rPr lang="en-US" b="1" dirty="0"/>
              <a:t>gamma</a:t>
            </a:r>
            <a:r>
              <a:rPr lang="en-US" dirty="0"/>
              <a:t> </a:t>
            </a:r>
          </a:p>
        </p:txBody>
      </p:sp>
      <p:pic>
        <p:nvPicPr>
          <p:cNvPr id="7" name="Picture 6">
            <a:extLst>
              <a:ext uri="{FF2B5EF4-FFF2-40B4-BE49-F238E27FC236}">
                <a16:creationId xmlns:a16="http://schemas.microsoft.com/office/drawing/2014/main" id="{34601213-57DF-0D8F-AB47-AB54B19AB95D}"/>
              </a:ext>
            </a:extLst>
          </p:cNvPr>
          <p:cNvPicPr>
            <a:picLocks noChangeAspect="1"/>
          </p:cNvPicPr>
          <p:nvPr/>
        </p:nvPicPr>
        <p:blipFill>
          <a:blip r:embed="rId3"/>
          <a:stretch>
            <a:fillRect/>
          </a:stretch>
        </p:blipFill>
        <p:spPr>
          <a:xfrm>
            <a:off x="3920615" y="365125"/>
            <a:ext cx="7772400" cy="5750407"/>
          </a:xfrm>
          <a:prstGeom prst="rect">
            <a:avLst/>
          </a:prstGeom>
        </p:spPr>
      </p:pic>
    </p:spTree>
    <p:extLst>
      <p:ext uri="{BB962C8B-B14F-4D97-AF65-F5344CB8AC3E}">
        <p14:creationId xmlns:p14="http://schemas.microsoft.com/office/powerpoint/2010/main" val="3713097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6E43B-1C9D-DBAD-B0DD-1C8ACB912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6591EF-F21F-409F-103F-ACA49C563963}"/>
              </a:ext>
            </a:extLst>
          </p:cNvPr>
          <p:cNvSpPr>
            <a:spLocks noGrp="1"/>
          </p:cNvSpPr>
          <p:nvPr>
            <p:ph type="title"/>
          </p:nvPr>
        </p:nvSpPr>
        <p:spPr>
          <a:xfrm>
            <a:off x="838200" y="365125"/>
            <a:ext cx="2809568" cy="1325563"/>
          </a:xfrm>
        </p:spPr>
        <p:txBody>
          <a:bodyPr/>
          <a:lstStyle/>
          <a:p>
            <a:r>
              <a:rPr lang="en-US" b="1" dirty="0"/>
              <a:t>Displays </a:t>
            </a:r>
            <a:br>
              <a:rPr lang="en-US" b="1"/>
            </a:br>
            <a:r>
              <a:rPr lang="en-US" b="1"/>
              <a:t>sigmoid</a:t>
            </a:r>
            <a:r>
              <a:rPr lang="en-US"/>
              <a:t> </a:t>
            </a:r>
            <a:endParaRPr lang="en-US" dirty="0"/>
          </a:p>
        </p:txBody>
      </p:sp>
      <p:pic>
        <p:nvPicPr>
          <p:cNvPr id="4" name="Picture 3">
            <a:extLst>
              <a:ext uri="{FF2B5EF4-FFF2-40B4-BE49-F238E27FC236}">
                <a16:creationId xmlns:a16="http://schemas.microsoft.com/office/drawing/2014/main" id="{03540555-9773-254E-CB67-5E1667441165}"/>
              </a:ext>
            </a:extLst>
          </p:cNvPr>
          <p:cNvPicPr>
            <a:picLocks noChangeAspect="1"/>
          </p:cNvPicPr>
          <p:nvPr/>
        </p:nvPicPr>
        <p:blipFill>
          <a:blip r:embed="rId3"/>
          <a:stretch>
            <a:fillRect/>
          </a:stretch>
        </p:blipFill>
        <p:spPr>
          <a:xfrm>
            <a:off x="3581400" y="637744"/>
            <a:ext cx="7772400" cy="5582512"/>
          </a:xfrm>
          <a:prstGeom prst="rect">
            <a:avLst/>
          </a:prstGeom>
        </p:spPr>
      </p:pic>
    </p:spTree>
    <p:extLst>
      <p:ext uri="{BB962C8B-B14F-4D97-AF65-F5344CB8AC3E}">
        <p14:creationId xmlns:p14="http://schemas.microsoft.com/office/powerpoint/2010/main" val="2859752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B81C9-0A22-0157-1144-28B1BA73A4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1A941-137C-2013-A61A-F652AA8FE645}"/>
              </a:ext>
            </a:extLst>
          </p:cNvPr>
          <p:cNvSpPr>
            <a:spLocks noGrp="1"/>
          </p:cNvSpPr>
          <p:nvPr>
            <p:ph type="title"/>
          </p:nvPr>
        </p:nvSpPr>
        <p:spPr/>
        <p:txBody>
          <a:bodyPr/>
          <a:lstStyle/>
          <a:p>
            <a:r>
              <a:rPr lang="en-US" dirty="0"/>
              <a:t>Reading</a:t>
            </a:r>
          </a:p>
        </p:txBody>
      </p:sp>
      <p:sp>
        <p:nvSpPr>
          <p:cNvPr id="3" name="Content Placeholder 2">
            <a:extLst>
              <a:ext uri="{FF2B5EF4-FFF2-40B4-BE49-F238E27FC236}">
                <a16:creationId xmlns:a16="http://schemas.microsoft.com/office/drawing/2014/main" id="{8FC2AC0B-64AA-4C68-C86C-F1FC2414AB11}"/>
              </a:ext>
            </a:extLst>
          </p:cNvPr>
          <p:cNvSpPr>
            <a:spLocks noGrp="1"/>
          </p:cNvSpPr>
          <p:nvPr>
            <p:ph idx="1"/>
          </p:nvPr>
        </p:nvSpPr>
        <p:spPr>
          <a:xfrm>
            <a:off x="838200" y="1300766"/>
            <a:ext cx="10515600" cy="5303234"/>
          </a:xfrm>
        </p:spPr>
        <p:txBody>
          <a:bodyPr>
            <a:normAutofit fontScale="92500" lnSpcReduction="20000"/>
          </a:bodyPr>
          <a:lstStyle/>
          <a:p>
            <a:r>
              <a:rPr lang="en-AU" sz="1900" dirty="0">
                <a:hlinkClick r:id="rId3"/>
              </a:rPr>
              <a:t>https://www.youtube.com/watch?v=lyf5jGIrwQE&amp;list=PLhwIOYE-ldwL6h-peJADfNm8bbO3GlKEy&amp;index=11</a:t>
            </a:r>
            <a:endParaRPr lang="en-AU" sz="1900" dirty="0"/>
          </a:p>
          <a:p>
            <a:r>
              <a:rPr lang="en-AU" sz="1900" dirty="0">
                <a:hlinkClick r:id="rId4"/>
              </a:rPr>
              <a:t>https://www.youtube.com/watch?v=NBbzmOSJkTg&amp;list=PLhwIOYE-ldwL6h-peJADfNm8bbO3GlKEy&amp;index=12&amp;t=608s</a:t>
            </a:r>
            <a:endParaRPr lang="en-AU" sz="1900" dirty="0"/>
          </a:p>
          <a:p>
            <a:r>
              <a:rPr lang="en-AU" sz="1900" dirty="0">
                <a:hlinkClick r:id="rId5"/>
              </a:rPr>
              <a:t>https://cvl-umass.github.io/intro-cv-spring-2025/assets/notes/imageformation.pdf</a:t>
            </a:r>
            <a:endParaRPr lang="en-AU" sz="1900" dirty="0"/>
          </a:p>
          <a:p>
            <a:r>
              <a:rPr lang="en-AU" sz="1900" dirty="0"/>
              <a:t>Notebook: </a:t>
            </a:r>
            <a:r>
              <a:rPr lang="en-AU" sz="1900" dirty="0">
                <a:hlinkClick r:id="rId6"/>
              </a:rPr>
              <a:t>https://www.kaggle.com/code/zahidbd/cv-color-lecture3/</a:t>
            </a:r>
            <a:endParaRPr lang="en-AU" sz="1900" dirty="0"/>
          </a:p>
          <a:p>
            <a:r>
              <a:rPr lang="en-AU" sz="1900" dirty="0"/>
              <a:t>Notebook: </a:t>
            </a:r>
            <a:r>
              <a:rPr lang="en-AU" sz="1900" dirty="0">
                <a:hlinkClick r:id="rId7"/>
              </a:rPr>
              <a:t>https://www.kaggle.com/code/zahidbd/lecture3-nb-2</a:t>
            </a:r>
            <a:r>
              <a:rPr lang="en-AU" sz="1900" dirty="0"/>
              <a:t> </a:t>
            </a:r>
          </a:p>
          <a:p>
            <a:r>
              <a:rPr lang="en-AU" sz="2000" b="1" dirty="0"/>
              <a:t>Digital Image Processing</a:t>
            </a:r>
            <a:r>
              <a:rPr lang="en-AU" sz="2000" dirty="0"/>
              <a:t>, Rafael C. Gonzalez, Richard E. Woods</a:t>
            </a:r>
          </a:p>
          <a:p>
            <a:pPr lvl="1"/>
            <a:r>
              <a:rPr lang="en-AU" sz="2000" dirty="0"/>
              <a:t>2.3 Image Sensing and Acquisition</a:t>
            </a:r>
          </a:p>
          <a:p>
            <a:pPr lvl="2"/>
            <a:r>
              <a:rPr lang="en-AU" dirty="0"/>
              <a:t>IMAGE ACQUISITION USING SENSOR ARRAYS</a:t>
            </a:r>
          </a:p>
          <a:p>
            <a:pPr lvl="2"/>
            <a:r>
              <a:rPr lang="en-AU" dirty="0"/>
              <a:t>A SIMPLE IMAGE FORMATION MODEL</a:t>
            </a:r>
          </a:p>
          <a:p>
            <a:pPr lvl="1"/>
            <a:r>
              <a:rPr lang="en-AU" dirty="0"/>
              <a:t>2.4 Image Sampling and Quantization</a:t>
            </a:r>
          </a:p>
          <a:p>
            <a:pPr lvl="2"/>
            <a:r>
              <a:rPr lang="en-AU" dirty="0"/>
              <a:t>BASIC CONCEPTS IN SAMPLING AND QUANTIZATION</a:t>
            </a:r>
          </a:p>
          <a:p>
            <a:pPr lvl="2"/>
            <a:r>
              <a:rPr lang="en-AU" dirty="0"/>
              <a:t>REPRESENTING DIGITAL IMAGES</a:t>
            </a:r>
            <a:endParaRPr lang="en-AU" sz="1600" b="1" dirty="0"/>
          </a:p>
          <a:p>
            <a:r>
              <a:rPr lang="en-AU" sz="2000" b="1" dirty="0"/>
              <a:t>Computer Vision: A Modern Approach, </a:t>
            </a:r>
            <a:r>
              <a:rPr lang="en-AU" sz="2000" dirty="0"/>
              <a:t>by D.A. Forsyth</a:t>
            </a:r>
          </a:p>
          <a:p>
            <a:pPr lvl="1"/>
            <a:r>
              <a:rPr lang="en-AU" sz="2000" dirty="0"/>
              <a:t>1.1.3 Cameras with Lenses (discussion on aberrations)</a:t>
            </a:r>
          </a:p>
          <a:p>
            <a:r>
              <a:rPr lang="en-AU" sz="2000" b="1" dirty="0"/>
              <a:t>Computer Vision: Algorithms and Applications</a:t>
            </a:r>
            <a:r>
              <a:rPr lang="en-AU" sz="2000" dirty="0"/>
              <a:t>, by Richard </a:t>
            </a:r>
            <a:r>
              <a:rPr lang="en-AU" sz="2000" dirty="0" err="1"/>
              <a:t>Szeliski</a:t>
            </a:r>
            <a:endParaRPr lang="en-AU" sz="2000" dirty="0"/>
          </a:p>
          <a:p>
            <a:pPr lvl="1"/>
            <a:r>
              <a:rPr lang="en-AU" sz="2000" dirty="0"/>
              <a:t>2.2 Photometric image formation</a:t>
            </a:r>
          </a:p>
        </p:txBody>
      </p:sp>
    </p:spTree>
    <p:extLst>
      <p:ext uri="{BB962C8B-B14F-4D97-AF65-F5344CB8AC3E}">
        <p14:creationId xmlns:p14="http://schemas.microsoft.com/office/powerpoint/2010/main" val="4132124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5814</TotalTime>
  <Words>2507</Words>
  <Application>Microsoft Macintosh PowerPoint</Application>
  <PresentationFormat>Widescreen</PresentationFormat>
  <Paragraphs>229</Paragraphs>
  <Slides>33</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Cambria Math</vt:lpstr>
      <vt:lpstr>Office Theme</vt:lpstr>
      <vt:lpstr>COMPUTER VISION</vt:lpstr>
      <vt:lpstr>Lens Phenomenon: DoF</vt:lpstr>
      <vt:lpstr>Lens Phenomenon</vt:lpstr>
      <vt:lpstr>Depth of Field</vt:lpstr>
      <vt:lpstr>Lens Flaws</vt:lpstr>
      <vt:lpstr>Lens Flaws</vt:lpstr>
      <vt:lpstr>Lens flaws: Spherical (radial) aberration</vt:lpstr>
      <vt:lpstr>Radial Distortion</vt:lpstr>
      <vt:lpstr>Issues with lenses: Radial Distortion </vt:lpstr>
      <vt:lpstr>Geometric distortion correction</vt:lpstr>
      <vt:lpstr>Image acquisition</vt:lpstr>
      <vt:lpstr>Sensor arrays</vt:lpstr>
      <vt:lpstr>Image acquisition</vt:lpstr>
      <vt:lpstr>Image formation model</vt:lpstr>
      <vt:lpstr>Sampling &amp; Quantization</vt:lpstr>
      <vt:lpstr>Digital image representation</vt:lpstr>
      <vt:lpstr>What a CMOS sensor does? </vt:lpstr>
      <vt:lpstr>What is a color image? </vt:lpstr>
      <vt:lpstr>Limitations of 3 sensor models</vt:lpstr>
      <vt:lpstr>The Bayer pattern </vt:lpstr>
      <vt:lpstr>The Bayer pattern</vt:lpstr>
      <vt:lpstr>Pixels</vt:lpstr>
      <vt:lpstr>What does the pixel values represent?</vt:lpstr>
      <vt:lpstr>Displays </vt:lpstr>
      <vt:lpstr>Displays </vt:lpstr>
      <vt:lpstr>Displays Brightness </vt:lpstr>
      <vt:lpstr>Displays </vt:lpstr>
      <vt:lpstr>Displays  Contrast </vt:lpstr>
      <vt:lpstr>Displays  gamma </vt:lpstr>
      <vt:lpstr>Displays  gamma </vt:lpstr>
      <vt:lpstr>Displays  gamma </vt:lpstr>
      <vt:lpstr>Displays  sigmoid </vt:lpstr>
      <vt:lpstr>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Zahidul Islam</dc:creator>
  <cp:lastModifiedBy>Md Zahidul Islam</cp:lastModifiedBy>
  <cp:revision>210</cp:revision>
  <dcterms:created xsi:type="dcterms:W3CDTF">2026-08-04T00:11:14Z</dcterms:created>
  <dcterms:modified xsi:type="dcterms:W3CDTF">2026-08-12T04:53:31Z</dcterms:modified>
</cp:coreProperties>
</file>