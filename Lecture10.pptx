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6" r:id="rId1"/>
  </p:sldMasterIdLst>
  <p:notesMasterIdLst>
    <p:notesMasterId r:id="rId37"/>
  </p:notesMasterIdLst>
  <p:sldIdLst>
    <p:sldId id="256" r:id="rId2"/>
    <p:sldId id="309" r:id="rId3"/>
    <p:sldId id="323" r:id="rId4"/>
    <p:sldId id="325" r:id="rId5"/>
    <p:sldId id="324" r:id="rId6"/>
    <p:sldId id="326" r:id="rId7"/>
    <p:sldId id="327" r:id="rId8"/>
    <p:sldId id="328" r:id="rId9"/>
    <p:sldId id="334" r:id="rId10"/>
    <p:sldId id="335" r:id="rId11"/>
    <p:sldId id="330" r:id="rId12"/>
    <p:sldId id="331" r:id="rId13"/>
    <p:sldId id="332" r:id="rId14"/>
    <p:sldId id="333" r:id="rId15"/>
    <p:sldId id="329" r:id="rId16"/>
    <p:sldId id="336" r:id="rId17"/>
    <p:sldId id="337" r:id="rId18"/>
    <p:sldId id="356" r:id="rId19"/>
    <p:sldId id="358" r:id="rId20"/>
    <p:sldId id="357" r:id="rId21"/>
    <p:sldId id="359" r:id="rId22"/>
    <p:sldId id="360" r:id="rId23"/>
    <p:sldId id="338" r:id="rId24"/>
    <p:sldId id="339" r:id="rId25"/>
    <p:sldId id="344" r:id="rId26"/>
    <p:sldId id="341" r:id="rId27"/>
    <p:sldId id="346" r:id="rId28"/>
    <p:sldId id="348" r:id="rId29"/>
    <p:sldId id="349" r:id="rId30"/>
    <p:sldId id="352" r:id="rId31"/>
    <p:sldId id="354" r:id="rId32"/>
    <p:sldId id="355" r:id="rId33"/>
    <p:sldId id="347" r:id="rId34"/>
    <p:sldId id="351" r:id="rId35"/>
    <p:sldId id="26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08"/>
    <p:restoredTop sz="80688"/>
  </p:normalViewPr>
  <p:slideViewPr>
    <p:cSldViewPr snapToGrid="0">
      <p:cViewPr>
        <p:scale>
          <a:sx n="109" d="100"/>
          <a:sy n="109" d="100"/>
        </p:scale>
        <p:origin x="360" y="56"/>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69E75-2F2A-4340-80BD-3C270EF90E93}" type="datetimeFigureOut">
              <a:rPr lang="en-US" smtClean="0"/>
              <a:t>9/9/26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5E430-97AE-C04C-BB4B-47DC21A043A5}" type="slidenum">
              <a:rPr lang="en-US" smtClean="0"/>
              <a:t>‹#›</a:t>
            </a:fld>
            <a:endParaRPr lang="en-US"/>
          </a:p>
        </p:txBody>
      </p:sp>
    </p:spTree>
    <p:extLst>
      <p:ext uri="{BB962C8B-B14F-4D97-AF65-F5344CB8AC3E}">
        <p14:creationId xmlns:p14="http://schemas.microsoft.com/office/powerpoint/2010/main" val="109129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a:t>
            </a:fld>
            <a:endParaRPr lang="en-US"/>
          </a:p>
        </p:txBody>
      </p:sp>
    </p:spTree>
    <p:extLst>
      <p:ext uri="{BB962C8B-B14F-4D97-AF65-F5344CB8AC3E}">
        <p14:creationId xmlns:p14="http://schemas.microsoft.com/office/powerpoint/2010/main" val="2822391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3</a:t>
            </a:fld>
            <a:endParaRPr lang="en-US"/>
          </a:p>
        </p:txBody>
      </p:sp>
    </p:spTree>
    <p:extLst>
      <p:ext uri="{BB962C8B-B14F-4D97-AF65-F5344CB8AC3E}">
        <p14:creationId xmlns:p14="http://schemas.microsoft.com/office/powerpoint/2010/main" val="1648962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5</a:t>
            </a:fld>
            <a:endParaRPr lang="en-US"/>
          </a:p>
        </p:txBody>
      </p:sp>
    </p:spTree>
    <p:extLst>
      <p:ext uri="{BB962C8B-B14F-4D97-AF65-F5344CB8AC3E}">
        <p14:creationId xmlns:p14="http://schemas.microsoft.com/office/powerpoint/2010/main" val="2268802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6</a:t>
            </a:fld>
            <a:endParaRPr lang="en-US"/>
          </a:p>
        </p:txBody>
      </p:sp>
    </p:spTree>
    <p:extLst>
      <p:ext uri="{BB962C8B-B14F-4D97-AF65-F5344CB8AC3E}">
        <p14:creationId xmlns:p14="http://schemas.microsoft.com/office/powerpoint/2010/main" val="3952746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7</a:t>
            </a:fld>
            <a:endParaRPr lang="en-US"/>
          </a:p>
        </p:txBody>
      </p:sp>
    </p:spTree>
    <p:extLst>
      <p:ext uri="{BB962C8B-B14F-4D97-AF65-F5344CB8AC3E}">
        <p14:creationId xmlns:p14="http://schemas.microsoft.com/office/powerpoint/2010/main" val="2160697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12</a:t>
            </a:fld>
            <a:endParaRPr lang="en-US"/>
          </a:p>
        </p:txBody>
      </p:sp>
    </p:spTree>
    <p:extLst>
      <p:ext uri="{BB962C8B-B14F-4D97-AF65-F5344CB8AC3E}">
        <p14:creationId xmlns:p14="http://schemas.microsoft.com/office/powerpoint/2010/main" val="468275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13</a:t>
            </a:fld>
            <a:endParaRPr lang="en-US"/>
          </a:p>
        </p:txBody>
      </p:sp>
    </p:spTree>
    <p:extLst>
      <p:ext uri="{BB962C8B-B14F-4D97-AF65-F5344CB8AC3E}">
        <p14:creationId xmlns:p14="http://schemas.microsoft.com/office/powerpoint/2010/main" val="2635050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15</a:t>
            </a:fld>
            <a:endParaRPr lang="en-US"/>
          </a:p>
        </p:txBody>
      </p:sp>
    </p:spTree>
    <p:extLst>
      <p:ext uri="{BB962C8B-B14F-4D97-AF65-F5344CB8AC3E}">
        <p14:creationId xmlns:p14="http://schemas.microsoft.com/office/powerpoint/2010/main" val="2000986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19</a:t>
            </a:fld>
            <a:endParaRPr lang="en-US"/>
          </a:p>
        </p:txBody>
      </p:sp>
    </p:spTree>
    <p:extLst>
      <p:ext uri="{BB962C8B-B14F-4D97-AF65-F5344CB8AC3E}">
        <p14:creationId xmlns:p14="http://schemas.microsoft.com/office/powerpoint/2010/main" val="276040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20</a:t>
            </a:fld>
            <a:endParaRPr lang="en-US"/>
          </a:p>
        </p:txBody>
      </p:sp>
    </p:spTree>
    <p:extLst>
      <p:ext uri="{BB962C8B-B14F-4D97-AF65-F5344CB8AC3E}">
        <p14:creationId xmlns:p14="http://schemas.microsoft.com/office/powerpoint/2010/main" val="2843494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29</a:t>
            </a:fld>
            <a:endParaRPr lang="en-US"/>
          </a:p>
        </p:txBody>
      </p:sp>
    </p:spTree>
    <p:extLst>
      <p:ext uri="{BB962C8B-B14F-4D97-AF65-F5344CB8AC3E}">
        <p14:creationId xmlns:p14="http://schemas.microsoft.com/office/powerpoint/2010/main" val="1908843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30</a:t>
            </a:fld>
            <a:endParaRPr lang="en-US"/>
          </a:p>
        </p:txBody>
      </p:sp>
    </p:spTree>
    <p:extLst>
      <p:ext uri="{BB962C8B-B14F-4D97-AF65-F5344CB8AC3E}">
        <p14:creationId xmlns:p14="http://schemas.microsoft.com/office/powerpoint/2010/main" val="1018720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97BCD-8B3B-7EDA-6406-5B2FBEEA3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5E728-E4B9-C99D-BB9C-619240D14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B934E-B88B-C628-0689-6CA42AE398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1A4086-1152-DDB8-3C38-6C44D0D21020}"/>
              </a:ext>
            </a:extLst>
          </p:cNvPr>
          <p:cNvSpPr>
            <a:spLocks noGrp="1"/>
          </p:cNvSpPr>
          <p:nvPr>
            <p:ph type="sldNum" sz="quarter" idx="5"/>
          </p:nvPr>
        </p:nvSpPr>
        <p:spPr/>
        <p:txBody>
          <a:bodyPr/>
          <a:lstStyle/>
          <a:p>
            <a:fld id="{21A5E430-97AE-C04C-BB4B-47DC21A043A5}" type="slidenum">
              <a:rPr lang="en-US" smtClean="0"/>
              <a:t>31</a:t>
            </a:fld>
            <a:endParaRPr lang="en-US"/>
          </a:p>
        </p:txBody>
      </p:sp>
    </p:spTree>
    <p:extLst>
      <p:ext uri="{BB962C8B-B14F-4D97-AF65-F5344CB8AC3E}">
        <p14:creationId xmlns:p14="http://schemas.microsoft.com/office/powerpoint/2010/main" val="621576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A82AD-DB25-7D8A-6D71-79887517D8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8D4B0-907C-1BB7-488E-2AD10C664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D38F52-1012-1C18-0FF3-FBE21B33E1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918622-067E-DC8F-54A1-0CA34360A6D6}"/>
              </a:ext>
            </a:extLst>
          </p:cNvPr>
          <p:cNvSpPr>
            <a:spLocks noGrp="1"/>
          </p:cNvSpPr>
          <p:nvPr>
            <p:ph type="sldNum" sz="quarter" idx="5"/>
          </p:nvPr>
        </p:nvSpPr>
        <p:spPr/>
        <p:txBody>
          <a:bodyPr/>
          <a:lstStyle/>
          <a:p>
            <a:fld id="{21A5E430-97AE-C04C-BB4B-47DC21A043A5}" type="slidenum">
              <a:rPr lang="en-US" smtClean="0"/>
              <a:t>32</a:t>
            </a:fld>
            <a:endParaRPr lang="en-US"/>
          </a:p>
        </p:txBody>
      </p:sp>
    </p:spTree>
    <p:extLst>
      <p:ext uri="{BB962C8B-B14F-4D97-AF65-F5344CB8AC3E}">
        <p14:creationId xmlns:p14="http://schemas.microsoft.com/office/powerpoint/2010/main" val="769585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34</a:t>
            </a:fld>
            <a:endParaRPr lang="en-US"/>
          </a:p>
        </p:txBody>
      </p:sp>
    </p:spTree>
    <p:extLst>
      <p:ext uri="{BB962C8B-B14F-4D97-AF65-F5344CB8AC3E}">
        <p14:creationId xmlns:p14="http://schemas.microsoft.com/office/powerpoint/2010/main" val="3193362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35</a:t>
            </a:fld>
            <a:endParaRPr lang="en-US"/>
          </a:p>
        </p:txBody>
      </p:sp>
    </p:spTree>
    <p:extLst>
      <p:ext uri="{BB962C8B-B14F-4D97-AF65-F5344CB8AC3E}">
        <p14:creationId xmlns:p14="http://schemas.microsoft.com/office/powerpoint/2010/main" val="3198227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0ABA-4290-90CD-CC55-F20491E400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7F24B89-364B-EE61-91C7-B9F06B42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EBF63DC-9861-DCAD-6ABF-69C738D52412}"/>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5" name="Footer Placeholder 4">
            <a:extLst>
              <a:ext uri="{FF2B5EF4-FFF2-40B4-BE49-F238E27FC236}">
                <a16:creationId xmlns:a16="http://schemas.microsoft.com/office/drawing/2014/main" id="{12614E29-F2F6-0C59-6484-F3A7E29D6B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BCAEEB-1E1D-36B5-14CA-0489A122989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3520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F66E-2238-2945-30ED-0D5D903A9A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216DA5-3118-31B7-4826-91DCF97495C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6A64AF0-DB24-1918-D680-D607CC937796}"/>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5" name="Footer Placeholder 4">
            <a:extLst>
              <a:ext uri="{FF2B5EF4-FFF2-40B4-BE49-F238E27FC236}">
                <a16:creationId xmlns:a16="http://schemas.microsoft.com/office/drawing/2014/main" id="{0268A90F-2980-A2E6-466C-5402C1FC4D9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868EC3-A8B5-7BBB-739B-70BA6D09F96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785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C189-E67A-DEEB-8B84-7C335EFE0C4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24ED7FA-A772-AA86-E957-C377B21763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C76E92-A603-E836-46A2-21459F70329C}"/>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5" name="Footer Placeholder 4">
            <a:extLst>
              <a:ext uri="{FF2B5EF4-FFF2-40B4-BE49-F238E27FC236}">
                <a16:creationId xmlns:a16="http://schemas.microsoft.com/office/drawing/2014/main" id="{D2E73A2D-7527-2749-6AC2-791551C544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2646D8-F5E0-55C9-DFA9-AE038A78394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42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EC26-3DD7-E942-7FD3-AD4642215F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8AE2B3-6415-0C9F-2B63-AAD8FE7CB5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D4849E-962A-A5CF-1EFF-A5D9F6D2D63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8A4F206-C4C3-7740-140B-91013CDDE4E5}"/>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6" name="Footer Placeholder 5">
            <a:extLst>
              <a:ext uri="{FF2B5EF4-FFF2-40B4-BE49-F238E27FC236}">
                <a16:creationId xmlns:a16="http://schemas.microsoft.com/office/drawing/2014/main" id="{AF950921-80EB-4B2D-95C6-1C999B3605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CF45F9-5E9B-8C6E-6D1D-0A82EC8FE6F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7694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5D9A-3AD0-657C-C3CB-A50C239790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9496E7-6FDA-8F23-1869-AFDF16E7D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61602A-B874-4D33-8037-C166D9D32A8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8C1A-755F-F467-FB5F-2740E9A8A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968491-33EA-3F5E-3142-9D822916CD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E6F0A4D-B479-3C8E-68BA-F49180D7D4A7}"/>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8" name="Footer Placeholder 7">
            <a:extLst>
              <a:ext uri="{FF2B5EF4-FFF2-40B4-BE49-F238E27FC236}">
                <a16:creationId xmlns:a16="http://schemas.microsoft.com/office/drawing/2014/main" id="{EFEA6669-6B95-0CBE-1D95-890C54EE827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4083EE-4D9B-D81A-FD71-5D6A16DDF1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6077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6E9B-AD06-B997-1AE7-3073AFFCB8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726203-6C54-59B6-ADFE-EA8A4741EDA9}"/>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4" name="Footer Placeholder 3">
            <a:extLst>
              <a:ext uri="{FF2B5EF4-FFF2-40B4-BE49-F238E27FC236}">
                <a16:creationId xmlns:a16="http://schemas.microsoft.com/office/drawing/2014/main" id="{B0FE622D-800D-BD21-04BE-E0E9D2C396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B3FC2C-3FA0-9A58-0F7D-02622CA35C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036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F2467D-6BE5-9E50-E767-5B64065B9B61}"/>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3" name="Footer Placeholder 2">
            <a:extLst>
              <a:ext uri="{FF2B5EF4-FFF2-40B4-BE49-F238E27FC236}">
                <a16:creationId xmlns:a16="http://schemas.microsoft.com/office/drawing/2014/main" id="{2D5DD547-4603-D852-B1B3-A5C380C6748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A6508D-341E-E5BD-C22D-E2BF3A6A6B6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87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1ED0-75A3-6E0F-3006-4E70B9C79D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1213C3-01A6-E614-D555-D3BC4C59D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1C72D1-C96F-3382-A48C-F0612B299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DC90C82-959E-DF3F-38A5-159F3E4EE801}"/>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6" name="Footer Placeholder 5">
            <a:extLst>
              <a:ext uri="{FF2B5EF4-FFF2-40B4-BE49-F238E27FC236}">
                <a16:creationId xmlns:a16="http://schemas.microsoft.com/office/drawing/2014/main" id="{57569977-4322-D261-2170-1A0B6CD763D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E4B5F3-686B-5E91-86E8-81B85A12262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630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0422-F15A-4C2C-3C8A-BB5AFE652D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3BD814-F5EA-2E89-F8F7-F91682556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345475-4926-2118-0A8D-7E5E64E20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CE74AE-202B-63F1-CC92-B6A0B149A619}"/>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6" name="Footer Placeholder 5">
            <a:extLst>
              <a:ext uri="{FF2B5EF4-FFF2-40B4-BE49-F238E27FC236}">
                <a16:creationId xmlns:a16="http://schemas.microsoft.com/office/drawing/2014/main" id="{D0385DEF-4986-D816-B5EC-52508C7475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C0EB8-9FF8-3665-DFC3-2A23C436C1B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4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349C-55F4-8DD2-B5B3-F25C3269E19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61ACD-3ECA-19BE-9063-F5AAB3BE801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746CB2-8338-345D-B066-B1D7BFD27E92}"/>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5" name="Footer Placeholder 4">
            <a:extLst>
              <a:ext uri="{FF2B5EF4-FFF2-40B4-BE49-F238E27FC236}">
                <a16:creationId xmlns:a16="http://schemas.microsoft.com/office/drawing/2014/main" id="{68CEA996-1CE2-090B-003F-5B7EB52059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1D362C-DC52-130E-3EDD-CFC6E248755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6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7662E-7958-3ADE-A998-F33C75EF65A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26EE86-C6DB-34C8-839F-4C05EA0D8B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AB12CF-5E36-6937-CC03-FD4DAFCCF839}"/>
              </a:ext>
            </a:extLst>
          </p:cNvPr>
          <p:cNvSpPr>
            <a:spLocks noGrp="1"/>
          </p:cNvSpPr>
          <p:nvPr>
            <p:ph type="dt" sz="half" idx="10"/>
          </p:nvPr>
        </p:nvSpPr>
        <p:spPr/>
        <p:txBody>
          <a:bodyPr/>
          <a:lstStyle/>
          <a:p>
            <a:fld id="{B61BEF0D-F0BB-DE4B-95CE-6DB70DBA9567}" type="datetimeFigureOut">
              <a:rPr lang="en-US" smtClean="0"/>
              <a:pPr/>
              <a:t>9/9/26</a:t>
            </a:fld>
            <a:endParaRPr lang="en-US" dirty="0"/>
          </a:p>
        </p:txBody>
      </p:sp>
      <p:sp>
        <p:nvSpPr>
          <p:cNvPr id="5" name="Footer Placeholder 4">
            <a:extLst>
              <a:ext uri="{FF2B5EF4-FFF2-40B4-BE49-F238E27FC236}">
                <a16:creationId xmlns:a16="http://schemas.microsoft.com/office/drawing/2014/main" id="{B3A791FE-5CDC-76E7-1D6A-CFFC7D5024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481ADC-D743-398A-851E-E742E36C1C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178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2BC51-9F87-6890-45C0-643E6F552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1906F5-F306-E89C-5151-AA5BF69AA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A6B21F-4F09-4E1F-433A-CF40F62B9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9/9/26</a:t>
            </a:fld>
            <a:endParaRPr lang="en-US" dirty="0"/>
          </a:p>
        </p:txBody>
      </p:sp>
      <p:sp>
        <p:nvSpPr>
          <p:cNvPr id="5" name="Footer Placeholder 4">
            <a:extLst>
              <a:ext uri="{FF2B5EF4-FFF2-40B4-BE49-F238E27FC236}">
                <a16:creationId xmlns:a16="http://schemas.microsoft.com/office/drawing/2014/main" id="{392909DE-CA0F-77A5-6135-84F8389D9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256ADA-A62D-616A-836C-0D9BA5F7E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310394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code/zahidbd/lecture10-nb1-gradient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8" Type="http://schemas.openxmlformats.org/officeDocument/2006/relationships/hyperlink" Target="https://www.kaggle.com/code/zahidbd/lecture10-nb2-feature-extraction/" TargetMode="External"/><Relationship Id="rId3" Type="http://schemas.openxmlformats.org/officeDocument/2006/relationships/hyperlink" Target="https://cvl-umass.github.io/intro-cv-spring-2025/assets/notes/imageprocessing.pdf" TargetMode="External"/><Relationship Id="rId7" Type="http://schemas.openxmlformats.org/officeDocument/2006/relationships/hyperlink" Target="https://www.kaggle.com/code/zahidbd/lecture10-nb1-gradient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learnopencv.com/histogram-of-oriented-gradients/" TargetMode="External"/><Relationship Id="rId5" Type="http://schemas.openxmlformats.org/officeDocument/2006/relationships/hyperlink" Target="https://justin-liang.com/tutorials/canny/" TargetMode="External"/><Relationship Id="rId4" Type="http://schemas.openxmlformats.org/officeDocument/2006/relationships/hyperlink" Target="https://medium.com/ai-in-plain-english/canny-edge-detection-in-python-4cbc1209adb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241-48AD-583C-9840-CDD40301C01C}"/>
              </a:ext>
            </a:extLst>
          </p:cNvPr>
          <p:cNvSpPr>
            <a:spLocks noGrp="1"/>
          </p:cNvSpPr>
          <p:nvPr>
            <p:ph type="ctrTitle"/>
          </p:nvPr>
        </p:nvSpPr>
        <p:spPr/>
        <p:txBody>
          <a:bodyPr/>
          <a:lstStyle/>
          <a:p>
            <a:r>
              <a:rPr lang="en-US" b="1" dirty="0"/>
              <a:t>COMPUTER VISION</a:t>
            </a:r>
          </a:p>
        </p:txBody>
      </p:sp>
      <p:sp>
        <p:nvSpPr>
          <p:cNvPr id="3" name="Subtitle 2">
            <a:extLst>
              <a:ext uri="{FF2B5EF4-FFF2-40B4-BE49-F238E27FC236}">
                <a16:creationId xmlns:a16="http://schemas.microsoft.com/office/drawing/2014/main" id="{B1F2094C-5F63-31E5-6117-5B63798264D5}"/>
              </a:ext>
            </a:extLst>
          </p:cNvPr>
          <p:cNvSpPr>
            <a:spLocks noGrp="1"/>
          </p:cNvSpPr>
          <p:nvPr>
            <p:ph type="subTitle" idx="1"/>
          </p:nvPr>
        </p:nvSpPr>
        <p:spPr/>
        <p:txBody>
          <a:bodyPr/>
          <a:lstStyle/>
          <a:p>
            <a:r>
              <a:rPr lang="en-US" b="1" dirty="0"/>
              <a:t>Week 7</a:t>
            </a:r>
          </a:p>
          <a:p>
            <a:r>
              <a:rPr lang="en-US" dirty="0"/>
              <a:t>Lecture </a:t>
            </a:r>
            <a:r>
              <a:rPr lang="en-US"/>
              <a:t>10 (10/09/2026</a:t>
            </a:r>
            <a:r>
              <a:rPr lang="en-US" dirty="0"/>
              <a:t>)</a:t>
            </a:r>
          </a:p>
          <a:p>
            <a:r>
              <a:rPr lang="en-US" dirty="0"/>
              <a:t>0714 02 CSE 4239</a:t>
            </a:r>
          </a:p>
        </p:txBody>
      </p:sp>
    </p:spTree>
    <p:extLst>
      <p:ext uri="{BB962C8B-B14F-4D97-AF65-F5344CB8AC3E}">
        <p14:creationId xmlns:p14="http://schemas.microsoft.com/office/powerpoint/2010/main" val="30604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50514-EEA2-742D-4F14-16F5AFB00A06}"/>
              </a:ext>
            </a:extLst>
          </p:cNvPr>
          <p:cNvSpPr>
            <a:spLocks noGrp="1"/>
          </p:cNvSpPr>
          <p:nvPr>
            <p:ph type="title"/>
          </p:nvPr>
        </p:nvSpPr>
        <p:spPr>
          <a:xfrm>
            <a:off x="838200" y="365125"/>
            <a:ext cx="10515600" cy="667901"/>
          </a:xfrm>
        </p:spPr>
        <p:txBody>
          <a:bodyPr>
            <a:normAutofit fontScale="90000"/>
          </a:bodyPr>
          <a:lstStyle/>
          <a:p>
            <a:r>
              <a:rPr lang="en-US" b="1" dirty="0"/>
              <a:t>Derivative recap</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99ABFA37-8851-0F49-1DA2-2D74B55B851C}"/>
                  </a:ext>
                </a:extLst>
              </p:cNvPr>
              <p:cNvSpPr>
                <a:spLocks noGrp="1"/>
              </p:cNvSpPr>
              <p:nvPr>
                <p:ph idx="1"/>
              </p:nvPr>
            </p:nvSpPr>
            <p:spPr>
              <a:xfrm>
                <a:off x="838200" y="1338470"/>
                <a:ext cx="11034932" cy="5154405"/>
              </a:xfrm>
            </p:spPr>
            <p:txBody>
              <a:bodyPr>
                <a:normAutofit/>
              </a:bodyPr>
              <a:lstStyle/>
              <a:p>
                <a:r>
                  <a:rPr lang="en-US" dirty="0"/>
                  <a:t>Derivative is useful for various image analysis tasks – edge detection, feature extractions etc. </a:t>
                </a:r>
              </a:p>
              <a:p>
                <a:r>
                  <a:rPr lang="en-AU" b="1" dirty="0"/>
                  <a:t>Image derivatives</a:t>
                </a:r>
                <a:r>
                  <a:rPr lang="en-AU" dirty="0"/>
                  <a:t> measure how pixel intensity values change across spatial locations. </a:t>
                </a:r>
              </a:p>
              <a:p>
                <a:pPr lvl="1"/>
                <a:r>
                  <a:rPr lang="en-AU" dirty="0"/>
                  <a:t>Because edges and boundaries correspond to sudden jumps in brightness, taking derivatives allows algorithms to detect structural features like outlines, corners, and contours.</a:t>
                </a:r>
              </a:p>
              <a:p>
                <a:r>
                  <a:rPr lang="en-AU" dirty="0"/>
                  <a:t>The </a:t>
                </a:r>
                <a:r>
                  <a:rPr lang="en-AU" b="1" dirty="0"/>
                  <a:t>gradient</a:t>
                </a:r>
                <a:r>
                  <a:rPr lang="en-AU" dirty="0"/>
                  <a:t> of an image </a:t>
                </a:r>
                <a:r>
                  <a:rPr lang="en-AU" b="1" dirty="0"/>
                  <a:t>at each pixel is a 2D vector </a:t>
                </a:r>
                <a:r>
                  <a:rPr lang="en-AU" dirty="0"/>
                  <a:t>(i.e., for an input of size </a:t>
                </a:r>
                <a14:m>
                  <m:oMath xmlns:m="http://schemas.openxmlformats.org/officeDocument/2006/math">
                    <m:r>
                      <a:rPr lang="en-AU" b="0" i="1" smtClean="0">
                        <a:latin typeface="Cambria Math" panose="02040503050406030204" pitchFamily="18" charset="0"/>
                      </a:rPr>
                      <m:t>𝐻</m:t>
                    </m:r>
                    <m:r>
                      <a:rPr lang="en-AU" b="0" i="1" smtClean="0">
                        <a:latin typeface="Cambria Math" panose="02040503050406030204" pitchFamily="18" charset="0"/>
                      </a:rPr>
                      <m:t>×</m:t>
                    </m:r>
                    <m:r>
                      <a:rPr lang="en-AU" b="0" i="1" smtClean="0">
                        <a:latin typeface="Cambria Math" panose="02040503050406030204" pitchFamily="18" charset="0"/>
                      </a:rPr>
                      <m:t>𝑊</m:t>
                    </m:r>
                  </m:oMath>
                </a14:m>
                <a:r>
                  <a:rPr lang="en-AU" dirty="0"/>
                  <a:t>, the outputs are two matrixes of size </a:t>
                </a:r>
                <a14:m>
                  <m:oMath xmlns:m="http://schemas.openxmlformats.org/officeDocument/2006/math">
                    <m:r>
                      <a:rPr lang="en-AU" i="1">
                        <a:latin typeface="Cambria Math" panose="02040503050406030204" pitchFamily="18" charset="0"/>
                      </a:rPr>
                      <m:t>𝐻</m:t>
                    </m:r>
                    <m:r>
                      <a:rPr lang="en-AU" i="1">
                        <a:latin typeface="Cambria Math" panose="02040503050406030204" pitchFamily="18" charset="0"/>
                      </a:rPr>
                      <m:t>×</m:t>
                    </m:r>
                    <m:r>
                      <a:rPr lang="en-AU" i="1">
                        <a:latin typeface="Cambria Math" panose="02040503050406030204" pitchFamily="18" charset="0"/>
                      </a:rPr>
                      <m:t>𝑊</m:t>
                    </m:r>
                  </m:oMath>
                </a14:m>
                <a:r>
                  <a:rPr lang="en-AU" dirty="0"/>
                  <a:t>).</a:t>
                </a:r>
              </a:p>
              <a:p>
                <a:pPr lvl="1"/>
                <a:r>
                  <a:rPr lang="en-AU" dirty="0"/>
                  <a:t>The components in the 2D vector for a pixel gives the derivatives in the horizontal and vertical directions.</a:t>
                </a:r>
              </a:p>
              <a:p>
                <a:endParaRPr lang="en-US" dirty="0"/>
              </a:p>
            </p:txBody>
          </p:sp>
        </mc:Choice>
        <mc:Fallback>
          <p:sp>
            <p:nvSpPr>
              <p:cNvPr id="4" name="Content Placeholder 3">
                <a:extLst>
                  <a:ext uri="{FF2B5EF4-FFF2-40B4-BE49-F238E27FC236}">
                    <a16:creationId xmlns:a16="http://schemas.microsoft.com/office/drawing/2014/main" id="{99ABFA37-8851-0F49-1DA2-2D74B55B851C}"/>
                  </a:ext>
                </a:extLst>
              </p:cNvPr>
              <p:cNvSpPr>
                <a:spLocks noGrp="1" noRot="1" noChangeAspect="1" noMove="1" noResize="1" noEditPoints="1" noAdjustHandles="1" noChangeArrowheads="1" noChangeShapeType="1" noTextEdit="1"/>
              </p:cNvSpPr>
              <p:nvPr>
                <p:ph idx="1"/>
              </p:nvPr>
            </p:nvSpPr>
            <p:spPr>
              <a:xfrm>
                <a:off x="838200" y="1338470"/>
                <a:ext cx="11034932" cy="5154405"/>
              </a:xfrm>
              <a:blipFill>
                <a:blip r:embed="rId2"/>
                <a:stretch>
                  <a:fillRect l="-1034" t="-1966" r="-575"/>
                </a:stretch>
              </a:blipFill>
            </p:spPr>
            <p:txBody>
              <a:bodyPr/>
              <a:lstStyle/>
              <a:p>
                <a:r>
                  <a:rPr lang="en-US">
                    <a:noFill/>
                  </a:rPr>
                  <a:t> </a:t>
                </a:r>
              </a:p>
            </p:txBody>
          </p:sp>
        </mc:Fallback>
      </mc:AlternateContent>
    </p:spTree>
    <p:extLst>
      <p:ext uri="{BB962C8B-B14F-4D97-AF65-F5344CB8AC3E}">
        <p14:creationId xmlns:p14="http://schemas.microsoft.com/office/powerpoint/2010/main" val="1044999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945C0-2FB5-F3EE-288F-6E01BC3E5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84448-223F-CDD6-4C1A-A0C7086B0058}"/>
              </a:ext>
            </a:extLst>
          </p:cNvPr>
          <p:cNvSpPr>
            <a:spLocks noGrp="1"/>
          </p:cNvSpPr>
          <p:nvPr>
            <p:ph type="title"/>
          </p:nvPr>
        </p:nvSpPr>
        <p:spPr>
          <a:xfrm>
            <a:off x="838200" y="365125"/>
            <a:ext cx="10515600" cy="667901"/>
          </a:xfrm>
        </p:spPr>
        <p:txBody>
          <a:bodyPr>
            <a:normAutofit fontScale="90000"/>
          </a:bodyPr>
          <a:lstStyle/>
          <a:p>
            <a:r>
              <a:rPr lang="en-US" b="1" dirty="0"/>
              <a:t>Derivative recap</a:t>
            </a:r>
          </a:p>
        </p:txBody>
      </p:sp>
      <p:sp>
        <p:nvSpPr>
          <p:cNvPr id="4" name="Content Placeholder 3">
            <a:extLst>
              <a:ext uri="{FF2B5EF4-FFF2-40B4-BE49-F238E27FC236}">
                <a16:creationId xmlns:a16="http://schemas.microsoft.com/office/drawing/2014/main" id="{BCDC675D-20BC-52BB-42A6-5F85A207F5A6}"/>
              </a:ext>
            </a:extLst>
          </p:cNvPr>
          <p:cNvSpPr>
            <a:spLocks noGrp="1"/>
          </p:cNvSpPr>
          <p:nvPr>
            <p:ph idx="1"/>
          </p:nvPr>
        </p:nvSpPr>
        <p:spPr>
          <a:xfrm>
            <a:off x="838200" y="1338470"/>
            <a:ext cx="11034932" cy="4346517"/>
          </a:xfrm>
        </p:spPr>
        <p:txBody>
          <a:bodyPr>
            <a:normAutofit/>
          </a:bodyPr>
          <a:lstStyle/>
          <a:p>
            <a:r>
              <a:rPr lang="en-AU" dirty="0"/>
              <a:t>Gradient points in the direction of the most rapid increase in intensity.</a:t>
            </a:r>
          </a:p>
          <a:p>
            <a:endParaRPr lang="en-US" dirty="0"/>
          </a:p>
        </p:txBody>
      </p:sp>
      <p:pic>
        <p:nvPicPr>
          <p:cNvPr id="5" name="Picture 4">
            <a:extLst>
              <a:ext uri="{FF2B5EF4-FFF2-40B4-BE49-F238E27FC236}">
                <a16:creationId xmlns:a16="http://schemas.microsoft.com/office/drawing/2014/main" id="{B0A48CC5-6266-A31B-A61B-BBDA9F82BB72}"/>
              </a:ext>
            </a:extLst>
          </p:cNvPr>
          <p:cNvPicPr>
            <a:picLocks noChangeAspect="1"/>
          </p:cNvPicPr>
          <p:nvPr/>
        </p:nvPicPr>
        <p:blipFill>
          <a:blip r:embed="rId3"/>
          <a:stretch>
            <a:fillRect/>
          </a:stretch>
        </p:blipFill>
        <p:spPr>
          <a:xfrm>
            <a:off x="838200" y="2190570"/>
            <a:ext cx="3011659" cy="2916804"/>
          </a:xfrm>
          <a:prstGeom prst="rect">
            <a:avLst/>
          </a:prstGeom>
        </p:spPr>
      </p:pic>
      <p:pic>
        <p:nvPicPr>
          <p:cNvPr id="7" name="Picture 6">
            <a:extLst>
              <a:ext uri="{FF2B5EF4-FFF2-40B4-BE49-F238E27FC236}">
                <a16:creationId xmlns:a16="http://schemas.microsoft.com/office/drawing/2014/main" id="{8A67781A-B951-EBD2-6072-E7379F2350C5}"/>
              </a:ext>
            </a:extLst>
          </p:cNvPr>
          <p:cNvPicPr>
            <a:picLocks noChangeAspect="1"/>
          </p:cNvPicPr>
          <p:nvPr/>
        </p:nvPicPr>
        <p:blipFill>
          <a:blip r:embed="rId4"/>
          <a:stretch>
            <a:fillRect/>
          </a:stretch>
        </p:blipFill>
        <p:spPr>
          <a:xfrm>
            <a:off x="4673869" y="2190570"/>
            <a:ext cx="2940518" cy="2916804"/>
          </a:xfrm>
          <a:prstGeom prst="rect">
            <a:avLst/>
          </a:prstGeom>
        </p:spPr>
      </p:pic>
      <p:pic>
        <p:nvPicPr>
          <p:cNvPr id="9" name="Picture 8">
            <a:extLst>
              <a:ext uri="{FF2B5EF4-FFF2-40B4-BE49-F238E27FC236}">
                <a16:creationId xmlns:a16="http://schemas.microsoft.com/office/drawing/2014/main" id="{603E8CE9-511C-4648-5927-FE7B728B66DC}"/>
              </a:ext>
            </a:extLst>
          </p:cNvPr>
          <p:cNvPicPr>
            <a:picLocks noChangeAspect="1"/>
          </p:cNvPicPr>
          <p:nvPr/>
        </p:nvPicPr>
        <p:blipFill>
          <a:blip r:embed="rId5"/>
          <a:stretch>
            <a:fillRect/>
          </a:stretch>
        </p:blipFill>
        <p:spPr>
          <a:xfrm>
            <a:off x="8438397" y="2532737"/>
            <a:ext cx="2741173" cy="1957981"/>
          </a:xfrm>
          <a:prstGeom prst="rect">
            <a:avLst/>
          </a:prstGeom>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4282C34-A96B-A935-25DC-42BE25C9F6B9}"/>
                  </a:ext>
                </a:extLst>
              </p:cNvPr>
              <p:cNvSpPr txBox="1"/>
              <p:nvPr/>
            </p:nvSpPr>
            <p:spPr>
              <a:xfrm>
                <a:off x="4555850" y="5319862"/>
                <a:ext cx="3276954" cy="1180516"/>
              </a:xfrm>
              <a:prstGeom prst="rect">
                <a:avLst/>
              </a:prstGeom>
              <a:noFill/>
            </p:spPr>
            <p:txBody>
              <a:bodyPr wrap="square" rtlCol="0">
                <a:spAutoFit/>
              </a:bodyPr>
              <a:lstStyle/>
              <a:p>
                <a:r>
                  <a:rPr lang="en-AU" dirty="0"/>
                  <a:t>This image is changing only in </a:t>
                </a:r>
                <a14:m>
                  <m:oMath xmlns:m="http://schemas.openxmlformats.org/officeDocument/2006/math">
                    <m:r>
                      <a:rPr lang="en-AU" i="1" dirty="0" smtClean="0">
                        <a:latin typeface="Cambria Math" panose="02040503050406030204" pitchFamily="18" charset="0"/>
                      </a:rPr>
                      <m:t>𝑦</m:t>
                    </m:r>
                  </m:oMath>
                </a14:m>
              </a:p>
              <a:p>
                <a:r>
                  <a:rPr lang="en-AU" dirty="0"/>
                  <a:t>direction, thus:</a:t>
                </a:r>
              </a:p>
              <a:p>
                <a14:m>
                  <m:oMathPara xmlns:m="http://schemas.openxmlformats.org/officeDocument/2006/math">
                    <m:oMath>
                      <m:r>
                        <m:rPr>
                          <m:sty m:val="p"/>
                        </m:rP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𝑓</m:t>
                      </m:r>
                      <m:r>
                        <a:rPr lang="en-AU" b="0" i="1" smtClean="0">
                          <a:latin typeface="Cambria Math" panose="02040503050406030204" pitchFamily="18" charset="0"/>
                          <a:ea typeface="Cambria Math" panose="02040503050406030204" pitchFamily="18" charset="0"/>
                        </a:rPr>
                        <m:t>=</m:t>
                      </m:r>
                      <m:d>
                        <m:dPr>
                          <m:begChr m:val="["/>
                          <m:endChr m:val="]"/>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0, </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𝑓</m:t>
                              </m:r>
                            </m:num>
                            <m:den>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den>
                          </m:f>
                        </m:e>
                      </m:d>
                    </m:oMath>
                  </m:oMathPara>
                </a14:m>
                <a:endParaRPr lang="en-US" dirty="0"/>
              </a:p>
            </p:txBody>
          </p:sp>
        </mc:Choice>
        <mc:Fallback>
          <p:sp>
            <p:nvSpPr>
              <p:cNvPr id="10" name="TextBox 9">
                <a:extLst>
                  <a:ext uri="{FF2B5EF4-FFF2-40B4-BE49-F238E27FC236}">
                    <a16:creationId xmlns:a16="http://schemas.microsoft.com/office/drawing/2014/main" id="{24282C34-A96B-A935-25DC-42BE25C9F6B9}"/>
                  </a:ext>
                </a:extLst>
              </p:cNvPr>
              <p:cNvSpPr txBox="1">
                <a:spLocks noRot="1" noChangeAspect="1" noMove="1" noResize="1" noEditPoints="1" noAdjustHandles="1" noChangeArrowheads="1" noChangeShapeType="1" noTextEdit="1"/>
              </p:cNvSpPr>
              <p:nvPr/>
            </p:nvSpPr>
            <p:spPr>
              <a:xfrm>
                <a:off x="4555850" y="5319862"/>
                <a:ext cx="3276954" cy="1180516"/>
              </a:xfrm>
              <a:prstGeom prst="rect">
                <a:avLst/>
              </a:prstGeom>
              <a:blipFill>
                <a:blip r:embed="rId6"/>
                <a:stretch>
                  <a:fillRect l="-1544" t="-3226" b="-21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4FB3632-AA05-F7BE-0B5E-B2BDE91959D5}"/>
                  </a:ext>
                </a:extLst>
              </p:cNvPr>
              <p:cNvSpPr txBox="1"/>
              <p:nvPr/>
            </p:nvSpPr>
            <p:spPr>
              <a:xfrm>
                <a:off x="693042" y="5316753"/>
                <a:ext cx="3520998" cy="1220334"/>
              </a:xfrm>
              <a:prstGeom prst="rect">
                <a:avLst/>
              </a:prstGeom>
              <a:noFill/>
            </p:spPr>
            <p:txBody>
              <a:bodyPr wrap="square" rtlCol="0">
                <a:spAutoFit/>
              </a:bodyPr>
              <a:lstStyle/>
              <a:p>
                <a:r>
                  <a:rPr lang="en-AU" dirty="0"/>
                  <a:t>This image is changing only in </a:t>
                </a:r>
                <a14:m>
                  <m:oMath xmlns:m="http://schemas.openxmlformats.org/officeDocument/2006/math">
                    <m:r>
                      <a:rPr lang="en-AU" b="0" i="1" dirty="0" smtClean="0">
                        <a:latin typeface="Cambria Math" panose="02040503050406030204" pitchFamily="18" charset="0"/>
                      </a:rPr>
                      <m:t>𝑥</m:t>
                    </m:r>
                  </m:oMath>
                </a14:m>
              </a:p>
              <a:p>
                <a:r>
                  <a:rPr lang="en-AU" dirty="0"/>
                  <a:t>direction, thus:</a:t>
                </a:r>
              </a:p>
              <a:p>
                <a14:m>
                  <m:oMathPara xmlns:m="http://schemas.openxmlformats.org/officeDocument/2006/math">
                    <m:oMath>
                      <m:r>
                        <m:rPr>
                          <m:sty m:val="p"/>
                        </m:rP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𝑓</m:t>
                      </m:r>
                      <m:r>
                        <a:rPr lang="en-AU" b="0" i="1" smtClean="0">
                          <a:latin typeface="Cambria Math" panose="02040503050406030204" pitchFamily="18" charset="0"/>
                          <a:ea typeface="Cambria Math" panose="02040503050406030204" pitchFamily="18" charset="0"/>
                        </a:rPr>
                        <m:t>=</m:t>
                      </m:r>
                      <m:d>
                        <m:dPr>
                          <m:begChr m:val="["/>
                          <m:endChr m:val="]"/>
                          <m:ctrlPr>
                            <a:rPr lang="en-AU" b="0" i="1" smtClean="0">
                              <a:latin typeface="Cambria Math" panose="02040503050406030204" pitchFamily="18" charset="0"/>
                              <a:ea typeface="Cambria Math" panose="02040503050406030204" pitchFamily="18" charset="0"/>
                            </a:rPr>
                          </m:ctrlPr>
                        </m:dPr>
                        <m:e>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𝑓</m:t>
                              </m:r>
                            </m:num>
                            <m:den>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𝑦</m:t>
                              </m:r>
                            </m:den>
                          </m:f>
                          <m:r>
                            <a:rPr lang="en-AU" b="0" i="1" smtClean="0">
                              <a:latin typeface="Cambria Math" panose="02040503050406030204" pitchFamily="18" charset="0"/>
                              <a:ea typeface="Cambria Math" panose="02040503050406030204" pitchFamily="18" charset="0"/>
                            </a:rPr>
                            <m:t>,0</m:t>
                          </m:r>
                        </m:e>
                      </m:d>
                    </m:oMath>
                  </m:oMathPara>
                </a14:m>
                <a:endParaRPr lang="en-US" dirty="0"/>
              </a:p>
            </p:txBody>
          </p:sp>
        </mc:Choice>
        <mc:Fallback>
          <p:sp>
            <p:nvSpPr>
              <p:cNvPr id="11" name="TextBox 10">
                <a:extLst>
                  <a:ext uri="{FF2B5EF4-FFF2-40B4-BE49-F238E27FC236}">
                    <a16:creationId xmlns:a16="http://schemas.microsoft.com/office/drawing/2014/main" id="{C4FB3632-AA05-F7BE-0B5E-B2BDE91959D5}"/>
                  </a:ext>
                </a:extLst>
              </p:cNvPr>
              <p:cNvSpPr txBox="1">
                <a:spLocks noRot="1" noChangeAspect="1" noMove="1" noResize="1" noEditPoints="1" noAdjustHandles="1" noChangeArrowheads="1" noChangeShapeType="1" noTextEdit="1"/>
              </p:cNvSpPr>
              <p:nvPr/>
            </p:nvSpPr>
            <p:spPr>
              <a:xfrm>
                <a:off x="693042" y="5316753"/>
                <a:ext cx="3520998" cy="1220334"/>
              </a:xfrm>
              <a:prstGeom prst="rect">
                <a:avLst/>
              </a:prstGeom>
              <a:blipFill>
                <a:blip r:embed="rId7"/>
                <a:stretch>
                  <a:fillRect l="-1439" t="-2062" b="-41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40265C6C-4CFE-8F61-EEEF-F278E81BD34F}"/>
                  </a:ext>
                </a:extLst>
              </p:cNvPr>
              <p:cNvSpPr txBox="1"/>
              <p:nvPr/>
            </p:nvSpPr>
            <p:spPr>
              <a:xfrm>
                <a:off x="8273500" y="4947544"/>
                <a:ext cx="3520998" cy="1220334"/>
              </a:xfrm>
              <a:prstGeom prst="rect">
                <a:avLst/>
              </a:prstGeom>
              <a:noFill/>
            </p:spPr>
            <p:txBody>
              <a:bodyPr wrap="square" rtlCol="0">
                <a:spAutoFit/>
              </a:bodyPr>
              <a:lstStyle/>
              <a:p>
                <a:r>
                  <a:rPr lang="en-AU" dirty="0"/>
                  <a:t>This image is changing in both </a:t>
                </a:r>
                <a14:m>
                  <m:oMath xmlns:m="http://schemas.openxmlformats.org/officeDocument/2006/math">
                    <m:r>
                      <a:rPr lang="en-AU" b="0" i="1" dirty="0" smtClean="0">
                        <a:latin typeface="Cambria Math" panose="02040503050406030204" pitchFamily="18" charset="0"/>
                      </a:rPr>
                      <m:t>𝑥</m:t>
                    </m:r>
                  </m:oMath>
                </a14:m>
                <a:r>
                  <a:rPr lang="en-AU" dirty="0"/>
                  <a:t> and </a:t>
                </a:r>
                <a14:m>
                  <m:oMath xmlns:m="http://schemas.openxmlformats.org/officeDocument/2006/math">
                    <m:r>
                      <a:rPr lang="en-AU" i="1" dirty="0" smtClean="0">
                        <a:latin typeface="Cambria Math" panose="02040503050406030204" pitchFamily="18" charset="0"/>
                      </a:rPr>
                      <m:t>𝑦</m:t>
                    </m:r>
                  </m:oMath>
                </a14:m>
                <a:r>
                  <a:rPr lang="en-AU" dirty="0"/>
                  <a:t> directions, thus:</a:t>
                </a:r>
              </a:p>
              <a:p>
                <a14:m>
                  <m:oMathPara xmlns:m="http://schemas.openxmlformats.org/officeDocument/2006/math">
                    <m:oMath>
                      <m:r>
                        <m:rPr>
                          <m:sty m:val="p"/>
                        </m:rP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𝑓</m:t>
                      </m:r>
                      <m:r>
                        <a:rPr lang="en-AU" b="0" i="1" smtClean="0">
                          <a:latin typeface="Cambria Math" panose="02040503050406030204" pitchFamily="18" charset="0"/>
                          <a:ea typeface="Cambria Math" panose="02040503050406030204" pitchFamily="18" charset="0"/>
                        </a:rPr>
                        <m:t>=</m:t>
                      </m:r>
                      <m:d>
                        <m:dPr>
                          <m:begChr m:val="["/>
                          <m:endChr m:val="]"/>
                          <m:ctrlPr>
                            <a:rPr lang="en-AU" i="1">
                              <a:latin typeface="Cambria Math" panose="02040503050406030204" pitchFamily="18" charset="0"/>
                              <a:ea typeface="Cambria Math" panose="02040503050406030204" pitchFamily="18" charset="0"/>
                            </a:rPr>
                          </m:ctrlPr>
                        </m:dPr>
                        <m:e>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𝑓</m:t>
                              </m:r>
                            </m:num>
                            <m:den>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𝑦</m:t>
                              </m:r>
                            </m:den>
                          </m:f>
                          <m:r>
                            <a:rPr lang="en-AU" b="0" i="1" smtClean="0">
                              <a:latin typeface="Cambria Math" panose="02040503050406030204" pitchFamily="18" charset="0"/>
                              <a:ea typeface="Cambria Math" panose="02040503050406030204" pitchFamily="18" charset="0"/>
                            </a:rPr>
                            <m:t>, </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𝑓</m:t>
                              </m:r>
                            </m:num>
                            <m:den>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den>
                          </m:f>
                        </m:e>
                      </m:d>
                    </m:oMath>
                  </m:oMathPara>
                </a14:m>
                <a:endParaRPr lang="en-US" dirty="0"/>
              </a:p>
            </p:txBody>
          </p:sp>
        </mc:Choice>
        <mc:Fallback>
          <p:sp>
            <p:nvSpPr>
              <p:cNvPr id="12" name="TextBox 11">
                <a:extLst>
                  <a:ext uri="{FF2B5EF4-FFF2-40B4-BE49-F238E27FC236}">
                    <a16:creationId xmlns:a16="http://schemas.microsoft.com/office/drawing/2014/main" id="{40265C6C-4CFE-8F61-EEEF-F278E81BD34F}"/>
                  </a:ext>
                </a:extLst>
              </p:cNvPr>
              <p:cNvSpPr txBox="1">
                <a:spLocks noRot="1" noChangeAspect="1" noMove="1" noResize="1" noEditPoints="1" noAdjustHandles="1" noChangeArrowheads="1" noChangeShapeType="1" noTextEdit="1"/>
              </p:cNvSpPr>
              <p:nvPr/>
            </p:nvSpPr>
            <p:spPr>
              <a:xfrm>
                <a:off x="8273500" y="4947544"/>
                <a:ext cx="3520998" cy="1220334"/>
              </a:xfrm>
              <a:prstGeom prst="rect">
                <a:avLst/>
              </a:prstGeom>
              <a:blipFill>
                <a:blip r:embed="rId8"/>
                <a:stretch>
                  <a:fillRect l="-1439" t="-2062" b="-5155"/>
                </a:stretch>
              </a:blipFill>
            </p:spPr>
            <p:txBody>
              <a:bodyPr/>
              <a:lstStyle/>
              <a:p>
                <a:r>
                  <a:rPr lang="en-US">
                    <a:noFill/>
                  </a:rPr>
                  <a:t> </a:t>
                </a:r>
              </a:p>
            </p:txBody>
          </p:sp>
        </mc:Fallback>
      </mc:AlternateContent>
    </p:spTree>
    <p:extLst>
      <p:ext uri="{BB962C8B-B14F-4D97-AF65-F5344CB8AC3E}">
        <p14:creationId xmlns:p14="http://schemas.microsoft.com/office/powerpoint/2010/main" val="2238182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EDFD-376E-5FDB-6E85-F020FA43757D}"/>
              </a:ext>
            </a:extLst>
          </p:cNvPr>
          <p:cNvSpPr>
            <a:spLocks noGrp="1"/>
          </p:cNvSpPr>
          <p:nvPr>
            <p:ph type="title"/>
          </p:nvPr>
        </p:nvSpPr>
        <p:spPr/>
        <p:txBody>
          <a:bodyPr/>
          <a:lstStyle/>
          <a:p>
            <a:r>
              <a:rPr lang="en-US" b="1" dirty="0"/>
              <a:t>Gradient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F40DB0-4828-0E42-DACB-53E603088BDD}"/>
                  </a:ext>
                </a:extLst>
              </p:cNvPr>
              <p:cNvSpPr>
                <a:spLocks noGrp="1"/>
              </p:cNvSpPr>
              <p:nvPr>
                <p:ph idx="1"/>
              </p:nvPr>
            </p:nvSpPr>
            <p:spPr>
              <a:xfrm>
                <a:off x="838200" y="1825625"/>
                <a:ext cx="10515600" cy="3646707"/>
              </a:xfrm>
            </p:spPr>
            <p:txBody>
              <a:bodyPr/>
              <a:lstStyle/>
              <a:p>
                <a14:m>
                  <m:oMath xmlns:m="http://schemas.openxmlformats.org/officeDocument/2006/math">
                    <m:r>
                      <m:rPr>
                        <m:sty m:val="p"/>
                      </m:rPr>
                      <a:rPr lang="en-AU" smtClean="0">
                        <a:latin typeface="Cambria Math" panose="02040503050406030204" pitchFamily="18" charset="0"/>
                      </a:rPr>
                      <m:t>∇</m:t>
                    </m:r>
                    <m:r>
                      <a:rPr lang="en-AU" i="1">
                        <a:latin typeface="Cambria Math" panose="02040503050406030204" pitchFamily="18" charset="0"/>
                      </a:rPr>
                      <m:t>𝑓</m:t>
                    </m:r>
                    <m:r>
                      <a:rPr lang="en-AU" i="1">
                        <a:latin typeface="Cambria Math" panose="02040503050406030204" pitchFamily="18" charset="0"/>
                      </a:rPr>
                      <m:t>=</m:t>
                    </m:r>
                    <m:d>
                      <m:dPr>
                        <m:begChr m:val="["/>
                        <m:endChr m:val="]"/>
                        <m:ctrlPr>
                          <a:rPr lang="en-AU" i="1">
                            <a:latin typeface="Cambria Math" panose="02040503050406030204" pitchFamily="18" charset="0"/>
                          </a:rPr>
                        </m:ctrlPr>
                      </m:dPr>
                      <m:e>
                        <m:f>
                          <m:fPr>
                            <m:ctrlPr>
                              <a:rPr lang="en-AU" i="1">
                                <a:latin typeface="Cambria Math" panose="02040503050406030204" pitchFamily="18" charset="0"/>
                              </a:rPr>
                            </m:ctrlPr>
                          </m:fPr>
                          <m:num>
                            <m:r>
                              <a:rPr lang="en-AU" i="1">
                                <a:latin typeface="Cambria Math" panose="02040503050406030204" pitchFamily="18" charset="0"/>
                              </a:rPr>
                              <m:t>𝜕</m:t>
                            </m:r>
                            <m:r>
                              <a:rPr lang="en-AU" i="1">
                                <a:latin typeface="Cambria Math" panose="02040503050406030204" pitchFamily="18" charset="0"/>
                              </a:rPr>
                              <m:t>𝑓</m:t>
                            </m:r>
                          </m:num>
                          <m:den>
                            <m:r>
                              <a:rPr lang="en-AU" i="1">
                                <a:latin typeface="Cambria Math" panose="02040503050406030204" pitchFamily="18" charset="0"/>
                              </a:rPr>
                              <m:t>𝜕</m:t>
                            </m:r>
                            <m:r>
                              <a:rPr lang="en-AU" i="1">
                                <a:latin typeface="Cambria Math" panose="02040503050406030204" pitchFamily="18" charset="0"/>
                              </a:rPr>
                              <m:t>𝑥</m:t>
                            </m:r>
                          </m:den>
                        </m:f>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m:t>
                            </m:r>
                            <m:r>
                              <a:rPr lang="en-AU" i="1">
                                <a:latin typeface="Cambria Math" panose="02040503050406030204" pitchFamily="18" charset="0"/>
                              </a:rPr>
                              <m:t>𝑓</m:t>
                            </m:r>
                          </m:num>
                          <m:den>
                            <m:r>
                              <a:rPr lang="en-AU" i="1">
                                <a:latin typeface="Cambria Math" panose="02040503050406030204" pitchFamily="18" charset="0"/>
                              </a:rPr>
                              <m:t>𝜕</m:t>
                            </m:r>
                            <m:r>
                              <a:rPr lang="en-AU" i="1">
                                <a:latin typeface="Cambria Math" panose="02040503050406030204" pitchFamily="18" charset="0"/>
                              </a:rPr>
                              <m:t>𝑦</m:t>
                            </m:r>
                          </m:den>
                        </m:f>
                      </m:e>
                    </m:d>
                  </m:oMath>
                </a14:m>
                <a:endParaRPr lang="en-AU" dirty="0"/>
              </a:p>
              <a:p>
                <a:pPr marL="742950" lvl="1" indent="-285750"/>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𝐺</m:t>
                        </m:r>
                      </m:e>
                      <m:sub>
                        <m:r>
                          <a:rPr lang="en-AU" i="1">
                            <a:latin typeface="Cambria Math" panose="02040503050406030204" pitchFamily="18" charset="0"/>
                          </a:rPr>
                          <m:t>𝑥</m:t>
                        </m:r>
                      </m:sub>
                    </m:sSub>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m:t>
                        </m:r>
                        <m:r>
                          <a:rPr lang="en-AU" i="1">
                            <a:latin typeface="Cambria Math" panose="02040503050406030204" pitchFamily="18" charset="0"/>
                          </a:rPr>
                          <m:t>𝑓</m:t>
                        </m:r>
                      </m:num>
                      <m:den>
                        <m:r>
                          <a:rPr lang="en-AU" i="1">
                            <a:latin typeface="Cambria Math" panose="02040503050406030204" pitchFamily="18" charset="0"/>
                          </a:rPr>
                          <m:t>𝜕</m:t>
                        </m:r>
                        <m:r>
                          <a:rPr lang="en-AU" i="1">
                            <a:latin typeface="Cambria Math" panose="02040503050406030204" pitchFamily="18" charset="0"/>
                          </a:rPr>
                          <m:t>𝑥</m:t>
                        </m:r>
                      </m:den>
                    </m:f>
                    <m:r>
                      <a:rPr lang="en-AU" i="1">
                        <a:latin typeface="Cambria Math" panose="02040503050406030204" pitchFamily="18" charset="0"/>
                      </a:rPr>
                      <m:t> </m:t>
                    </m:r>
                  </m:oMath>
                </a14:m>
                <a:r>
                  <a:rPr lang="en-AU" dirty="0"/>
                  <a:t>represents the horizontal gradient.</a:t>
                </a:r>
              </a:p>
              <a:p>
                <a:pPr marL="742950" lvl="1" indent="-285750"/>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𝐺</m:t>
                        </m:r>
                      </m:e>
                      <m:sub>
                        <m:r>
                          <a:rPr lang="en-AU" b="0" i="1" smtClean="0">
                            <a:latin typeface="Cambria Math" panose="02040503050406030204" pitchFamily="18" charset="0"/>
                          </a:rPr>
                          <m:t>𝑦</m:t>
                        </m:r>
                      </m:sub>
                    </m:sSub>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m:t>
                        </m:r>
                        <m:r>
                          <a:rPr lang="en-AU" i="1">
                            <a:latin typeface="Cambria Math" panose="02040503050406030204" pitchFamily="18" charset="0"/>
                          </a:rPr>
                          <m:t>𝑓</m:t>
                        </m:r>
                      </m:num>
                      <m:den>
                        <m:r>
                          <a:rPr lang="en-AU" i="1">
                            <a:latin typeface="Cambria Math" panose="02040503050406030204" pitchFamily="18" charset="0"/>
                          </a:rPr>
                          <m:t>𝜕</m:t>
                        </m:r>
                        <m:r>
                          <a:rPr lang="en-AU" i="1">
                            <a:latin typeface="Cambria Math" panose="02040503050406030204" pitchFamily="18" charset="0"/>
                          </a:rPr>
                          <m:t>𝑦</m:t>
                        </m:r>
                      </m:den>
                    </m:f>
                  </m:oMath>
                </a14:m>
                <a:r>
                  <a:rPr lang="en-AU" dirty="0"/>
                  <a:t> represents the vertical gradient.</a:t>
                </a:r>
              </a:p>
              <a:p>
                <a:r>
                  <a:rPr lang="en-AU" dirty="0"/>
                  <a:t>We want edge operator / detector that produces :</a:t>
                </a:r>
              </a:p>
              <a:p>
                <a:pPr lvl="1"/>
                <a:r>
                  <a:rPr lang="en-AU" b="1" dirty="0"/>
                  <a:t>Edge magnitude (strength)</a:t>
                </a:r>
                <a:r>
                  <a:rPr lang="en-AU" dirty="0"/>
                  <a:t>: </a:t>
                </a:r>
                <a14:m>
                  <m:oMath xmlns:m="http://schemas.openxmlformats.org/officeDocument/2006/math">
                    <m:r>
                      <a:rPr lang="en-AU" i="1">
                        <a:latin typeface="Cambria Math" panose="02040503050406030204" pitchFamily="18" charset="0"/>
                      </a:rPr>
                      <m:t>𝐺</m:t>
                    </m:r>
                    <m:r>
                      <a:rPr lang="en-AU" i="1">
                        <a:latin typeface="Cambria Math" panose="02040503050406030204" pitchFamily="18" charset="0"/>
                      </a:rPr>
                      <m:t>=</m:t>
                    </m:r>
                    <m:rad>
                      <m:radPr>
                        <m:degHide m:val="on"/>
                        <m:ctrlPr>
                          <a:rPr lang="en-AU" i="1">
                            <a:latin typeface="Cambria Math" panose="02040503050406030204" pitchFamily="18" charset="0"/>
                          </a:rPr>
                        </m:ctrlPr>
                      </m:radPr>
                      <m:deg/>
                      <m:e>
                        <m:sSubSup>
                          <m:sSubSupPr>
                            <m:ctrlPr>
                              <a:rPr lang="en-AU" i="1">
                                <a:latin typeface="Cambria Math" panose="02040503050406030204" pitchFamily="18" charset="0"/>
                              </a:rPr>
                            </m:ctrlPr>
                          </m:sSubSupPr>
                          <m:e>
                            <m:r>
                              <a:rPr lang="en-AU" i="1">
                                <a:latin typeface="Cambria Math" panose="02040503050406030204" pitchFamily="18" charset="0"/>
                              </a:rPr>
                              <m:t>𝐺</m:t>
                            </m:r>
                          </m:e>
                          <m:sub>
                            <m:r>
                              <a:rPr lang="en-AU" i="1">
                                <a:latin typeface="Cambria Math" panose="02040503050406030204" pitchFamily="18" charset="0"/>
                              </a:rPr>
                              <m:t>𝑥</m:t>
                            </m:r>
                          </m:sub>
                          <m:sup>
                            <m:r>
                              <a:rPr lang="en-AU" i="1">
                                <a:latin typeface="Cambria Math" panose="02040503050406030204" pitchFamily="18" charset="0"/>
                              </a:rPr>
                              <m:t>2</m:t>
                            </m:r>
                          </m:sup>
                        </m:sSubSup>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𝐺</m:t>
                            </m:r>
                          </m:e>
                          <m:sub>
                            <m:r>
                              <a:rPr lang="en-AU" i="1">
                                <a:latin typeface="Cambria Math" panose="02040503050406030204" pitchFamily="18" charset="0"/>
                              </a:rPr>
                              <m:t>𝑦</m:t>
                            </m:r>
                          </m:sub>
                          <m:sup>
                            <m:r>
                              <a:rPr lang="en-AU" i="1">
                                <a:latin typeface="Cambria Math" panose="02040503050406030204" pitchFamily="18" charset="0"/>
                              </a:rPr>
                              <m:t>2</m:t>
                            </m:r>
                          </m:sup>
                        </m:sSubSup>
                      </m:e>
                    </m:rad>
                  </m:oMath>
                </a14:m>
                <a:endParaRPr lang="en-AU" dirty="0"/>
              </a:p>
              <a:p>
                <a:pPr lvl="1"/>
                <a:r>
                  <a:rPr lang="en-AU" b="1" dirty="0"/>
                  <a:t>Edge orientation (direction): </a:t>
                </a:r>
                <a14:m>
                  <m:oMath xmlns:m="http://schemas.openxmlformats.org/officeDocument/2006/math">
                    <m:r>
                      <a:rPr lang="en-AU" i="1">
                        <a:latin typeface="Cambria Math" panose="02040503050406030204" pitchFamily="18" charset="0"/>
                        <a:ea typeface="Cambria Math" panose="02040503050406030204" pitchFamily="18" charset="0"/>
                      </a:rPr>
                      <m:t>𝜃</m:t>
                    </m:r>
                    <m:r>
                      <a:rPr lang="en-AU" i="1">
                        <a:latin typeface="Cambria Math" panose="02040503050406030204" pitchFamily="18" charset="0"/>
                        <a:ea typeface="Cambria Math" panose="02040503050406030204" pitchFamily="18" charset="0"/>
                      </a:rPr>
                      <m:t>=</m:t>
                    </m:r>
                    <m:r>
                      <m:rPr>
                        <m:sty m:val="p"/>
                      </m:rPr>
                      <a:rPr lang="en-AU" i="1">
                        <a:latin typeface="Cambria Math" panose="02040503050406030204" pitchFamily="18" charset="0"/>
                        <a:ea typeface="Cambria Math" panose="02040503050406030204" pitchFamily="18" charset="0"/>
                      </a:rPr>
                      <m:t>arctan</m:t>
                    </m:r>
                    <m:r>
                      <a:rPr lang="en-AU" i="1">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𝐺</m:t>
                        </m:r>
                      </m:e>
                      <m:sub>
                        <m:r>
                          <a:rPr lang="en-AU" i="1">
                            <a:latin typeface="Cambria Math" panose="02040503050406030204" pitchFamily="18" charset="0"/>
                            <a:ea typeface="Cambria Math" panose="02040503050406030204" pitchFamily="18" charset="0"/>
                          </a:rPr>
                          <m:t>𝑦</m:t>
                        </m:r>
                      </m:sub>
                    </m:sSub>
                    <m:r>
                      <a:rPr lang="en-AU" i="1">
                        <a:latin typeface="Cambria Math" panose="02040503050406030204" pitchFamily="18" charset="0"/>
                        <a:ea typeface="Cambria Math" panose="02040503050406030204" pitchFamily="18" charset="0"/>
                      </a:rPr>
                      <m:t>, </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𝐺</m:t>
                        </m:r>
                      </m:e>
                      <m:sub>
                        <m:r>
                          <a:rPr lang="en-AU" i="1">
                            <a:latin typeface="Cambria Math" panose="02040503050406030204" pitchFamily="18" charset="0"/>
                            <a:ea typeface="Cambria Math" panose="02040503050406030204" pitchFamily="18" charset="0"/>
                          </a:rPr>
                          <m:t>𝑥</m:t>
                        </m:r>
                      </m:sub>
                    </m:sSub>
                    <m:r>
                      <a:rPr lang="en-AU" i="1">
                        <a:latin typeface="Cambria Math" panose="02040503050406030204" pitchFamily="18" charset="0"/>
                        <a:ea typeface="Cambria Math" panose="02040503050406030204" pitchFamily="18" charset="0"/>
                      </a:rPr>
                      <m:t>)  </m:t>
                    </m:r>
                  </m:oMath>
                </a14:m>
                <a:endParaRPr lang="en-AU" b="1" dirty="0"/>
              </a:p>
              <a:p>
                <a:endParaRPr lang="en-US" dirty="0"/>
              </a:p>
            </p:txBody>
          </p:sp>
        </mc:Choice>
        <mc:Fallback>
          <p:sp>
            <p:nvSpPr>
              <p:cNvPr id="3" name="Content Placeholder 2">
                <a:extLst>
                  <a:ext uri="{FF2B5EF4-FFF2-40B4-BE49-F238E27FC236}">
                    <a16:creationId xmlns:a16="http://schemas.microsoft.com/office/drawing/2014/main" id="{85F40DB0-4828-0E42-DACB-53E603088BDD}"/>
                  </a:ext>
                </a:extLst>
              </p:cNvPr>
              <p:cNvSpPr>
                <a:spLocks noGrp="1" noRot="1" noChangeAspect="1" noMove="1" noResize="1" noEditPoints="1" noAdjustHandles="1" noChangeArrowheads="1" noChangeShapeType="1" noTextEdit="1"/>
              </p:cNvSpPr>
              <p:nvPr>
                <p:ph idx="1"/>
              </p:nvPr>
            </p:nvSpPr>
            <p:spPr>
              <a:xfrm>
                <a:off x="838200" y="1825625"/>
                <a:ext cx="10515600" cy="3646707"/>
              </a:xfrm>
              <a:blipFill>
                <a:blip r:embed="rId2"/>
                <a:stretch>
                  <a:fillRect l="-10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12BC5E7-0BAC-B2CA-3C2A-B0FBDC04F5FC}"/>
                  </a:ext>
                </a:extLst>
              </p:cNvPr>
              <p:cNvSpPr txBox="1"/>
              <p:nvPr/>
            </p:nvSpPr>
            <p:spPr>
              <a:xfrm>
                <a:off x="556855" y="5607269"/>
                <a:ext cx="11078289" cy="562718"/>
              </a:xfrm>
              <a:prstGeom prst="rect">
                <a:avLst/>
              </a:prstGeom>
              <a:noFill/>
            </p:spPr>
            <p:txBody>
              <a:bodyPr wrap="none" rtlCol="0">
                <a:spAutoFit/>
              </a:bodyPr>
              <a:lstStyle/>
              <a:p>
                <a:r>
                  <a:rPr lang="en-US" sz="2800" b="1" dirty="0">
                    <a:solidFill>
                      <a:srgbClr val="FF0000"/>
                    </a:solidFill>
                  </a:rPr>
                  <a:t>Q: How do we apply </a:t>
                </a:r>
                <a14:m>
                  <m:oMath xmlns:m="http://schemas.openxmlformats.org/officeDocument/2006/math">
                    <m:r>
                      <a:rPr lang="en-AU" sz="2800" b="1" i="1">
                        <a:solidFill>
                          <a:srgbClr val="FF0000"/>
                        </a:solidFill>
                        <a:latin typeface="Cambria Math" panose="02040503050406030204" pitchFamily="18" charset="0"/>
                      </a:rPr>
                      <m:t>𝛁</m:t>
                    </m:r>
                    <m:r>
                      <a:rPr lang="en-AU" sz="2800" b="1" i="1">
                        <a:solidFill>
                          <a:srgbClr val="FF0000"/>
                        </a:solidFill>
                        <a:latin typeface="Cambria Math" panose="02040503050406030204" pitchFamily="18" charset="0"/>
                      </a:rPr>
                      <m:t>𝒇</m:t>
                    </m:r>
                  </m:oMath>
                </a14:m>
                <a:r>
                  <a:rPr lang="en-US" sz="2800" b="1" dirty="0">
                    <a:solidFill>
                      <a:srgbClr val="FF0000"/>
                    </a:solidFill>
                  </a:rPr>
                  <a:t> to an image??  It has two components </a:t>
                </a:r>
                <a14:m>
                  <m:oMath xmlns:m="http://schemas.openxmlformats.org/officeDocument/2006/math">
                    <m:sSub>
                      <m:sSubPr>
                        <m:ctrlPr>
                          <a:rPr lang="en-AU" sz="2800" b="1" i="1">
                            <a:solidFill>
                              <a:srgbClr val="FF0000"/>
                            </a:solidFill>
                            <a:latin typeface="Cambria Math" panose="02040503050406030204" pitchFamily="18" charset="0"/>
                          </a:rPr>
                        </m:ctrlPr>
                      </m:sSubPr>
                      <m:e>
                        <m:r>
                          <a:rPr lang="en-AU" sz="2800" b="1" i="1">
                            <a:solidFill>
                              <a:srgbClr val="FF0000"/>
                            </a:solidFill>
                            <a:latin typeface="Cambria Math" panose="02040503050406030204" pitchFamily="18" charset="0"/>
                          </a:rPr>
                          <m:t>𝑮</m:t>
                        </m:r>
                      </m:e>
                      <m:sub>
                        <m:r>
                          <a:rPr lang="en-AU" sz="2800" b="1" i="1">
                            <a:solidFill>
                              <a:srgbClr val="FF0000"/>
                            </a:solidFill>
                            <a:latin typeface="Cambria Math" panose="02040503050406030204" pitchFamily="18" charset="0"/>
                          </a:rPr>
                          <m:t>𝒙</m:t>
                        </m:r>
                      </m:sub>
                    </m:sSub>
                  </m:oMath>
                </a14:m>
                <a:r>
                  <a:rPr lang="en-US" sz="2800" b="1" dirty="0">
                    <a:solidFill>
                      <a:srgbClr val="FF0000"/>
                    </a:solidFill>
                  </a:rPr>
                  <a:t> and </a:t>
                </a:r>
                <a14:m>
                  <m:oMath xmlns:m="http://schemas.openxmlformats.org/officeDocument/2006/math">
                    <m:sSub>
                      <m:sSubPr>
                        <m:ctrlPr>
                          <a:rPr lang="en-AU" sz="2800" b="1" i="1">
                            <a:solidFill>
                              <a:srgbClr val="FF0000"/>
                            </a:solidFill>
                            <a:latin typeface="Cambria Math" panose="02040503050406030204" pitchFamily="18" charset="0"/>
                          </a:rPr>
                        </m:ctrlPr>
                      </m:sSubPr>
                      <m:e>
                        <m:r>
                          <a:rPr lang="en-AU" sz="2800" b="1" i="1">
                            <a:solidFill>
                              <a:srgbClr val="FF0000"/>
                            </a:solidFill>
                            <a:latin typeface="Cambria Math" panose="02040503050406030204" pitchFamily="18" charset="0"/>
                          </a:rPr>
                          <m:t>𝑮</m:t>
                        </m:r>
                      </m:e>
                      <m:sub>
                        <m:r>
                          <a:rPr lang="en-AU" sz="2800" b="1" i="1" smtClean="0">
                            <a:solidFill>
                              <a:srgbClr val="FF0000"/>
                            </a:solidFill>
                            <a:latin typeface="Cambria Math" panose="02040503050406030204" pitchFamily="18" charset="0"/>
                          </a:rPr>
                          <m:t>𝒚</m:t>
                        </m:r>
                      </m:sub>
                    </m:sSub>
                  </m:oMath>
                </a14:m>
                <a:endParaRPr lang="en-US" sz="2800" b="1" dirty="0">
                  <a:solidFill>
                    <a:srgbClr val="FF0000"/>
                  </a:solidFill>
                </a:endParaRPr>
              </a:p>
            </p:txBody>
          </p:sp>
        </mc:Choice>
        <mc:Fallback>
          <p:sp>
            <p:nvSpPr>
              <p:cNvPr id="4" name="TextBox 3">
                <a:extLst>
                  <a:ext uri="{FF2B5EF4-FFF2-40B4-BE49-F238E27FC236}">
                    <a16:creationId xmlns:a16="http://schemas.microsoft.com/office/drawing/2014/main" id="{312BC5E7-0BAC-B2CA-3C2A-B0FBDC04F5FC}"/>
                  </a:ext>
                </a:extLst>
              </p:cNvPr>
              <p:cNvSpPr txBox="1">
                <a:spLocks noRot="1" noChangeAspect="1" noMove="1" noResize="1" noEditPoints="1" noAdjustHandles="1" noChangeArrowheads="1" noChangeShapeType="1" noTextEdit="1"/>
              </p:cNvSpPr>
              <p:nvPr/>
            </p:nvSpPr>
            <p:spPr>
              <a:xfrm>
                <a:off x="556855" y="5607269"/>
                <a:ext cx="11078289" cy="562718"/>
              </a:xfrm>
              <a:prstGeom prst="rect">
                <a:avLst/>
              </a:prstGeom>
              <a:blipFill>
                <a:blip r:embed="rId3"/>
                <a:stretch>
                  <a:fillRect l="-1144" t="-8889" b="-24444"/>
                </a:stretch>
              </a:blipFill>
            </p:spPr>
            <p:txBody>
              <a:bodyPr/>
              <a:lstStyle/>
              <a:p>
                <a:r>
                  <a:rPr lang="en-US">
                    <a:noFill/>
                  </a:rPr>
                  <a:t> </a:t>
                </a:r>
              </a:p>
            </p:txBody>
          </p:sp>
        </mc:Fallback>
      </mc:AlternateContent>
    </p:spTree>
    <p:extLst>
      <p:ext uri="{BB962C8B-B14F-4D97-AF65-F5344CB8AC3E}">
        <p14:creationId xmlns:p14="http://schemas.microsoft.com/office/powerpoint/2010/main" val="1353767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C0582C7-1A6A-7D5E-860E-C32B3C5AF098}"/>
              </a:ext>
            </a:extLst>
          </p:cNvPr>
          <p:cNvSpPr/>
          <p:nvPr/>
        </p:nvSpPr>
        <p:spPr>
          <a:xfrm>
            <a:off x="1955800" y="1727200"/>
            <a:ext cx="8661400" cy="7620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93AC21-0404-1A9C-897A-646DF84D6226}"/>
              </a:ext>
            </a:extLst>
          </p:cNvPr>
          <p:cNvSpPr>
            <a:spLocks noGrp="1"/>
          </p:cNvSpPr>
          <p:nvPr>
            <p:ph type="title"/>
          </p:nvPr>
        </p:nvSpPr>
        <p:spPr>
          <a:xfrm>
            <a:off x="838200" y="365125"/>
            <a:ext cx="10515600" cy="816561"/>
          </a:xfrm>
        </p:spPr>
        <p:txBody>
          <a:bodyPr/>
          <a:lstStyle/>
          <a:p>
            <a:r>
              <a:rPr lang="en-US" b="1" dirty="0"/>
              <a:t>Gradient application </a:t>
            </a:r>
            <a:r>
              <a:rPr lang="en-AU" b="1" dirty="0"/>
              <a:t>Pipeline</a:t>
            </a:r>
            <a:endParaRPr lang="en-US" dirty="0"/>
          </a:p>
        </p:txBody>
      </p:sp>
      <p:sp>
        <p:nvSpPr>
          <p:cNvPr id="5" name="Rectangle 4">
            <a:extLst>
              <a:ext uri="{FF2B5EF4-FFF2-40B4-BE49-F238E27FC236}">
                <a16:creationId xmlns:a16="http://schemas.microsoft.com/office/drawing/2014/main" id="{1646EC05-A32B-2961-B300-B205F8B61A93}"/>
              </a:ext>
            </a:extLst>
          </p:cNvPr>
          <p:cNvSpPr/>
          <p:nvPr/>
        </p:nvSpPr>
        <p:spPr>
          <a:xfrm>
            <a:off x="1739900" y="2946400"/>
            <a:ext cx="9105900" cy="7620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C9F994B-7313-021E-D17B-03D709029A9A}"/>
                  </a:ext>
                </a:extLst>
              </p:cNvPr>
              <p:cNvSpPr>
                <a:spLocks noGrp="1"/>
              </p:cNvSpPr>
              <p:nvPr>
                <p:ph idx="1"/>
              </p:nvPr>
            </p:nvSpPr>
            <p:spPr>
              <a:xfrm>
                <a:off x="838200" y="1392702"/>
                <a:ext cx="10934700" cy="5223998"/>
              </a:xfrm>
            </p:spPr>
            <p:txBody>
              <a:bodyPr>
                <a:normAutofit fontScale="85000" lnSpcReduction="20000"/>
              </a:bodyPr>
              <a:lstStyle/>
              <a:p>
                <a:r>
                  <a:rPr lang="en-AU" b="1" dirty="0"/>
                  <a:t>Convolve with </a:t>
                </a:r>
                <a14:m>
                  <m:oMath xmlns:m="http://schemas.openxmlformats.org/officeDocument/2006/math">
                    <m:sSub>
                      <m:sSubPr>
                        <m:ctrlPr>
                          <a:rPr lang="en-AU" b="1" i="1" dirty="0" smtClean="0">
                            <a:latin typeface="Cambria Math" panose="02040503050406030204" pitchFamily="18" charset="0"/>
                          </a:rPr>
                        </m:ctrlPr>
                      </m:sSubPr>
                      <m:e>
                        <m:r>
                          <a:rPr lang="en-AU" b="1" i="1" dirty="0" smtClean="0">
                            <a:latin typeface="Cambria Math" panose="02040503050406030204" pitchFamily="18" charset="0"/>
                          </a:rPr>
                          <m:t>𝑲</m:t>
                        </m:r>
                      </m:e>
                      <m:sub>
                        <m:r>
                          <a:rPr lang="en-AU" b="1" i="1" dirty="0" smtClean="0">
                            <a:latin typeface="Cambria Math" panose="02040503050406030204" pitchFamily="18" charset="0"/>
                          </a:rPr>
                          <m:t>𝒙</m:t>
                        </m:r>
                      </m:sub>
                    </m:sSub>
                  </m:oMath>
                </a14:m>
                <a:r>
                  <a:rPr lang="en-AU" b="1" dirty="0"/>
                  <a:t> (Horizontal Gradient): </a:t>
                </a:r>
                <a:r>
                  <a:rPr lang="en-AU" i="1" dirty="0"/>
                  <a:t>First Spatial Pass</a:t>
                </a:r>
                <a:r>
                  <a:rPr lang="en-AU" dirty="0"/>
                  <a:t>.</a:t>
                </a:r>
              </a:p>
              <a:p>
                <a:pPr marL="0" indent="0" algn="ctr">
                  <a:buNone/>
                </a:pPr>
                <a14:m>
                  <m:oMath xmlns:m="http://schemas.openxmlformats.org/officeDocument/2006/math">
                    <m:sSub>
                      <m:sSubPr>
                        <m:ctrlPr>
                          <a:rPr lang="en-AU" sz="3100" b="0" i="1" smtClean="0">
                            <a:latin typeface="Cambria Math" panose="02040503050406030204" pitchFamily="18" charset="0"/>
                          </a:rPr>
                        </m:ctrlPr>
                      </m:sSubPr>
                      <m:e>
                        <m:r>
                          <a:rPr lang="en-AU" sz="3100" b="0" i="1" smtClean="0">
                            <a:latin typeface="Cambria Math" panose="02040503050406030204" pitchFamily="18" charset="0"/>
                          </a:rPr>
                          <m:t>𝐺</m:t>
                        </m:r>
                      </m:e>
                      <m:sub>
                        <m:r>
                          <a:rPr lang="en-AU" sz="3100" b="0" i="1" smtClean="0">
                            <a:latin typeface="Cambria Math" panose="02040503050406030204" pitchFamily="18" charset="0"/>
                          </a:rPr>
                          <m:t>𝑥</m:t>
                        </m:r>
                      </m:sub>
                    </m:sSub>
                    <m:r>
                      <a:rPr lang="en-AU" sz="3100" b="0" i="1" smtClean="0">
                        <a:latin typeface="Cambria Math" panose="02040503050406030204" pitchFamily="18" charset="0"/>
                      </a:rPr>
                      <m:t>=</m:t>
                    </m:r>
                    <m:r>
                      <a:rPr lang="en-AU" sz="3100" b="0" i="1" smtClean="0">
                        <a:latin typeface="Cambria Math" panose="02040503050406030204" pitchFamily="18" charset="0"/>
                      </a:rPr>
                      <m:t>𝐼</m:t>
                    </m:r>
                    <m:r>
                      <a:rPr lang="en-AU" sz="3100" b="0" i="1" smtClean="0">
                        <a:latin typeface="Cambria Math" panose="02040503050406030204" pitchFamily="18" charset="0"/>
                      </a:rPr>
                      <m:t>∗</m:t>
                    </m:r>
                    <m:sSub>
                      <m:sSubPr>
                        <m:ctrlPr>
                          <a:rPr lang="en-AU" sz="3100" b="0" i="1" smtClean="0">
                            <a:latin typeface="Cambria Math" panose="02040503050406030204" pitchFamily="18" charset="0"/>
                          </a:rPr>
                        </m:ctrlPr>
                      </m:sSubPr>
                      <m:e>
                        <m:r>
                          <a:rPr lang="en-AU" sz="3100" b="0" i="1" smtClean="0">
                            <a:latin typeface="Cambria Math" panose="02040503050406030204" pitchFamily="18" charset="0"/>
                          </a:rPr>
                          <m:t>𝐾</m:t>
                        </m:r>
                      </m:e>
                      <m:sub>
                        <m:r>
                          <a:rPr lang="en-AU" sz="3100" b="0" i="1" smtClean="0">
                            <a:latin typeface="Cambria Math" panose="02040503050406030204" pitchFamily="18" charset="0"/>
                          </a:rPr>
                          <m:t>𝑥</m:t>
                        </m:r>
                      </m:sub>
                    </m:sSub>
                  </m:oMath>
                </a14:m>
                <a:r>
                  <a:rPr lang="en-AU" sz="3100" dirty="0"/>
                  <a:t> - highlights </a:t>
                </a:r>
                <a:r>
                  <a:rPr lang="en-AU" sz="3100" b="1" dirty="0"/>
                  <a:t>vertical edges</a:t>
                </a:r>
                <a:r>
                  <a:rPr lang="en-AU" sz="3100" dirty="0"/>
                  <a:t> (where intensity changes </a:t>
                </a:r>
              </a:p>
              <a:p>
                <a:pPr marL="0" indent="0" algn="ctr">
                  <a:buNone/>
                </a:pPr>
                <a:r>
                  <a:rPr lang="en-AU" sz="3100" dirty="0"/>
                  <a:t>drastically left-to-right).</a:t>
                </a:r>
              </a:p>
              <a:p>
                <a:r>
                  <a:rPr lang="en-AU" b="1" dirty="0"/>
                  <a:t>Convolve with Ky (Vertical Gradient): </a:t>
                </a:r>
                <a:r>
                  <a:rPr lang="en-AU" i="1" dirty="0"/>
                  <a:t>Second Spatial Pass</a:t>
                </a:r>
                <a:r>
                  <a:rPr lang="en-AU" dirty="0"/>
                  <a:t>.</a:t>
                </a:r>
              </a:p>
              <a:p>
                <a:pPr marL="0" indent="0" algn="ctr">
                  <a:buNone/>
                </a:pPr>
                <a14:m>
                  <m:oMath xmlns:m="http://schemas.openxmlformats.org/officeDocument/2006/math">
                    <m:sSub>
                      <m:sSubPr>
                        <m:ctrlPr>
                          <a:rPr lang="en-AU" sz="3100" i="1">
                            <a:latin typeface="Cambria Math" panose="02040503050406030204" pitchFamily="18" charset="0"/>
                          </a:rPr>
                        </m:ctrlPr>
                      </m:sSubPr>
                      <m:e>
                        <m:r>
                          <a:rPr lang="en-AU" sz="3100" i="1">
                            <a:latin typeface="Cambria Math" panose="02040503050406030204" pitchFamily="18" charset="0"/>
                          </a:rPr>
                          <m:t>𝐺</m:t>
                        </m:r>
                      </m:e>
                      <m:sub>
                        <m:r>
                          <a:rPr lang="en-AU" sz="3100" b="0" i="1" smtClean="0">
                            <a:latin typeface="Cambria Math" panose="02040503050406030204" pitchFamily="18" charset="0"/>
                          </a:rPr>
                          <m:t>𝑦</m:t>
                        </m:r>
                      </m:sub>
                    </m:sSub>
                    <m:r>
                      <a:rPr lang="en-AU" sz="3100" i="1">
                        <a:latin typeface="Cambria Math" panose="02040503050406030204" pitchFamily="18" charset="0"/>
                      </a:rPr>
                      <m:t>=</m:t>
                    </m:r>
                    <m:r>
                      <a:rPr lang="en-AU" sz="3100" i="1">
                        <a:latin typeface="Cambria Math" panose="02040503050406030204" pitchFamily="18" charset="0"/>
                      </a:rPr>
                      <m:t>𝐼</m:t>
                    </m:r>
                    <m:r>
                      <a:rPr lang="en-AU" sz="3100" i="1">
                        <a:latin typeface="Cambria Math" panose="02040503050406030204" pitchFamily="18" charset="0"/>
                      </a:rPr>
                      <m:t>∗</m:t>
                    </m:r>
                    <m:sSub>
                      <m:sSubPr>
                        <m:ctrlPr>
                          <a:rPr lang="en-AU" sz="3100" i="1">
                            <a:latin typeface="Cambria Math" panose="02040503050406030204" pitchFamily="18" charset="0"/>
                          </a:rPr>
                        </m:ctrlPr>
                      </m:sSubPr>
                      <m:e>
                        <m:r>
                          <a:rPr lang="en-AU" sz="3100" i="1">
                            <a:latin typeface="Cambria Math" panose="02040503050406030204" pitchFamily="18" charset="0"/>
                          </a:rPr>
                          <m:t>𝐾</m:t>
                        </m:r>
                      </m:e>
                      <m:sub>
                        <m:r>
                          <a:rPr lang="en-AU" sz="3100" b="0" i="1" smtClean="0">
                            <a:latin typeface="Cambria Math" panose="02040503050406030204" pitchFamily="18" charset="0"/>
                          </a:rPr>
                          <m:t>𝑦</m:t>
                        </m:r>
                      </m:sub>
                    </m:sSub>
                  </m:oMath>
                </a14:m>
                <a:r>
                  <a:rPr lang="en-AU" sz="3100" dirty="0"/>
                  <a:t> - highlights </a:t>
                </a:r>
                <a:r>
                  <a:rPr lang="en-AU" sz="3100" b="1" dirty="0"/>
                  <a:t>horizontal edges</a:t>
                </a:r>
                <a:r>
                  <a:rPr lang="en-AU" sz="3100" dirty="0"/>
                  <a:t> (where intensity changes </a:t>
                </a:r>
              </a:p>
              <a:p>
                <a:pPr marL="0" indent="0" algn="ctr">
                  <a:buNone/>
                </a:pPr>
                <a:r>
                  <a:rPr lang="en-AU" sz="3100" dirty="0"/>
                  <a:t>drastically top-to-bottom).</a:t>
                </a:r>
              </a:p>
              <a:p>
                <a:r>
                  <a:rPr lang="en-AU" b="1" dirty="0"/>
                  <a:t>Combine Pixel-by-Pixel for Gradient Magnitude: </a:t>
                </a:r>
                <a:r>
                  <a:rPr lang="en-AU" dirty="0"/>
                  <a:t>Vector Composition.</a:t>
                </a:r>
              </a:p>
              <a:p>
                <a:r>
                  <a:rPr lang="en-AU" dirty="0"/>
                  <a:t>For every pixel coordinate </a:t>
                </a:r>
                <a14:m>
                  <m:oMath xmlns:m="http://schemas.openxmlformats.org/officeDocument/2006/math">
                    <m:d>
                      <m:dPr>
                        <m:ctrlPr>
                          <a:rPr lang="en-US" i="1"/>
                        </m:ctrlPr>
                      </m:dPr>
                      <m:e>
                        <m:r>
                          <a:rPr lang="en-US" i="1"/>
                          <m:t>𝑥</m:t>
                        </m:r>
                        <m:r>
                          <a:rPr lang="en-US"/>
                          <m:t>,</m:t>
                        </m:r>
                        <m:r>
                          <a:rPr lang="en-US" i="1"/>
                          <m:t>𝑦</m:t>
                        </m:r>
                      </m:e>
                    </m:d>
                  </m:oMath>
                </a14:m>
                <a:r>
                  <a:rPr lang="en-AU" dirty="0"/>
                  <a:t>, calculate the total edge strength using the Euclidean norm:</a:t>
                </a:r>
              </a:p>
              <a:p>
                <a:pPr marL="0" indent="0">
                  <a:buNone/>
                </a:pPr>
                <a14:m>
                  <m:oMathPara xmlns:m="http://schemas.openxmlformats.org/officeDocument/2006/math">
                    <m:oMath>
                      <m:r>
                        <a:rPr lang="en-US" i="1"/>
                        <m:t>𝐺</m:t>
                      </m:r>
                      <m:d>
                        <m:dPr>
                          <m:ctrlPr>
                            <a:rPr lang="en-US" i="1"/>
                          </m:ctrlPr>
                        </m:dPr>
                        <m:e>
                          <m:r>
                            <a:rPr lang="en-US" i="1"/>
                            <m:t>𝑥</m:t>
                          </m:r>
                          <m:r>
                            <a:rPr lang="en-US"/>
                            <m:t>,</m:t>
                          </m:r>
                          <m:r>
                            <a:rPr lang="en-US" i="1"/>
                            <m:t>𝑦</m:t>
                          </m:r>
                        </m:e>
                      </m:d>
                      <m:r>
                        <a:rPr lang="en-US"/>
                        <m:t>=</m:t>
                      </m:r>
                      <m:rad>
                        <m:radPr>
                          <m:degHide m:val="on"/>
                          <m:ctrlPr>
                            <a:rPr lang="en-US" i="1"/>
                          </m:ctrlPr>
                        </m:radPr>
                        <m:deg/>
                        <m:e>
                          <m:sSub>
                            <m:sSubPr>
                              <m:ctrlPr>
                                <a:rPr lang="en-US" i="1"/>
                              </m:ctrlPr>
                            </m:sSubPr>
                            <m:e>
                              <m:r>
                                <a:rPr lang="en-US" i="1"/>
                                <m:t>𝐺</m:t>
                              </m:r>
                            </m:e>
                            <m:sub>
                              <m:r>
                                <a:rPr lang="en-US" i="1"/>
                                <m:t>𝑥</m:t>
                              </m:r>
                            </m:sub>
                          </m:sSub>
                          <m:sSup>
                            <m:sSupPr>
                              <m:ctrlPr>
                                <a:rPr lang="en-US" i="1"/>
                              </m:ctrlPr>
                            </m:sSupPr>
                            <m:e>
                              <m:d>
                                <m:dPr>
                                  <m:ctrlPr>
                                    <a:rPr lang="en-US" i="1"/>
                                  </m:ctrlPr>
                                </m:dPr>
                                <m:e>
                                  <m:r>
                                    <a:rPr lang="en-US" i="1"/>
                                    <m:t>𝑥</m:t>
                                  </m:r>
                                  <m:r>
                                    <a:rPr lang="en-US"/>
                                    <m:t>,</m:t>
                                  </m:r>
                                  <m:r>
                                    <a:rPr lang="en-US" i="1"/>
                                    <m:t>𝑦</m:t>
                                  </m:r>
                                </m:e>
                              </m:d>
                            </m:e>
                            <m:sup>
                              <m:r>
                                <a:rPr lang="en-US"/>
                                <m:t>2</m:t>
                              </m:r>
                            </m:sup>
                          </m:sSup>
                          <m:r>
                            <a:rPr lang="en-US"/>
                            <m:t>+</m:t>
                          </m:r>
                          <m:sSub>
                            <m:sSubPr>
                              <m:ctrlPr>
                                <a:rPr lang="en-US" i="1"/>
                              </m:ctrlPr>
                            </m:sSubPr>
                            <m:e>
                              <m:r>
                                <a:rPr lang="en-US" i="1"/>
                                <m:t>𝐺</m:t>
                              </m:r>
                            </m:e>
                            <m:sub>
                              <m:r>
                                <a:rPr lang="en-US" i="1"/>
                                <m:t>𝑦</m:t>
                              </m:r>
                            </m:sub>
                          </m:sSub>
                          <m:sSup>
                            <m:sSupPr>
                              <m:ctrlPr>
                                <a:rPr lang="en-US" i="1"/>
                              </m:ctrlPr>
                            </m:sSupPr>
                            <m:e>
                              <m:d>
                                <m:dPr>
                                  <m:ctrlPr>
                                    <a:rPr lang="en-US" i="1"/>
                                  </m:ctrlPr>
                                </m:dPr>
                                <m:e>
                                  <m:r>
                                    <a:rPr lang="en-US" i="1"/>
                                    <m:t>𝑥</m:t>
                                  </m:r>
                                  <m:r>
                                    <a:rPr lang="en-US"/>
                                    <m:t>,</m:t>
                                  </m:r>
                                  <m:r>
                                    <a:rPr lang="en-US" i="1"/>
                                    <m:t>𝑦</m:t>
                                  </m:r>
                                </m:e>
                              </m:d>
                            </m:e>
                            <m:sup>
                              <m:r>
                                <a:rPr lang="en-US"/>
                                <m:t>2</m:t>
                              </m:r>
                            </m:sup>
                          </m:sSup>
                        </m:e>
                      </m:rad>
                    </m:oMath>
                  </m:oMathPara>
                </a14:m>
                <a:endParaRPr lang="en-AU" dirty="0"/>
              </a:p>
              <a:p>
                <a:r>
                  <a:rPr lang="en-AU" dirty="0"/>
                  <a:t>Alternatively, for faster performance, an absolute value approximation is often used:</a:t>
                </a:r>
              </a:p>
              <a:p>
                <a:pPr marL="0" indent="0">
                  <a:buNone/>
                </a:pPr>
                <a14:m>
                  <m:oMathPara xmlns:m="http://schemas.openxmlformats.org/officeDocument/2006/math">
                    <m:oMath>
                      <m:r>
                        <a:rPr lang="en-US" i="1"/>
                        <m:t>𝐺</m:t>
                      </m:r>
                      <m:d>
                        <m:dPr>
                          <m:ctrlPr>
                            <a:rPr lang="en-US" i="1"/>
                          </m:ctrlPr>
                        </m:dPr>
                        <m:e>
                          <m:r>
                            <a:rPr lang="en-US" i="1"/>
                            <m:t>𝑥</m:t>
                          </m:r>
                          <m:r>
                            <a:rPr lang="en-US"/>
                            <m:t>,</m:t>
                          </m:r>
                          <m:r>
                            <a:rPr lang="en-US" i="1"/>
                            <m:t>𝑦</m:t>
                          </m:r>
                        </m:e>
                      </m:d>
                      <m:r>
                        <a:rPr lang="en-US"/>
                        <m:t>≈|</m:t>
                      </m:r>
                      <m:sSub>
                        <m:sSubPr>
                          <m:ctrlPr>
                            <a:rPr lang="en-US" i="1"/>
                          </m:ctrlPr>
                        </m:sSubPr>
                        <m:e>
                          <m:r>
                            <a:rPr lang="en-US" i="1"/>
                            <m:t>𝐺</m:t>
                          </m:r>
                        </m:e>
                        <m:sub>
                          <m:r>
                            <a:rPr lang="en-US" i="1"/>
                            <m:t>𝑥</m:t>
                          </m:r>
                        </m:sub>
                      </m:sSub>
                      <m:d>
                        <m:dPr>
                          <m:ctrlPr>
                            <a:rPr lang="en-US" i="1"/>
                          </m:ctrlPr>
                        </m:dPr>
                        <m:e>
                          <m:r>
                            <a:rPr lang="en-US" i="1"/>
                            <m:t>𝑥</m:t>
                          </m:r>
                          <m:r>
                            <a:rPr lang="en-US"/>
                            <m:t>,</m:t>
                          </m:r>
                          <m:r>
                            <a:rPr lang="en-US" i="1"/>
                            <m:t>𝑦</m:t>
                          </m:r>
                        </m:e>
                      </m:d>
                      <m:r>
                        <a:rPr lang="en-US"/>
                        <m:t>|+|</m:t>
                      </m:r>
                      <m:sSub>
                        <m:sSubPr>
                          <m:ctrlPr>
                            <a:rPr lang="en-US" i="1"/>
                          </m:ctrlPr>
                        </m:sSubPr>
                        <m:e>
                          <m:r>
                            <a:rPr lang="en-US" i="1"/>
                            <m:t>𝐺</m:t>
                          </m:r>
                        </m:e>
                        <m:sub>
                          <m:r>
                            <a:rPr lang="en-US" i="1"/>
                            <m:t>𝑦</m:t>
                          </m:r>
                        </m:sub>
                      </m:sSub>
                      <m:d>
                        <m:dPr>
                          <m:ctrlPr>
                            <a:rPr lang="en-US" i="1"/>
                          </m:ctrlPr>
                        </m:dPr>
                        <m:e>
                          <m:r>
                            <a:rPr lang="en-US" i="1"/>
                            <m:t>𝑥</m:t>
                          </m:r>
                          <m:r>
                            <a:rPr lang="en-US"/>
                            <m:t>,</m:t>
                          </m:r>
                          <m:r>
                            <a:rPr lang="en-US" i="1"/>
                            <m:t>𝑦</m:t>
                          </m:r>
                        </m:e>
                      </m:d>
                      <m:r>
                        <a:rPr lang="en-US"/>
                        <m:t>|</m:t>
                      </m:r>
                    </m:oMath>
                  </m:oMathPara>
                </a14:m>
                <a:endParaRPr lang="en-US" dirty="0"/>
              </a:p>
              <a:p>
                <a:r>
                  <a:rPr lang="en-US" dirty="0">
                    <a:hlinkClick r:id="rId3"/>
                  </a:rPr>
                  <a:t>https://www.kaggle.com/code/zahidbd/lecture10-nb1-gradients/</a:t>
                </a:r>
                <a:endParaRPr lang="en-US" dirty="0"/>
              </a:p>
              <a:p>
                <a:endParaRPr lang="en-US" dirty="0"/>
              </a:p>
            </p:txBody>
          </p:sp>
        </mc:Choice>
        <mc:Fallback>
          <p:sp>
            <p:nvSpPr>
              <p:cNvPr id="3" name="Content Placeholder 2">
                <a:extLst>
                  <a:ext uri="{FF2B5EF4-FFF2-40B4-BE49-F238E27FC236}">
                    <a16:creationId xmlns:a16="http://schemas.microsoft.com/office/drawing/2014/main" id="{EC9F994B-7313-021E-D17B-03D709029A9A}"/>
                  </a:ext>
                </a:extLst>
              </p:cNvPr>
              <p:cNvSpPr>
                <a:spLocks noGrp="1" noRot="1" noChangeAspect="1" noMove="1" noResize="1" noEditPoints="1" noAdjustHandles="1" noChangeArrowheads="1" noChangeShapeType="1" noTextEdit="1"/>
              </p:cNvSpPr>
              <p:nvPr>
                <p:ph idx="1"/>
              </p:nvPr>
            </p:nvSpPr>
            <p:spPr>
              <a:xfrm>
                <a:off x="838200" y="1392702"/>
                <a:ext cx="10934700" cy="5223998"/>
              </a:xfrm>
              <a:blipFill>
                <a:blip r:embed="rId4"/>
                <a:stretch>
                  <a:fillRect l="-813" t="-2670" b="-2184"/>
                </a:stretch>
              </a:blipFill>
            </p:spPr>
            <p:txBody>
              <a:bodyPr/>
              <a:lstStyle/>
              <a:p>
                <a:r>
                  <a:rPr lang="en-US">
                    <a:noFill/>
                  </a:rPr>
                  <a:t> </a:t>
                </a:r>
              </a:p>
            </p:txBody>
          </p:sp>
        </mc:Fallback>
      </mc:AlternateContent>
    </p:spTree>
    <p:extLst>
      <p:ext uri="{BB962C8B-B14F-4D97-AF65-F5344CB8AC3E}">
        <p14:creationId xmlns:p14="http://schemas.microsoft.com/office/powerpoint/2010/main" val="205370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94C74-71EB-E5E1-B206-5CB8E3F04387}"/>
              </a:ext>
            </a:extLst>
          </p:cNvPr>
          <p:cNvSpPr>
            <a:spLocks noGrp="1"/>
          </p:cNvSpPr>
          <p:nvPr>
            <p:ph type="title"/>
          </p:nvPr>
        </p:nvSpPr>
        <p:spPr/>
        <p:txBody>
          <a:bodyPr/>
          <a:lstStyle/>
          <a:p>
            <a:r>
              <a:rPr lang="en-AU" b="1" dirty="0"/>
              <a:t>Sobel Mask</a:t>
            </a:r>
            <a:endParaRPr lang="en-US" b="1"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800C688-DC81-59CC-574E-66BCF2AA291D}"/>
                  </a:ext>
                </a:extLst>
              </p:cNvPr>
              <p:cNvSpPr>
                <a:spLocks noGrp="1"/>
              </p:cNvSpPr>
              <p:nvPr>
                <p:ph idx="1"/>
              </p:nvPr>
            </p:nvSpPr>
            <p:spPr>
              <a:xfrm>
                <a:off x="838200" y="1589649"/>
                <a:ext cx="8483600" cy="2578314"/>
              </a:xfrm>
            </p:spPr>
            <p:txBody>
              <a:bodyPr>
                <a:normAutofit/>
              </a:bodyPr>
              <a:lstStyle/>
              <a:p>
                <a:r>
                  <a:rPr lang="en-AU" sz="2400" dirty="0"/>
                  <a:t>Sobel operator is a discrete </a:t>
                </a:r>
                <a:r>
                  <a:rPr lang="en-AU" sz="2400" b="1" dirty="0"/>
                  <a:t>differentiation operator</a:t>
                </a:r>
                <a:r>
                  <a:rPr lang="en-AU" sz="2400" dirty="0"/>
                  <a:t>, </a:t>
                </a:r>
                <a:r>
                  <a:rPr lang="en-AU" sz="2400" b="1" dirty="0"/>
                  <a:t>computing an approximation of the gradient</a:t>
                </a:r>
                <a:r>
                  <a:rPr lang="en-AU" sz="2400" dirty="0"/>
                  <a:t> of the image intensity function.</a:t>
                </a:r>
              </a:p>
              <a:p>
                <a:pPr marL="0" indent="0">
                  <a:buNone/>
                </a:pPr>
                <a14:m>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𝑆</m:t>
                        </m:r>
                      </m:e>
                      <m:sub>
                        <m:r>
                          <a:rPr lang="en-AU" sz="2400" b="0" i="1" smtClean="0">
                            <a:latin typeface="Cambria Math" panose="02040503050406030204" pitchFamily="18" charset="0"/>
                          </a:rPr>
                          <m:t>𝑥</m:t>
                        </m:r>
                      </m:sub>
                    </m:sSub>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8</m:t>
                        </m:r>
                      </m:den>
                    </m:f>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m>
                          <m:mPr>
                            <m:mcs>
                              <m:mc>
                                <m:mcPr>
                                  <m:count m:val="3"/>
                                  <m:mcJc m:val="center"/>
                                </m:mcPr>
                              </m:mc>
                            </m:mcs>
                            <m:ctrlPr>
                              <a:rPr lang="en-AU" sz="2400" b="0" i="1" smtClean="0">
                                <a:latin typeface="Cambria Math" panose="02040503050406030204" pitchFamily="18" charset="0"/>
                              </a:rPr>
                            </m:ctrlPr>
                          </m:mPr>
                          <m:mr>
                            <m:e>
                              <m:r>
                                <m:rPr>
                                  <m:brk m:alnAt="7"/>
                                </m:rPr>
                                <a:rPr lang="en-AU" sz="2400" b="0" i="1" smtClean="0">
                                  <a:latin typeface="Cambria Math" panose="02040503050406030204" pitchFamily="18" charset="0"/>
                                </a:rPr>
                                <m:t>−</m:t>
                              </m:r>
                              <m:r>
                                <m:rPr>
                                  <m:brk m:alnAt="7"/>
                                </m:rPr>
                                <a:rPr lang="en-AU" sz="2400" b="0" i="1" smtClean="0">
                                  <a:latin typeface="Cambria Math" panose="02040503050406030204" pitchFamily="18" charset="0"/>
                                </a:rPr>
                                <m:t>1</m:t>
                              </m:r>
                            </m:e>
                            <m:e>
                              <m:r>
                                <a:rPr lang="en-AU" sz="2400" b="0" i="1" smtClean="0">
                                  <a:latin typeface="Cambria Math" panose="02040503050406030204" pitchFamily="18" charset="0"/>
                                </a:rPr>
                                <m:t>0</m:t>
                              </m:r>
                            </m:e>
                            <m:e>
                              <m:r>
                                <a:rPr lang="en-AU" sz="2400" b="0" i="1" smtClean="0">
                                  <a:latin typeface="Cambria Math" panose="02040503050406030204" pitchFamily="18" charset="0"/>
                                </a:rPr>
                                <m:t>1</m:t>
                              </m:r>
                            </m:e>
                          </m:mr>
                          <m:mr>
                            <m:e>
                              <m:r>
                                <a:rPr lang="en-AU" sz="2400" b="0" i="1" smtClean="0">
                                  <a:latin typeface="Cambria Math" panose="02040503050406030204" pitchFamily="18" charset="0"/>
                                </a:rPr>
                                <m:t>−2</m:t>
                              </m:r>
                            </m:e>
                            <m:e>
                              <m:r>
                                <a:rPr lang="en-AU" sz="2400" b="0" i="1" smtClean="0">
                                  <a:latin typeface="Cambria Math" panose="02040503050406030204" pitchFamily="18" charset="0"/>
                                </a:rPr>
                                <m:t>0</m:t>
                              </m:r>
                            </m:e>
                            <m:e>
                              <m:r>
                                <a:rPr lang="en-AU" sz="2400" b="0" i="1" smtClean="0">
                                  <a:latin typeface="Cambria Math" panose="02040503050406030204" pitchFamily="18" charset="0"/>
                                </a:rPr>
                                <m:t>2</m:t>
                              </m:r>
                            </m:e>
                          </m:mr>
                          <m:mr>
                            <m:e>
                              <m:r>
                                <a:rPr lang="en-AU" sz="2400" b="0" i="1" smtClean="0">
                                  <a:latin typeface="Cambria Math" panose="02040503050406030204" pitchFamily="18" charset="0"/>
                                </a:rPr>
                                <m:t>−1</m:t>
                              </m:r>
                            </m:e>
                            <m:e>
                              <m:r>
                                <a:rPr lang="en-AU" sz="2400" b="0" i="1" smtClean="0">
                                  <a:latin typeface="Cambria Math" panose="02040503050406030204" pitchFamily="18" charset="0"/>
                                </a:rPr>
                                <m:t>0</m:t>
                              </m:r>
                            </m:e>
                            <m:e>
                              <m:r>
                                <a:rPr lang="en-AU" sz="2400" b="0" i="1" smtClean="0">
                                  <a:latin typeface="Cambria Math" panose="02040503050406030204" pitchFamily="18" charset="0"/>
                                </a:rPr>
                                <m:t>1</m:t>
                              </m:r>
                            </m:e>
                          </m:mr>
                        </m:m>
                      </m:e>
                    </m:d>
                  </m:oMath>
                </a14:m>
                <a:r>
                  <a:rPr lang="en-AU" sz="2400" dirty="0"/>
                  <a:t>  and  </a:t>
                </a:r>
                <a14:m>
                  <m:oMath xmlns:m="http://schemas.openxmlformats.org/officeDocument/2006/math">
                    <m:sSub>
                      <m:sSubPr>
                        <m:ctrlPr>
                          <a:rPr lang="en-AU" sz="2400" b="0" i="0" smtClean="0">
                            <a:latin typeface="Cambria Math" panose="02040503050406030204" pitchFamily="18" charset="0"/>
                          </a:rPr>
                        </m:ctrlPr>
                      </m:sSubPr>
                      <m:e>
                        <m:r>
                          <m:rPr>
                            <m:sty m:val="p"/>
                          </m:rPr>
                          <a:rPr lang="en-AU" sz="2400" b="0" i="0" smtClean="0">
                            <a:latin typeface="Cambria Math" panose="02040503050406030204" pitchFamily="18" charset="0"/>
                          </a:rPr>
                          <m:t>S</m:t>
                        </m:r>
                      </m:e>
                      <m:sub>
                        <m:r>
                          <m:rPr>
                            <m:sty m:val="p"/>
                          </m:rPr>
                          <a:rPr lang="en-AU" sz="2400" b="0" i="0" smtClean="0">
                            <a:latin typeface="Cambria Math" panose="02040503050406030204" pitchFamily="18" charset="0"/>
                          </a:rPr>
                          <m:t>y</m:t>
                        </m:r>
                      </m:sub>
                    </m:sSub>
                    <m:r>
                      <a:rPr lang="en-AU" sz="2400" b="0" i="0" smtClean="0">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1</m:t>
                        </m:r>
                      </m:num>
                      <m:den>
                        <m:r>
                          <a:rPr lang="en-AU" sz="2400" i="1">
                            <a:latin typeface="Cambria Math" panose="02040503050406030204" pitchFamily="18" charset="0"/>
                          </a:rPr>
                          <m:t>8</m:t>
                        </m:r>
                      </m:den>
                    </m:f>
                    <m:r>
                      <a:rPr lang="en-AU" sz="2400" i="1">
                        <a:latin typeface="Cambria Math" panose="02040503050406030204" pitchFamily="18" charset="0"/>
                      </a:rPr>
                      <m:t>×</m:t>
                    </m:r>
                    <m:d>
                      <m:dPr>
                        <m:begChr m:val="["/>
                        <m:endChr m:val="]"/>
                        <m:ctrlPr>
                          <a:rPr lang="en-AU" sz="2400" i="1">
                            <a:latin typeface="Cambria Math" panose="02040503050406030204" pitchFamily="18" charset="0"/>
                          </a:rPr>
                        </m:ctrlPr>
                      </m:dPr>
                      <m:e>
                        <m:m>
                          <m:mPr>
                            <m:mcs>
                              <m:mc>
                                <m:mcPr>
                                  <m:count m:val="3"/>
                                  <m:mcJc m:val="center"/>
                                </m:mcPr>
                              </m:mc>
                            </m:mcs>
                            <m:ctrlPr>
                              <a:rPr lang="en-AU" sz="2400" i="1">
                                <a:latin typeface="Cambria Math" panose="02040503050406030204" pitchFamily="18" charset="0"/>
                              </a:rPr>
                            </m:ctrlPr>
                          </m:mPr>
                          <m:mr>
                            <m:e>
                              <m:r>
                                <m:rPr>
                                  <m:brk m:alnAt="7"/>
                                </m:rPr>
                                <a:rPr lang="en-AU" sz="2400" b="0" i="1" smtClean="0">
                                  <a:latin typeface="Cambria Math" panose="02040503050406030204" pitchFamily="18" charset="0"/>
                                </a:rPr>
                                <m:t> </m:t>
                              </m:r>
                              <m:r>
                                <m:rPr>
                                  <m:brk m:alnAt="7"/>
                                </m:rPr>
                                <a:rPr lang="en-AU" sz="2400" b="0" i="1" smtClean="0">
                                  <a:latin typeface="Cambria Math" panose="02040503050406030204" pitchFamily="18" charset="0"/>
                                </a:rPr>
                                <m:t> </m:t>
                              </m:r>
                              <m:r>
                                <m:rPr>
                                  <m:brk m:alnAt="7"/>
                                </m:rPr>
                                <a:rPr lang="en-AU" sz="2400" b="0" i="1" smtClean="0">
                                  <a:latin typeface="Cambria Math" panose="02040503050406030204" pitchFamily="18" charset="0"/>
                                </a:rPr>
                                <m:t>1</m:t>
                              </m:r>
                            </m:e>
                            <m:e>
                              <m:r>
                                <a:rPr lang="en-AU" sz="2400" b="0" i="1" smtClean="0">
                                  <a:latin typeface="Cambria Math" panose="02040503050406030204" pitchFamily="18" charset="0"/>
                                </a:rPr>
                                <m:t>  2</m:t>
                              </m:r>
                            </m:e>
                            <m:e>
                              <m:r>
                                <a:rPr lang="en-AU" sz="2400" b="0" i="1" smtClean="0">
                                  <a:latin typeface="Cambria Math" panose="02040503050406030204" pitchFamily="18" charset="0"/>
                                </a:rPr>
                                <m:t>  1</m:t>
                              </m:r>
                            </m:e>
                          </m:mr>
                          <m:mr>
                            <m:e>
                              <m:r>
                                <a:rPr lang="en-AU" sz="2400" b="0" i="1" smtClean="0">
                                  <a:latin typeface="Cambria Math" panose="02040503050406030204" pitchFamily="18" charset="0"/>
                                </a:rPr>
                                <m:t>  0</m:t>
                              </m:r>
                            </m:e>
                            <m:e>
                              <m:r>
                                <a:rPr lang="en-AU" sz="2400" b="0" i="1" smtClean="0">
                                  <a:latin typeface="Cambria Math" panose="02040503050406030204" pitchFamily="18" charset="0"/>
                                </a:rPr>
                                <m:t>   0</m:t>
                              </m:r>
                            </m:e>
                            <m:e>
                              <m:r>
                                <a:rPr lang="en-AU" sz="2400" b="0" i="1" smtClean="0">
                                  <a:latin typeface="Cambria Math" panose="02040503050406030204" pitchFamily="18" charset="0"/>
                                </a:rPr>
                                <m:t>   0</m:t>
                              </m:r>
                            </m:e>
                          </m:mr>
                          <m:mr>
                            <m:e>
                              <m:r>
                                <a:rPr lang="en-AU" sz="2400" b="0" i="1" smtClean="0">
                                  <a:latin typeface="Cambria Math" panose="02040503050406030204" pitchFamily="18" charset="0"/>
                                </a:rPr>
                                <m:t>−1</m:t>
                              </m:r>
                            </m:e>
                            <m:e>
                              <m:r>
                                <a:rPr lang="en-AU" sz="2400" b="0" i="1" smtClean="0">
                                  <a:latin typeface="Cambria Math" panose="02040503050406030204" pitchFamily="18" charset="0"/>
                                </a:rPr>
                                <m:t>−2</m:t>
                              </m:r>
                            </m:e>
                            <m:e>
                              <m:r>
                                <a:rPr lang="en-AU" sz="2400" b="0" i="1" smtClean="0">
                                  <a:latin typeface="Cambria Math" panose="02040503050406030204" pitchFamily="18" charset="0"/>
                                </a:rPr>
                                <m:t>−1</m:t>
                              </m:r>
                            </m:e>
                          </m:mr>
                        </m:m>
                      </m:e>
                    </m:d>
                  </m:oMath>
                </a14:m>
                <a:endParaRPr lang="en-AU" sz="2400" dirty="0"/>
              </a:p>
            </p:txBody>
          </p:sp>
        </mc:Choice>
        <mc:Fallback>
          <p:sp>
            <p:nvSpPr>
              <p:cNvPr id="3" name="Content Placeholder 2">
                <a:extLst>
                  <a:ext uri="{FF2B5EF4-FFF2-40B4-BE49-F238E27FC236}">
                    <a16:creationId xmlns:a16="http://schemas.microsoft.com/office/drawing/2014/main" id="{E800C688-DC81-59CC-574E-66BCF2AA291D}"/>
                  </a:ext>
                </a:extLst>
              </p:cNvPr>
              <p:cNvSpPr>
                <a:spLocks noGrp="1" noRot="1" noChangeAspect="1" noMove="1" noResize="1" noEditPoints="1" noAdjustHandles="1" noChangeArrowheads="1" noChangeShapeType="1" noTextEdit="1"/>
              </p:cNvSpPr>
              <p:nvPr>
                <p:ph idx="1"/>
              </p:nvPr>
            </p:nvSpPr>
            <p:spPr>
              <a:xfrm>
                <a:off x="838200" y="1589649"/>
                <a:ext cx="8483600" cy="2578314"/>
              </a:xfrm>
              <a:blipFill>
                <a:blip r:embed="rId3"/>
                <a:stretch>
                  <a:fillRect l="-1048" t="-2941" r="-29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67CCB4E-A55D-D9C1-EEEF-6B6D3445203E}"/>
              </a:ext>
            </a:extLst>
          </p:cNvPr>
          <p:cNvPicPr>
            <a:picLocks noChangeAspect="1"/>
          </p:cNvPicPr>
          <p:nvPr/>
        </p:nvPicPr>
        <p:blipFill>
          <a:blip r:embed="rId4"/>
          <a:stretch>
            <a:fillRect/>
          </a:stretch>
        </p:blipFill>
        <p:spPr>
          <a:xfrm>
            <a:off x="9411078" y="835757"/>
            <a:ext cx="2547633" cy="1507783"/>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E43DAC5-ADA4-98A3-BBC9-58846B68AA45}"/>
                  </a:ext>
                </a:extLst>
              </p:cNvPr>
              <p:cNvSpPr txBox="1"/>
              <p:nvPr/>
            </p:nvSpPr>
            <p:spPr>
              <a:xfrm>
                <a:off x="10228171" y="2444840"/>
                <a:ext cx="1125629" cy="369332"/>
              </a:xfrm>
              <a:prstGeom prst="rect">
                <a:avLst/>
              </a:prstGeom>
              <a:noFill/>
            </p:spPr>
            <p:txBody>
              <a:bodyPr wrap="none" rtlCol="0">
                <a:spAutoFit/>
              </a:bodyPr>
              <a:lstStyle/>
              <a:p>
                <a14:m>
                  <m:oMath xmlns:m="http://schemas.openxmlformats.org/officeDocument/2006/math">
                    <m:r>
                      <a:rPr lang="en-AU" i="1" smtClean="0">
                        <a:latin typeface="Cambria Math" panose="02040503050406030204" pitchFamily="18" charset="0"/>
                      </a:rPr>
                      <m:t>𝐼</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𝑆</m:t>
                        </m:r>
                      </m:e>
                      <m:sub>
                        <m:r>
                          <a:rPr lang="en-AU" b="0" i="1" smtClean="0">
                            <a:latin typeface="Cambria Math" panose="02040503050406030204" pitchFamily="18" charset="0"/>
                          </a:rPr>
                          <m:t>𝑥</m:t>
                        </m:r>
                      </m:sub>
                    </m:sSub>
                    <m:r>
                      <a:rPr lang="en-AU" b="0" i="1" smtClean="0">
                        <a:latin typeface="Cambria Math" panose="02040503050406030204" pitchFamily="18" charset="0"/>
                      </a:rPr>
                      <m:t>= </m:t>
                    </m:r>
                  </m:oMath>
                </a14:m>
                <a:r>
                  <a:rPr lang="en-US" dirty="0"/>
                  <a:t>4</a:t>
                </a:r>
              </a:p>
            </p:txBody>
          </p:sp>
        </mc:Choice>
        <mc:Fallback>
          <p:sp>
            <p:nvSpPr>
              <p:cNvPr id="6" name="TextBox 5">
                <a:extLst>
                  <a:ext uri="{FF2B5EF4-FFF2-40B4-BE49-F238E27FC236}">
                    <a16:creationId xmlns:a16="http://schemas.microsoft.com/office/drawing/2014/main" id="{3E43DAC5-ADA4-98A3-BBC9-58846B68AA45}"/>
                  </a:ext>
                </a:extLst>
              </p:cNvPr>
              <p:cNvSpPr txBox="1">
                <a:spLocks noRot="1" noChangeAspect="1" noMove="1" noResize="1" noEditPoints="1" noAdjustHandles="1" noChangeArrowheads="1" noChangeShapeType="1" noTextEdit="1"/>
              </p:cNvSpPr>
              <p:nvPr/>
            </p:nvSpPr>
            <p:spPr>
              <a:xfrm>
                <a:off x="10228171" y="2444840"/>
                <a:ext cx="1125629" cy="369332"/>
              </a:xfrm>
              <a:prstGeom prst="rect">
                <a:avLst/>
              </a:prstGeom>
              <a:blipFill>
                <a:blip r:embed="rId5"/>
                <a:stretch>
                  <a:fillRect t="-6667" r="-3333" b="-26667"/>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81B6AE3-EFFB-6972-8655-083098687FA8}"/>
              </a:ext>
            </a:extLst>
          </p:cNvPr>
          <p:cNvPicPr>
            <a:picLocks noChangeAspect="1"/>
          </p:cNvPicPr>
          <p:nvPr/>
        </p:nvPicPr>
        <p:blipFill>
          <a:blip r:embed="rId6"/>
          <a:stretch>
            <a:fillRect/>
          </a:stretch>
        </p:blipFill>
        <p:spPr>
          <a:xfrm>
            <a:off x="9411077" y="3146705"/>
            <a:ext cx="2547633" cy="1507783"/>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5B3C230-CF02-D351-29B6-66929360CBC2}"/>
                  </a:ext>
                </a:extLst>
              </p:cNvPr>
              <p:cNvSpPr txBox="1"/>
              <p:nvPr/>
            </p:nvSpPr>
            <p:spPr>
              <a:xfrm>
                <a:off x="10228170" y="4802355"/>
                <a:ext cx="1196161" cy="369332"/>
              </a:xfrm>
              <a:prstGeom prst="rect">
                <a:avLst/>
              </a:prstGeom>
              <a:noFill/>
            </p:spPr>
            <p:txBody>
              <a:bodyPr wrap="none" rtlCol="0">
                <a:spAutoFit/>
              </a:bodyPr>
              <a:lstStyle/>
              <a:p>
                <a14:m>
                  <m:oMath xmlns:m="http://schemas.openxmlformats.org/officeDocument/2006/math">
                    <m:r>
                      <a:rPr lang="en-AU" i="1" smtClean="0">
                        <a:latin typeface="Cambria Math" panose="02040503050406030204" pitchFamily="18" charset="0"/>
                      </a:rPr>
                      <m:t>𝐼</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𝑆</m:t>
                        </m:r>
                      </m:e>
                      <m:sub>
                        <m:r>
                          <a:rPr lang="en-AU" b="0" i="1" smtClean="0">
                            <a:latin typeface="Cambria Math" panose="02040503050406030204" pitchFamily="18" charset="0"/>
                          </a:rPr>
                          <m:t>𝑥</m:t>
                        </m:r>
                      </m:sub>
                    </m:sSub>
                    <m:r>
                      <a:rPr lang="en-AU" b="0" i="1" smtClean="0">
                        <a:latin typeface="Cambria Math" panose="02040503050406030204" pitchFamily="18" charset="0"/>
                      </a:rPr>
                      <m:t>= </m:t>
                    </m:r>
                  </m:oMath>
                </a14:m>
                <a:r>
                  <a:rPr lang="en-US" dirty="0"/>
                  <a:t>-4</a:t>
                </a:r>
              </a:p>
            </p:txBody>
          </p:sp>
        </mc:Choice>
        <mc:Fallback>
          <p:sp>
            <p:nvSpPr>
              <p:cNvPr id="9" name="TextBox 8">
                <a:extLst>
                  <a:ext uri="{FF2B5EF4-FFF2-40B4-BE49-F238E27FC236}">
                    <a16:creationId xmlns:a16="http://schemas.microsoft.com/office/drawing/2014/main" id="{E5B3C230-CF02-D351-29B6-66929360CBC2}"/>
                  </a:ext>
                </a:extLst>
              </p:cNvPr>
              <p:cNvSpPr txBox="1">
                <a:spLocks noRot="1" noChangeAspect="1" noMove="1" noResize="1" noEditPoints="1" noAdjustHandles="1" noChangeArrowheads="1" noChangeShapeType="1" noTextEdit="1"/>
              </p:cNvSpPr>
              <p:nvPr/>
            </p:nvSpPr>
            <p:spPr>
              <a:xfrm>
                <a:off x="10228170" y="4802355"/>
                <a:ext cx="1196161" cy="369332"/>
              </a:xfrm>
              <a:prstGeom prst="rect">
                <a:avLst/>
              </a:prstGeom>
              <a:blipFill>
                <a:blip r:embed="rId7"/>
                <a:stretch>
                  <a:fillRect t="-10000" r="-3158" b="-2666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E989F141-A24C-863C-A5F7-C3B55C34B0A1}"/>
              </a:ext>
            </a:extLst>
          </p:cNvPr>
          <p:cNvSpPr txBox="1"/>
          <p:nvPr/>
        </p:nvSpPr>
        <p:spPr>
          <a:xfrm>
            <a:off x="758204" y="4201879"/>
            <a:ext cx="8353249" cy="461665"/>
          </a:xfrm>
          <a:prstGeom prst="rect">
            <a:avLst/>
          </a:prstGeom>
          <a:noFill/>
        </p:spPr>
        <p:txBody>
          <a:bodyPr wrap="none" rtlCol="0">
            <a:spAutoFit/>
          </a:bodyPr>
          <a:lstStyle/>
          <a:p>
            <a:r>
              <a:rPr lang="en-US" sz="2400" dirty="0"/>
              <a:t>Responses: [-4, 4], to make it positive we may add 4 and get [0, 8]</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322EC5A-021E-C40F-D792-B2077B95C863}"/>
                  </a:ext>
                </a:extLst>
              </p:cNvPr>
              <p:cNvSpPr txBox="1"/>
              <p:nvPr/>
            </p:nvSpPr>
            <p:spPr>
              <a:xfrm>
                <a:off x="758204" y="4780127"/>
                <a:ext cx="9434317" cy="1355051"/>
              </a:xfrm>
              <a:prstGeom prst="rect">
                <a:avLst/>
              </a:prstGeom>
              <a:noFill/>
            </p:spPr>
            <p:txBody>
              <a:bodyPr wrap="square" rtlCol="0">
                <a:spAutoFit/>
              </a:bodyPr>
              <a:lstStyle/>
              <a:p>
                <a:pPr marL="342900" indent="-342900">
                  <a:buFont typeface="Arial" panose="020B0604020202020204" pitchFamily="34" charset="0"/>
                  <a:buChar char="•"/>
                </a:pPr>
                <a:r>
                  <a:rPr lang="en-AU" sz="2400" dirty="0"/>
                  <a:t>Scaling the output of the Sobel operator by </a:t>
                </a:r>
                <a14:m>
                  <m:oMath xmlns:m="http://schemas.openxmlformats.org/officeDocument/2006/math">
                    <m:f>
                      <m:fPr>
                        <m:ctrlPr>
                          <a:rPr lang="en-AU" sz="2400" b="0" i="1" dirty="0" smtClean="0">
                            <a:latin typeface="Cambria Math" panose="02040503050406030204" pitchFamily="18" charset="0"/>
                          </a:rPr>
                        </m:ctrlPr>
                      </m:fPr>
                      <m:num>
                        <m:r>
                          <a:rPr lang="en-AU" sz="2400" b="0" i="1" dirty="0" smtClean="0">
                            <a:latin typeface="Cambria Math" panose="02040503050406030204" pitchFamily="18" charset="0"/>
                          </a:rPr>
                          <m:t>1</m:t>
                        </m:r>
                      </m:num>
                      <m:den>
                        <m:r>
                          <a:rPr lang="en-AU" sz="2400" b="0" i="1" dirty="0" smtClean="0">
                            <a:latin typeface="Cambria Math" panose="02040503050406030204" pitchFamily="18" charset="0"/>
                          </a:rPr>
                          <m:t>8</m:t>
                        </m:r>
                      </m:den>
                    </m:f>
                  </m:oMath>
                </a14:m>
                <a:r>
                  <a:rPr lang="en-AU" sz="2400" dirty="0"/>
                  <a:t>  is not an absolute rule. </a:t>
                </a:r>
              </a:p>
              <a:p>
                <a:pPr marL="342900" indent="-342900">
                  <a:buFont typeface="Arial" panose="020B0604020202020204" pitchFamily="34" charset="0"/>
                  <a:buChar char="•"/>
                </a:pPr>
                <a:r>
                  <a:rPr lang="en-AU" sz="2400" dirty="0"/>
                  <a:t>It’s a practical choice to make the results easier to work with and to keep them in a range suitable for images.</a:t>
                </a:r>
              </a:p>
            </p:txBody>
          </p:sp>
        </mc:Choice>
        <mc:Fallback>
          <p:sp>
            <p:nvSpPr>
              <p:cNvPr id="11" name="TextBox 10">
                <a:extLst>
                  <a:ext uri="{FF2B5EF4-FFF2-40B4-BE49-F238E27FC236}">
                    <a16:creationId xmlns:a16="http://schemas.microsoft.com/office/drawing/2014/main" id="{8322EC5A-021E-C40F-D792-B2077B95C863}"/>
                  </a:ext>
                </a:extLst>
              </p:cNvPr>
              <p:cNvSpPr txBox="1">
                <a:spLocks noRot="1" noChangeAspect="1" noMove="1" noResize="1" noEditPoints="1" noAdjustHandles="1" noChangeArrowheads="1" noChangeShapeType="1" noTextEdit="1"/>
              </p:cNvSpPr>
              <p:nvPr/>
            </p:nvSpPr>
            <p:spPr>
              <a:xfrm>
                <a:off x="758204" y="4780127"/>
                <a:ext cx="9434317" cy="1355051"/>
              </a:xfrm>
              <a:prstGeom prst="rect">
                <a:avLst/>
              </a:prstGeom>
              <a:blipFill>
                <a:blip r:embed="rId8"/>
                <a:stretch>
                  <a:fillRect l="-806" b="-9346"/>
                </a:stretch>
              </a:blipFill>
            </p:spPr>
            <p:txBody>
              <a:bodyPr/>
              <a:lstStyle/>
              <a:p>
                <a:r>
                  <a:rPr lang="en-US">
                    <a:noFill/>
                  </a:rPr>
                  <a:t> </a:t>
                </a:r>
              </a:p>
            </p:txBody>
          </p:sp>
        </mc:Fallback>
      </mc:AlternateContent>
    </p:spTree>
    <p:extLst>
      <p:ext uri="{BB962C8B-B14F-4D97-AF65-F5344CB8AC3E}">
        <p14:creationId xmlns:p14="http://schemas.microsoft.com/office/powerpoint/2010/main" val="3478030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99FA-4B70-4098-0124-BB9EDF25C11C}"/>
              </a:ext>
            </a:extLst>
          </p:cNvPr>
          <p:cNvSpPr>
            <a:spLocks noGrp="1"/>
          </p:cNvSpPr>
          <p:nvPr>
            <p:ph type="title"/>
          </p:nvPr>
        </p:nvSpPr>
        <p:spPr>
          <a:xfrm>
            <a:off x="838200" y="365125"/>
            <a:ext cx="11226800" cy="1082675"/>
          </a:xfrm>
        </p:spPr>
        <p:txBody>
          <a:bodyPr/>
          <a:lstStyle/>
          <a:p>
            <a:r>
              <a:rPr lang="en-US" b="1" dirty="0"/>
              <a:t>How do we get the weights in the Sobel operator?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1CEAAF6-985E-6B3D-EF28-4C86C323092F}"/>
                  </a:ext>
                </a:extLst>
              </p:cNvPr>
              <p:cNvSpPr>
                <a:spLocks noGrp="1"/>
              </p:cNvSpPr>
              <p:nvPr>
                <p:ph idx="1"/>
              </p:nvPr>
            </p:nvSpPr>
            <p:spPr>
              <a:xfrm>
                <a:off x="838199" y="1825625"/>
                <a:ext cx="10515601" cy="4130675"/>
              </a:xfrm>
            </p:spPr>
            <p:txBody>
              <a:bodyPr>
                <a:normAutofit/>
              </a:bodyPr>
              <a:lstStyle/>
              <a:p>
                <a:r>
                  <a:rPr lang="en-AU" b="1" dirty="0"/>
                  <a:t>Central Difference Operator (Derivative)</a:t>
                </a:r>
              </a:p>
              <a:p>
                <a:pPr lvl="1"/>
                <a:r>
                  <a:rPr lang="en-AU" dirty="0"/>
                  <a:t>In calculus, the derivative of a continuous function </a:t>
                </a:r>
                <a14:m>
                  <m:oMath xmlns:m="http://schemas.openxmlformats.org/officeDocument/2006/math">
                    <m:r>
                      <a:rPr lang="en-US" i="1"/>
                      <m:t>𝑓</m:t>
                    </m:r>
                    <m:d>
                      <m:dPr>
                        <m:ctrlPr>
                          <a:rPr lang="en-US" i="1"/>
                        </m:ctrlPr>
                      </m:dPr>
                      <m:e>
                        <m:r>
                          <a:rPr lang="en-US" i="1"/>
                          <m:t>𝑥</m:t>
                        </m:r>
                      </m:e>
                    </m:d>
                  </m:oMath>
                </a14:m>
                <a:r>
                  <a:rPr lang="en-AU" dirty="0"/>
                  <a:t>is defined as:</a:t>
                </a:r>
              </a:p>
              <a:p>
                <a:pPr marL="0" indent="0">
                  <a:buNone/>
                </a:pPr>
                <a:endParaRPr lang="en-US" sz="2000" i="1" dirty="0"/>
              </a:p>
              <a:p>
                <a:pPr marL="0" indent="0">
                  <a:buNone/>
                </a:pPr>
                <a14:m>
                  <m:oMathPara xmlns:m="http://schemas.openxmlformats.org/officeDocument/2006/math">
                    <m:oMath>
                      <m:r>
                        <a:rPr lang="en-US" sz="2000" i="1"/>
                        <m:t>𝑓</m:t>
                      </m:r>
                      <m:r>
                        <a:rPr lang="en-US" sz="2000"/>
                        <m:t>′</m:t>
                      </m:r>
                      <m:d>
                        <m:dPr>
                          <m:ctrlPr>
                            <a:rPr lang="en-US" sz="2000" i="1"/>
                          </m:ctrlPr>
                        </m:dPr>
                        <m:e>
                          <m:r>
                            <a:rPr lang="en-US" sz="2000" i="1"/>
                            <m:t>𝑥</m:t>
                          </m:r>
                        </m:e>
                      </m:d>
                      <m:r>
                        <a:rPr lang="en-US" sz="2000"/>
                        <m:t>=</m:t>
                      </m:r>
                      <m:func>
                        <m:funcPr>
                          <m:ctrlPr>
                            <a:rPr lang="en-US" sz="2000" i="1"/>
                          </m:ctrlPr>
                        </m:funcPr>
                        <m:fName>
                          <m:limLow>
                            <m:limLowPr>
                              <m:ctrlPr>
                                <a:rPr lang="en-US" sz="2000"/>
                              </m:ctrlPr>
                            </m:limLowPr>
                            <m:e>
                              <m:r>
                                <m:rPr>
                                  <m:sty m:val="p"/>
                                </m:rPr>
                                <a:rPr lang="en-US" sz="2000"/>
                                <m:t>lim</m:t>
                              </m:r>
                            </m:e>
                            <m:lim>
                              <m:r>
                                <a:rPr lang="en-US" sz="2000" i="1"/>
                                <m:t>ℎ</m:t>
                              </m:r>
                              <m:r>
                                <a:rPr lang="en-US" sz="2000"/>
                                <m:t>→0</m:t>
                              </m:r>
                            </m:lim>
                          </m:limLow>
                        </m:fName>
                        <m:e>
                          <m:f>
                            <m:fPr>
                              <m:ctrlPr>
                                <a:rPr lang="en-US" sz="2000" i="1"/>
                              </m:ctrlPr>
                            </m:fPr>
                            <m:num>
                              <m:r>
                                <a:rPr lang="en-US" sz="2000" i="1"/>
                                <m:t>𝑓</m:t>
                              </m:r>
                              <m:d>
                                <m:dPr>
                                  <m:ctrlPr>
                                    <a:rPr lang="en-US" sz="2000" i="1"/>
                                  </m:ctrlPr>
                                </m:dPr>
                                <m:e>
                                  <m:r>
                                    <a:rPr lang="en-US" sz="2000" i="1"/>
                                    <m:t>𝑥</m:t>
                                  </m:r>
                                  <m:r>
                                    <a:rPr lang="en-US" sz="2000"/>
                                    <m:t>+</m:t>
                                  </m:r>
                                  <m:r>
                                    <a:rPr lang="en-US" sz="2000" i="1"/>
                                    <m:t>ℎ</m:t>
                                  </m:r>
                                </m:e>
                              </m:d>
                              <m:r>
                                <a:rPr lang="en-US" sz="2000"/>
                                <m:t>−</m:t>
                              </m:r>
                              <m:r>
                                <a:rPr lang="en-US" sz="2000" i="1"/>
                                <m:t>𝑓</m:t>
                              </m:r>
                              <m:d>
                                <m:dPr>
                                  <m:ctrlPr>
                                    <a:rPr lang="en-US" sz="2000" i="1"/>
                                  </m:ctrlPr>
                                </m:dPr>
                                <m:e>
                                  <m:r>
                                    <a:rPr lang="en-US" sz="2000" i="1"/>
                                    <m:t>𝑥</m:t>
                                  </m:r>
                                  <m:r>
                                    <a:rPr lang="en-US" sz="2000"/>
                                    <m:t>−</m:t>
                                  </m:r>
                                  <m:r>
                                    <a:rPr lang="en-US" sz="2000" i="1"/>
                                    <m:t>ℎ</m:t>
                                  </m:r>
                                </m:e>
                              </m:d>
                            </m:num>
                            <m:den>
                              <m:r>
                                <a:rPr lang="en-US" sz="2000"/>
                                <m:t>2</m:t>
                              </m:r>
                              <m:r>
                                <a:rPr lang="en-US" sz="2000" i="1"/>
                                <m:t>ℎ</m:t>
                              </m:r>
                            </m:den>
                          </m:f>
                        </m:e>
                      </m:func>
                    </m:oMath>
                  </m:oMathPara>
                </a14:m>
                <a:endParaRPr lang="en-AU" sz="2000" dirty="0"/>
              </a:p>
              <a:p>
                <a:pPr lvl="1"/>
                <a:endParaRPr lang="en-AU" dirty="0"/>
              </a:p>
              <a:p>
                <a:pPr lvl="1"/>
                <a:r>
                  <a:rPr lang="en-AU" dirty="0"/>
                  <a:t>For a digital image where pixels are spaced at integer steps (</a:t>
                </a:r>
                <a14:m>
                  <m:oMath xmlns:m="http://schemas.openxmlformats.org/officeDocument/2006/math">
                    <m:r>
                      <a:rPr lang="en-US" i="1"/>
                      <m:t>ℎ</m:t>
                    </m:r>
                    <m:r>
                      <a:rPr lang="en-US"/>
                      <m:t>=1</m:t>
                    </m:r>
                  </m:oMath>
                </a14:m>
                <a:r>
                  <a:rPr lang="en-AU" dirty="0"/>
                  <a:t>), the </a:t>
                </a:r>
                <a:r>
                  <a:rPr lang="en-AU" b="1" dirty="0"/>
                  <a:t>central difference</a:t>
                </a:r>
                <a:r>
                  <a:rPr lang="en-AU" dirty="0"/>
                  <a:t> across 3 </a:t>
                </a:r>
                <a:r>
                  <a:rPr lang="en-AU" dirty="0" err="1"/>
                  <a:t>neighboring</a:t>
                </a:r>
                <a:r>
                  <a:rPr lang="en-AU" dirty="0"/>
                  <a:t> pixels in a row is:</a:t>
                </a:r>
              </a:p>
              <a:p>
                <a:pPr marL="0" indent="0">
                  <a:buNone/>
                </a:pPr>
                <a:endParaRPr lang="en-US" sz="2000" dirty="0"/>
              </a:p>
              <a:p>
                <a:pPr marL="0" indent="0">
                  <a:buNone/>
                </a:pPr>
                <a14:m>
                  <m:oMathPara xmlns:m="http://schemas.openxmlformats.org/officeDocument/2006/math">
                    <m:oMath>
                      <m:f>
                        <m:fPr>
                          <m:ctrlPr>
                            <a:rPr lang="en-US" sz="2000" i="1"/>
                          </m:ctrlPr>
                        </m:fPr>
                        <m:num>
                          <m:r>
                            <a:rPr lang="en-US" sz="2000" i="1"/>
                            <m:t>𝜕</m:t>
                          </m:r>
                          <m:r>
                            <a:rPr lang="en-US" sz="2000" i="1"/>
                            <m:t>𝐼</m:t>
                          </m:r>
                        </m:num>
                        <m:den>
                          <m:r>
                            <a:rPr lang="en-US" sz="2000" i="1"/>
                            <m:t>𝜕</m:t>
                          </m:r>
                          <m:r>
                            <a:rPr lang="en-US" sz="2000" i="1"/>
                            <m:t>𝑥</m:t>
                          </m:r>
                        </m:den>
                      </m:f>
                      <m:r>
                        <a:rPr lang="en-US" sz="2000"/>
                        <m:t>≈</m:t>
                      </m:r>
                      <m:f>
                        <m:fPr>
                          <m:ctrlPr>
                            <a:rPr lang="en-US" sz="2000" i="1"/>
                          </m:ctrlPr>
                        </m:fPr>
                        <m:num>
                          <m:r>
                            <a:rPr lang="en-US" sz="2000" i="1"/>
                            <m:t>𝐼</m:t>
                          </m:r>
                          <m:d>
                            <m:dPr>
                              <m:ctrlPr>
                                <a:rPr lang="en-US" sz="2000" i="1"/>
                              </m:ctrlPr>
                            </m:dPr>
                            <m:e>
                              <m:r>
                                <a:rPr lang="en-US" sz="2000" i="1"/>
                                <m:t>𝑥</m:t>
                              </m:r>
                              <m:r>
                                <a:rPr lang="en-US" sz="2000"/>
                                <m:t>+1,</m:t>
                              </m:r>
                              <m:r>
                                <a:rPr lang="en-US" sz="2000" i="1"/>
                                <m:t>𝑦</m:t>
                              </m:r>
                            </m:e>
                          </m:d>
                          <m:r>
                            <a:rPr lang="en-US" sz="2000"/>
                            <m:t>−</m:t>
                          </m:r>
                          <m:r>
                            <a:rPr lang="en-US" sz="2000" i="1"/>
                            <m:t>𝐼</m:t>
                          </m:r>
                          <m:d>
                            <m:dPr>
                              <m:ctrlPr>
                                <a:rPr lang="en-US" sz="2000" i="1"/>
                              </m:ctrlPr>
                            </m:dPr>
                            <m:e>
                              <m:r>
                                <a:rPr lang="en-US" sz="2000" i="1"/>
                                <m:t>𝑥</m:t>
                              </m:r>
                              <m:r>
                                <a:rPr lang="en-US" sz="2000"/>
                                <m:t>−1,</m:t>
                              </m:r>
                              <m:r>
                                <a:rPr lang="en-US" sz="2000" i="1"/>
                                <m:t>𝑦</m:t>
                              </m:r>
                            </m:e>
                          </m:d>
                        </m:num>
                        <m:den>
                          <m:r>
                            <a:rPr lang="en-US" sz="2000"/>
                            <m:t>2</m:t>
                          </m:r>
                        </m:den>
                      </m:f>
                    </m:oMath>
                  </m:oMathPara>
                </a14:m>
                <a:endParaRPr lang="en-AU" sz="2000" dirty="0"/>
              </a:p>
            </p:txBody>
          </p:sp>
        </mc:Choice>
        <mc:Fallback>
          <p:sp>
            <p:nvSpPr>
              <p:cNvPr id="3" name="Content Placeholder 2">
                <a:extLst>
                  <a:ext uri="{FF2B5EF4-FFF2-40B4-BE49-F238E27FC236}">
                    <a16:creationId xmlns:a16="http://schemas.microsoft.com/office/drawing/2014/main" id="{E1CEAAF6-985E-6B3D-EF28-4C86C323092F}"/>
                  </a:ext>
                </a:extLst>
              </p:cNvPr>
              <p:cNvSpPr>
                <a:spLocks noGrp="1" noRot="1" noChangeAspect="1" noMove="1" noResize="1" noEditPoints="1" noAdjustHandles="1" noChangeArrowheads="1" noChangeShapeType="1" noTextEdit="1"/>
              </p:cNvSpPr>
              <p:nvPr>
                <p:ph idx="1"/>
              </p:nvPr>
            </p:nvSpPr>
            <p:spPr>
              <a:xfrm>
                <a:off x="838199" y="1825625"/>
                <a:ext cx="10515601" cy="4130675"/>
              </a:xfrm>
              <a:blipFill>
                <a:blip r:embed="rId3"/>
                <a:stretch>
                  <a:fillRect l="-964" t="-2454"/>
                </a:stretch>
              </a:blipFill>
            </p:spPr>
            <p:txBody>
              <a:bodyPr/>
              <a:lstStyle/>
              <a:p>
                <a:r>
                  <a:rPr lang="en-US">
                    <a:noFill/>
                  </a:rPr>
                  <a:t> </a:t>
                </a:r>
              </a:p>
            </p:txBody>
          </p:sp>
        </mc:Fallback>
      </mc:AlternateContent>
    </p:spTree>
    <p:extLst>
      <p:ext uri="{BB962C8B-B14F-4D97-AF65-F5344CB8AC3E}">
        <p14:creationId xmlns:p14="http://schemas.microsoft.com/office/powerpoint/2010/main" val="3073591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0B4D48C-97B6-C75E-1647-A90AF8148B81}"/>
                  </a:ext>
                </a:extLst>
              </p:cNvPr>
              <p:cNvSpPr txBox="1"/>
              <p:nvPr/>
            </p:nvSpPr>
            <p:spPr>
              <a:xfrm>
                <a:off x="838200" y="2124171"/>
                <a:ext cx="10515600" cy="3973717"/>
              </a:xfrm>
              <a:prstGeom prst="rect">
                <a:avLst/>
              </a:prstGeom>
              <a:noFill/>
            </p:spPr>
            <p:txBody>
              <a:bodyPr wrap="square">
                <a:spAutoFit/>
              </a:bodyPr>
              <a:lstStyle/>
              <a:p>
                <a:pPr marL="285750" indent="-285750">
                  <a:buFont typeface="Arial" panose="020B0604020202020204" pitchFamily="34" charset="0"/>
                  <a:buChar char="•"/>
                </a:pPr>
                <a:r>
                  <a:rPr lang="en-AU" sz="2400" dirty="0">
                    <a:effectLst/>
                  </a:rPr>
                  <a:t>To approximate the central difference derivative (for 1D) at pixel </a:t>
                </a:r>
                <a14:m>
                  <m:oMath xmlns:m="http://schemas.openxmlformats.org/officeDocument/2006/math">
                    <m:r>
                      <a:rPr lang="en-US" sz="2400" i="1" smtClean="0"/>
                      <m:t>𝑥</m:t>
                    </m:r>
                    <m:r>
                      <a:rPr lang="en-AU" sz="2400" b="0" i="1" smtClean="0">
                        <a:latin typeface="Cambria Math" panose="02040503050406030204" pitchFamily="18" charset="0"/>
                      </a:rPr>
                      <m:t> </m:t>
                    </m:r>
                  </m:oMath>
                </a14:m>
                <a:r>
                  <a:rPr lang="en-AU" sz="2400" dirty="0">
                    <a:effectLst/>
                  </a:rPr>
                  <a:t>is approximated over a discrete step of 1 pixel:</a:t>
                </a:r>
              </a:p>
              <a:p>
                <a:pPr>
                  <a:buNone/>
                </a:pPr>
                <a14:m>
                  <m:oMathPara xmlns:m="http://schemas.openxmlformats.org/officeDocument/2006/math">
                    <m:oMath>
                      <m:f>
                        <m:fPr>
                          <m:ctrlPr>
                            <a:rPr lang="en-US" sz="2400" i="1"/>
                          </m:ctrlPr>
                        </m:fPr>
                        <m:num>
                          <m:r>
                            <a:rPr lang="en-US" sz="2400" i="1"/>
                            <m:t>𝜕</m:t>
                          </m:r>
                          <m:r>
                            <a:rPr lang="en-US" sz="2400" i="1"/>
                            <m:t>𝐼</m:t>
                          </m:r>
                        </m:num>
                        <m:den>
                          <m:r>
                            <a:rPr lang="en-US" sz="2400" i="1"/>
                            <m:t>𝜕</m:t>
                          </m:r>
                          <m:r>
                            <a:rPr lang="en-US" sz="2400" i="1"/>
                            <m:t>𝑥</m:t>
                          </m:r>
                        </m:den>
                      </m:f>
                      <m:r>
                        <a:rPr lang="en-US" sz="2400" i="0"/>
                        <m:t>≈</m:t>
                      </m:r>
                      <m:f>
                        <m:fPr>
                          <m:ctrlPr>
                            <a:rPr lang="en-US" sz="2400" i="1"/>
                          </m:ctrlPr>
                        </m:fPr>
                        <m:num>
                          <m:r>
                            <a:rPr lang="en-US" sz="2400" i="1"/>
                            <m:t>𝐼</m:t>
                          </m:r>
                          <m:d>
                            <m:dPr>
                              <m:ctrlPr>
                                <a:rPr lang="en-US" sz="2400" i="1"/>
                              </m:ctrlPr>
                            </m:dPr>
                            <m:e>
                              <m:r>
                                <a:rPr lang="en-US" sz="2400" i="1"/>
                                <m:t>𝑥</m:t>
                              </m:r>
                              <m:r>
                                <a:rPr lang="en-US" sz="2400" i="0"/>
                                <m:t>+1</m:t>
                              </m:r>
                            </m:e>
                          </m:d>
                          <m:r>
                            <a:rPr lang="en-US" sz="2400" i="0"/>
                            <m:t>−</m:t>
                          </m:r>
                          <m:r>
                            <a:rPr lang="en-US" sz="2400" i="1"/>
                            <m:t>𝐼</m:t>
                          </m:r>
                          <m:d>
                            <m:dPr>
                              <m:ctrlPr>
                                <a:rPr lang="en-US" sz="2400" i="1"/>
                              </m:ctrlPr>
                            </m:dPr>
                            <m:e>
                              <m:r>
                                <a:rPr lang="en-US" sz="2400" i="1"/>
                                <m:t>𝑥</m:t>
                              </m:r>
                              <m:r>
                                <a:rPr lang="en-US" sz="2400" i="0"/>
                                <m:t>−1</m:t>
                              </m:r>
                            </m:e>
                          </m:d>
                        </m:num>
                        <m:den>
                          <m:r>
                            <a:rPr lang="en-US" sz="2400" i="0"/>
                            <m:t>2</m:t>
                          </m:r>
                        </m:den>
                      </m:f>
                    </m:oMath>
                  </m:oMathPara>
                </a14:m>
                <a:endParaRPr lang="en-AU" sz="2400" dirty="0">
                  <a:effectLst/>
                </a:endParaRPr>
              </a:p>
              <a:p>
                <a:pPr marL="342900" indent="-342900">
                  <a:buFont typeface="Arial" panose="020B0604020202020204" pitchFamily="34" charset="0"/>
                  <a:buChar char="•"/>
                </a:pPr>
                <a:endParaRPr lang="en-AU" sz="2400" dirty="0">
                  <a:effectLst/>
                </a:endParaRPr>
              </a:p>
              <a:p>
                <a:pPr marL="342900" indent="-342900">
                  <a:buFont typeface="Arial" panose="020B0604020202020204" pitchFamily="34" charset="0"/>
                  <a:buChar char="•"/>
                </a:pPr>
                <a:r>
                  <a:rPr lang="en-AU" sz="2400" dirty="0">
                    <a:effectLst/>
                  </a:rPr>
                  <a:t>Expanding the numerator into individual terms gives:</a:t>
                </a:r>
              </a:p>
              <a:p>
                <a:pPr marL="800100" lvl="1" indent="-342900">
                  <a:buFont typeface="Arial" panose="020B0604020202020204" pitchFamily="34" charset="0"/>
                  <a:buChar char="•"/>
                </a:pPr>
                <a14:m>
                  <m:oMath xmlns:m="http://schemas.openxmlformats.org/officeDocument/2006/math">
                    <m:r>
                      <m:rPr>
                        <m:nor/>
                      </m:rPr>
                      <a:rPr lang="en-US" sz="2400" i="0" smtClean="0"/>
                      <m:t>Numerator</m:t>
                    </m:r>
                    <m:r>
                      <a:rPr lang="en-US" sz="2400" i="0"/>
                      <m:t>=</m:t>
                    </m:r>
                    <m:d>
                      <m:dPr>
                        <m:ctrlPr>
                          <a:rPr lang="en-US" sz="2400" i="0"/>
                        </m:ctrlPr>
                      </m:dPr>
                      <m:e>
                        <m:r>
                          <a:rPr lang="en-US" sz="2400" i="0"/>
                          <m:t>−1⋅</m:t>
                        </m:r>
                        <m:r>
                          <a:rPr lang="en-US" sz="2400" i="1"/>
                          <m:t>𝐼</m:t>
                        </m:r>
                        <m:d>
                          <m:dPr>
                            <m:ctrlPr>
                              <a:rPr lang="en-US" sz="2400" i="1"/>
                            </m:ctrlPr>
                          </m:dPr>
                          <m:e>
                            <m:r>
                              <a:rPr lang="en-US" sz="2400" i="1"/>
                              <m:t>𝑥</m:t>
                            </m:r>
                            <m:r>
                              <a:rPr lang="en-US" sz="2400" i="0"/>
                              <m:t>−1</m:t>
                            </m:r>
                          </m:e>
                        </m:d>
                      </m:e>
                    </m:d>
                    <m:r>
                      <a:rPr lang="en-US" sz="2400" i="0"/>
                      <m:t>+</m:t>
                    </m:r>
                    <m:d>
                      <m:dPr>
                        <m:ctrlPr>
                          <a:rPr lang="en-US" sz="2400" i="0"/>
                        </m:ctrlPr>
                      </m:dPr>
                      <m:e>
                        <m:r>
                          <a:rPr lang="en-US" sz="2400" i="0"/>
                          <m:t>0⋅</m:t>
                        </m:r>
                        <m:r>
                          <a:rPr lang="en-US" sz="2400" i="1"/>
                          <m:t>𝐼</m:t>
                        </m:r>
                        <m:d>
                          <m:dPr>
                            <m:ctrlPr>
                              <a:rPr lang="en-US" sz="2400" i="1"/>
                            </m:ctrlPr>
                          </m:dPr>
                          <m:e>
                            <m:r>
                              <a:rPr lang="en-US" sz="2400" i="1"/>
                              <m:t>𝑥</m:t>
                            </m:r>
                          </m:e>
                        </m:d>
                      </m:e>
                    </m:d>
                    <m:r>
                      <a:rPr lang="en-US" sz="2400" i="0"/>
                      <m:t>+</m:t>
                    </m:r>
                    <m:d>
                      <m:dPr>
                        <m:ctrlPr>
                          <a:rPr lang="en-US" sz="2400" i="0"/>
                        </m:ctrlPr>
                      </m:dPr>
                      <m:e>
                        <m:r>
                          <a:rPr lang="en-US" sz="2400" i="0"/>
                          <m:t>1⋅</m:t>
                        </m:r>
                        <m:r>
                          <a:rPr lang="en-US" sz="2400" i="1"/>
                          <m:t>𝐼</m:t>
                        </m:r>
                        <m:d>
                          <m:dPr>
                            <m:ctrlPr>
                              <a:rPr lang="en-US" sz="2400" i="1"/>
                            </m:ctrlPr>
                          </m:dPr>
                          <m:e>
                            <m:r>
                              <a:rPr lang="en-US" sz="2400" i="1"/>
                              <m:t>𝑥</m:t>
                            </m:r>
                            <m:r>
                              <a:rPr lang="en-US" sz="2400" i="0"/>
                              <m:t>+1</m:t>
                            </m:r>
                          </m:e>
                        </m:d>
                      </m:e>
                    </m:d>
                  </m:oMath>
                </a14:m>
                <a:endParaRPr lang="en-AU" sz="2400" dirty="0"/>
              </a:p>
              <a:p>
                <a:pPr marL="800100" lvl="1" indent="-342900">
                  <a:buFont typeface="Arial" panose="020B0604020202020204" pitchFamily="34" charset="0"/>
                  <a:buChar char="•"/>
                </a:pPr>
                <a:endParaRPr lang="en-AU" sz="2400" dirty="0">
                  <a:effectLst/>
                </a:endParaRPr>
              </a:p>
              <a:p>
                <a:pPr marL="342900" indent="-342900">
                  <a:buFont typeface="Arial" panose="020B0604020202020204" pitchFamily="34" charset="0"/>
                  <a:buChar char="•"/>
                </a:pPr>
                <a:r>
                  <a:rPr lang="en-AU" sz="2400" dirty="0"/>
                  <a:t>Ignoring the constant scaling factor </a:t>
                </a:r>
                <a14:m>
                  <m:oMath xmlns:m="http://schemas.openxmlformats.org/officeDocument/2006/math">
                    <m:f>
                      <m:fPr>
                        <m:ctrlPr>
                          <a:rPr lang="en-US" sz="2400"/>
                        </m:ctrlPr>
                      </m:fPr>
                      <m:num>
                        <m:r>
                          <a:rPr lang="en-US" sz="2400"/>
                          <m:t>1</m:t>
                        </m:r>
                      </m:num>
                      <m:den>
                        <m:r>
                          <a:rPr lang="en-US" sz="2400"/>
                          <m:t>2</m:t>
                        </m:r>
                      </m:den>
                    </m:f>
                  </m:oMath>
                </a14:m>
                <a:r>
                  <a:rPr lang="en-AU" sz="2400" dirty="0"/>
                  <a:t> for integer arithmetic efficiency, the 1D horizontal derivative operator </a:t>
                </a:r>
                <a14:m>
                  <m:oMath xmlns:m="http://schemas.openxmlformats.org/officeDocument/2006/math">
                    <m:sSub>
                      <m:sSubPr>
                        <m:ctrlPr>
                          <a:rPr lang="en-US" sz="2400"/>
                        </m:ctrlPr>
                      </m:sSubPr>
                      <m:e>
                        <m:r>
                          <a:rPr lang="en-US" sz="2400"/>
                          <m:t>𝐷</m:t>
                        </m:r>
                      </m:e>
                      <m:sub>
                        <m:r>
                          <a:rPr lang="en-US" sz="2400"/>
                          <m:t>𝑥</m:t>
                        </m:r>
                      </m:sub>
                    </m:sSub>
                  </m:oMath>
                </a14:m>
                <a:r>
                  <a:rPr lang="en-AU" sz="2400" dirty="0"/>
                  <a:t>is:  </a:t>
                </a:r>
                <a14:m>
                  <m:oMath xmlns:m="http://schemas.openxmlformats.org/officeDocument/2006/math">
                    <m:sSub>
                      <m:sSubPr>
                        <m:ctrlPr>
                          <a:rPr lang="en-US" sz="2400" i="1"/>
                        </m:ctrlPr>
                      </m:sSubPr>
                      <m:e>
                        <m:r>
                          <a:rPr lang="en-US" sz="2400" i="1"/>
                          <m:t>𝐷</m:t>
                        </m:r>
                      </m:e>
                      <m:sub>
                        <m:r>
                          <a:rPr lang="en-US" sz="2400" i="1"/>
                          <m:t>𝑥</m:t>
                        </m:r>
                      </m:sub>
                    </m:sSub>
                    <m:r>
                      <a:rPr lang="en-US" sz="2400" i="0"/>
                      <m:t>=</m:t>
                    </m:r>
                    <m:d>
                      <m:dPr>
                        <m:begChr m:val="["/>
                        <m:endChr m:val="]"/>
                        <m:ctrlPr>
                          <a:rPr lang="en-US" sz="2400" i="1"/>
                        </m:ctrlPr>
                      </m:dPr>
                      <m:e>
                        <m:m>
                          <m:mPr>
                            <m:mcs>
                              <m:mc>
                                <m:mcPr>
                                  <m:count m:val="3"/>
                                  <m:mcJc m:val="center"/>
                                </m:mcPr>
                              </m:mc>
                            </m:mcs>
                            <m:ctrlPr>
                              <a:rPr lang="en-US" sz="2400" i="1"/>
                            </m:ctrlPr>
                          </m:mPr>
                          <m:mr>
                            <m:e>
                              <m:r>
                                <a:rPr lang="en-US" sz="2400" i="0"/>
                                <m:t>−1</m:t>
                              </m:r>
                            </m:e>
                            <m:e>
                              <m:r>
                                <a:rPr lang="en-US" sz="2400" i="0"/>
                                <m:t>0</m:t>
                              </m:r>
                            </m:e>
                            <m:e>
                              <m:r>
                                <a:rPr lang="en-US" sz="2400" i="0"/>
                                <m:t>1</m:t>
                              </m:r>
                            </m:e>
                          </m:mr>
                        </m:m>
                      </m:e>
                    </m:d>
                  </m:oMath>
                </a14:m>
                <a:endParaRPr lang="en-AU" sz="2400" dirty="0">
                  <a:effectLst/>
                  <a:latin typeface="Google Sans Text"/>
                </a:endParaRPr>
              </a:p>
            </p:txBody>
          </p:sp>
        </mc:Choice>
        <mc:Fallback>
          <p:sp>
            <p:nvSpPr>
              <p:cNvPr id="6" name="TextBox 5">
                <a:extLst>
                  <a:ext uri="{FF2B5EF4-FFF2-40B4-BE49-F238E27FC236}">
                    <a16:creationId xmlns:a16="http://schemas.microsoft.com/office/drawing/2014/main" id="{C0B4D48C-97B6-C75E-1647-A90AF8148B81}"/>
                  </a:ext>
                </a:extLst>
              </p:cNvPr>
              <p:cNvSpPr txBox="1">
                <a:spLocks noRot="1" noChangeAspect="1" noMove="1" noResize="1" noEditPoints="1" noAdjustHandles="1" noChangeArrowheads="1" noChangeShapeType="1" noTextEdit="1"/>
              </p:cNvSpPr>
              <p:nvPr/>
            </p:nvSpPr>
            <p:spPr>
              <a:xfrm>
                <a:off x="838200" y="2124171"/>
                <a:ext cx="10515600" cy="3973717"/>
              </a:xfrm>
              <a:prstGeom prst="rect">
                <a:avLst/>
              </a:prstGeom>
              <a:blipFill>
                <a:blip r:embed="rId2"/>
                <a:stretch>
                  <a:fillRect l="-844" t="-955" b="-22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itle 1">
                <a:extLst>
                  <a:ext uri="{FF2B5EF4-FFF2-40B4-BE49-F238E27FC236}">
                    <a16:creationId xmlns:a16="http://schemas.microsoft.com/office/drawing/2014/main" id="{36F82CE3-C337-0F6B-741C-DA14D97EC677}"/>
                  </a:ext>
                </a:extLst>
              </p:cNvPr>
              <p:cNvSpPr>
                <a:spLocks noGrp="1"/>
              </p:cNvSpPr>
              <p:nvPr>
                <p:ph type="title"/>
              </p:nvPr>
            </p:nvSpPr>
            <p:spPr>
              <a:xfrm>
                <a:off x="838200" y="544731"/>
                <a:ext cx="10515600" cy="1325563"/>
              </a:xfrm>
            </p:spPr>
            <p:txBody>
              <a:bodyPr/>
              <a:lstStyle/>
              <a:p>
                <a:r>
                  <a:rPr lang="en-AU" b="1" dirty="0"/>
                  <a:t>Horizontal Derivative Vector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𝑫</m:t>
                        </m:r>
                      </m:e>
                      <m:sub>
                        <m:r>
                          <a:rPr lang="en-US" b="1" i="1">
                            <a:latin typeface="Cambria Math" panose="02040503050406030204" pitchFamily="18" charset="0"/>
                          </a:rPr>
                          <m:t>𝒙</m:t>
                        </m:r>
                      </m:sub>
                    </m:sSub>
                  </m:oMath>
                </a14:m>
                <a:r>
                  <a:rPr lang="en-AU" b="1" dirty="0"/>
                  <a:t>)</a:t>
                </a:r>
              </a:p>
            </p:txBody>
          </p:sp>
        </mc:Choice>
        <mc:Fallback>
          <p:sp>
            <p:nvSpPr>
              <p:cNvPr id="10" name="Title 1">
                <a:extLst>
                  <a:ext uri="{FF2B5EF4-FFF2-40B4-BE49-F238E27FC236}">
                    <a16:creationId xmlns:a16="http://schemas.microsoft.com/office/drawing/2014/main" id="{36F82CE3-C337-0F6B-741C-DA14D97EC677}"/>
                  </a:ext>
                </a:extLst>
              </p:cNvPr>
              <p:cNvSpPr>
                <a:spLocks noGrp="1" noRot="1" noChangeAspect="1" noMove="1" noResize="1" noEditPoints="1" noAdjustHandles="1" noChangeArrowheads="1" noChangeShapeType="1" noTextEdit="1"/>
              </p:cNvSpPr>
              <p:nvPr>
                <p:ph type="title"/>
              </p:nvPr>
            </p:nvSpPr>
            <p:spPr>
              <a:xfrm>
                <a:off x="838200" y="544731"/>
                <a:ext cx="10515600" cy="1325563"/>
              </a:xfrm>
              <a:blipFill>
                <a:blip r:embed="rId3"/>
                <a:stretch>
                  <a:fillRect l="-2413"/>
                </a:stretch>
              </a:blipFill>
            </p:spPr>
            <p:txBody>
              <a:bodyPr/>
              <a:lstStyle/>
              <a:p>
                <a:r>
                  <a:rPr lang="en-US">
                    <a:noFill/>
                  </a:rPr>
                  <a:t> </a:t>
                </a:r>
              </a:p>
            </p:txBody>
          </p:sp>
        </mc:Fallback>
      </mc:AlternateContent>
    </p:spTree>
    <p:extLst>
      <p:ext uri="{BB962C8B-B14F-4D97-AF65-F5344CB8AC3E}">
        <p14:creationId xmlns:p14="http://schemas.microsoft.com/office/powerpoint/2010/main" val="2727768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2F0C5AC-B581-72BC-ED98-673FE6F0DF4D}"/>
                  </a:ext>
                </a:extLst>
              </p:cNvPr>
              <p:cNvSpPr>
                <a:spLocks noGrp="1"/>
              </p:cNvSpPr>
              <p:nvPr>
                <p:ph type="title"/>
              </p:nvPr>
            </p:nvSpPr>
            <p:spPr/>
            <p:txBody>
              <a:bodyPr/>
              <a:lstStyle/>
              <a:p>
                <a:r>
                  <a:rPr lang="en-AU" b="1" dirty="0"/>
                  <a:t>Vertical Smoothing Vector (</a:t>
                </a:r>
                <a14:m>
                  <m:oMath xmlns:m="http://schemas.openxmlformats.org/officeDocument/2006/math">
                    <m:sSub>
                      <m:sSubPr>
                        <m:ctrlPr>
                          <a:rPr lang="en-US" b="1" i="1"/>
                        </m:ctrlPr>
                      </m:sSubPr>
                      <m:e>
                        <m:r>
                          <a:rPr lang="en-US" b="1" i="1"/>
                          <m:t>𝑺</m:t>
                        </m:r>
                      </m:e>
                      <m:sub>
                        <m:r>
                          <a:rPr lang="en-US" b="1" i="1"/>
                          <m:t>𝒚</m:t>
                        </m:r>
                      </m:sub>
                    </m:sSub>
                  </m:oMath>
                </a14:m>
                <a:r>
                  <a:rPr lang="en-AU" b="1" dirty="0"/>
                  <a:t>)</a:t>
                </a:r>
                <a:endParaRPr lang="en-US" b="1" dirty="0"/>
              </a:p>
            </p:txBody>
          </p:sp>
        </mc:Choice>
        <mc:Fallback>
          <p:sp>
            <p:nvSpPr>
              <p:cNvPr id="2" name="Title 1">
                <a:extLst>
                  <a:ext uri="{FF2B5EF4-FFF2-40B4-BE49-F238E27FC236}">
                    <a16:creationId xmlns:a16="http://schemas.microsoft.com/office/drawing/2014/main" id="{82F0C5AC-B581-72BC-ED98-673FE6F0DF4D}"/>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3631A70-256C-59DB-772F-119C5A567A8F}"/>
                  </a:ext>
                </a:extLst>
              </p:cNvPr>
              <p:cNvSpPr>
                <a:spLocks noGrp="1"/>
              </p:cNvSpPr>
              <p:nvPr>
                <p:ph idx="1"/>
              </p:nvPr>
            </p:nvSpPr>
            <p:spPr>
              <a:xfrm>
                <a:off x="838200" y="1825625"/>
                <a:ext cx="10718800" cy="4667250"/>
              </a:xfrm>
            </p:spPr>
            <p:txBody>
              <a:bodyPr>
                <a:normAutofit fontScale="92500"/>
              </a:bodyPr>
              <a:lstStyle/>
              <a:p>
                <a:r>
                  <a:rPr lang="en-AU" dirty="0"/>
                  <a:t>To reduce high-frequency spatial noise, we smooth along the perpendicular (</a:t>
                </a:r>
                <a14:m>
                  <m:oMath xmlns:m="http://schemas.openxmlformats.org/officeDocument/2006/math">
                    <m:r>
                      <a:rPr lang="en-US" i="1"/>
                      <m:t>𝑦</m:t>
                    </m:r>
                  </m:oMath>
                </a14:m>
                <a:r>
                  <a:rPr lang="en-AU" dirty="0"/>
                  <a:t>) axis using a discrete filter from Gaussian approximation:</a:t>
                </a:r>
              </a:p>
              <a:p>
                <a:endParaRPr lang="en-AU" sz="1300" dirty="0"/>
              </a:p>
              <a:p>
                <a:pPr marL="0" indent="0">
                  <a:buNone/>
                </a:pPr>
                <a14:m>
                  <m:oMathPara xmlns:m="http://schemas.openxmlformats.org/officeDocument/2006/math">
                    <m:oMath>
                      <m:r>
                        <a:rPr lang="en-AU" b="0" i="1" smtClean="0">
                          <a:latin typeface="Cambria Math" panose="02040503050406030204" pitchFamily="18" charset="0"/>
                        </a:rPr>
                        <m:t>𝑆</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𝑀</m:t>
                          </m:r>
                        </m:e>
                        <m:sub>
                          <m:r>
                            <a:rPr lang="en-AU" b="0" i="1" smtClean="0">
                              <a:latin typeface="Cambria Math" panose="02040503050406030204" pitchFamily="18" charset="0"/>
                            </a:rPr>
                            <m:t>𝑦</m:t>
                          </m:r>
                        </m:sub>
                      </m:sSub>
                      <m:r>
                        <a:rPr lang="en-AU" b="0" i="1" smtClean="0">
                          <a:latin typeface="Cambria Math" panose="02040503050406030204" pitchFamily="18" charset="0"/>
                        </a:rPr>
                        <m:t>=</m:t>
                      </m:r>
                      <m:d>
                        <m:dPr>
                          <m:begChr m:val="["/>
                          <m:endChr m:val="]"/>
                          <m:ctrlPr>
                            <a:rPr lang="en-AU" b="0" i="1" smtClean="0">
                              <a:latin typeface="Cambria Math" panose="02040503050406030204" pitchFamily="18" charset="0"/>
                            </a:rPr>
                          </m:ctrlPr>
                        </m:dPr>
                        <m:e>
                          <m:m>
                            <m:mPr>
                              <m:mcs>
                                <m:mc>
                                  <m:mcPr>
                                    <m:count m:val="1"/>
                                    <m:mcJc m:val="center"/>
                                  </m:mcPr>
                                </m:mc>
                              </m:mcs>
                              <m:ctrlPr>
                                <a:rPr lang="en-AU" b="0" i="1" smtClean="0">
                                  <a:latin typeface="Cambria Math" panose="02040503050406030204" pitchFamily="18" charset="0"/>
                                </a:rPr>
                              </m:ctrlPr>
                            </m:mPr>
                            <m:mr>
                              <m:e>
                                <m:r>
                                  <m:rPr>
                                    <m:brk m:alnAt="7"/>
                                  </m:rPr>
                                  <a:rPr lang="en-AU" b="0" i="1" smtClean="0">
                                    <a:latin typeface="Cambria Math" panose="02040503050406030204" pitchFamily="18" charset="0"/>
                                  </a:rPr>
                                  <m:t>1</m:t>
                                </m:r>
                              </m:e>
                            </m:mr>
                            <m:mr>
                              <m:e>
                                <m:r>
                                  <a:rPr lang="en-AU" b="0" i="1" smtClean="0">
                                    <a:latin typeface="Cambria Math" panose="02040503050406030204" pitchFamily="18" charset="0"/>
                                  </a:rPr>
                                  <m:t>2</m:t>
                                </m:r>
                              </m:e>
                            </m:mr>
                            <m:mr>
                              <m:e>
                                <m:r>
                                  <a:rPr lang="en-AU" b="0" i="1" smtClean="0">
                                    <a:latin typeface="Cambria Math" panose="02040503050406030204" pitchFamily="18" charset="0"/>
                                  </a:rPr>
                                  <m:t>1</m:t>
                                </m:r>
                              </m:e>
                            </m:mr>
                          </m:m>
                        </m:e>
                      </m:d>
                    </m:oMath>
                  </m:oMathPara>
                </a14:m>
                <a:endParaRPr lang="en-AU" b="0" dirty="0"/>
              </a:p>
              <a:p>
                <a:endParaRPr lang="en-AU" dirty="0"/>
              </a:p>
              <a:p>
                <a:r>
                  <a:rPr lang="en-AU" dirty="0"/>
                  <a:t>The horizontal Sobel operator: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𝑆</m:t>
                        </m:r>
                      </m:e>
                      <m:sub>
                        <m:r>
                          <a:rPr lang="en-AU" b="0" i="1" smtClean="0">
                            <a:latin typeface="Cambria Math" panose="02040503050406030204" pitchFamily="18" charset="0"/>
                          </a:rPr>
                          <m:t>𝑥</m:t>
                        </m:r>
                      </m:sub>
                    </m:sSub>
                    <m:r>
                      <a:rPr lang="en-AU" b="0" i="1" smtClean="0">
                        <a:latin typeface="Cambria Math" panose="02040503050406030204" pitchFamily="18" charset="0"/>
                      </a:rPr>
                      <m:t>=</m:t>
                    </m:r>
                    <m:r>
                      <a:rPr lang="en-AU" b="0" i="1" smtClean="0">
                        <a:latin typeface="Cambria Math" panose="02040503050406030204" pitchFamily="18" charset="0"/>
                      </a:rPr>
                      <m:t>𝑆</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𝑀</m:t>
                        </m:r>
                      </m:e>
                      <m:sub>
                        <m:r>
                          <a:rPr lang="en-AU" b="0" i="1" smtClean="0">
                            <a:latin typeface="Cambria Math" panose="02040503050406030204" pitchFamily="18" charset="0"/>
                          </a:rPr>
                          <m:t>𝑦</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𝐷</m:t>
                        </m:r>
                      </m:e>
                      <m:sub>
                        <m:r>
                          <a:rPr lang="en-AU" b="0" i="1" smtClean="0">
                            <a:latin typeface="Cambria Math" panose="02040503050406030204" pitchFamily="18" charset="0"/>
                          </a:rPr>
                          <m:t>𝑥</m:t>
                        </m:r>
                      </m:sub>
                    </m:sSub>
                    <m:r>
                      <a:rPr lang="en-AU" b="0" i="1" smtClean="0">
                        <a:latin typeface="Cambria Math" panose="02040503050406030204" pitchFamily="18" charset="0"/>
                      </a:rPr>
                      <m:t>=</m:t>
                    </m:r>
                    <m:r>
                      <a:rPr lang="en-AU" i="1">
                        <a:latin typeface="Cambria Math" panose="02040503050406030204" pitchFamily="18" charset="0"/>
                      </a:rPr>
                      <m:t>𝑆</m:t>
                    </m:r>
                    <m:sSub>
                      <m:sSubPr>
                        <m:ctrlPr>
                          <a:rPr lang="en-AU" i="1">
                            <a:latin typeface="Cambria Math" panose="02040503050406030204" pitchFamily="18" charset="0"/>
                          </a:rPr>
                        </m:ctrlPr>
                      </m:sSubPr>
                      <m:e>
                        <m:r>
                          <a:rPr lang="en-AU" i="1">
                            <a:latin typeface="Cambria Math" panose="02040503050406030204" pitchFamily="18" charset="0"/>
                          </a:rPr>
                          <m:t>𝑀</m:t>
                        </m:r>
                      </m:e>
                      <m:sub>
                        <m:r>
                          <a:rPr lang="en-AU" i="1">
                            <a:latin typeface="Cambria Math" panose="02040503050406030204" pitchFamily="18" charset="0"/>
                          </a:rPr>
                          <m:t>𝑦</m:t>
                        </m:r>
                      </m:sub>
                    </m:sSub>
                    <m:r>
                      <a:rPr lang="en-AU" b="0" i="1" smtClean="0">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𝐷</m:t>
                        </m:r>
                      </m:e>
                      <m:sub>
                        <m:r>
                          <a:rPr lang="en-AU" i="1">
                            <a:latin typeface="Cambria Math" panose="02040503050406030204" pitchFamily="18" charset="0"/>
                          </a:rPr>
                          <m:t>𝑥</m:t>
                        </m:r>
                      </m:sub>
                    </m:sSub>
                  </m:oMath>
                </a14:m>
                <a:endParaRPr lang="en-AU" dirty="0"/>
              </a:p>
              <a:p>
                <a:pPr marL="0" indent="0">
                  <a:buNone/>
                </a:pPr>
                <a:r>
                  <a:rPr lang="en-AU" dirty="0"/>
                  <a:t>	Computing the matrix multiplication element-by-element</a:t>
                </a:r>
              </a:p>
              <a:p>
                <a:endParaRPr lang="en-AU" sz="1300" dirty="0"/>
              </a:p>
              <a:p>
                <a:pPr marL="457200" lvl="1" indent="0" algn="ctr">
                  <a:buNone/>
                </a:pP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𝑆</m:t>
                        </m:r>
                      </m:e>
                      <m:sub>
                        <m:r>
                          <a:rPr lang="en-AU" b="0" i="1" smtClean="0">
                            <a:latin typeface="Cambria Math" panose="02040503050406030204" pitchFamily="18" charset="0"/>
                          </a:rPr>
                          <m:t>𝑥</m:t>
                        </m:r>
                      </m:sub>
                    </m:sSub>
                    <m:r>
                      <a:rPr lang="en-AU" b="0" i="1" smtClean="0">
                        <a:latin typeface="Cambria Math" panose="02040503050406030204" pitchFamily="18" charset="0"/>
                      </a:rPr>
                      <m:t>=</m:t>
                    </m:r>
                    <m:d>
                      <m:dPr>
                        <m:begChr m:val="["/>
                        <m:endChr m:val="]"/>
                        <m:ctrlPr>
                          <a:rPr lang="en-AU" i="1">
                            <a:latin typeface="Cambria Math" panose="02040503050406030204" pitchFamily="18" charset="0"/>
                          </a:rPr>
                        </m:ctrlPr>
                      </m:dPr>
                      <m:e>
                        <m:m>
                          <m:mPr>
                            <m:mcs>
                              <m:mc>
                                <m:mcPr>
                                  <m:count m:val="1"/>
                                  <m:mcJc m:val="center"/>
                                </m:mcPr>
                              </m:mc>
                            </m:mcs>
                            <m:ctrlPr>
                              <a:rPr lang="en-AU" i="1">
                                <a:latin typeface="Cambria Math" panose="02040503050406030204" pitchFamily="18" charset="0"/>
                              </a:rPr>
                            </m:ctrlPr>
                          </m:mPr>
                          <m:mr>
                            <m:e>
                              <m:r>
                                <m:rPr>
                                  <m:brk m:alnAt="7"/>
                                </m:rPr>
                                <a:rPr lang="en-AU" i="1">
                                  <a:latin typeface="Cambria Math" panose="02040503050406030204" pitchFamily="18" charset="0"/>
                                </a:rPr>
                                <m:t>1</m:t>
                              </m:r>
                            </m:e>
                          </m:mr>
                          <m:mr>
                            <m:e>
                              <m:r>
                                <a:rPr lang="en-AU" i="1">
                                  <a:latin typeface="Cambria Math" panose="02040503050406030204" pitchFamily="18" charset="0"/>
                                </a:rPr>
                                <m:t>2</m:t>
                              </m:r>
                            </m:e>
                          </m:mr>
                          <m:mr>
                            <m:e>
                              <m:r>
                                <a:rPr lang="en-AU" i="1">
                                  <a:latin typeface="Cambria Math" panose="02040503050406030204" pitchFamily="18" charset="0"/>
                                </a:rPr>
                                <m:t>1</m:t>
                              </m:r>
                            </m:e>
                          </m:mr>
                        </m:m>
                      </m:e>
                    </m:d>
                    <m:r>
                      <a:rPr lang="en-AU" b="0" i="1" smtClean="0">
                        <a:latin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a:rPr lang="en-US">
                                  <a:latin typeface="Cambria Math" panose="02040503050406030204" pitchFamily="18" charset="0"/>
                                </a:rPr>
                                <m:t>−1</m:t>
                              </m:r>
                            </m:e>
                            <m:e>
                              <m:r>
                                <a:rPr lang="en-US">
                                  <a:latin typeface="Cambria Math" panose="02040503050406030204" pitchFamily="18" charset="0"/>
                                </a:rPr>
                                <m:t>0</m:t>
                              </m:r>
                            </m:e>
                            <m:e>
                              <m:r>
                                <a:rPr lang="en-US">
                                  <a:latin typeface="Cambria Math" panose="02040503050406030204" pitchFamily="18" charset="0"/>
                                </a:rPr>
                                <m:t>1</m:t>
                              </m:r>
                            </m:e>
                          </m:mr>
                        </m:m>
                      </m:e>
                    </m:d>
                    <m:r>
                      <a:rPr lang="en-AU" b="0" i="1" smtClean="0">
                        <a:latin typeface="Cambria Math" panose="02040503050406030204" pitchFamily="18" charset="0"/>
                      </a:rPr>
                      <m:t>=</m:t>
                    </m:r>
                    <m:d>
                      <m:dPr>
                        <m:begChr m:val="["/>
                        <m:endChr m:val="]"/>
                        <m:ctrlPr>
                          <a:rPr lang="en-AU" b="0" i="1" smtClean="0">
                            <a:latin typeface="Cambria Math" panose="02040503050406030204" pitchFamily="18" charset="0"/>
                          </a:rPr>
                        </m:ctrlPr>
                      </m:dPr>
                      <m:e>
                        <m:m>
                          <m:mPr>
                            <m:mcs>
                              <m:mc>
                                <m:mcPr>
                                  <m:count m:val="3"/>
                                  <m:mcJc m:val="center"/>
                                </m:mcPr>
                              </m:mc>
                            </m:mcs>
                            <m:ctrlPr>
                              <a:rPr lang="en-AU" b="0" i="1" smtClean="0">
                                <a:latin typeface="Cambria Math" panose="02040503050406030204" pitchFamily="18" charset="0"/>
                              </a:rPr>
                            </m:ctrlPr>
                          </m:mPr>
                          <m:mr>
                            <m:e>
                              <m:eqArr>
                                <m:eqArrPr>
                                  <m:ctrlPr>
                                    <a:rPr lang="en-AU" b="0" i="1" smtClean="0">
                                      <a:latin typeface="Cambria Math" panose="02040503050406030204" pitchFamily="18" charset="0"/>
                                    </a:rPr>
                                  </m:ctrlPr>
                                </m:eqArrPr>
                                <m:e>
                                  <m:r>
                                    <a:rPr lang="en-AU" b="0" i="1" smtClean="0">
                                      <a:latin typeface="Cambria Math" panose="02040503050406030204" pitchFamily="18" charset="0"/>
                                    </a:rPr>
                                    <m:t>1</m:t>
                                  </m:r>
                                  <m:r>
                                    <a:rPr lang="en-AU" b="0" i="1" smtClean="0">
                                      <a:latin typeface="Cambria Math" panose="02040503050406030204" pitchFamily="18" charset="0"/>
                                    </a:rPr>
                                    <m:t>⋅−1</m:t>
                                  </m:r>
                                </m:e>
                                <m:e>
                                  <m:r>
                                    <a:rPr lang="en-AU" b="0" i="1" smtClean="0">
                                      <a:latin typeface="Cambria Math" panose="02040503050406030204" pitchFamily="18" charset="0"/>
                                    </a:rPr>
                                    <m:t>2</m:t>
                                  </m:r>
                                  <m:r>
                                    <a:rPr lang="en-AU" i="1">
                                      <a:latin typeface="Cambria Math" panose="02040503050406030204" pitchFamily="18" charset="0"/>
                                    </a:rPr>
                                    <m:t>⋅−1</m:t>
                                  </m:r>
                                </m:e>
                              </m:eqArr>
                            </m:e>
                            <m:e>
                              <m:eqArr>
                                <m:eqArrPr>
                                  <m:ctrlPr>
                                    <a:rPr lang="en-AU" b="0" i="1" smtClean="0">
                                      <a:latin typeface="Cambria Math" panose="02040503050406030204" pitchFamily="18" charset="0"/>
                                    </a:rPr>
                                  </m:ctrlPr>
                                </m:eqArrPr>
                                <m:e>
                                  <m:r>
                                    <a:rPr lang="en-AU" b="0" i="1" smtClean="0">
                                      <a:latin typeface="Cambria Math" panose="02040503050406030204" pitchFamily="18" charset="0"/>
                                    </a:rPr>
                                    <m:t>1</m:t>
                                  </m:r>
                                  <m:r>
                                    <a:rPr lang="en-AU" i="1">
                                      <a:latin typeface="Cambria Math" panose="02040503050406030204" pitchFamily="18" charset="0"/>
                                    </a:rPr>
                                    <m:t>⋅</m:t>
                                  </m:r>
                                  <m:r>
                                    <a:rPr lang="en-AU" b="0" i="1" smtClean="0">
                                      <a:latin typeface="Cambria Math" panose="02040503050406030204" pitchFamily="18" charset="0"/>
                                    </a:rPr>
                                    <m:t>0</m:t>
                                  </m:r>
                                </m:e>
                                <m:e>
                                  <m:r>
                                    <a:rPr lang="en-AU" b="0" i="1" smtClean="0">
                                      <a:latin typeface="Cambria Math" panose="02040503050406030204" pitchFamily="18" charset="0"/>
                                    </a:rPr>
                                    <m:t>2</m:t>
                                  </m:r>
                                  <m:r>
                                    <a:rPr lang="en-AU" i="1">
                                      <a:latin typeface="Cambria Math" panose="02040503050406030204" pitchFamily="18" charset="0"/>
                                    </a:rPr>
                                    <m:t>⋅</m:t>
                                  </m:r>
                                  <m:r>
                                    <a:rPr lang="en-AU" b="0" i="1" smtClean="0">
                                      <a:latin typeface="Cambria Math" panose="02040503050406030204" pitchFamily="18" charset="0"/>
                                    </a:rPr>
                                    <m:t>0</m:t>
                                  </m:r>
                                </m:e>
                              </m:eqArr>
                            </m:e>
                            <m:e>
                              <m:eqArr>
                                <m:eqArrPr>
                                  <m:ctrlPr>
                                    <a:rPr lang="en-US" i="1">
                                      <a:latin typeface="Cambria Math" panose="02040503050406030204" pitchFamily="18" charset="0"/>
                                    </a:rPr>
                                  </m:ctrlPr>
                                </m:eqArrPr>
                                <m:e>
                                  <m:r>
                                    <a:rPr lang="en-AU" b="0" i="1" smtClean="0">
                                      <a:latin typeface="Cambria Math" panose="02040503050406030204" pitchFamily="18" charset="0"/>
                                    </a:rPr>
                                    <m:t>1</m:t>
                                  </m:r>
                                  <m:r>
                                    <a:rPr lang="en-AU" i="1">
                                      <a:latin typeface="Cambria Math" panose="02040503050406030204" pitchFamily="18" charset="0"/>
                                    </a:rPr>
                                    <m:t>⋅1</m:t>
                                  </m:r>
                                </m:e>
                                <m:e>
                                  <m:r>
                                    <a:rPr lang="en-AU" b="0" i="1" smtClean="0">
                                      <a:latin typeface="Cambria Math" panose="02040503050406030204" pitchFamily="18" charset="0"/>
                                    </a:rPr>
                                    <m:t>2</m:t>
                                  </m:r>
                                  <m:r>
                                    <a:rPr lang="en-AU" i="1">
                                      <a:latin typeface="Cambria Math" panose="02040503050406030204" pitchFamily="18" charset="0"/>
                                    </a:rPr>
                                    <m:t>⋅1</m:t>
                                  </m:r>
                                </m:e>
                              </m:eqArr>
                            </m:e>
                          </m:mr>
                          <m:mr>
                            <m:e>
                              <m:r>
                                <a:rPr lang="en-AU" b="0" i="1" smtClean="0">
                                  <a:latin typeface="Cambria Math" panose="02040503050406030204" pitchFamily="18" charset="0"/>
                                </a:rPr>
                                <m:t>1</m:t>
                              </m:r>
                              <m:r>
                                <a:rPr lang="en-AU" i="1">
                                  <a:latin typeface="Cambria Math" panose="02040503050406030204" pitchFamily="18" charset="0"/>
                                </a:rPr>
                                <m:t>⋅−1</m:t>
                              </m:r>
                            </m:e>
                            <m:e>
                              <m:r>
                                <a:rPr lang="en-AU" b="0" i="1" smtClean="0">
                                  <a:latin typeface="Cambria Math" panose="02040503050406030204" pitchFamily="18" charset="0"/>
                                </a:rPr>
                                <m:t>1</m:t>
                              </m:r>
                              <m:r>
                                <a:rPr lang="en-AU" i="1">
                                  <a:latin typeface="Cambria Math" panose="02040503050406030204" pitchFamily="18" charset="0"/>
                                </a:rPr>
                                <m:t>⋅</m:t>
                              </m:r>
                              <m:r>
                                <a:rPr lang="en-AU" b="0" i="1" smtClean="0">
                                  <a:latin typeface="Cambria Math" panose="02040503050406030204" pitchFamily="18" charset="0"/>
                                </a:rPr>
                                <m:t>0</m:t>
                              </m:r>
                            </m:e>
                            <m:e>
                              <m:r>
                                <a:rPr lang="en-AU" b="0" i="1" smtClean="0">
                                  <a:latin typeface="Cambria Math" panose="02040503050406030204" pitchFamily="18" charset="0"/>
                                </a:rPr>
                                <m:t>1</m:t>
                              </m:r>
                              <m:r>
                                <a:rPr lang="en-AU" i="1">
                                  <a:latin typeface="Cambria Math" panose="02040503050406030204" pitchFamily="18" charset="0"/>
                                </a:rPr>
                                <m:t>⋅1</m:t>
                              </m:r>
                            </m:e>
                          </m:mr>
                        </m:m>
                      </m:e>
                    </m:d>
                    <m:r>
                      <a:rPr lang="en-AU" b="0" i="1" smtClean="0">
                        <a:latin typeface="Cambria Math" panose="02040503050406030204" pitchFamily="18" charset="0"/>
                      </a:rPr>
                      <m:t>=</m:t>
                    </m:r>
                  </m:oMath>
                </a14:m>
                <a:r>
                  <a:rPr lang="en-AU" dirty="0"/>
                  <a:t> </a:t>
                </a:r>
                <a14:m>
                  <m:oMath xmlns:m="http://schemas.openxmlformats.org/officeDocument/2006/math">
                    <m:d>
                      <m:dPr>
                        <m:begChr m:val="["/>
                        <m:endChr m:val="]"/>
                        <m:ctrlPr>
                          <a:rPr lang="en-AU" i="1">
                            <a:latin typeface="Cambria Math" panose="02040503050406030204" pitchFamily="18" charset="0"/>
                          </a:rPr>
                        </m:ctrlPr>
                      </m:dPr>
                      <m:e>
                        <m:m>
                          <m:mPr>
                            <m:mcs>
                              <m:mc>
                                <m:mcPr>
                                  <m:count m:val="3"/>
                                  <m:mcJc m:val="center"/>
                                </m:mcPr>
                              </m:mc>
                            </m:mcs>
                            <m:ctrlPr>
                              <a:rPr lang="en-AU" i="1">
                                <a:latin typeface="Cambria Math" panose="02040503050406030204" pitchFamily="18" charset="0"/>
                              </a:rPr>
                            </m:ctrlPr>
                          </m:mPr>
                          <m:mr>
                            <m:e>
                              <m:eqArr>
                                <m:eqArrPr>
                                  <m:ctrlPr>
                                    <a:rPr lang="en-AU" i="1">
                                      <a:latin typeface="Cambria Math" panose="02040503050406030204" pitchFamily="18" charset="0"/>
                                    </a:rPr>
                                  </m:ctrlPr>
                                </m:eqArrPr>
                                <m:e>
                                  <m:r>
                                    <a:rPr lang="en-AU" i="1">
                                      <a:latin typeface="Cambria Math" panose="02040503050406030204" pitchFamily="18" charset="0"/>
                                    </a:rPr>
                                    <m:t>−1</m:t>
                                  </m:r>
                                </m:e>
                                <m:e>
                                  <m:r>
                                    <a:rPr lang="en-AU" b="0" i="1" smtClean="0">
                                      <a:latin typeface="Cambria Math" panose="02040503050406030204" pitchFamily="18" charset="0"/>
                                    </a:rPr>
                                    <m:t>−</m:t>
                                  </m:r>
                                  <m:r>
                                    <a:rPr lang="en-AU" i="1">
                                      <a:latin typeface="Cambria Math" panose="02040503050406030204" pitchFamily="18" charset="0"/>
                                    </a:rPr>
                                    <m:t>2</m:t>
                                  </m:r>
                                </m:e>
                              </m:eqArr>
                            </m:e>
                            <m:e>
                              <m:eqArr>
                                <m:eqArrPr>
                                  <m:ctrlPr>
                                    <a:rPr lang="en-AU" i="1">
                                      <a:latin typeface="Cambria Math" panose="02040503050406030204" pitchFamily="18" charset="0"/>
                                    </a:rPr>
                                  </m:ctrlPr>
                                </m:eqArrPr>
                                <m:e>
                                  <m:r>
                                    <a:rPr lang="en-AU" i="1">
                                      <a:latin typeface="Cambria Math" panose="02040503050406030204" pitchFamily="18" charset="0"/>
                                    </a:rPr>
                                    <m:t>0</m:t>
                                  </m:r>
                                </m:e>
                                <m:e>
                                  <m:r>
                                    <a:rPr lang="en-AU" i="1">
                                      <a:latin typeface="Cambria Math" panose="02040503050406030204" pitchFamily="18" charset="0"/>
                                    </a:rPr>
                                    <m:t>0</m:t>
                                  </m:r>
                                </m:e>
                              </m:eqArr>
                            </m:e>
                            <m:e>
                              <m:eqArr>
                                <m:eqArrPr>
                                  <m:ctrlPr>
                                    <a:rPr lang="en-US" i="1">
                                      <a:latin typeface="Cambria Math" panose="02040503050406030204" pitchFamily="18" charset="0"/>
                                    </a:rPr>
                                  </m:ctrlPr>
                                </m:eqArrPr>
                                <m:e>
                                  <m:r>
                                    <a:rPr lang="en-AU" i="1">
                                      <a:latin typeface="Cambria Math" panose="02040503050406030204" pitchFamily="18" charset="0"/>
                                    </a:rPr>
                                    <m:t>1</m:t>
                                  </m:r>
                                </m:e>
                                <m:e>
                                  <m:r>
                                    <a:rPr lang="en-AU" i="1">
                                      <a:latin typeface="Cambria Math" panose="02040503050406030204" pitchFamily="18" charset="0"/>
                                    </a:rPr>
                                    <m:t>2</m:t>
                                  </m:r>
                                </m:e>
                              </m:eqArr>
                            </m:e>
                          </m:mr>
                          <m:mr>
                            <m:e>
                              <m:r>
                                <a:rPr lang="en-AU" i="1">
                                  <a:latin typeface="Cambria Math" panose="02040503050406030204" pitchFamily="18" charset="0"/>
                                </a:rPr>
                                <m:t>−1</m:t>
                              </m:r>
                            </m:e>
                            <m:e>
                              <m:r>
                                <a:rPr lang="en-AU" i="1">
                                  <a:latin typeface="Cambria Math" panose="02040503050406030204" pitchFamily="18" charset="0"/>
                                </a:rPr>
                                <m:t>0</m:t>
                              </m:r>
                            </m:e>
                            <m:e>
                              <m:r>
                                <a:rPr lang="en-AU" i="1">
                                  <a:latin typeface="Cambria Math" panose="02040503050406030204" pitchFamily="18" charset="0"/>
                                </a:rPr>
                                <m:t>1</m:t>
                              </m:r>
                            </m:e>
                          </m:mr>
                        </m:m>
                      </m:e>
                    </m:d>
                  </m:oMath>
                </a14:m>
                <a:endParaRPr lang="en-AU" dirty="0"/>
              </a:p>
              <a:p>
                <a:pPr marL="457200" lvl="1" indent="0">
                  <a:buNone/>
                </a:pPr>
                <a:endParaRPr lang="en-AU" dirty="0"/>
              </a:p>
            </p:txBody>
          </p:sp>
        </mc:Choice>
        <mc:Fallback>
          <p:sp>
            <p:nvSpPr>
              <p:cNvPr id="3" name="Content Placeholder 2">
                <a:extLst>
                  <a:ext uri="{FF2B5EF4-FFF2-40B4-BE49-F238E27FC236}">
                    <a16:creationId xmlns:a16="http://schemas.microsoft.com/office/drawing/2014/main" id="{13631A70-256C-59DB-772F-119C5A567A8F}"/>
                  </a:ext>
                </a:extLst>
              </p:cNvPr>
              <p:cNvSpPr>
                <a:spLocks noGrp="1" noRot="1" noChangeAspect="1" noMove="1" noResize="1" noEditPoints="1" noAdjustHandles="1" noChangeArrowheads="1" noChangeShapeType="1" noTextEdit="1"/>
              </p:cNvSpPr>
              <p:nvPr>
                <p:ph idx="1"/>
              </p:nvPr>
            </p:nvSpPr>
            <p:spPr>
              <a:xfrm>
                <a:off x="838200" y="1825625"/>
                <a:ext cx="10718800" cy="4667250"/>
              </a:xfrm>
              <a:blipFill>
                <a:blip r:embed="rId3"/>
                <a:stretch>
                  <a:fillRect l="-947" t="-1897" b="-13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8B283B3-D232-433C-ED4D-6C90E449A597}"/>
                  </a:ext>
                </a:extLst>
              </p:cNvPr>
              <p:cNvSpPr txBox="1"/>
              <p:nvPr/>
            </p:nvSpPr>
            <p:spPr>
              <a:xfrm>
                <a:off x="6950546" y="2996168"/>
                <a:ext cx="4606454" cy="646331"/>
              </a:xfrm>
              <a:prstGeom prst="rect">
                <a:avLst/>
              </a:prstGeom>
              <a:noFill/>
            </p:spPr>
            <p:txBody>
              <a:bodyPr wrap="none" rtlCol="0">
                <a:spAutoFit/>
              </a:bodyPr>
              <a:lstStyle/>
              <a:p>
                <a:r>
                  <a:rPr lang="en-AU" dirty="0"/>
                  <a:t>The </a:t>
                </a:r>
                <a:r>
                  <a:rPr lang="en-AU" dirty="0" err="1"/>
                  <a:t>center</a:t>
                </a:r>
                <a:r>
                  <a:rPr lang="en-AU" dirty="0"/>
                  <a:t> weight of </a:t>
                </a:r>
                <a14:m>
                  <m:oMath xmlns:m="http://schemas.openxmlformats.org/officeDocument/2006/math">
                    <m:r>
                      <a:rPr lang="en-US"/>
                      <m:t>2</m:t>
                    </m:r>
                  </m:oMath>
                </a14:m>
                <a:r>
                  <a:rPr lang="en-AU" dirty="0"/>
                  <a:t> reflects the peak of the </a:t>
                </a:r>
              </a:p>
              <a:p>
                <a:r>
                  <a:rPr lang="en-AU" dirty="0"/>
                  <a:t>1D Gaussian bell curve.</a:t>
                </a:r>
                <a:endParaRPr lang="en-US" dirty="0"/>
              </a:p>
            </p:txBody>
          </p:sp>
        </mc:Choice>
        <mc:Fallback>
          <p:sp>
            <p:nvSpPr>
              <p:cNvPr id="4" name="TextBox 3">
                <a:extLst>
                  <a:ext uri="{FF2B5EF4-FFF2-40B4-BE49-F238E27FC236}">
                    <a16:creationId xmlns:a16="http://schemas.microsoft.com/office/drawing/2014/main" id="{28B283B3-D232-433C-ED4D-6C90E449A597}"/>
                  </a:ext>
                </a:extLst>
              </p:cNvPr>
              <p:cNvSpPr txBox="1">
                <a:spLocks noRot="1" noChangeAspect="1" noMove="1" noResize="1" noEditPoints="1" noAdjustHandles="1" noChangeArrowheads="1" noChangeShapeType="1" noTextEdit="1"/>
              </p:cNvSpPr>
              <p:nvPr/>
            </p:nvSpPr>
            <p:spPr>
              <a:xfrm>
                <a:off x="6950546" y="2996168"/>
                <a:ext cx="4606454" cy="646331"/>
              </a:xfrm>
              <a:prstGeom prst="rect">
                <a:avLst/>
              </a:prstGeom>
              <a:blipFill>
                <a:blip r:embed="rId4"/>
                <a:stretch>
                  <a:fillRect l="-1099" t="-3774" b="-11321"/>
                </a:stretch>
              </a:blipFill>
            </p:spPr>
            <p:txBody>
              <a:bodyPr/>
              <a:lstStyle/>
              <a:p>
                <a:r>
                  <a:rPr lang="en-US">
                    <a:noFill/>
                  </a:rPr>
                  <a:t> </a:t>
                </a:r>
              </a:p>
            </p:txBody>
          </p:sp>
        </mc:Fallback>
      </mc:AlternateContent>
    </p:spTree>
    <p:extLst>
      <p:ext uri="{BB962C8B-B14F-4D97-AF65-F5344CB8AC3E}">
        <p14:creationId xmlns:p14="http://schemas.microsoft.com/office/powerpoint/2010/main" val="3235696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6F7E-FE9D-1A1B-C723-F4B4817FAA46}"/>
              </a:ext>
            </a:extLst>
          </p:cNvPr>
          <p:cNvSpPr>
            <a:spLocks noGrp="1"/>
          </p:cNvSpPr>
          <p:nvPr>
            <p:ph type="title"/>
          </p:nvPr>
        </p:nvSpPr>
        <p:spPr/>
        <p:txBody>
          <a:bodyPr/>
          <a:lstStyle/>
          <a:p>
            <a:r>
              <a:rPr lang="en-US" b="1" dirty="0"/>
              <a:t>Edge detection: Naive thresholding</a:t>
            </a:r>
          </a:p>
        </p:txBody>
      </p:sp>
      <p:sp>
        <p:nvSpPr>
          <p:cNvPr id="3" name="Content Placeholder 2">
            <a:extLst>
              <a:ext uri="{FF2B5EF4-FFF2-40B4-BE49-F238E27FC236}">
                <a16:creationId xmlns:a16="http://schemas.microsoft.com/office/drawing/2014/main" id="{1880EE52-1770-74EC-401C-A3EBDE7E53E6}"/>
              </a:ext>
            </a:extLst>
          </p:cNvPr>
          <p:cNvSpPr>
            <a:spLocks noGrp="1"/>
          </p:cNvSpPr>
          <p:nvPr>
            <p:ph idx="1"/>
          </p:nvPr>
        </p:nvSpPr>
        <p:spPr/>
        <p:txBody>
          <a:bodyPr/>
          <a:lstStyle/>
          <a:p>
            <a:pPr marL="514350" lvl="0" indent="-514350" fontAlgn="base">
              <a:buFont typeface="+mj-lt"/>
              <a:buAutoNum type="arabicPeriod"/>
            </a:pPr>
            <a:r>
              <a:rPr lang="en-AU" dirty="0"/>
              <a:t>Compute gradient vector at each pixel by convolving image with horizontal and vertical derivative filters / masks.</a:t>
            </a:r>
          </a:p>
          <a:p>
            <a:pPr marL="514350" lvl="0" indent="-514350" fontAlgn="base">
              <a:buFont typeface="+mj-lt"/>
              <a:buAutoNum type="arabicPeriod"/>
            </a:pPr>
            <a:r>
              <a:rPr lang="en-AU" dirty="0"/>
              <a:t>Compute gradient magnitude at each pixel.</a:t>
            </a:r>
          </a:p>
          <a:p>
            <a:pPr marL="514350" lvl="0" indent="-514350" fontAlgn="base">
              <a:buFont typeface="+mj-lt"/>
              <a:buAutoNum type="arabicPeriod"/>
            </a:pPr>
            <a:r>
              <a:rPr lang="en-AU" dirty="0"/>
              <a:t>If magnitude at a pixel exceeds a threshold, report a possible edge point.</a:t>
            </a:r>
          </a:p>
          <a:p>
            <a:r>
              <a:rPr lang="en-US" dirty="0"/>
              <a:t>See notebook</a:t>
            </a:r>
          </a:p>
        </p:txBody>
      </p:sp>
    </p:spTree>
    <p:extLst>
      <p:ext uri="{BB962C8B-B14F-4D97-AF65-F5344CB8AC3E}">
        <p14:creationId xmlns:p14="http://schemas.microsoft.com/office/powerpoint/2010/main" val="407693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DBD30-DE08-DBC2-30DB-C080B0FA1AA6}"/>
              </a:ext>
            </a:extLst>
          </p:cNvPr>
          <p:cNvSpPr>
            <a:spLocks noGrp="1"/>
          </p:cNvSpPr>
          <p:nvPr>
            <p:ph type="title"/>
          </p:nvPr>
        </p:nvSpPr>
        <p:spPr/>
        <p:txBody>
          <a:bodyPr/>
          <a:lstStyle/>
          <a:p>
            <a:r>
              <a:rPr lang="en-US" b="1" dirty="0"/>
              <a:t>Other operators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E539C74-039D-F806-7C93-2383BD1B1809}"/>
                  </a:ext>
                </a:extLst>
              </p:cNvPr>
              <p:cNvSpPr>
                <a:spLocks noGrp="1"/>
              </p:cNvSpPr>
              <p:nvPr>
                <p:ph idx="1"/>
              </p:nvPr>
            </p:nvSpPr>
            <p:spPr/>
            <p:txBody>
              <a:bodyPr/>
              <a:lstStyle/>
              <a:p>
                <a:r>
                  <a:rPr lang="en-AU" dirty="0"/>
                  <a:t> Prewitt Mask</a:t>
                </a:r>
              </a:p>
              <a:p>
                <a:pPr marL="0" indent="0">
                  <a:buNone/>
                </a:pPr>
                <a14:m>
                  <m:oMathPara xmlns:m="http://schemas.openxmlformats.org/officeDocument/2006/math">
                    <m:oMath>
                      <m:sSub>
                        <m:sSubPr>
                          <m:ctrlPr>
                            <a:rPr lang="en-AU" i="1">
                              <a:latin typeface="Cambria Math" panose="02040503050406030204" pitchFamily="18" charset="0"/>
                            </a:rPr>
                          </m:ctrlPr>
                        </m:sSubPr>
                        <m:e>
                          <m:r>
                            <a:rPr lang="en-AU" i="1">
                              <a:latin typeface="Cambria Math" panose="02040503050406030204" pitchFamily="18" charset="0"/>
                            </a:rPr>
                            <m:t>𝑆</m:t>
                          </m:r>
                        </m:e>
                        <m:sub>
                          <m:r>
                            <a:rPr lang="en-AU" i="1">
                              <a:latin typeface="Cambria Math" panose="02040503050406030204" pitchFamily="18" charset="0"/>
                            </a:rPr>
                            <m:t>𝑥</m:t>
                          </m:r>
                        </m:sub>
                      </m:sSub>
                      <m:r>
                        <a:rPr lang="en-AU" i="1">
                          <a:latin typeface="Cambria Math" panose="02040503050406030204" pitchFamily="18" charset="0"/>
                        </a:rPr>
                        <m:t>=</m:t>
                      </m:r>
                      <m:d>
                        <m:dPr>
                          <m:begChr m:val="["/>
                          <m:endChr m:val="]"/>
                          <m:ctrlPr>
                            <a:rPr lang="en-AU" i="1">
                              <a:latin typeface="Cambria Math" panose="02040503050406030204" pitchFamily="18" charset="0"/>
                            </a:rPr>
                          </m:ctrlPr>
                        </m:dPr>
                        <m:e>
                          <m:m>
                            <m:mPr>
                              <m:mcs>
                                <m:mc>
                                  <m:mcPr>
                                    <m:count m:val="3"/>
                                    <m:mcJc m:val="center"/>
                                  </m:mcPr>
                                </m:mc>
                              </m:mcs>
                              <m:ctrlPr>
                                <a:rPr lang="en-AU" i="1">
                                  <a:latin typeface="Cambria Math" panose="02040503050406030204" pitchFamily="18" charset="0"/>
                                </a:rPr>
                              </m:ctrlPr>
                            </m:mPr>
                            <m:mr>
                              <m:e>
                                <m:r>
                                  <m:rPr>
                                    <m:brk m:alnAt="7"/>
                                  </m:rPr>
                                  <a:rPr lang="en-AU" i="1">
                                    <a:latin typeface="Cambria Math" panose="02040503050406030204" pitchFamily="18" charset="0"/>
                                  </a:rPr>
                                  <m:t>−</m:t>
                                </m:r>
                                <m:r>
                                  <m:rPr>
                                    <m:brk m:alnAt="7"/>
                                  </m:rPr>
                                  <a:rPr lang="en-AU" i="1">
                                    <a:latin typeface="Cambria Math" panose="02040503050406030204" pitchFamily="18" charset="0"/>
                                  </a:rPr>
                                  <m:t>1</m:t>
                                </m:r>
                              </m:e>
                              <m:e>
                                <m:r>
                                  <a:rPr lang="en-AU" i="1">
                                    <a:latin typeface="Cambria Math" panose="02040503050406030204" pitchFamily="18" charset="0"/>
                                  </a:rPr>
                                  <m:t>0</m:t>
                                </m:r>
                              </m:e>
                              <m:e>
                                <m:r>
                                  <a:rPr lang="en-AU" i="1">
                                    <a:latin typeface="Cambria Math" panose="02040503050406030204" pitchFamily="18" charset="0"/>
                                  </a:rPr>
                                  <m:t>1</m:t>
                                </m:r>
                              </m:e>
                            </m:mr>
                            <m:mr>
                              <m:e>
                                <m:r>
                                  <a:rPr lang="en-AU" i="1">
                                    <a:latin typeface="Cambria Math" panose="02040503050406030204" pitchFamily="18" charset="0"/>
                                  </a:rPr>
                                  <m:t>−</m:t>
                                </m:r>
                                <m:r>
                                  <a:rPr lang="en-AU" b="0" i="1" smtClean="0">
                                    <a:latin typeface="Cambria Math" panose="02040503050406030204" pitchFamily="18" charset="0"/>
                                  </a:rPr>
                                  <m:t>1</m:t>
                                </m:r>
                              </m:e>
                              <m:e>
                                <m:r>
                                  <a:rPr lang="en-AU" i="1">
                                    <a:latin typeface="Cambria Math" panose="02040503050406030204" pitchFamily="18" charset="0"/>
                                  </a:rPr>
                                  <m:t>0</m:t>
                                </m:r>
                              </m:e>
                              <m:e>
                                <m:r>
                                  <a:rPr lang="en-AU" b="0" i="1" smtClean="0">
                                    <a:latin typeface="Cambria Math" panose="02040503050406030204" pitchFamily="18" charset="0"/>
                                  </a:rPr>
                                  <m:t>1</m:t>
                                </m:r>
                              </m:e>
                            </m:mr>
                            <m:mr>
                              <m:e>
                                <m:r>
                                  <a:rPr lang="en-AU" i="1">
                                    <a:latin typeface="Cambria Math" panose="02040503050406030204" pitchFamily="18" charset="0"/>
                                  </a:rPr>
                                  <m:t>−1</m:t>
                                </m:r>
                              </m:e>
                              <m:e>
                                <m:r>
                                  <a:rPr lang="en-AU" i="1">
                                    <a:latin typeface="Cambria Math" panose="02040503050406030204" pitchFamily="18" charset="0"/>
                                  </a:rPr>
                                  <m:t>0</m:t>
                                </m:r>
                              </m:e>
                              <m:e>
                                <m:r>
                                  <a:rPr lang="en-AU" i="1">
                                    <a:latin typeface="Cambria Math" panose="02040503050406030204" pitchFamily="18" charset="0"/>
                                  </a:rPr>
                                  <m:t>1</m:t>
                                </m:r>
                              </m:e>
                            </m:mr>
                          </m:m>
                        </m:e>
                      </m:d>
                      <m:r>
                        <m:rPr>
                          <m:nor/>
                        </m:rPr>
                        <a:rPr lang="en-AU" dirty="0"/>
                        <m:t>  and  </m:t>
                      </m:r>
                      <m:sSub>
                        <m:sSubPr>
                          <m:ctrlPr>
                            <a:rPr lang="en-AU" b="0" i="0" smtClean="0">
                              <a:latin typeface="Cambria Math" panose="02040503050406030204" pitchFamily="18" charset="0"/>
                            </a:rPr>
                          </m:ctrlPr>
                        </m:sSubPr>
                        <m:e>
                          <m:r>
                            <m:rPr>
                              <m:sty m:val="p"/>
                            </m:rPr>
                            <a:rPr lang="en-AU" b="0" i="0" smtClean="0">
                              <a:latin typeface="Cambria Math" panose="02040503050406030204" pitchFamily="18" charset="0"/>
                            </a:rPr>
                            <m:t>S</m:t>
                          </m:r>
                        </m:e>
                        <m:sub>
                          <m:r>
                            <m:rPr>
                              <m:sty m:val="p"/>
                            </m:rPr>
                            <a:rPr lang="en-AU">
                              <a:latin typeface="Cambria Math" panose="02040503050406030204" pitchFamily="18" charset="0"/>
                            </a:rPr>
                            <m:t>y</m:t>
                          </m:r>
                        </m:sub>
                      </m:sSub>
                      <m:r>
                        <a:rPr lang="en-AU">
                          <a:latin typeface="Cambria Math" panose="02040503050406030204" pitchFamily="18" charset="0"/>
                        </a:rPr>
                        <m:t>=</m:t>
                      </m:r>
                      <m:d>
                        <m:dPr>
                          <m:begChr m:val="["/>
                          <m:endChr m:val="]"/>
                          <m:ctrlPr>
                            <a:rPr lang="en-AU" i="1">
                              <a:latin typeface="Cambria Math" panose="02040503050406030204" pitchFamily="18" charset="0"/>
                            </a:rPr>
                          </m:ctrlPr>
                        </m:dPr>
                        <m:e>
                          <m:m>
                            <m:mPr>
                              <m:mcs>
                                <m:mc>
                                  <m:mcPr>
                                    <m:count m:val="3"/>
                                    <m:mcJc m:val="center"/>
                                  </m:mcPr>
                                </m:mc>
                              </m:mcs>
                              <m:ctrlPr>
                                <a:rPr lang="en-AU" i="1">
                                  <a:latin typeface="Cambria Math" panose="02040503050406030204" pitchFamily="18" charset="0"/>
                                </a:rPr>
                              </m:ctrlPr>
                            </m:mPr>
                            <m:mr>
                              <m:e>
                                <m:r>
                                  <m:rPr>
                                    <m:brk m:alnAt="7"/>
                                  </m:rPr>
                                  <a:rPr lang="en-AU" b="0" i="1" smtClean="0">
                                    <a:latin typeface="Cambria Math" panose="02040503050406030204" pitchFamily="18" charset="0"/>
                                  </a:rPr>
                                  <m:t>1</m:t>
                                </m:r>
                              </m:e>
                              <m:e>
                                <m:r>
                                  <a:rPr lang="en-AU" b="0" i="1" smtClean="0">
                                    <a:latin typeface="Cambria Math" panose="02040503050406030204" pitchFamily="18" charset="0"/>
                                  </a:rPr>
                                  <m:t>1</m:t>
                                </m:r>
                              </m:e>
                              <m:e>
                                <m:r>
                                  <a:rPr lang="en-AU" b="0" i="1" smtClean="0">
                                    <a:latin typeface="Cambria Math" panose="02040503050406030204" pitchFamily="18" charset="0"/>
                                  </a:rPr>
                                  <m:t>1</m:t>
                                </m:r>
                              </m:e>
                            </m:mr>
                            <m:mr>
                              <m:e>
                                <m:r>
                                  <a:rPr lang="en-AU" i="1">
                                    <a:latin typeface="Cambria Math" panose="02040503050406030204" pitchFamily="18" charset="0"/>
                                  </a:rPr>
                                  <m:t>0</m:t>
                                </m:r>
                              </m:e>
                              <m:e>
                                <m:r>
                                  <a:rPr lang="en-AU" i="1">
                                    <a:latin typeface="Cambria Math" panose="02040503050406030204" pitchFamily="18" charset="0"/>
                                  </a:rPr>
                                  <m:t>0</m:t>
                                </m:r>
                              </m:e>
                              <m:e>
                                <m:r>
                                  <a:rPr lang="en-AU" i="1">
                                    <a:latin typeface="Cambria Math" panose="02040503050406030204" pitchFamily="18" charset="0"/>
                                  </a:rPr>
                                  <m:t>0</m:t>
                                </m:r>
                              </m:e>
                            </m:mr>
                            <m:mr>
                              <m:e>
                                <m:r>
                                  <a:rPr lang="en-AU" b="0" i="1" smtClean="0">
                                    <a:latin typeface="Cambria Math" panose="02040503050406030204" pitchFamily="18" charset="0"/>
                                  </a:rPr>
                                  <m:t>−1</m:t>
                                </m:r>
                              </m:e>
                              <m:e>
                                <m:r>
                                  <a:rPr lang="en-AU" b="0" i="1" smtClean="0">
                                    <a:latin typeface="Cambria Math" panose="02040503050406030204" pitchFamily="18" charset="0"/>
                                  </a:rPr>
                                  <m:t>−1</m:t>
                                </m:r>
                              </m:e>
                              <m:e>
                                <m:r>
                                  <a:rPr lang="en-AU" b="0" i="1" smtClean="0">
                                    <a:latin typeface="Cambria Math" panose="02040503050406030204" pitchFamily="18" charset="0"/>
                                  </a:rPr>
                                  <m:t>−1</m:t>
                                </m:r>
                              </m:e>
                            </m:mr>
                          </m:m>
                        </m:e>
                      </m:d>
                    </m:oMath>
                  </m:oMathPara>
                </a14:m>
                <a:endParaRPr lang="en-AU" dirty="0"/>
              </a:p>
              <a:p>
                <a:endParaRPr lang="en-AU" dirty="0"/>
              </a:p>
              <a:p>
                <a:r>
                  <a:rPr lang="en-AU" dirty="0"/>
                  <a:t>Roberts Mask</a:t>
                </a:r>
              </a:p>
              <a:p>
                <a:pPr marL="0" indent="0">
                  <a:buNone/>
                </a:pPr>
                <a14:m>
                  <m:oMathPara xmlns:m="http://schemas.openxmlformats.org/officeDocument/2006/math">
                    <m:o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𝑆</m:t>
                          </m:r>
                        </m:e>
                        <m:sub>
                          <m:r>
                            <a:rPr lang="en-AU" b="0" i="1" smtClean="0">
                              <a:latin typeface="Cambria Math" panose="02040503050406030204" pitchFamily="18" charset="0"/>
                            </a:rPr>
                            <m:t>𝑥</m:t>
                          </m:r>
                        </m:sub>
                      </m:sSub>
                      <m:r>
                        <a:rPr lang="en-AU" i="1">
                          <a:latin typeface="Cambria Math" panose="02040503050406030204" pitchFamily="18" charset="0"/>
                        </a:rPr>
                        <m:t>=</m:t>
                      </m:r>
                      <m:d>
                        <m:dPr>
                          <m:begChr m:val="["/>
                          <m:endChr m:val="]"/>
                          <m:ctrlPr>
                            <a:rPr lang="en-AU" i="1">
                              <a:latin typeface="Cambria Math" panose="02040503050406030204" pitchFamily="18" charset="0"/>
                            </a:rPr>
                          </m:ctrlPr>
                        </m:dPr>
                        <m:e>
                          <m:m>
                            <m:mPr>
                              <m:mcs>
                                <m:mc>
                                  <m:mcPr>
                                    <m:count m:val="2"/>
                                    <m:mcJc m:val="center"/>
                                  </m:mcPr>
                                </m:mc>
                              </m:mcs>
                              <m:ctrlPr>
                                <a:rPr lang="en-AU" i="1">
                                  <a:latin typeface="Cambria Math" panose="02040503050406030204" pitchFamily="18" charset="0"/>
                                </a:rPr>
                              </m:ctrlPr>
                            </m:mPr>
                            <m:mr>
                              <m:e>
                                <m:r>
                                  <a:rPr lang="en-AU" i="1">
                                    <a:latin typeface="Cambria Math" panose="02040503050406030204" pitchFamily="18" charset="0"/>
                                  </a:rPr>
                                  <m:t>0</m:t>
                                </m:r>
                              </m:e>
                              <m:e>
                                <m:r>
                                  <a:rPr lang="en-AU" i="1">
                                    <a:latin typeface="Cambria Math" panose="02040503050406030204" pitchFamily="18" charset="0"/>
                                  </a:rPr>
                                  <m:t>1</m:t>
                                </m:r>
                              </m:e>
                            </m:mr>
                            <m:mr>
                              <m:e>
                                <m:r>
                                  <a:rPr lang="en-AU" b="0" i="1" smtClean="0">
                                    <a:latin typeface="Cambria Math" panose="02040503050406030204" pitchFamily="18" charset="0"/>
                                  </a:rPr>
                                  <m:t>−1</m:t>
                                </m:r>
                              </m:e>
                              <m:e>
                                <m:r>
                                  <a:rPr lang="en-AU" b="0" i="1" smtClean="0">
                                    <a:latin typeface="Cambria Math" panose="02040503050406030204" pitchFamily="18" charset="0"/>
                                  </a:rPr>
                                  <m:t>0</m:t>
                                </m:r>
                              </m:e>
                            </m:mr>
                          </m:m>
                        </m:e>
                      </m:d>
                      <m:r>
                        <m:rPr>
                          <m:nor/>
                        </m:rPr>
                        <a:rPr lang="en-AU" dirty="0"/>
                        <m:t>  and  </m:t>
                      </m:r>
                      <m:sSub>
                        <m:sSubPr>
                          <m:ctrlPr>
                            <a:rPr lang="en-AU" b="0" i="0" dirty="0" smtClean="0">
                              <a:latin typeface="Cambria Math" panose="02040503050406030204" pitchFamily="18" charset="0"/>
                            </a:rPr>
                          </m:ctrlPr>
                        </m:sSubPr>
                        <m:e>
                          <m:r>
                            <m:rPr>
                              <m:sty m:val="p"/>
                            </m:rPr>
                            <a:rPr lang="en-AU" b="0" i="0" dirty="0" smtClean="0">
                              <a:latin typeface="Cambria Math" panose="02040503050406030204" pitchFamily="18" charset="0"/>
                            </a:rPr>
                            <m:t>S</m:t>
                          </m:r>
                        </m:e>
                        <m:sub>
                          <m:r>
                            <m:rPr>
                              <m:sty m:val="p"/>
                            </m:rPr>
                            <a:rPr lang="en-AU" b="0" i="0" dirty="0" smtClean="0">
                              <a:latin typeface="Cambria Math" panose="02040503050406030204" pitchFamily="18" charset="0"/>
                            </a:rPr>
                            <m:t>y</m:t>
                          </m:r>
                        </m:sub>
                      </m:sSub>
                      <m:r>
                        <a:rPr lang="en-AU">
                          <a:latin typeface="Cambria Math" panose="02040503050406030204" pitchFamily="18" charset="0"/>
                        </a:rPr>
                        <m:t>=</m:t>
                      </m:r>
                      <m:d>
                        <m:dPr>
                          <m:begChr m:val="["/>
                          <m:endChr m:val="]"/>
                          <m:ctrlPr>
                            <a:rPr lang="en-AU" i="1">
                              <a:latin typeface="Cambria Math" panose="02040503050406030204" pitchFamily="18" charset="0"/>
                            </a:rPr>
                          </m:ctrlPr>
                        </m:dPr>
                        <m:e>
                          <m:m>
                            <m:mPr>
                              <m:mcs>
                                <m:mc>
                                  <m:mcPr>
                                    <m:count m:val="2"/>
                                    <m:mcJc m:val="center"/>
                                  </m:mcPr>
                                </m:mc>
                              </m:mcs>
                              <m:ctrlPr>
                                <a:rPr lang="en-AU" i="1">
                                  <a:latin typeface="Cambria Math" panose="02040503050406030204" pitchFamily="18" charset="0"/>
                                </a:rPr>
                              </m:ctrlPr>
                            </m:mPr>
                            <m:mr>
                              <m:e>
                                <m:r>
                                  <m:rPr>
                                    <m:brk m:alnAt="7"/>
                                  </m:rPr>
                                  <a:rPr lang="en-AU" b="0" i="1" smtClean="0">
                                    <a:latin typeface="Cambria Math" panose="02040503050406030204" pitchFamily="18" charset="0"/>
                                  </a:rPr>
                                  <m:t> </m:t>
                                </m:r>
                                <m:r>
                                  <a:rPr lang="en-AU" b="0" i="1" smtClean="0">
                                    <a:latin typeface="Cambria Math" panose="02040503050406030204" pitchFamily="18" charset="0"/>
                                  </a:rPr>
                                  <m:t>1</m:t>
                                </m:r>
                              </m:e>
                              <m:e>
                                <m:r>
                                  <a:rPr lang="en-AU" b="0" i="1" smtClean="0">
                                    <a:latin typeface="Cambria Math" panose="02040503050406030204" pitchFamily="18" charset="0"/>
                                  </a:rPr>
                                  <m:t>  </m:t>
                                </m:r>
                                <m:r>
                                  <a:rPr lang="en-AU" i="1">
                                    <a:latin typeface="Cambria Math" panose="02040503050406030204" pitchFamily="18" charset="0"/>
                                  </a:rPr>
                                  <m:t>0</m:t>
                                </m:r>
                              </m:e>
                            </m:mr>
                            <m:mr>
                              <m:e>
                                <m:r>
                                  <a:rPr lang="en-AU" b="0" i="1" smtClean="0">
                                    <a:latin typeface="Cambria Math" panose="02040503050406030204" pitchFamily="18" charset="0"/>
                                  </a:rPr>
                                  <m:t>0</m:t>
                                </m:r>
                              </m:e>
                              <m:e>
                                <m:r>
                                  <a:rPr lang="en-AU" i="1">
                                    <a:latin typeface="Cambria Math" panose="02040503050406030204" pitchFamily="18" charset="0"/>
                                  </a:rPr>
                                  <m:t>−1</m:t>
                                </m:r>
                              </m:e>
                            </m:mr>
                          </m:m>
                        </m:e>
                      </m:d>
                    </m:oMath>
                  </m:oMathPara>
                </a14:m>
                <a:endParaRPr lang="en-AU" dirty="0"/>
              </a:p>
            </p:txBody>
          </p:sp>
        </mc:Choice>
        <mc:Fallback>
          <p:sp>
            <p:nvSpPr>
              <p:cNvPr id="3" name="Content Placeholder 2">
                <a:extLst>
                  <a:ext uri="{FF2B5EF4-FFF2-40B4-BE49-F238E27FC236}">
                    <a16:creationId xmlns:a16="http://schemas.microsoft.com/office/drawing/2014/main" id="{5E539C74-039D-F806-7C93-2383BD1B1809}"/>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675209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AC92-70A9-7460-4B55-D10DAD9C9041}"/>
              </a:ext>
            </a:extLst>
          </p:cNvPr>
          <p:cNvSpPr>
            <a:spLocks noGrp="1"/>
          </p:cNvSpPr>
          <p:nvPr>
            <p:ph type="title"/>
          </p:nvPr>
        </p:nvSpPr>
        <p:spPr/>
        <p:txBody>
          <a:bodyPr/>
          <a:lstStyle/>
          <a:p>
            <a:r>
              <a:rPr lang="en-AU" b="1" dirty="0"/>
              <a:t>Effect of noise on edge detector</a:t>
            </a:r>
            <a:endParaRPr lang="en-US" b="1"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28B5C5-FFED-1E89-20EA-D4F50A1DFB23}"/>
                  </a:ext>
                </a:extLst>
              </p:cNvPr>
              <p:cNvSpPr>
                <a:spLocks noGrp="1"/>
              </p:cNvSpPr>
              <p:nvPr>
                <p:ph idx="1"/>
              </p:nvPr>
            </p:nvSpPr>
            <p:spPr>
              <a:xfrm>
                <a:off x="677333" y="1825625"/>
                <a:ext cx="10676467" cy="2432164"/>
              </a:xfrm>
            </p:spPr>
            <p:txBody>
              <a:bodyPr/>
              <a:lstStyle/>
              <a:p>
                <a:r>
                  <a:rPr lang="en-AU" dirty="0"/>
                  <a:t>Consider a single row of an image. Plotting intensity as a function of </a:t>
                </a:r>
                <a14:m>
                  <m:oMath xmlns:m="http://schemas.openxmlformats.org/officeDocument/2006/math">
                    <m:r>
                      <a:rPr lang="en-AU" i="1" dirty="0" smtClean="0">
                        <a:latin typeface="Cambria Math" panose="02040503050406030204" pitchFamily="18" charset="0"/>
                      </a:rPr>
                      <m:t>𝑥</m:t>
                    </m:r>
                  </m:oMath>
                </a14:m>
                <a:r>
                  <a:rPr lang="en-AU" dirty="0"/>
                  <a:t>.</a:t>
                </a:r>
              </a:p>
              <a:p>
                <a:endParaRPr lang="en-AU" dirty="0"/>
              </a:p>
              <a:p>
                <a:endParaRPr lang="en-AU" dirty="0"/>
              </a:p>
              <a:p>
                <a:endParaRPr lang="en-US" dirty="0"/>
              </a:p>
              <a:p>
                <a:endParaRPr lang="en-US" dirty="0"/>
              </a:p>
            </p:txBody>
          </p:sp>
        </mc:Choice>
        <mc:Fallback>
          <p:sp>
            <p:nvSpPr>
              <p:cNvPr id="3" name="Content Placeholder 2">
                <a:extLst>
                  <a:ext uri="{FF2B5EF4-FFF2-40B4-BE49-F238E27FC236}">
                    <a16:creationId xmlns:a16="http://schemas.microsoft.com/office/drawing/2014/main" id="{BD28B5C5-FFED-1E89-20EA-D4F50A1DFB23}"/>
                  </a:ext>
                </a:extLst>
              </p:cNvPr>
              <p:cNvSpPr>
                <a:spLocks noGrp="1" noRot="1" noChangeAspect="1" noMove="1" noResize="1" noEditPoints="1" noAdjustHandles="1" noChangeArrowheads="1" noChangeShapeType="1" noTextEdit="1"/>
              </p:cNvSpPr>
              <p:nvPr>
                <p:ph idx="1"/>
              </p:nvPr>
            </p:nvSpPr>
            <p:spPr>
              <a:xfrm>
                <a:off x="677333" y="1825625"/>
                <a:ext cx="10676467" cy="2432164"/>
              </a:xfrm>
              <a:blipFill>
                <a:blip r:embed="rId3"/>
                <a:stretch>
                  <a:fillRect l="-1069" t="-4145"/>
                </a:stretch>
              </a:blipFill>
            </p:spPr>
            <p:txBody>
              <a:bodyPr/>
              <a:lstStyle/>
              <a:p>
                <a:r>
                  <a:rPr lang="en-US">
                    <a:noFill/>
                  </a:rPr>
                  <a:t> </a:t>
                </a:r>
              </a:p>
            </p:txBody>
          </p:sp>
        </mc:Fallback>
      </mc:AlternateContent>
      <p:pic>
        <p:nvPicPr>
          <p:cNvPr id="4" name="Content Placeholder 4">
            <a:extLst>
              <a:ext uri="{FF2B5EF4-FFF2-40B4-BE49-F238E27FC236}">
                <a16:creationId xmlns:a16="http://schemas.microsoft.com/office/drawing/2014/main" id="{C9E4EBA2-5FA7-CE45-967C-D27F1AAFD496}"/>
              </a:ext>
            </a:extLst>
          </p:cNvPr>
          <p:cNvPicPr>
            <a:picLocks noChangeAspect="1"/>
          </p:cNvPicPr>
          <p:nvPr/>
        </p:nvPicPr>
        <p:blipFill>
          <a:blip r:embed="rId4"/>
          <a:srcRect t="19003" r="75383" b="24907"/>
          <a:stretch>
            <a:fillRect/>
          </a:stretch>
        </p:blipFill>
        <p:spPr>
          <a:xfrm>
            <a:off x="8611541" y="2434960"/>
            <a:ext cx="2496725" cy="1608667"/>
          </a:xfrm>
          <a:prstGeom prst="rect">
            <a:avLst/>
          </a:prstGeom>
        </p:spPr>
      </p:pic>
      <p:cxnSp>
        <p:nvCxnSpPr>
          <p:cNvPr id="6" name="Straight Connector 5">
            <a:extLst>
              <a:ext uri="{FF2B5EF4-FFF2-40B4-BE49-F238E27FC236}">
                <a16:creationId xmlns:a16="http://schemas.microsoft.com/office/drawing/2014/main" id="{472ACAF6-A3C3-FE26-1C1F-46B5D2023E3B}"/>
              </a:ext>
            </a:extLst>
          </p:cNvPr>
          <p:cNvCxnSpPr/>
          <p:nvPr/>
        </p:nvCxnSpPr>
        <p:spPr>
          <a:xfrm>
            <a:off x="8144933" y="3310467"/>
            <a:ext cx="3208867" cy="0"/>
          </a:xfrm>
          <a:prstGeom prst="line">
            <a:avLst/>
          </a:prstGeom>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48620C79-C601-C017-0580-7768BA827F7F}"/>
              </a:ext>
            </a:extLst>
          </p:cNvPr>
          <p:cNvPicPr>
            <a:picLocks noChangeAspect="1"/>
          </p:cNvPicPr>
          <p:nvPr/>
        </p:nvPicPr>
        <p:blipFill>
          <a:blip r:embed="rId5"/>
          <a:stretch>
            <a:fillRect/>
          </a:stretch>
        </p:blipFill>
        <p:spPr>
          <a:xfrm>
            <a:off x="1083734" y="2363145"/>
            <a:ext cx="5457707" cy="1894644"/>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B398CBEE-AB3F-6DBA-B718-51240318A75B}"/>
                  </a:ext>
                </a:extLst>
              </p:cNvPr>
              <p:cNvSpPr txBox="1"/>
              <p:nvPr/>
            </p:nvSpPr>
            <p:spPr>
              <a:xfrm>
                <a:off x="1828800" y="2819400"/>
                <a:ext cx="509050" cy="276999"/>
              </a:xfrm>
              <a:prstGeom prst="rect">
                <a:avLst/>
              </a:prstGeom>
              <a:noFill/>
            </p:spPr>
            <p:txBody>
              <a:bodyPr wrap="none" lIns="0" tIns="0" rIns="0" bIns="0" rtlCol="0">
                <a:spAutoFit/>
              </a:bodyPr>
              <a:lstStyle/>
              <a:p>
                <a14:m>
                  <m:oMathPara xmlns:m="http://schemas.openxmlformats.org/officeDocument/2006/math">
                    <m:oMath>
                      <m:r>
                        <a:rPr lang="en-AU" b="0" i="1" smtClean="0">
                          <a:latin typeface="Cambria Math" panose="02040503050406030204" pitchFamily="18" charset="0"/>
                        </a:rPr>
                        <m:t>𝑓</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oMath>
                  </m:oMathPara>
                </a14:m>
                <a:endParaRPr lang="en-US" dirty="0"/>
              </a:p>
            </p:txBody>
          </p:sp>
        </mc:Choice>
        <mc:Fallback>
          <p:sp>
            <p:nvSpPr>
              <p:cNvPr id="9" name="TextBox 8">
                <a:extLst>
                  <a:ext uri="{FF2B5EF4-FFF2-40B4-BE49-F238E27FC236}">
                    <a16:creationId xmlns:a16="http://schemas.microsoft.com/office/drawing/2014/main" id="{B398CBEE-AB3F-6DBA-B718-51240318A75B}"/>
                  </a:ext>
                </a:extLst>
              </p:cNvPr>
              <p:cNvSpPr txBox="1">
                <a:spLocks noRot="1" noChangeAspect="1" noMove="1" noResize="1" noEditPoints="1" noAdjustHandles="1" noChangeArrowheads="1" noChangeShapeType="1" noTextEdit="1"/>
              </p:cNvSpPr>
              <p:nvPr/>
            </p:nvSpPr>
            <p:spPr>
              <a:xfrm>
                <a:off x="1828800" y="2819400"/>
                <a:ext cx="509050" cy="276999"/>
              </a:xfrm>
              <a:prstGeom prst="rect">
                <a:avLst/>
              </a:prstGeom>
              <a:blipFill>
                <a:blip r:embed="rId6"/>
                <a:stretch>
                  <a:fillRect l="-17073" t="-4545" r="-14634" b="-3636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2BE8A65F-8C97-27A2-5ACB-40F3EF3F9743}"/>
              </a:ext>
            </a:extLst>
          </p:cNvPr>
          <p:cNvSpPr txBox="1"/>
          <p:nvPr/>
        </p:nvSpPr>
        <p:spPr>
          <a:xfrm>
            <a:off x="1388534" y="4336085"/>
            <a:ext cx="3850606" cy="461665"/>
          </a:xfrm>
          <a:prstGeom prst="rect">
            <a:avLst/>
          </a:prstGeom>
          <a:noFill/>
        </p:spPr>
        <p:txBody>
          <a:bodyPr wrap="none" rtlCol="0">
            <a:spAutoFit/>
          </a:bodyPr>
          <a:lstStyle/>
          <a:p>
            <a:r>
              <a:rPr lang="en-AU" sz="2400" dirty="0"/>
              <a:t>Apply the derivative operator</a:t>
            </a:r>
          </a:p>
        </p:txBody>
      </p:sp>
      <p:pic>
        <p:nvPicPr>
          <p:cNvPr id="12" name="Picture 11">
            <a:extLst>
              <a:ext uri="{FF2B5EF4-FFF2-40B4-BE49-F238E27FC236}">
                <a16:creationId xmlns:a16="http://schemas.microsoft.com/office/drawing/2014/main" id="{357EB32A-6833-320C-5B5D-46D68E8A7ECE}"/>
              </a:ext>
            </a:extLst>
          </p:cNvPr>
          <p:cNvPicPr>
            <a:picLocks noChangeAspect="1"/>
          </p:cNvPicPr>
          <p:nvPr/>
        </p:nvPicPr>
        <p:blipFill>
          <a:blip r:embed="rId7"/>
          <a:stretch>
            <a:fillRect/>
          </a:stretch>
        </p:blipFill>
        <p:spPr>
          <a:xfrm>
            <a:off x="1253066" y="4771760"/>
            <a:ext cx="5457707" cy="1894645"/>
          </a:xfrm>
          <a:prstGeom prst="rect">
            <a:avLst/>
          </a:prstGeom>
        </p:spPr>
      </p:pic>
      <p:sp>
        <p:nvSpPr>
          <p:cNvPr id="13" name="TextBox 12">
            <a:extLst>
              <a:ext uri="{FF2B5EF4-FFF2-40B4-BE49-F238E27FC236}">
                <a16:creationId xmlns:a16="http://schemas.microsoft.com/office/drawing/2014/main" id="{6869009B-6165-004B-65B3-24C52FC61A58}"/>
              </a:ext>
            </a:extLst>
          </p:cNvPr>
          <p:cNvSpPr txBox="1"/>
          <p:nvPr/>
        </p:nvSpPr>
        <p:spPr>
          <a:xfrm>
            <a:off x="6710773" y="5528469"/>
            <a:ext cx="3363294" cy="461665"/>
          </a:xfrm>
          <a:prstGeom prst="rect">
            <a:avLst/>
          </a:prstGeom>
          <a:noFill/>
        </p:spPr>
        <p:txBody>
          <a:bodyPr wrap="square" rtlCol="0">
            <a:spAutoFit/>
          </a:bodyPr>
          <a:lstStyle/>
          <a:p>
            <a:r>
              <a:rPr lang="en-AU" sz="2400" b="1" dirty="0">
                <a:solidFill>
                  <a:srgbClr val="FF0000"/>
                </a:solidFill>
              </a:rPr>
              <a:t>Where is the edge?</a:t>
            </a:r>
          </a:p>
        </p:txBody>
      </p:sp>
    </p:spTree>
    <p:extLst>
      <p:ext uri="{BB962C8B-B14F-4D97-AF65-F5344CB8AC3E}">
        <p14:creationId xmlns:p14="http://schemas.microsoft.com/office/powerpoint/2010/main" val="426242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EE03-8DAB-FD3A-8AC8-8BC58A9C1A6C}"/>
              </a:ext>
            </a:extLst>
          </p:cNvPr>
          <p:cNvSpPr>
            <a:spLocks noGrp="1"/>
          </p:cNvSpPr>
          <p:nvPr>
            <p:ph type="title"/>
          </p:nvPr>
        </p:nvSpPr>
        <p:spPr/>
        <p:txBody>
          <a:bodyPr/>
          <a:lstStyle/>
          <a:p>
            <a:r>
              <a:rPr lang="en-US" b="1" dirty="0"/>
              <a:t>Edge detection in noisy image</a:t>
            </a:r>
          </a:p>
        </p:txBody>
      </p:sp>
      <p:sp>
        <p:nvSpPr>
          <p:cNvPr id="3" name="Content Placeholder 2">
            <a:extLst>
              <a:ext uri="{FF2B5EF4-FFF2-40B4-BE49-F238E27FC236}">
                <a16:creationId xmlns:a16="http://schemas.microsoft.com/office/drawing/2014/main" id="{F6C16331-AF9C-20E8-A77C-6C9E5E4A854E}"/>
              </a:ext>
            </a:extLst>
          </p:cNvPr>
          <p:cNvSpPr>
            <a:spLocks noGrp="1"/>
          </p:cNvSpPr>
          <p:nvPr>
            <p:ph idx="1"/>
          </p:nvPr>
        </p:nvSpPr>
        <p:spPr/>
        <p:txBody>
          <a:bodyPr/>
          <a:lstStyle/>
          <a:p>
            <a:r>
              <a:rPr lang="en-AU" dirty="0"/>
              <a:t>We can filter, smooth an image to get rid of the noise.</a:t>
            </a:r>
          </a:p>
          <a:p>
            <a:r>
              <a:rPr lang="en-AU" dirty="0"/>
              <a:t>Then apply edge detection. </a:t>
            </a:r>
          </a:p>
          <a:p>
            <a:pPr marL="0" indent="0">
              <a:buNone/>
            </a:pPr>
            <a:endParaRPr lang="en-US" dirty="0"/>
          </a:p>
        </p:txBody>
      </p:sp>
      <p:pic>
        <p:nvPicPr>
          <p:cNvPr id="5" name="Picture 4">
            <a:extLst>
              <a:ext uri="{FF2B5EF4-FFF2-40B4-BE49-F238E27FC236}">
                <a16:creationId xmlns:a16="http://schemas.microsoft.com/office/drawing/2014/main" id="{5EED81DA-A802-CE4D-3BC3-2CF382D6697B}"/>
              </a:ext>
            </a:extLst>
          </p:cNvPr>
          <p:cNvPicPr>
            <a:picLocks noChangeAspect="1"/>
          </p:cNvPicPr>
          <p:nvPr/>
        </p:nvPicPr>
        <p:blipFill>
          <a:blip r:embed="rId3"/>
          <a:stretch>
            <a:fillRect/>
          </a:stretch>
        </p:blipFill>
        <p:spPr>
          <a:xfrm>
            <a:off x="1016000" y="2718858"/>
            <a:ext cx="8212667" cy="3593042"/>
          </a:xfrm>
          <a:prstGeom prst="rect">
            <a:avLst/>
          </a:prstGeom>
        </p:spPr>
      </p:pic>
    </p:spTree>
    <p:extLst>
      <p:ext uri="{BB962C8B-B14F-4D97-AF65-F5344CB8AC3E}">
        <p14:creationId xmlns:p14="http://schemas.microsoft.com/office/powerpoint/2010/main" val="3746341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3D379-4D89-A39E-7CAE-DCDD0D8A93A2}"/>
              </a:ext>
            </a:extLst>
          </p:cNvPr>
          <p:cNvSpPr>
            <a:spLocks noGrp="1"/>
          </p:cNvSpPr>
          <p:nvPr>
            <p:ph type="title"/>
          </p:nvPr>
        </p:nvSpPr>
        <p:spPr/>
        <p:txBody>
          <a:bodyPr/>
          <a:lstStyle/>
          <a:p>
            <a:r>
              <a:rPr lang="en-US" b="1" dirty="0"/>
              <a:t>Problems with edge detection</a:t>
            </a:r>
          </a:p>
        </p:txBody>
      </p:sp>
      <p:pic>
        <p:nvPicPr>
          <p:cNvPr id="5" name="Content Placeholder 4">
            <a:extLst>
              <a:ext uri="{FF2B5EF4-FFF2-40B4-BE49-F238E27FC236}">
                <a16:creationId xmlns:a16="http://schemas.microsoft.com/office/drawing/2014/main" id="{61B57BF8-7FFD-3574-CA2D-6CAFA3D62F31}"/>
              </a:ext>
            </a:extLst>
          </p:cNvPr>
          <p:cNvPicPr>
            <a:picLocks noGrp="1" noChangeAspect="1"/>
          </p:cNvPicPr>
          <p:nvPr>
            <p:ph idx="1"/>
          </p:nvPr>
        </p:nvPicPr>
        <p:blipFill>
          <a:blip r:embed="rId2"/>
          <a:srcRect t="3950"/>
          <a:stretch>
            <a:fillRect/>
          </a:stretch>
        </p:blipFill>
        <p:spPr>
          <a:xfrm>
            <a:off x="1404730" y="2019300"/>
            <a:ext cx="9053720" cy="3492500"/>
          </a:xfrm>
          <a:prstGeom prst="rect">
            <a:avLst/>
          </a:prstGeom>
        </p:spPr>
      </p:pic>
    </p:spTree>
    <p:extLst>
      <p:ext uri="{BB962C8B-B14F-4D97-AF65-F5344CB8AC3E}">
        <p14:creationId xmlns:p14="http://schemas.microsoft.com/office/powerpoint/2010/main" val="1019480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C356-AABC-B394-25CD-15193647E33C}"/>
              </a:ext>
            </a:extLst>
          </p:cNvPr>
          <p:cNvSpPr>
            <a:spLocks noGrp="1"/>
          </p:cNvSpPr>
          <p:nvPr>
            <p:ph type="title"/>
          </p:nvPr>
        </p:nvSpPr>
        <p:spPr/>
        <p:txBody>
          <a:bodyPr/>
          <a:lstStyle/>
          <a:p>
            <a:r>
              <a:rPr lang="en-AU" b="1" dirty="0"/>
              <a:t>Edge detection</a:t>
            </a:r>
            <a:endParaRPr lang="en-US" b="1" dirty="0"/>
          </a:p>
        </p:txBody>
      </p:sp>
      <p:sp>
        <p:nvSpPr>
          <p:cNvPr id="3" name="Content Placeholder 2">
            <a:extLst>
              <a:ext uri="{FF2B5EF4-FFF2-40B4-BE49-F238E27FC236}">
                <a16:creationId xmlns:a16="http://schemas.microsoft.com/office/drawing/2014/main" id="{B58EF313-3E57-1180-F77F-233C7D9433A2}"/>
              </a:ext>
            </a:extLst>
          </p:cNvPr>
          <p:cNvSpPr>
            <a:spLocks noGrp="1"/>
          </p:cNvSpPr>
          <p:nvPr>
            <p:ph idx="1"/>
          </p:nvPr>
        </p:nvSpPr>
        <p:spPr/>
        <p:txBody>
          <a:bodyPr>
            <a:normAutofit/>
          </a:bodyPr>
          <a:lstStyle/>
          <a:p>
            <a:r>
              <a:rPr lang="en-AU" dirty="0"/>
              <a:t>The gradient magnitude is large along a thick trail and occluding contours are curves</a:t>
            </a:r>
          </a:p>
          <a:p>
            <a:pPr lvl="1"/>
            <a:r>
              <a:rPr lang="en-AU" dirty="0"/>
              <a:t>We must obtain </a:t>
            </a:r>
            <a:r>
              <a:rPr lang="en-AU" b="1" dirty="0"/>
              <a:t>a curve of the most distinctive points on this trail</a:t>
            </a:r>
            <a:r>
              <a:rPr lang="en-AU" dirty="0"/>
              <a:t>.</a:t>
            </a:r>
          </a:p>
          <a:p>
            <a:pPr fontAlgn="base"/>
            <a:r>
              <a:rPr lang="en-AU" dirty="0"/>
              <a:t>The gradient magnitude can be thought of as </a:t>
            </a:r>
            <a:r>
              <a:rPr lang="en-AU" b="1" dirty="0"/>
              <a:t>a chain of low hills</a:t>
            </a:r>
            <a:r>
              <a:rPr lang="en-AU" dirty="0"/>
              <a:t>.</a:t>
            </a:r>
          </a:p>
          <a:p>
            <a:pPr fontAlgn="base"/>
            <a:endParaRPr lang="en-AU" dirty="0"/>
          </a:p>
          <a:p>
            <a:pPr marL="0" lvl="0" indent="0" fontAlgn="base">
              <a:buNone/>
            </a:pPr>
            <a:endParaRPr lang="en-AU" dirty="0"/>
          </a:p>
          <a:p>
            <a:pPr marL="0" indent="0">
              <a:buNone/>
            </a:pPr>
            <a:endParaRPr lang="en-US" dirty="0"/>
          </a:p>
        </p:txBody>
      </p:sp>
    </p:spTree>
    <p:extLst>
      <p:ext uri="{BB962C8B-B14F-4D97-AF65-F5344CB8AC3E}">
        <p14:creationId xmlns:p14="http://schemas.microsoft.com/office/powerpoint/2010/main" val="3904548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74F8-34DA-ACC8-B3CD-6165451D3381}"/>
              </a:ext>
            </a:extLst>
          </p:cNvPr>
          <p:cNvSpPr>
            <a:spLocks noGrp="1"/>
          </p:cNvSpPr>
          <p:nvPr>
            <p:ph type="title"/>
          </p:nvPr>
        </p:nvSpPr>
        <p:spPr/>
        <p:txBody>
          <a:bodyPr/>
          <a:lstStyle/>
          <a:p>
            <a:r>
              <a:rPr lang="en-AU" b="1" dirty="0"/>
              <a:t>Canny Edge Detector Algorithm</a:t>
            </a:r>
            <a:endParaRPr lang="en-US" b="1" dirty="0"/>
          </a:p>
        </p:txBody>
      </p:sp>
      <p:sp>
        <p:nvSpPr>
          <p:cNvPr id="3" name="Content Placeholder 2">
            <a:extLst>
              <a:ext uri="{FF2B5EF4-FFF2-40B4-BE49-F238E27FC236}">
                <a16:creationId xmlns:a16="http://schemas.microsoft.com/office/drawing/2014/main" id="{8E822738-7391-8673-01F4-19B7B729130A}"/>
              </a:ext>
            </a:extLst>
          </p:cNvPr>
          <p:cNvSpPr>
            <a:spLocks noGrp="1"/>
          </p:cNvSpPr>
          <p:nvPr>
            <p:ph idx="1"/>
          </p:nvPr>
        </p:nvSpPr>
        <p:spPr/>
        <p:txBody>
          <a:bodyPr/>
          <a:lstStyle/>
          <a:p>
            <a:r>
              <a:rPr lang="en-AU" dirty="0"/>
              <a:t>The steps of Canny edge detection algorithm:</a:t>
            </a:r>
          </a:p>
          <a:p>
            <a:pPr marL="514350" indent="-514350">
              <a:buFont typeface="+mj-lt"/>
              <a:buAutoNum type="arabicPeriod"/>
            </a:pPr>
            <a:r>
              <a:rPr lang="en-AU" dirty="0"/>
              <a:t>Apply Gaussian filter to smooth the image in order to remove the noise.</a:t>
            </a:r>
          </a:p>
          <a:p>
            <a:pPr marL="514350" indent="-514350">
              <a:buFont typeface="+mj-lt"/>
              <a:buAutoNum type="arabicPeriod"/>
            </a:pPr>
            <a:r>
              <a:rPr lang="en-AU" dirty="0"/>
              <a:t>Find the intensity gradients of the image.</a:t>
            </a:r>
          </a:p>
          <a:p>
            <a:pPr marL="514350" indent="-514350">
              <a:buFont typeface="+mj-lt"/>
              <a:buAutoNum type="arabicPeriod"/>
            </a:pPr>
            <a:r>
              <a:rPr lang="en-AU" dirty="0"/>
              <a:t>Find magnitude and orientation of gradient.</a:t>
            </a:r>
          </a:p>
          <a:p>
            <a:pPr marL="514350" indent="-514350">
              <a:buFont typeface="+mj-lt"/>
              <a:buAutoNum type="arabicPeriod"/>
            </a:pPr>
            <a:r>
              <a:rPr lang="en-AU" b="1" dirty="0"/>
              <a:t>Apply “non-maximum suppression” to get rid of spurious response to edge detection.</a:t>
            </a:r>
          </a:p>
          <a:p>
            <a:pPr marL="514350" indent="-514350">
              <a:buFont typeface="+mj-lt"/>
              <a:buAutoNum type="arabicPeriod"/>
            </a:pPr>
            <a:r>
              <a:rPr lang="en-AU" b="1" dirty="0"/>
              <a:t>Apply “hysteresis threshold”.</a:t>
            </a:r>
          </a:p>
          <a:p>
            <a:endParaRPr lang="en-US" dirty="0"/>
          </a:p>
        </p:txBody>
      </p:sp>
    </p:spTree>
    <p:extLst>
      <p:ext uri="{BB962C8B-B14F-4D97-AF65-F5344CB8AC3E}">
        <p14:creationId xmlns:p14="http://schemas.microsoft.com/office/powerpoint/2010/main" val="3747826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637D3-4309-9AE8-5DFF-1C0975D90880}"/>
              </a:ext>
            </a:extLst>
          </p:cNvPr>
          <p:cNvSpPr>
            <a:spLocks noGrp="1"/>
          </p:cNvSpPr>
          <p:nvPr>
            <p:ph type="title"/>
          </p:nvPr>
        </p:nvSpPr>
        <p:spPr/>
        <p:txBody>
          <a:bodyPr/>
          <a:lstStyle/>
          <a:p>
            <a:r>
              <a:rPr lang="en-US" b="1" dirty="0"/>
              <a:t>Non-maxima suppression (Non-interpolation)</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533749CB-DDFF-FF78-8FB5-AFF0C5F29C5A}"/>
                  </a:ext>
                </a:extLst>
              </p:cNvPr>
              <p:cNvSpPr>
                <a:spLocks noGrp="1"/>
              </p:cNvSpPr>
              <p:nvPr>
                <p:ph idx="1"/>
              </p:nvPr>
            </p:nvSpPr>
            <p:spPr>
              <a:xfrm>
                <a:off x="838200" y="1825625"/>
                <a:ext cx="8826500" cy="4351338"/>
              </a:xfrm>
            </p:spPr>
            <p:txBody>
              <a:bodyPr/>
              <a:lstStyle/>
              <a:p>
                <a:r>
                  <a:rPr lang="en-AU" dirty="0"/>
                  <a:t>Suppress the pixels in </a:t>
                </a:r>
                <a14:m>
                  <m:oMath xmlns:m="http://schemas.openxmlformats.org/officeDocument/2006/math">
                    <m:r>
                      <a:rPr lang="en-US" i="1">
                        <a:latin typeface="Cambria Math" panose="02040503050406030204" pitchFamily="18" charset="0"/>
                      </a:rPr>
                      <m:t>𝐺</m:t>
                    </m:r>
                    <m:d>
                      <m:dPr>
                        <m:ctrlPr>
                          <a:rPr lang="en-US" i="1">
                            <a:latin typeface="Cambria Math" panose="02040503050406030204" pitchFamily="18" charset="0"/>
                          </a:rPr>
                        </m:ctrlPr>
                      </m:dPr>
                      <m:e>
                        <m:r>
                          <a:rPr lang="en-US" i="1">
                            <a:latin typeface="Cambria Math" panose="02040503050406030204" pitchFamily="18" charset="0"/>
                          </a:rPr>
                          <m:t>𝑥</m:t>
                        </m:r>
                        <m:r>
                          <a:rPr lang="en-US">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 </m:t>
                    </m:r>
                  </m:oMath>
                </a14:m>
                <a:r>
                  <a:rPr lang="en-AU" dirty="0"/>
                  <a:t>which are not local maxima.</a:t>
                </a:r>
              </a:p>
              <a:p>
                <a:pPr marL="0" indent="0">
                  <a:buNone/>
                </a:pPr>
                <a:endParaRPr lang="en-US" dirty="0"/>
              </a:p>
            </p:txBody>
          </p:sp>
        </mc:Choice>
        <mc:Fallback>
          <p:sp>
            <p:nvSpPr>
              <p:cNvPr id="7" name="Content Placeholder 6">
                <a:extLst>
                  <a:ext uri="{FF2B5EF4-FFF2-40B4-BE49-F238E27FC236}">
                    <a16:creationId xmlns:a16="http://schemas.microsoft.com/office/drawing/2014/main" id="{533749CB-DDFF-FF78-8FB5-AFF0C5F29C5A}"/>
                  </a:ext>
                </a:extLst>
              </p:cNvPr>
              <p:cNvSpPr>
                <a:spLocks noGrp="1" noRot="1" noChangeAspect="1" noMove="1" noResize="1" noEditPoints="1" noAdjustHandles="1" noChangeArrowheads="1" noChangeShapeType="1" noTextEdit="1"/>
              </p:cNvSpPr>
              <p:nvPr>
                <p:ph idx="1"/>
              </p:nvPr>
            </p:nvSpPr>
            <p:spPr>
              <a:xfrm>
                <a:off x="838200" y="1825625"/>
                <a:ext cx="8826500" cy="4351338"/>
              </a:xfrm>
              <a:blipFill>
                <a:blip r:embed="rId2"/>
                <a:stretch>
                  <a:fillRect l="-1295" t="-2326" r="-1007"/>
                </a:stretch>
              </a:blipFill>
            </p:spPr>
            <p:txBody>
              <a:bodyPr/>
              <a:lstStyle/>
              <a:p>
                <a:r>
                  <a:rPr lang="en-US">
                    <a:noFill/>
                  </a:rPr>
                  <a:t> </a:t>
                </a:r>
              </a:p>
            </p:txBody>
          </p:sp>
        </mc:Fallback>
      </mc:AlternateContent>
      <p:pic>
        <p:nvPicPr>
          <p:cNvPr id="8" name="Content Placeholder 4">
            <a:extLst>
              <a:ext uri="{FF2B5EF4-FFF2-40B4-BE49-F238E27FC236}">
                <a16:creationId xmlns:a16="http://schemas.microsoft.com/office/drawing/2014/main" id="{2ACF6E54-2C3C-AD02-4F97-928F7B6A4238}"/>
              </a:ext>
            </a:extLst>
          </p:cNvPr>
          <p:cNvPicPr>
            <a:picLocks noChangeAspect="1"/>
          </p:cNvPicPr>
          <p:nvPr/>
        </p:nvPicPr>
        <p:blipFill>
          <a:blip r:embed="rId3"/>
          <a:stretch>
            <a:fillRect/>
          </a:stretch>
        </p:blipFill>
        <p:spPr>
          <a:xfrm>
            <a:off x="1106488" y="2829719"/>
            <a:ext cx="1852612" cy="1852612"/>
          </a:xfrm>
          <a:prstGeom prst="rect">
            <a:avLst/>
          </a:prstGeom>
        </p:spPr>
      </p:pic>
      <p:pic>
        <p:nvPicPr>
          <p:cNvPr id="10" name="Picture 9">
            <a:extLst>
              <a:ext uri="{FF2B5EF4-FFF2-40B4-BE49-F238E27FC236}">
                <a16:creationId xmlns:a16="http://schemas.microsoft.com/office/drawing/2014/main" id="{8E45C25E-374E-7791-56DE-EBC89EBED70F}"/>
              </a:ext>
            </a:extLst>
          </p:cNvPr>
          <p:cNvPicPr>
            <a:picLocks noChangeAspect="1"/>
          </p:cNvPicPr>
          <p:nvPr/>
        </p:nvPicPr>
        <p:blipFill>
          <a:blip r:embed="rId4"/>
          <a:stretch>
            <a:fillRect/>
          </a:stretch>
        </p:blipFill>
        <p:spPr>
          <a:xfrm>
            <a:off x="723038" y="2829719"/>
            <a:ext cx="2885350" cy="2288381"/>
          </a:xfrm>
          <a:prstGeom prst="rect">
            <a:avLst/>
          </a:prstGeom>
        </p:spPr>
      </p:pic>
      <p:sp>
        <p:nvSpPr>
          <p:cNvPr id="11" name="TextBox 10">
            <a:extLst>
              <a:ext uri="{FF2B5EF4-FFF2-40B4-BE49-F238E27FC236}">
                <a16:creationId xmlns:a16="http://schemas.microsoft.com/office/drawing/2014/main" id="{322AC010-4885-1D83-DB6B-5739FADE2E21}"/>
              </a:ext>
            </a:extLst>
          </p:cNvPr>
          <p:cNvSpPr txBox="1"/>
          <p:nvPr/>
        </p:nvSpPr>
        <p:spPr>
          <a:xfrm>
            <a:off x="3315003" y="2994796"/>
            <a:ext cx="8601196" cy="769441"/>
          </a:xfrm>
          <a:prstGeom prst="rect">
            <a:avLst/>
          </a:prstGeom>
          <a:noFill/>
        </p:spPr>
        <p:txBody>
          <a:bodyPr wrap="square" rtlCol="0">
            <a:spAutoFit/>
          </a:bodyPr>
          <a:lstStyle/>
          <a:p>
            <a:r>
              <a:rPr lang="en-AU" sz="2200" dirty="0"/>
              <a:t>Canny’s method will suppress pixels that are towards the outside of an edge based on local </a:t>
            </a:r>
            <a:r>
              <a:rPr lang="en-AU" sz="2200" dirty="0" err="1"/>
              <a:t>neighborhood</a:t>
            </a:r>
            <a:r>
              <a:rPr lang="en-AU" sz="2200" dirty="0"/>
              <a:t> information. </a:t>
            </a:r>
            <a:endParaRPr lang="en-US" sz="2200" dirty="0"/>
          </a:p>
        </p:txBody>
      </p:sp>
      <p:sp>
        <p:nvSpPr>
          <p:cNvPr id="12" name="TextBox 11">
            <a:extLst>
              <a:ext uri="{FF2B5EF4-FFF2-40B4-BE49-F238E27FC236}">
                <a16:creationId xmlns:a16="http://schemas.microsoft.com/office/drawing/2014/main" id="{4A470A52-4715-B5D4-7F63-23065D7DB3EB}"/>
              </a:ext>
            </a:extLst>
          </p:cNvPr>
          <p:cNvSpPr txBox="1"/>
          <p:nvPr/>
        </p:nvSpPr>
        <p:spPr>
          <a:xfrm>
            <a:off x="3876676" y="3997752"/>
            <a:ext cx="7705724" cy="1631216"/>
          </a:xfrm>
          <a:prstGeom prst="rect">
            <a:avLst/>
          </a:prstGeom>
          <a:noFill/>
        </p:spPr>
        <p:txBody>
          <a:bodyPr wrap="square" rtlCol="0">
            <a:spAutoFit/>
          </a:bodyPr>
          <a:lstStyle/>
          <a:p>
            <a:pPr marL="285750" lvl="0" indent="-285750">
              <a:buFont typeface="Arial" panose="020B0604020202020204" pitchFamily="34" charset="0"/>
              <a:buChar char="•"/>
            </a:pPr>
            <a:r>
              <a:rPr lang="en-AU" sz="2000" b="1" dirty="0"/>
              <a:t>Blue region:</a:t>
            </a:r>
            <a:r>
              <a:rPr lang="en-AU" sz="2000" dirty="0"/>
              <a:t> Represents the edge area (gradient magnitude region).</a:t>
            </a:r>
          </a:p>
          <a:p>
            <a:pPr marL="285750" lvl="0" indent="-285750">
              <a:buFont typeface="Arial" panose="020B0604020202020204" pitchFamily="34" charset="0"/>
              <a:buChar char="•"/>
            </a:pPr>
            <a:r>
              <a:rPr lang="en-AU" sz="2000" b="1" dirty="0"/>
              <a:t>Red line:</a:t>
            </a:r>
            <a:r>
              <a:rPr lang="en-AU" sz="2000" dirty="0"/>
              <a:t> Highlights the true line/boundary along the edge.</a:t>
            </a:r>
          </a:p>
          <a:p>
            <a:pPr marL="285750" lvl="0" indent="-285750">
              <a:buFont typeface="Arial" panose="020B0604020202020204" pitchFamily="34" charset="0"/>
              <a:buChar char="•"/>
            </a:pPr>
            <a:r>
              <a:rPr lang="en-AU" sz="2000" b="1" dirty="0"/>
              <a:t>Green arrow:</a:t>
            </a:r>
            <a:r>
              <a:rPr lang="en-AU" sz="2000" dirty="0"/>
              <a:t> Represents the </a:t>
            </a:r>
            <a:r>
              <a:rPr lang="en-AU" sz="2000" b="1" dirty="0"/>
              <a:t>gradient orientation</a:t>
            </a:r>
            <a:r>
              <a:rPr lang="en-AU" sz="2000" dirty="0"/>
              <a:t> (direction of maximum intensity change), which is always perpendicular to the red edge line.</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E743775-215C-1A5E-32CF-028CA1F5FE4E}"/>
                  </a:ext>
                </a:extLst>
              </p:cNvPr>
              <p:cNvSpPr txBox="1"/>
              <p:nvPr/>
            </p:nvSpPr>
            <p:spPr>
              <a:xfrm>
                <a:off x="1101385" y="3030718"/>
                <a:ext cx="931409" cy="369332"/>
              </a:xfrm>
              <a:prstGeom prst="rect">
                <a:avLst/>
              </a:prstGeom>
              <a:noFill/>
            </p:spPr>
            <p:txBody>
              <a:bodyPr wrap="none" rtlCol="0">
                <a:spAutoFit/>
              </a:bodyPr>
              <a:lstStyle/>
              <a:p>
                <a14:m>
                  <m:oMathPara xmlns:m="http://schemas.openxmlformats.org/officeDocument/2006/math">
                    <m:oMath>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m:t>
                          </m:r>
                        </m:sup>
                      </m:sSup>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𝑦</m:t>
                          </m:r>
                        </m:e>
                        <m:sup>
                          <m:r>
                            <a:rPr lang="en-AU" b="0" i="1" smtClean="0">
                              <a:latin typeface="Cambria Math" panose="02040503050406030204" pitchFamily="18" charset="0"/>
                            </a:rPr>
                            <m:t>′</m:t>
                          </m:r>
                        </m:sup>
                      </m:sSup>
                      <m:r>
                        <a:rPr lang="en-AU" b="0" i="1" smtClean="0">
                          <a:latin typeface="Cambria Math" panose="02040503050406030204" pitchFamily="18" charset="0"/>
                        </a:rPr>
                        <m:t>)</m:t>
                      </m:r>
                    </m:oMath>
                  </m:oMathPara>
                </a14:m>
                <a:endParaRPr lang="en-US" dirty="0"/>
              </a:p>
            </p:txBody>
          </p:sp>
        </mc:Choice>
        <mc:Fallback>
          <p:sp>
            <p:nvSpPr>
              <p:cNvPr id="13" name="TextBox 12">
                <a:extLst>
                  <a:ext uri="{FF2B5EF4-FFF2-40B4-BE49-F238E27FC236}">
                    <a16:creationId xmlns:a16="http://schemas.microsoft.com/office/drawing/2014/main" id="{7E743775-215C-1A5E-32CF-028CA1F5FE4E}"/>
                  </a:ext>
                </a:extLst>
              </p:cNvPr>
              <p:cNvSpPr txBox="1">
                <a:spLocks noRot="1" noChangeAspect="1" noMove="1" noResize="1" noEditPoints="1" noAdjustHandles="1" noChangeArrowheads="1" noChangeShapeType="1" noTextEdit="1"/>
              </p:cNvSpPr>
              <p:nvPr/>
            </p:nvSpPr>
            <p:spPr>
              <a:xfrm>
                <a:off x="1101385" y="3030718"/>
                <a:ext cx="931409" cy="369332"/>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B600A7E4-7AA5-2959-843A-B36C41FE6409}"/>
                  </a:ext>
                </a:extLst>
              </p:cNvPr>
              <p:cNvSpPr txBox="1"/>
              <p:nvPr/>
            </p:nvSpPr>
            <p:spPr>
              <a:xfrm>
                <a:off x="990600" y="3642616"/>
                <a:ext cx="780727" cy="369332"/>
              </a:xfrm>
              <a:prstGeom prst="rect">
                <a:avLst/>
              </a:prstGeom>
              <a:noFill/>
            </p:spPr>
            <p:txBody>
              <a:bodyPr wrap="none" rtlCol="0">
                <a:spAutoFit/>
              </a:bodyPr>
              <a:lstStyle/>
              <a:p>
                <a14:m>
                  <m:oMathPara xmlns:m="http://schemas.openxmlformats.org/officeDocument/2006/math">
                    <m:oMath>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𝑦</m:t>
                      </m:r>
                      <m:r>
                        <a:rPr lang="en-AU" b="0" i="1" smtClean="0">
                          <a:latin typeface="Cambria Math" panose="02040503050406030204" pitchFamily="18" charset="0"/>
                        </a:rPr>
                        <m:t>)</m:t>
                      </m:r>
                    </m:oMath>
                  </m:oMathPara>
                </a14:m>
                <a:endParaRPr lang="en-US" dirty="0"/>
              </a:p>
            </p:txBody>
          </p:sp>
        </mc:Choice>
        <mc:Fallback>
          <p:sp>
            <p:nvSpPr>
              <p:cNvPr id="14" name="TextBox 13">
                <a:extLst>
                  <a:ext uri="{FF2B5EF4-FFF2-40B4-BE49-F238E27FC236}">
                    <a16:creationId xmlns:a16="http://schemas.microsoft.com/office/drawing/2014/main" id="{B600A7E4-7AA5-2959-843A-B36C41FE6409}"/>
                  </a:ext>
                </a:extLst>
              </p:cNvPr>
              <p:cNvSpPr txBox="1">
                <a:spLocks noRot="1" noChangeAspect="1" noMove="1" noResize="1" noEditPoints="1" noAdjustHandles="1" noChangeArrowheads="1" noChangeShapeType="1" noTextEdit="1"/>
              </p:cNvSpPr>
              <p:nvPr/>
            </p:nvSpPr>
            <p:spPr>
              <a:xfrm>
                <a:off x="990600" y="3642616"/>
                <a:ext cx="780727" cy="369332"/>
              </a:xfrm>
              <a:prstGeom prst="rect">
                <a:avLst/>
              </a:prstGeom>
              <a:blipFill>
                <a:blip r:embed="rId6"/>
                <a:stretch>
                  <a:fillRect b="-172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15CFC980-893C-0565-BE69-63171FE70E61}"/>
                  </a:ext>
                </a:extLst>
              </p:cNvPr>
              <p:cNvSpPr txBox="1"/>
              <p:nvPr/>
            </p:nvSpPr>
            <p:spPr>
              <a:xfrm>
                <a:off x="1851613" y="3594253"/>
                <a:ext cx="937821" cy="379656"/>
              </a:xfrm>
              <a:prstGeom prst="rect">
                <a:avLst/>
              </a:prstGeom>
              <a:noFill/>
            </p:spPr>
            <p:txBody>
              <a:bodyPr wrap="none" rtlCol="0">
                <a:spAutoFit/>
              </a:bodyPr>
              <a:lstStyle/>
              <a:p>
                <a14:m>
                  <m:oMathPara xmlns:m="http://schemas.openxmlformats.org/officeDocument/2006/math">
                    <m:oMath>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m:t>
                          </m:r>
                        </m:sup>
                      </m:sSup>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𝑦</m:t>
                          </m:r>
                        </m:e>
                        <m:sup>
                          <m:r>
                            <a:rPr lang="en-AU" b="0" i="1" smtClean="0">
                              <a:latin typeface="Cambria Math" panose="02040503050406030204" pitchFamily="18" charset="0"/>
                            </a:rPr>
                            <m:t>”</m:t>
                          </m:r>
                        </m:sup>
                      </m:sSup>
                      <m:r>
                        <a:rPr lang="en-AU" b="0" i="1" smtClean="0">
                          <a:latin typeface="Cambria Math" panose="02040503050406030204" pitchFamily="18" charset="0"/>
                        </a:rPr>
                        <m:t>)</m:t>
                      </m:r>
                    </m:oMath>
                  </m:oMathPara>
                </a14:m>
                <a:endParaRPr lang="en-US" dirty="0"/>
              </a:p>
            </p:txBody>
          </p:sp>
        </mc:Choice>
        <mc:Fallback>
          <p:sp>
            <p:nvSpPr>
              <p:cNvPr id="15" name="TextBox 14">
                <a:extLst>
                  <a:ext uri="{FF2B5EF4-FFF2-40B4-BE49-F238E27FC236}">
                    <a16:creationId xmlns:a16="http://schemas.microsoft.com/office/drawing/2014/main" id="{15CFC980-893C-0565-BE69-63171FE70E61}"/>
                  </a:ext>
                </a:extLst>
              </p:cNvPr>
              <p:cNvSpPr txBox="1">
                <a:spLocks noRot="1" noChangeAspect="1" noMove="1" noResize="1" noEditPoints="1" noAdjustHandles="1" noChangeArrowheads="1" noChangeShapeType="1" noTextEdit="1"/>
              </p:cNvSpPr>
              <p:nvPr/>
            </p:nvSpPr>
            <p:spPr>
              <a:xfrm>
                <a:off x="1851613" y="3594253"/>
                <a:ext cx="937821" cy="379656"/>
              </a:xfrm>
              <a:prstGeom prst="rect">
                <a:avLst/>
              </a:prstGeom>
              <a:blipFill>
                <a:blip r:embed="rId7"/>
                <a:stretch>
                  <a:fillRect b="-1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95E4C9DC-EE99-254E-85B4-AB7DB4E39C8C}"/>
                  </a:ext>
                </a:extLst>
              </p:cNvPr>
              <p:cNvSpPr txBox="1"/>
              <p:nvPr/>
            </p:nvSpPr>
            <p:spPr>
              <a:xfrm>
                <a:off x="773701" y="5956391"/>
                <a:ext cx="10357338" cy="400110"/>
              </a:xfrm>
              <a:prstGeom prst="rect">
                <a:avLst/>
              </a:prstGeom>
              <a:noFill/>
            </p:spPr>
            <p:txBody>
              <a:bodyPr wrap="square" rtlCol="0">
                <a:spAutoFit/>
              </a:bodyPr>
              <a:lstStyle/>
              <a:p>
                <a:r>
                  <a:rPr lang="en-AU" sz="2000" dirty="0"/>
                  <a:t>Pixel </a:t>
                </a:r>
                <a14:m>
                  <m:oMath xmlns:m="http://schemas.openxmlformats.org/officeDocument/2006/math">
                    <m:r>
                      <a:rPr lang="en-AU" sz="2000" i="1" dirty="0" smtClean="0">
                        <a:latin typeface="Cambria Math" panose="02040503050406030204" pitchFamily="18" charset="0"/>
                      </a:rPr>
                      <m:t>(</m:t>
                    </m:r>
                    <m:r>
                      <a:rPr lang="en-AU" sz="2000" i="1" dirty="0" err="1">
                        <a:latin typeface="Cambria Math" panose="02040503050406030204" pitchFamily="18" charset="0"/>
                      </a:rPr>
                      <m:t>𝑥</m:t>
                    </m:r>
                    <m:r>
                      <a:rPr lang="en-AU" sz="2000" i="1" dirty="0" err="1">
                        <a:latin typeface="Cambria Math" panose="02040503050406030204" pitchFamily="18" charset="0"/>
                      </a:rPr>
                      <m:t>,</m:t>
                    </m:r>
                    <m:r>
                      <a:rPr lang="en-AU" sz="2000" i="1" dirty="0" err="1">
                        <a:latin typeface="Cambria Math" panose="02040503050406030204" pitchFamily="18" charset="0"/>
                      </a:rPr>
                      <m:t>𝑦</m:t>
                    </m:r>
                    <m:r>
                      <a:rPr lang="en-AU" sz="2000" i="1" dirty="0">
                        <a:latin typeface="Cambria Math" panose="02040503050406030204" pitchFamily="18" charset="0"/>
                      </a:rPr>
                      <m:t>) </m:t>
                    </m:r>
                  </m:oMath>
                </a14:m>
                <a:r>
                  <a:rPr lang="en-AU" sz="2000" dirty="0"/>
                  <a:t>will be retained as an edge pixel, only if its value is greater that </a:t>
                </a:r>
                <a14:m>
                  <m:oMath xmlns:m="http://schemas.openxmlformats.org/officeDocument/2006/math">
                    <m:r>
                      <a:rPr lang="en-AU" sz="2000" i="1" dirty="0" smtClean="0">
                        <a:latin typeface="Cambria Math" panose="02040503050406030204" pitchFamily="18" charset="0"/>
                      </a:rPr>
                      <m:t>(</m:t>
                    </m:r>
                    <m:r>
                      <a:rPr lang="en-AU" sz="2000" i="1" dirty="0" err="1">
                        <a:latin typeface="Cambria Math" panose="02040503050406030204" pitchFamily="18" charset="0"/>
                      </a:rPr>
                      <m:t>𝑥</m:t>
                    </m:r>
                    <m:r>
                      <a:rPr lang="en-AU" sz="2000" i="1" dirty="0" err="1">
                        <a:latin typeface="Cambria Math" panose="02040503050406030204" pitchFamily="18" charset="0"/>
                      </a:rPr>
                      <m:t>′,</m:t>
                    </m:r>
                    <m:r>
                      <a:rPr lang="en-AU" sz="2000" i="1" dirty="0" err="1">
                        <a:latin typeface="Cambria Math" panose="02040503050406030204" pitchFamily="18" charset="0"/>
                      </a:rPr>
                      <m:t>𝑦</m:t>
                    </m:r>
                    <m:r>
                      <a:rPr lang="en-AU" sz="2000" i="1" dirty="0">
                        <a:latin typeface="Cambria Math" panose="02040503050406030204" pitchFamily="18" charset="0"/>
                      </a:rPr>
                      <m:t>′) </m:t>
                    </m:r>
                  </m:oMath>
                </a14:m>
                <a:r>
                  <a:rPr lang="en-AU" sz="2000" dirty="0"/>
                  <a:t>and </a:t>
                </a:r>
                <a14:m>
                  <m:oMath xmlns:m="http://schemas.openxmlformats.org/officeDocument/2006/math">
                    <m:r>
                      <a:rPr lang="en-AU" sz="2000" i="1" dirty="0" smtClean="0">
                        <a:latin typeface="Cambria Math" panose="02040503050406030204" pitchFamily="18" charset="0"/>
                      </a:rPr>
                      <m:t>(</m:t>
                    </m:r>
                    <m:r>
                      <a:rPr lang="en-AU" sz="2000" i="1" dirty="0" err="1">
                        <a:latin typeface="Cambria Math" panose="02040503050406030204" pitchFamily="18" charset="0"/>
                      </a:rPr>
                      <m:t>𝑥</m:t>
                    </m:r>
                    <m:r>
                      <a:rPr lang="en-AU" sz="2000" i="1" dirty="0" err="1">
                        <a:latin typeface="Cambria Math" panose="02040503050406030204" pitchFamily="18" charset="0"/>
                      </a:rPr>
                      <m:t>′′,</m:t>
                    </m:r>
                    <m:r>
                      <a:rPr lang="en-AU" sz="2000" i="1" dirty="0" err="1">
                        <a:latin typeface="Cambria Math" panose="02040503050406030204" pitchFamily="18" charset="0"/>
                      </a:rPr>
                      <m:t>𝑦</m:t>
                    </m:r>
                    <m:r>
                      <a:rPr lang="en-AU" sz="2000" i="1" dirty="0" smtClean="0">
                        <a:latin typeface="Cambria Math" panose="02040503050406030204" pitchFamily="18" charset="0"/>
                      </a:rPr>
                      <m:t>′′)</m:t>
                    </m:r>
                  </m:oMath>
                </a14:m>
                <a:r>
                  <a:rPr lang="en-AU" sz="2000" dirty="0"/>
                  <a:t>.</a:t>
                </a:r>
              </a:p>
            </p:txBody>
          </p:sp>
        </mc:Choice>
        <mc:Fallback>
          <p:sp>
            <p:nvSpPr>
              <p:cNvPr id="16" name="TextBox 15">
                <a:extLst>
                  <a:ext uri="{FF2B5EF4-FFF2-40B4-BE49-F238E27FC236}">
                    <a16:creationId xmlns:a16="http://schemas.microsoft.com/office/drawing/2014/main" id="{95E4C9DC-EE99-254E-85B4-AB7DB4E39C8C}"/>
                  </a:ext>
                </a:extLst>
              </p:cNvPr>
              <p:cNvSpPr txBox="1">
                <a:spLocks noRot="1" noChangeAspect="1" noMove="1" noResize="1" noEditPoints="1" noAdjustHandles="1" noChangeArrowheads="1" noChangeShapeType="1" noTextEdit="1"/>
              </p:cNvSpPr>
              <p:nvPr/>
            </p:nvSpPr>
            <p:spPr>
              <a:xfrm>
                <a:off x="773701" y="5956391"/>
                <a:ext cx="10357338" cy="400110"/>
              </a:xfrm>
              <a:prstGeom prst="rect">
                <a:avLst/>
              </a:prstGeom>
              <a:blipFill>
                <a:blip r:embed="rId8"/>
                <a:stretch>
                  <a:fillRect l="-612" t="-6061" b="-24242"/>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935035B3-5F64-B191-0A43-A244B1F29D08}"/>
              </a:ext>
            </a:extLst>
          </p:cNvPr>
          <p:cNvSpPr txBox="1"/>
          <p:nvPr/>
        </p:nvSpPr>
        <p:spPr>
          <a:xfrm>
            <a:off x="3227388" y="2390812"/>
            <a:ext cx="8241574" cy="430887"/>
          </a:xfrm>
          <a:prstGeom prst="rect">
            <a:avLst/>
          </a:prstGeom>
          <a:noFill/>
        </p:spPr>
        <p:txBody>
          <a:bodyPr wrap="square" rtlCol="0">
            <a:spAutoFit/>
          </a:bodyPr>
          <a:lstStyle/>
          <a:p>
            <a:r>
              <a:rPr lang="en-AU" sz="2200" dirty="0"/>
              <a:t>Canny’s method is the first algorithm to use gradient orientation</a:t>
            </a:r>
          </a:p>
        </p:txBody>
      </p:sp>
      <p:cxnSp>
        <p:nvCxnSpPr>
          <p:cNvPr id="19" name="Straight Arrow Connector 18">
            <a:extLst>
              <a:ext uri="{FF2B5EF4-FFF2-40B4-BE49-F238E27FC236}">
                <a16:creationId xmlns:a16="http://schemas.microsoft.com/office/drawing/2014/main" id="{6F08D854-209E-695D-DE98-83BC67B6E44C}"/>
              </a:ext>
            </a:extLst>
          </p:cNvPr>
          <p:cNvCxnSpPr>
            <a:cxnSpLocks/>
          </p:cNvCxnSpPr>
          <p:nvPr/>
        </p:nvCxnSpPr>
        <p:spPr>
          <a:xfrm>
            <a:off x="773701" y="2942492"/>
            <a:ext cx="1594361" cy="1416422"/>
          </a:xfrm>
          <a:prstGeom prst="straightConnector1">
            <a:avLst/>
          </a:prstGeom>
          <a:ln w="57150">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21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68386-50B2-A9F6-89DD-543F606758E8}"/>
              </a:ext>
            </a:extLst>
          </p:cNvPr>
          <p:cNvSpPr>
            <a:spLocks noGrp="1"/>
          </p:cNvSpPr>
          <p:nvPr>
            <p:ph type="title"/>
          </p:nvPr>
        </p:nvSpPr>
        <p:spPr/>
        <p:txBody>
          <a:bodyPr/>
          <a:lstStyle/>
          <a:p>
            <a:r>
              <a:rPr lang="en-US" b="1" dirty="0"/>
              <a:t>Non-maxima suppression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6FF512D-4C85-4672-746B-8145D5708A81}"/>
                  </a:ext>
                </a:extLst>
              </p:cNvPr>
              <p:cNvSpPr>
                <a:spLocks noGrp="1"/>
              </p:cNvSpPr>
              <p:nvPr>
                <p:ph idx="1"/>
              </p:nvPr>
            </p:nvSpPr>
            <p:spPr>
              <a:xfrm>
                <a:off x="838200" y="1570892"/>
                <a:ext cx="10515600" cy="4818185"/>
              </a:xfrm>
            </p:spPr>
            <p:txBody>
              <a:bodyPr>
                <a:normAutofit lnSpcReduction="10000"/>
              </a:bodyPr>
              <a:lstStyle/>
              <a:p>
                <a:r>
                  <a:rPr lang="en-AU" dirty="0"/>
                  <a:t>Iterate through each pixel and check its gradient magnitude against its </a:t>
                </a:r>
                <a:r>
                  <a:rPr lang="en-AU" dirty="0" err="1"/>
                  <a:t>neighbors</a:t>
                </a:r>
                <a:r>
                  <a:rPr lang="en-AU" dirty="0"/>
                  <a:t> in the direction of the edge. </a:t>
                </a:r>
              </a:p>
              <a:p>
                <a:pPr lvl="1"/>
                <a:r>
                  <a:rPr lang="en-AU" dirty="0"/>
                  <a:t>If the current pixel has the highest value among its </a:t>
                </a:r>
                <a:r>
                  <a:rPr lang="en-AU" dirty="0" err="1"/>
                  <a:t>neighbors</a:t>
                </a:r>
                <a:r>
                  <a:rPr lang="en-AU" dirty="0"/>
                  <a:t>, retain it. </a:t>
                </a:r>
              </a:p>
              <a:p>
                <a:pPr lvl="1"/>
                <a:r>
                  <a:rPr lang="en-AU" dirty="0"/>
                  <a:t>Otherwise, suppress it (set to zero).</a:t>
                </a:r>
              </a:p>
              <a:p>
                <a:pPr lvl="0"/>
                <a:r>
                  <a:rPr lang="en-AU" b="1" dirty="0"/>
                  <a:t>Step 1</a:t>
                </a:r>
                <a:r>
                  <a:rPr lang="en-AU" dirty="0"/>
                  <a:t>: Start from pixel at position </a:t>
                </a:r>
                <a14:m>
                  <m:oMath xmlns:m="http://schemas.openxmlformats.org/officeDocument/2006/math">
                    <m:r>
                      <a:rPr lang="en-AU" i="1" dirty="0" smtClean="0">
                        <a:latin typeface="Cambria Math" panose="02040503050406030204" pitchFamily="18" charset="0"/>
                      </a:rPr>
                      <m:t>[</m:t>
                    </m:r>
                    <m:r>
                      <a:rPr lang="en-AU" i="1" dirty="0" err="1">
                        <a:latin typeface="Cambria Math" panose="02040503050406030204" pitchFamily="18" charset="0"/>
                      </a:rPr>
                      <m:t>𝑖</m:t>
                    </m:r>
                    <m:r>
                      <a:rPr lang="en-AU" i="1" dirty="0">
                        <a:latin typeface="Cambria Math" panose="02040503050406030204" pitchFamily="18" charset="0"/>
                      </a:rPr>
                      <m:t>, </m:t>
                    </m:r>
                    <m:r>
                      <a:rPr lang="en-AU" i="1" dirty="0">
                        <a:latin typeface="Cambria Math" panose="02040503050406030204" pitchFamily="18" charset="0"/>
                      </a:rPr>
                      <m:t>𝑗</m:t>
                    </m:r>
                    <m:r>
                      <a:rPr lang="en-AU" i="1" dirty="0">
                        <a:latin typeface="Cambria Math" panose="02040503050406030204" pitchFamily="18" charset="0"/>
                      </a:rPr>
                      <m:t>]</m:t>
                    </m:r>
                  </m:oMath>
                </a14:m>
                <a:r>
                  <a:rPr lang="en-AU" dirty="0"/>
                  <a:t>. Let’s call this pixel </a:t>
                </a:r>
                <a14:m>
                  <m:oMath xmlns:m="http://schemas.openxmlformats.org/officeDocument/2006/math">
                    <m:r>
                      <a:rPr lang="en-AU" i="1" dirty="0" smtClean="0">
                        <a:latin typeface="Cambria Math" panose="02040503050406030204" pitchFamily="18" charset="0"/>
                      </a:rPr>
                      <m:t>𝑃</m:t>
                    </m:r>
                  </m:oMath>
                </a14:m>
                <a:endParaRPr lang="en-AU" dirty="0"/>
              </a:p>
              <a:p>
                <a:pPr lvl="0"/>
                <a:r>
                  <a:rPr lang="en-AU" b="1" dirty="0"/>
                  <a:t>Step 2</a:t>
                </a:r>
                <a:r>
                  <a:rPr lang="en-AU" dirty="0"/>
                  <a:t>: Access the gradient direction of the pixel from </a:t>
                </a:r>
                <a14:m>
                  <m:oMath xmlns:m="http://schemas.openxmlformats.org/officeDocument/2006/math">
                    <m:r>
                      <a:rPr lang="en-AU" i="1">
                        <a:latin typeface="Cambria Math" panose="02040503050406030204" pitchFamily="18" charset="0"/>
                        <a:ea typeface="Cambria Math" panose="02040503050406030204" pitchFamily="18" charset="0"/>
                      </a:rPr>
                      <m:t>𝜃</m:t>
                    </m:r>
                    <m:r>
                      <a:rPr lang="en-AU" i="1">
                        <a:latin typeface="Cambria Math" panose="02040503050406030204" pitchFamily="18" charset="0"/>
                        <a:ea typeface="Cambria Math" panose="02040503050406030204" pitchFamily="18" charset="0"/>
                      </a:rPr>
                      <m:t>=</m:t>
                    </m:r>
                    <m:r>
                      <m:rPr>
                        <m:sty m:val="p"/>
                      </m:rPr>
                      <a:rPr lang="en-AU" i="1">
                        <a:latin typeface="Cambria Math" panose="02040503050406030204" pitchFamily="18" charset="0"/>
                        <a:ea typeface="Cambria Math" panose="02040503050406030204" pitchFamily="18" charset="0"/>
                      </a:rPr>
                      <m:t>arctan</m:t>
                    </m:r>
                    <m:r>
                      <a:rPr lang="en-AU" i="1">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𝐺</m:t>
                        </m:r>
                      </m:e>
                      <m:sub>
                        <m:r>
                          <a:rPr lang="en-AU" i="1">
                            <a:latin typeface="Cambria Math" panose="02040503050406030204" pitchFamily="18" charset="0"/>
                            <a:ea typeface="Cambria Math" panose="02040503050406030204" pitchFamily="18" charset="0"/>
                          </a:rPr>
                          <m:t>𝑦</m:t>
                        </m:r>
                      </m:sub>
                    </m:sSub>
                    <m:r>
                      <a:rPr lang="en-AU" i="1">
                        <a:latin typeface="Cambria Math" panose="02040503050406030204" pitchFamily="18" charset="0"/>
                        <a:ea typeface="Cambria Math" panose="02040503050406030204" pitchFamily="18" charset="0"/>
                      </a:rPr>
                      <m:t>, </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𝐺</m:t>
                        </m:r>
                      </m:e>
                      <m:sub>
                        <m:r>
                          <a:rPr lang="en-AU" i="1">
                            <a:latin typeface="Cambria Math" panose="02040503050406030204" pitchFamily="18" charset="0"/>
                            <a:ea typeface="Cambria Math" panose="02040503050406030204" pitchFamily="18" charset="0"/>
                          </a:rPr>
                          <m:t>𝑥</m:t>
                        </m:r>
                      </m:sub>
                    </m:sSub>
                    <m:r>
                      <a:rPr lang="en-AU" i="1">
                        <a:latin typeface="Cambria Math" panose="02040503050406030204" pitchFamily="18" charset="0"/>
                        <a:ea typeface="Cambria Math" panose="02040503050406030204" pitchFamily="18" charset="0"/>
                      </a:rPr>
                      <m:t>) </m:t>
                    </m:r>
                  </m:oMath>
                </a14:m>
                <a:r>
                  <a:rPr lang="en-AU" dirty="0"/>
                  <a:t>.</a:t>
                </a:r>
              </a:p>
              <a:p>
                <a:pPr lvl="0"/>
                <a:r>
                  <a:rPr lang="en-AU" b="1" dirty="0"/>
                  <a:t>Step 3</a:t>
                </a:r>
                <a:r>
                  <a:rPr lang="en-AU" dirty="0"/>
                  <a:t>: Select the neighbours </a:t>
                </a:r>
                <a14:m>
                  <m:oMath xmlns:m="http://schemas.openxmlformats.org/officeDocument/2006/math">
                    <m:r>
                      <a:rPr lang="en-AU" b="0" i="1" smtClean="0">
                        <a:latin typeface="Cambria Math" panose="02040503050406030204" pitchFamily="18" charset="0"/>
                      </a:rPr>
                      <m:t>𝑄</m:t>
                    </m:r>
                  </m:oMath>
                </a14:m>
                <a:r>
                  <a:rPr lang="en-AU" dirty="0"/>
                  <a:t> and </a:t>
                </a:r>
                <a14:m>
                  <m:oMath xmlns:m="http://schemas.openxmlformats.org/officeDocument/2006/math">
                    <m:r>
                      <a:rPr lang="en-AU" b="0" i="1" smtClean="0">
                        <a:latin typeface="Cambria Math" panose="02040503050406030204" pitchFamily="18" charset="0"/>
                      </a:rPr>
                      <m:t>𝑅</m:t>
                    </m:r>
                  </m:oMath>
                </a14:m>
                <a:r>
                  <a:rPr lang="en-AU" dirty="0"/>
                  <a:t>. There are two strategies:</a:t>
                </a:r>
              </a:p>
              <a:p>
                <a:pPr lvl="1"/>
                <a:r>
                  <a:rPr lang="en-AU" dirty="0"/>
                  <a:t>Move 1 pixel along both the directions of the gradient directions.</a:t>
                </a:r>
              </a:p>
              <a:p>
                <a:pPr lvl="1"/>
                <a:r>
                  <a:rPr lang="en-AU" dirty="0"/>
                  <a:t>Apply interpolation </a:t>
                </a:r>
              </a:p>
              <a:p>
                <a:pPr lvl="0"/>
                <a:r>
                  <a:rPr lang="en-AU" b="1" dirty="0"/>
                  <a:t>Step 4</a:t>
                </a:r>
                <a:r>
                  <a:rPr lang="en-AU" dirty="0"/>
                  <a:t>: If the magnitude of </a:t>
                </a:r>
                <a14:m>
                  <m:oMath xmlns:m="http://schemas.openxmlformats.org/officeDocument/2006/math">
                    <m:r>
                      <a:rPr lang="en-AU" i="1" dirty="0" smtClean="0">
                        <a:latin typeface="Cambria Math" panose="02040503050406030204" pitchFamily="18" charset="0"/>
                      </a:rPr>
                      <m:t>𝑃</m:t>
                    </m:r>
                  </m:oMath>
                </a14:m>
                <a:r>
                  <a:rPr lang="en-AU" dirty="0"/>
                  <a:t> is greater than both </a:t>
                </a:r>
                <a14:m>
                  <m:oMath xmlns:m="http://schemas.openxmlformats.org/officeDocument/2006/math">
                    <m:r>
                      <a:rPr lang="en-AU" i="1">
                        <a:latin typeface="Cambria Math" panose="02040503050406030204" pitchFamily="18" charset="0"/>
                      </a:rPr>
                      <m:t>𝑄</m:t>
                    </m:r>
                  </m:oMath>
                </a14:m>
                <a:r>
                  <a:rPr lang="en-AU" dirty="0"/>
                  <a:t> and </a:t>
                </a:r>
                <a14:m>
                  <m:oMath xmlns:m="http://schemas.openxmlformats.org/officeDocument/2006/math">
                    <m:r>
                      <a:rPr lang="en-AU" i="1">
                        <a:latin typeface="Cambria Math" panose="02040503050406030204" pitchFamily="18" charset="0"/>
                      </a:rPr>
                      <m:t>𝑅</m:t>
                    </m:r>
                  </m:oMath>
                </a14:m>
                <a:r>
                  <a:rPr lang="en-AU" dirty="0"/>
                  <a:t>, then we keep </a:t>
                </a:r>
                <a14:m>
                  <m:oMath xmlns:m="http://schemas.openxmlformats.org/officeDocument/2006/math">
                    <m:r>
                      <a:rPr lang="en-AU" i="1" dirty="0">
                        <a:latin typeface="Cambria Math" panose="02040503050406030204" pitchFamily="18" charset="0"/>
                      </a:rPr>
                      <m:t>𝑃</m:t>
                    </m:r>
                    <m:r>
                      <a:rPr lang="en-AU" i="1" dirty="0">
                        <a:latin typeface="Cambria Math" panose="02040503050406030204" pitchFamily="18" charset="0"/>
                      </a:rPr>
                      <m:t> .</m:t>
                    </m:r>
                  </m:oMath>
                </a14:m>
                <a:r>
                  <a:rPr lang="en-AU" dirty="0"/>
                  <a:t> Otherwise, set the gradient magnitude of </a:t>
                </a:r>
                <a14:m>
                  <m:oMath xmlns:m="http://schemas.openxmlformats.org/officeDocument/2006/math">
                    <m:r>
                      <a:rPr lang="en-AU" i="1" dirty="0">
                        <a:latin typeface="Cambria Math" panose="02040503050406030204" pitchFamily="18" charset="0"/>
                      </a:rPr>
                      <m:t>𝑃</m:t>
                    </m:r>
                    <m:r>
                      <a:rPr lang="en-AU" i="1" dirty="0">
                        <a:latin typeface="Cambria Math" panose="02040503050406030204" pitchFamily="18" charset="0"/>
                      </a:rPr>
                      <m:t> </m:t>
                    </m:r>
                  </m:oMath>
                </a14:m>
                <a:r>
                  <a:rPr lang="en-AU" dirty="0"/>
                  <a:t>to zero.</a:t>
                </a:r>
              </a:p>
              <a:p>
                <a:endParaRPr lang="en-US" dirty="0"/>
              </a:p>
            </p:txBody>
          </p:sp>
        </mc:Choice>
        <mc:Fallback>
          <p:sp>
            <p:nvSpPr>
              <p:cNvPr id="3" name="Content Placeholder 2">
                <a:extLst>
                  <a:ext uri="{FF2B5EF4-FFF2-40B4-BE49-F238E27FC236}">
                    <a16:creationId xmlns:a16="http://schemas.microsoft.com/office/drawing/2014/main" id="{86FF512D-4C85-4672-746B-8145D5708A81}"/>
                  </a:ext>
                </a:extLst>
              </p:cNvPr>
              <p:cNvSpPr>
                <a:spLocks noGrp="1" noRot="1" noChangeAspect="1" noMove="1" noResize="1" noEditPoints="1" noAdjustHandles="1" noChangeArrowheads="1" noChangeShapeType="1" noTextEdit="1"/>
              </p:cNvSpPr>
              <p:nvPr>
                <p:ph idx="1"/>
              </p:nvPr>
            </p:nvSpPr>
            <p:spPr>
              <a:xfrm>
                <a:off x="838200" y="1570892"/>
                <a:ext cx="10515600" cy="4818185"/>
              </a:xfrm>
              <a:blipFill>
                <a:blip r:embed="rId2"/>
                <a:stretch>
                  <a:fillRect l="-1086" t="-2887" b="-2887"/>
                </a:stretch>
              </a:blipFill>
            </p:spPr>
            <p:txBody>
              <a:bodyPr/>
              <a:lstStyle/>
              <a:p>
                <a:r>
                  <a:rPr lang="en-US">
                    <a:noFill/>
                  </a:rPr>
                  <a:t> </a:t>
                </a:r>
              </a:p>
            </p:txBody>
          </p:sp>
        </mc:Fallback>
      </mc:AlternateContent>
    </p:spTree>
    <p:extLst>
      <p:ext uri="{BB962C8B-B14F-4D97-AF65-F5344CB8AC3E}">
        <p14:creationId xmlns:p14="http://schemas.microsoft.com/office/powerpoint/2010/main" val="3778283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DE0A3-F9A9-93CC-859D-AB3FC260574D}"/>
              </a:ext>
            </a:extLst>
          </p:cNvPr>
          <p:cNvSpPr>
            <a:spLocks noGrp="1"/>
          </p:cNvSpPr>
          <p:nvPr>
            <p:ph type="title"/>
          </p:nvPr>
        </p:nvSpPr>
        <p:spPr/>
        <p:txBody>
          <a:bodyPr/>
          <a:lstStyle/>
          <a:p>
            <a:r>
              <a:rPr lang="en-US" b="1" dirty="0"/>
              <a:t>Neighbor selection (</a:t>
            </a:r>
            <a:r>
              <a:rPr lang="en-AU" b="1" dirty="0"/>
              <a:t>non-</a:t>
            </a:r>
            <a:r>
              <a:rPr lang="en-US" b="1" dirty="0"/>
              <a:t>interpolation)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A26EF2-F706-5B55-48BF-C56E2BB6CA51}"/>
                  </a:ext>
                </a:extLst>
              </p:cNvPr>
              <p:cNvSpPr>
                <a:spLocks noGrp="1"/>
              </p:cNvSpPr>
              <p:nvPr>
                <p:ph idx="1"/>
              </p:nvPr>
            </p:nvSpPr>
            <p:spPr>
              <a:xfrm>
                <a:off x="838199" y="1825625"/>
                <a:ext cx="7625863" cy="1828801"/>
              </a:xfrm>
            </p:spPr>
            <p:txBody>
              <a:bodyPr>
                <a:normAutofit/>
              </a:bodyPr>
              <a:lstStyle/>
              <a:p>
                <a:r>
                  <a:rPr lang="en-AU" sz="2200" dirty="0"/>
                  <a:t>Following the gradient direction, we select the dominant edges in their </a:t>
                </a:r>
                <a:r>
                  <a:rPr lang="en-AU" sz="2200" dirty="0" err="1"/>
                  <a:t>neighborhood</a:t>
                </a:r>
                <a:r>
                  <a:rPr lang="en-AU" sz="2200" dirty="0"/>
                  <a:t> (from </a:t>
                </a:r>
                <a14:m>
                  <m:oMath xmlns:m="http://schemas.openxmlformats.org/officeDocument/2006/math">
                    <m:sSub>
                      <m:sSubPr>
                        <m:ctrlPr>
                          <a:rPr lang="en-AU" sz="2200" i="1" dirty="0">
                            <a:latin typeface="Cambria Math" panose="02040503050406030204" pitchFamily="18" charset="0"/>
                          </a:rPr>
                        </m:ctrlPr>
                      </m:sSubPr>
                      <m:e>
                        <m:r>
                          <a:rPr lang="en-AU" sz="2200" i="1" dirty="0">
                            <a:latin typeface="Cambria Math" panose="02040503050406030204" pitchFamily="18" charset="0"/>
                          </a:rPr>
                          <m:t>𝑛</m:t>
                        </m:r>
                      </m:e>
                      <m:sub>
                        <m:r>
                          <a:rPr lang="en-AU" sz="2200" b="0" i="1" dirty="0" smtClean="0">
                            <a:latin typeface="Cambria Math" panose="02040503050406030204" pitchFamily="18" charset="0"/>
                          </a:rPr>
                          <m:t>1</m:t>
                        </m:r>
                      </m:sub>
                    </m:sSub>
                  </m:oMath>
                </a14:m>
                <a:r>
                  <a:rPr lang="en-AU" sz="2200" dirty="0"/>
                  <a:t> to </a:t>
                </a:r>
                <a14:m>
                  <m:oMath xmlns:m="http://schemas.openxmlformats.org/officeDocument/2006/math">
                    <m:sSub>
                      <m:sSubPr>
                        <m:ctrlPr>
                          <a:rPr lang="en-AU" sz="2200" i="1" dirty="0">
                            <a:latin typeface="Cambria Math" panose="02040503050406030204" pitchFamily="18" charset="0"/>
                          </a:rPr>
                        </m:ctrlPr>
                      </m:sSubPr>
                      <m:e>
                        <m:r>
                          <a:rPr lang="en-AU" sz="2200" i="1" dirty="0">
                            <a:latin typeface="Cambria Math" panose="02040503050406030204" pitchFamily="18" charset="0"/>
                          </a:rPr>
                          <m:t>𝑛</m:t>
                        </m:r>
                      </m:e>
                      <m:sub>
                        <m:r>
                          <a:rPr lang="en-AU" sz="2200" b="0" i="1" dirty="0" smtClean="0">
                            <a:latin typeface="Cambria Math" panose="02040503050406030204" pitchFamily="18" charset="0"/>
                          </a:rPr>
                          <m:t>8</m:t>
                        </m:r>
                      </m:sub>
                    </m:sSub>
                  </m:oMath>
                </a14:m>
                <a:r>
                  <a:rPr lang="en-AU" sz="2200" dirty="0"/>
                  <a:t>). </a:t>
                </a:r>
              </a:p>
              <a:p>
                <a:r>
                  <a:rPr lang="en-AU" sz="2200" dirty="0"/>
                  <a:t>If the current pixel value (</a:t>
                </a:r>
                <a14:m>
                  <m:oMath xmlns:m="http://schemas.openxmlformats.org/officeDocument/2006/math">
                    <m:r>
                      <a:rPr lang="en-AU" sz="2200" b="0" i="1" dirty="0" smtClean="0">
                        <a:latin typeface="Cambria Math" panose="02040503050406030204" pitchFamily="18" charset="0"/>
                      </a:rPr>
                      <m:t>𝑝</m:t>
                    </m:r>
                  </m:oMath>
                </a14:m>
                <a:r>
                  <a:rPr lang="en-AU" sz="2200" dirty="0"/>
                  <a:t>) is not the maximal value among their </a:t>
                </a:r>
                <a:r>
                  <a:rPr lang="en-AU" sz="2200" dirty="0" err="1"/>
                  <a:t>neighbors</a:t>
                </a:r>
                <a:r>
                  <a:rPr lang="en-AU" sz="2200" dirty="0"/>
                  <a:t>, then we set the value to zero (discard the pixel). </a:t>
                </a:r>
              </a:p>
            </p:txBody>
          </p:sp>
        </mc:Choice>
        <mc:Fallback>
          <p:sp>
            <p:nvSpPr>
              <p:cNvPr id="3" name="Content Placeholder 2">
                <a:extLst>
                  <a:ext uri="{FF2B5EF4-FFF2-40B4-BE49-F238E27FC236}">
                    <a16:creationId xmlns:a16="http://schemas.microsoft.com/office/drawing/2014/main" id="{36A26EF2-F706-5B55-48BF-C56E2BB6CA51}"/>
                  </a:ext>
                </a:extLst>
              </p:cNvPr>
              <p:cNvSpPr>
                <a:spLocks noGrp="1" noRot="1" noChangeAspect="1" noMove="1" noResize="1" noEditPoints="1" noAdjustHandles="1" noChangeArrowheads="1" noChangeShapeType="1" noTextEdit="1"/>
              </p:cNvSpPr>
              <p:nvPr>
                <p:ph idx="1"/>
              </p:nvPr>
            </p:nvSpPr>
            <p:spPr>
              <a:xfrm>
                <a:off x="838199" y="1825625"/>
                <a:ext cx="7625863" cy="1828801"/>
              </a:xfrm>
              <a:blipFill>
                <a:blip r:embed="rId3"/>
                <a:stretch>
                  <a:fillRect l="-831" t="-4138" r="-831" b="-13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0237CE34-B168-B55C-08D3-5E4B7E14CFC1}"/>
                  </a:ext>
                </a:extLst>
              </p:cNvPr>
              <p:cNvGraphicFramePr>
                <a:graphicFrameLocks noGrp="1"/>
              </p:cNvGraphicFramePr>
              <p:nvPr>
                <p:extLst>
                  <p:ext uri="{D42A27DB-BD31-4B8C-83A1-F6EECF244321}">
                    <p14:modId xmlns:p14="http://schemas.microsoft.com/office/powerpoint/2010/main" val="3996653441"/>
                  </p:ext>
                </p:extLst>
              </p:nvPr>
            </p:nvGraphicFramePr>
            <p:xfrm>
              <a:off x="9827846" y="578168"/>
              <a:ext cx="2016369" cy="1112520"/>
            </p:xfrm>
            <a:graphic>
              <a:graphicData uri="http://schemas.openxmlformats.org/drawingml/2006/table">
                <a:tbl>
                  <a:tblPr firstRow="1" bandRow="1">
                    <a:tableStyleId>{5940675A-B579-460E-94D1-54222C63F5DA}</a:tableStyleId>
                  </a:tblPr>
                  <a:tblGrid>
                    <a:gridCol w="672123">
                      <a:extLst>
                        <a:ext uri="{9D8B030D-6E8A-4147-A177-3AD203B41FA5}">
                          <a16:colId xmlns:a16="http://schemas.microsoft.com/office/drawing/2014/main" val="4012280142"/>
                        </a:ext>
                      </a:extLst>
                    </a:gridCol>
                    <a:gridCol w="672123">
                      <a:extLst>
                        <a:ext uri="{9D8B030D-6E8A-4147-A177-3AD203B41FA5}">
                          <a16:colId xmlns:a16="http://schemas.microsoft.com/office/drawing/2014/main" val="343251681"/>
                        </a:ext>
                      </a:extLst>
                    </a:gridCol>
                    <a:gridCol w="672123">
                      <a:extLst>
                        <a:ext uri="{9D8B030D-6E8A-4147-A177-3AD203B41FA5}">
                          <a16:colId xmlns:a16="http://schemas.microsoft.com/office/drawing/2014/main" val="2819884021"/>
                        </a:ext>
                      </a:extLst>
                    </a:gridCol>
                  </a:tblGrid>
                  <a:tr h="370840">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1</m:t>
                                    </m:r>
                                  </m:sub>
                                </m:sSub>
                              </m:oMath>
                            </m:oMathPara>
                          </a14:m>
                          <a:endParaRPr lang="en-US" dirty="0"/>
                        </a:p>
                      </a:txBody>
                      <a:tcPr/>
                    </a:tc>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2</m:t>
                                    </m:r>
                                  </m:sub>
                                </m:sSub>
                              </m:oMath>
                            </m:oMathPara>
                          </a14:m>
                          <a:endParaRPr lang="en-US" b="1" dirty="0"/>
                        </a:p>
                      </a:txBody>
                      <a:tcPr/>
                    </a:tc>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3</m:t>
                                    </m:r>
                                  </m:sub>
                                </m:sSub>
                              </m:oMath>
                            </m:oMathPara>
                          </a14:m>
                          <a:endParaRPr lang="en-US" dirty="0"/>
                        </a:p>
                      </a:txBody>
                      <a:tcPr/>
                    </a:tc>
                    <a:extLst>
                      <a:ext uri="{0D108BD9-81ED-4DB2-BD59-A6C34878D82A}">
                        <a16:rowId xmlns:a16="http://schemas.microsoft.com/office/drawing/2014/main" val="1939782331"/>
                      </a:ext>
                    </a:extLst>
                  </a:tr>
                  <a:tr h="370840">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4</m:t>
                                    </m:r>
                                  </m:sub>
                                </m:sSub>
                              </m:oMath>
                            </m:oMathPara>
                          </a14:m>
                          <a:endParaRPr lang="en-US" dirty="0"/>
                        </a:p>
                      </a:txBody>
                      <a:tcPr/>
                    </a:tc>
                    <a:tc>
                      <a:txBody>
                        <a:bodyPr/>
                        <a:lstStyle/>
                        <a:p>
                          <a14:m>
                            <m:oMathPara xmlns:m="http://schemas.openxmlformats.org/officeDocument/2006/math">
                              <m:oMath>
                                <m:r>
                                  <a:rPr lang="en-US" i="1" dirty="0" smtClean="0">
                                    <a:latin typeface="Cambria Math" panose="02040503050406030204" pitchFamily="18" charset="0"/>
                                  </a:rPr>
                                  <m:t>𝑝</m:t>
                                </m:r>
                              </m:oMath>
                            </m:oMathPara>
                          </a14:m>
                          <a:endParaRPr lang="en-US" dirty="0"/>
                        </a:p>
                      </a:txBody>
                      <a:tcPr/>
                    </a:tc>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5</m:t>
                                    </m:r>
                                  </m:sub>
                                </m:sSub>
                              </m:oMath>
                            </m:oMathPara>
                          </a14:m>
                          <a:endParaRPr lang="en-US" dirty="0"/>
                        </a:p>
                      </a:txBody>
                      <a:tcPr/>
                    </a:tc>
                    <a:extLst>
                      <a:ext uri="{0D108BD9-81ED-4DB2-BD59-A6C34878D82A}">
                        <a16:rowId xmlns:a16="http://schemas.microsoft.com/office/drawing/2014/main" val="2879578807"/>
                      </a:ext>
                    </a:extLst>
                  </a:tr>
                  <a:tr h="370840">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6</m:t>
                                    </m:r>
                                  </m:sub>
                                </m:sSub>
                              </m:oMath>
                            </m:oMathPara>
                          </a14:m>
                          <a:endParaRPr lang="en-US" dirty="0"/>
                        </a:p>
                      </a:txBody>
                      <a:tcPr/>
                    </a:tc>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7</m:t>
                                    </m:r>
                                  </m:sub>
                                </m:sSub>
                              </m:oMath>
                            </m:oMathPara>
                          </a14:m>
                          <a:endParaRPr lang="en-US" dirty="0"/>
                        </a:p>
                      </a:txBody>
                      <a:tcPr/>
                    </a:tc>
                    <a:tc>
                      <a:txBody>
                        <a:bodyPr/>
                        <a:lstStyle/>
                        <a:p>
                          <a14:m>
                            <m:oMathPara xmlns:m="http://schemas.openxmlformats.org/officeDocument/2006/math">
                              <m:o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8</m:t>
                                    </m:r>
                                  </m:sub>
                                </m:sSub>
                              </m:oMath>
                            </m:oMathPara>
                          </a14:m>
                          <a:endParaRPr lang="en-US" dirty="0"/>
                        </a:p>
                      </a:txBody>
                      <a:tcPr/>
                    </a:tc>
                    <a:extLst>
                      <a:ext uri="{0D108BD9-81ED-4DB2-BD59-A6C34878D82A}">
                        <a16:rowId xmlns:a16="http://schemas.microsoft.com/office/drawing/2014/main" val="3634805959"/>
                      </a:ext>
                    </a:extLst>
                  </a:tr>
                </a:tbl>
              </a:graphicData>
            </a:graphic>
          </p:graphicFrame>
        </mc:Choice>
        <mc:Fallback>
          <p:graphicFrame>
            <p:nvGraphicFramePr>
              <p:cNvPr id="4" name="Table 3">
                <a:extLst>
                  <a:ext uri="{FF2B5EF4-FFF2-40B4-BE49-F238E27FC236}">
                    <a16:creationId xmlns:a16="http://schemas.microsoft.com/office/drawing/2014/main" id="{0237CE34-B168-B55C-08D3-5E4B7E14CFC1}"/>
                  </a:ext>
                </a:extLst>
              </p:cNvPr>
              <p:cNvGraphicFramePr>
                <a:graphicFrameLocks noGrp="1"/>
              </p:cNvGraphicFramePr>
              <p:nvPr>
                <p:extLst>
                  <p:ext uri="{D42A27DB-BD31-4B8C-83A1-F6EECF244321}">
                    <p14:modId xmlns:p14="http://schemas.microsoft.com/office/powerpoint/2010/main" val="3996653441"/>
                  </p:ext>
                </p:extLst>
              </p:nvPr>
            </p:nvGraphicFramePr>
            <p:xfrm>
              <a:off x="9827846" y="578168"/>
              <a:ext cx="2016369" cy="1112520"/>
            </p:xfrm>
            <a:graphic>
              <a:graphicData uri="http://schemas.openxmlformats.org/drawingml/2006/table">
                <a:tbl>
                  <a:tblPr firstRow="1" bandRow="1">
                    <a:tableStyleId>{5940675A-B579-460E-94D1-54222C63F5DA}</a:tableStyleId>
                  </a:tblPr>
                  <a:tblGrid>
                    <a:gridCol w="672123">
                      <a:extLst>
                        <a:ext uri="{9D8B030D-6E8A-4147-A177-3AD203B41FA5}">
                          <a16:colId xmlns:a16="http://schemas.microsoft.com/office/drawing/2014/main" val="4012280142"/>
                        </a:ext>
                      </a:extLst>
                    </a:gridCol>
                    <a:gridCol w="672123">
                      <a:extLst>
                        <a:ext uri="{9D8B030D-6E8A-4147-A177-3AD203B41FA5}">
                          <a16:colId xmlns:a16="http://schemas.microsoft.com/office/drawing/2014/main" val="343251681"/>
                        </a:ext>
                      </a:extLst>
                    </a:gridCol>
                    <a:gridCol w="672123">
                      <a:extLst>
                        <a:ext uri="{9D8B030D-6E8A-4147-A177-3AD203B41FA5}">
                          <a16:colId xmlns:a16="http://schemas.microsoft.com/office/drawing/2014/main" val="2819884021"/>
                        </a:ext>
                      </a:extLst>
                    </a:gridCol>
                  </a:tblGrid>
                  <a:tr h="370840">
                    <a:tc>
                      <a:txBody>
                        <a:bodyPr/>
                        <a:lstStyle/>
                        <a:p>
                          <a:endParaRPr lang="en-US"/>
                        </a:p>
                      </a:txBody>
                      <a:tcPr>
                        <a:blipFill>
                          <a:blip r:embed="rId4"/>
                          <a:stretch>
                            <a:fillRect t="-3333" r="-205660" b="-200000"/>
                          </a:stretch>
                        </a:blipFill>
                      </a:tcPr>
                    </a:tc>
                    <a:tc>
                      <a:txBody>
                        <a:bodyPr/>
                        <a:lstStyle/>
                        <a:p>
                          <a:endParaRPr lang="en-US"/>
                        </a:p>
                      </a:txBody>
                      <a:tcPr>
                        <a:blipFill>
                          <a:blip r:embed="rId4"/>
                          <a:stretch>
                            <a:fillRect l="-98148" t="-3333" r="-101852" b="-200000"/>
                          </a:stretch>
                        </a:blipFill>
                      </a:tcPr>
                    </a:tc>
                    <a:tc>
                      <a:txBody>
                        <a:bodyPr/>
                        <a:lstStyle/>
                        <a:p>
                          <a:endParaRPr lang="en-US"/>
                        </a:p>
                      </a:txBody>
                      <a:tcPr>
                        <a:blipFill>
                          <a:blip r:embed="rId4"/>
                          <a:stretch>
                            <a:fillRect l="-201887" t="-3333" r="-3774" b="-200000"/>
                          </a:stretch>
                        </a:blipFill>
                      </a:tcPr>
                    </a:tc>
                    <a:extLst>
                      <a:ext uri="{0D108BD9-81ED-4DB2-BD59-A6C34878D82A}">
                        <a16:rowId xmlns:a16="http://schemas.microsoft.com/office/drawing/2014/main" val="1939782331"/>
                      </a:ext>
                    </a:extLst>
                  </a:tr>
                  <a:tr h="370840">
                    <a:tc>
                      <a:txBody>
                        <a:bodyPr/>
                        <a:lstStyle/>
                        <a:p>
                          <a:endParaRPr lang="en-US"/>
                        </a:p>
                      </a:txBody>
                      <a:tcPr>
                        <a:blipFill>
                          <a:blip r:embed="rId4"/>
                          <a:stretch>
                            <a:fillRect t="-106897" r="-205660" b="-106897"/>
                          </a:stretch>
                        </a:blipFill>
                      </a:tcPr>
                    </a:tc>
                    <a:tc>
                      <a:txBody>
                        <a:bodyPr/>
                        <a:lstStyle/>
                        <a:p>
                          <a:endParaRPr lang="en-US"/>
                        </a:p>
                      </a:txBody>
                      <a:tcPr>
                        <a:blipFill>
                          <a:blip r:embed="rId4"/>
                          <a:stretch>
                            <a:fillRect l="-98148" t="-106897" r="-101852" b="-106897"/>
                          </a:stretch>
                        </a:blipFill>
                      </a:tcPr>
                    </a:tc>
                    <a:tc>
                      <a:txBody>
                        <a:bodyPr/>
                        <a:lstStyle/>
                        <a:p>
                          <a:endParaRPr lang="en-US"/>
                        </a:p>
                      </a:txBody>
                      <a:tcPr>
                        <a:blipFill>
                          <a:blip r:embed="rId4"/>
                          <a:stretch>
                            <a:fillRect l="-201887" t="-106897" r="-3774" b="-106897"/>
                          </a:stretch>
                        </a:blipFill>
                      </a:tcPr>
                    </a:tc>
                    <a:extLst>
                      <a:ext uri="{0D108BD9-81ED-4DB2-BD59-A6C34878D82A}">
                        <a16:rowId xmlns:a16="http://schemas.microsoft.com/office/drawing/2014/main" val="2879578807"/>
                      </a:ext>
                    </a:extLst>
                  </a:tr>
                  <a:tr h="370840">
                    <a:tc>
                      <a:txBody>
                        <a:bodyPr/>
                        <a:lstStyle/>
                        <a:p>
                          <a:endParaRPr lang="en-US"/>
                        </a:p>
                      </a:txBody>
                      <a:tcPr>
                        <a:blipFill>
                          <a:blip r:embed="rId4"/>
                          <a:stretch>
                            <a:fillRect t="-200000" r="-205660" b="-3333"/>
                          </a:stretch>
                        </a:blipFill>
                      </a:tcPr>
                    </a:tc>
                    <a:tc>
                      <a:txBody>
                        <a:bodyPr/>
                        <a:lstStyle/>
                        <a:p>
                          <a:endParaRPr lang="en-US"/>
                        </a:p>
                      </a:txBody>
                      <a:tcPr>
                        <a:blipFill>
                          <a:blip r:embed="rId4"/>
                          <a:stretch>
                            <a:fillRect l="-98148" t="-200000" r="-101852" b="-3333"/>
                          </a:stretch>
                        </a:blipFill>
                      </a:tcPr>
                    </a:tc>
                    <a:tc>
                      <a:txBody>
                        <a:bodyPr/>
                        <a:lstStyle/>
                        <a:p>
                          <a:endParaRPr lang="en-US"/>
                        </a:p>
                      </a:txBody>
                      <a:tcPr>
                        <a:blipFill>
                          <a:blip r:embed="rId4"/>
                          <a:stretch>
                            <a:fillRect l="-201887" t="-200000" r="-3774" b="-3333"/>
                          </a:stretch>
                        </a:blipFill>
                      </a:tcPr>
                    </a:tc>
                    <a:extLst>
                      <a:ext uri="{0D108BD9-81ED-4DB2-BD59-A6C34878D82A}">
                        <a16:rowId xmlns:a16="http://schemas.microsoft.com/office/drawing/2014/main" val="363480595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E0CFB51A-342C-00DF-D05E-1A3CB75C8B8E}"/>
                  </a:ext>
                </a:extLst>
              </p:cNvPr>
              <p:cNvGraphicFramePr>
                <a:graphicFrameLocks noGrp="1"/>
              </p:cNvGraphicFramePr>
              <p:nvPr>
                <p:extLst>
                  <p:ext uri="{D42A27DB-BD31-4B8C-83A1-F6EECF244321}">
                    <p14:modId xmlns:p14="http://schemas.microsoft.com/office/powerpoint/2010/main" val="633494013"/>
                  </p:ext>
                </p:extLst>
              </p:nvPr>
            </p:nvGraphicFramePr>
            <p:xfrm>
              <a:off x="8358552" y="2286001"/>
              <a:ext cx="3485663" cy="1828800"/>
            </p:xfrm>
            <a:graphic>
              <a:graphicData uri="http://schemas.openxmlformats.org/drawingml/2006/table">
                <a:tbl>
                  <a:tblPr>
                    <a:tableStyleId>{5C22544A-7EE6-4342-B048-85BDC9FD1C3A}</a:tableStyleId>
                  </a:tblPr>
                  <a:tblGrid>
                    <a:gridCol w="1977294">
                      <a:extLst>
                        <a:ext uri="{9D8B030D-6E8A-4147-A177-3AD203B41FA5}">
                          <a16:colId xmlns:a16="http://schemas.microsoft.com/office/drawing/2014/main" val="997962986"/>
                        </a:ext>
                      </a:extLst>
                    </a:gridCol>
                    <a:gridCol w="1508369">
                      <a:extLst>
                        <a:ext uri="{9D8B030D-6E8A-4147-A177-3AD203B41FA5}">
                          <a16:colId xmlns:a16="http://schemas.microsoft.com/office/drawing/2014/main" val="3440645883"/>
                        </a:ext>
                      </a:extLst>
                    </a:gridCol>
                  </a:tblGrid>
                  <a:tr h="0">
                    <a:tc>
                      <a:txBody>
                        <a:bodyPr/>
                        <a:lstStyle/>
                        <a:p>
                          <a:pPr>
                            <a:buNone/>
                          </a:pPr>
                          <a:r>
                            <a:rPr lang="en-AU" b="1" dirty="0"/>
                            <a:t>Gradient direction</a:t>
                          </a:r>
                        </a:p>
                      </a:txBody>
                      <a:tcPr anchor="ctr"/>
                    </a:tc>
                    <a:tc>
                      <a:txBody>
                        <a:bodyPr/>
                        <a:lstStyle/>
                        <a:p>
                          <a:pPr algn="ctr">
                            <a:buNone/>
                          </a:pPr>
                          <a:r>
                            <a:rPr lang="en-AU" b="1" dirty="0" err="1"/>
                            <a:t>Neighbors</a:t>
                          </a:r>
                          <a:endParaRPr lang="en-AU" b="1" dirty="0"/>
                        </a:p>
                      </a:txBody>
                      <a:tcPr anchor="ctr"/>
                    </a:tc>
                    <a:extLst>
                      <a:ext uri="{0D108BD9-81ED-4DB2-BD59-A6C34878D82A}">
                        <a16:rowId xmlns:a16="http://schemas.microsoft.com/office/drawing/2014/main" val="1821319343"/>
                      </a:ext>
                    </a:extLst>
                  </a:tr>
                  <a:tr h="0">
                    <a:tc>
                      <a:txBody>
                        <a:bodyPr/>
                        <a:lstStyle/>
                        <a:p>
                          <a:pPr>
                            <a:buNone/>
                          </a:pPr>
                          <a:r>
                            <a:rPr lang="en-AU" dirty="0"/>
                            <a:t>0° (horizontal)</a:t>
                          </a:r>
                        </a:p>
                      </a:txBody>
                      <a:tcPr anchor="ctr"/>
                    </a:tc>
                    <a:tc>
                      <a:txBody>
                        <a:bodyPr/>
                        <a:lstStyle/>
                        <a:p>
                          <a:pPr algn="ctr">
                            <a:buNone/>
                          </a:pP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4</m:t>
                                  </m:r>
                                </m:sub>
                              </m:sSub>
                            </m:oMath>
                          </a14:m>
                          <a:r>
                            <a:rPr lang="en-AU" dirty="0"/>
                            <a:t>, </a:t>
                          </a: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5</m:t>
                                  </m:r>
                                </m:sub>
                              </m:sSub>
                            </m:oMath>
                          </a14:m>
                          <a:endParaRPr lang="en-AU" dirty="0"/>
                        </a:p>
                      </a:txBody>
                      <a:tcPr anchor="ctr"/>
                    </a:tc>
                    <a:extLst>
                      <a:ext uri="{0D108BD9-81ED-4DB2-BD59-A6C34878D82A}">
                        <a16:rowId xmlns:a16="http://schemas.microsoft.com/office/drawing/2014/main" val="2640611269"/>
                      </a:ext>
                    </a:extLst>
                  </a:tr>
                  <a:tr h="0">
                    <a:tc>
                      <a:txBody>
                        <a:bodyPr/>
                        <a:lstStyle/>
                        <a:p>
                          <a:pPr>
                            <a:buNone/>
                          </a:pPr>
                          <a:r>
                            <a:rPr lang="en-AU"/>
                            <a:t>45°</a:t>
                          </a:r>
                        </a:p>
                      </a:txBody>
                      <a:tcPr anchor="ctr"/>
                    </a:tc>
                    <a:tc>
                      <a:txBody>
                        <a:bodyPr/>
                        <a:lstStyle/>
                        <a:p>
                          <a:pPr algn="ctr">
                            <a:buNone/>
                          </a:pP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3</m:t>
                                  </m:r>
                                </m:sub>
                              </m:sSub>
                            </m:oMath>
                          </a14:m>
                          <a:r>
                            <a:rPr lang="en-AU" dirty="0"/>
                            <a:t>, </a:t>
                          </a: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6</m:t>
                                  </m:r>
                                </m:sub>
                              </m:sSub>
                            </m:oMath>
                          </a14:m>
                          <a:endParaRPr lang="en-AU" dirty="0"/>
                        </a:p>
                      </a:txBody>
                      <a:tcPr anchor="ctr"/>
                    </a:tc>
                    <a:extLst>
                      <a:ext uri="{0D108BD9-81ED-4DB2-BD59-A6C34878D82A}">
                        <a16:rowId xmlns:a16="http://schemas.microsoft.com/office/drawing/2014/main" val="710918603"/>
                      </a:ext>
                    </a:extLst>
                  </a:tr>
                  <a:tr h="0">
                    <a:tc>
                      <a:txBody>
                        <a:bodyPr/>
                        <a:lstStyle/>
                        <a:p>
                          <a:pPr>
                            <a:buNone/>
                          </a:pPr>
                          <a:r>
                            <a:rPr lang="en-AU" dirty="0"/>
                            <a:t>90° (vertical)</a:t>
                          </a:r>
                        </a:p>
                      </a:txBody>
                      <a:tcPr anchor="ctr"/>
                    </a:tc>
                    <a:tc>
                      <a:txBody>
                        <a:bodyPr/>
                        <a:lstStyle/>
                        <a:p>
                          <a:pPr algn="ctr">
                            <a:buNone/>
                          </a:pP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2</m:t>
                                  </m:r>
                                </m:sub>
                              </m:sSub>
                            </m:oMath>
                          </a14:m>
                          <a:r>
                            <a:rPr lang="en-AU" dirty="0"/>
                            <a:t>, </a:t>
                          </a: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7</m:t>
                                  </m:r>
                                </m:sub>
                              </m:sSub>
                            </m:oMath>
                          </a14:m>
                          <a:endParaRPr lang="en-AU" dirty="0"/>
                        </a:p>
                      </a:txBody>
                      <a:tcPr anchor="ctr"/>
                    </a:tc>
                    <a:extLst>
                      <a:ext uri="{0D108BD9-81ED-4DB2-BD59-A6C34878D82A}">
                        <a16:rowId xmlns:a16="http://schemas.microsoft.com/office/drawing/2014/main" val="2369043863"/>
                      </a:ext>
                    </a:extLst>
                  </a:tr>
                  <a:tr h="0">
                    <a:tc>
                      <a:txBody>
                        <a:bodyPr/>
                        <a:lstStyle/>
                        <a:p>
                          <a:pPr>
                            <a:buNone/>
                          </a:pPr>
                          <a:r>
                            <a:rPr lang="en-AU"/>
                            <a:t>135°</a:t>
                          </a:r>
                        </a:p>
                      </a:txBody>
                      <a:tcPr anchor="ctr"/>
                    </a:tc>
                    <a:tc>
                      <a:txBody>
                        <a:bodyPr/>
                        <a:lstStyle/>
                        <a:p>
                          <a:pPr algn="ctr">
                            <a:buNone/>
                          </a:pP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1</m:t>
                                  </m:r>
                                </m:sub>
                              </m:sSub>
                            </m:oMath>
                          </a14:m>
                          <a:r>
                            <a:rPr lang="en-AU" dirty="0"/>
                            <a:t>, </a:t>
                          </a:r>
                          <a14:m>
                            <m:oMath xmlns:m="http://schemas.openxmlformats.org/officeDocument/2006/math">
                              <m:sSub>
                                <m:sSubPr>
                                  <m:ctrlPr>
                                    <a:rPr lang="en-AU" b="0" i="1" dirty="0" smtClean="0">
                                      <a:latin typeface="Cambria Math" panose="02040503050406030204" pitchFamily="18" charset="0"/>
                                    </a:rPr>
                                  </m:ctrlPr>
                                </m:sSubPr>
                                <m:e>
                                  <m:r>
                                    <a:rPr lang="en-AU" b="0" i="1" dirty="0" smtClean="0">
                                      <a:latin typeface="Cambria Math" panose="02040503050406030204" pitchFamily="18" charset="0"/>
                                    </a:rPr>
                                    <m:t>𝑛</m:t>
                                  </m:r>
                                </m:e>
                                <m:sub>
                                  <m:r>
                                    <a:rPr lang="en-AU" b="0" i="1" dirty="0" smtClean="0">
                                      <a:latin typeface="Cambria Math" panose="02040503050406030204" pitchFamily="18" charset="0"/>
                                    </a:rPr>
                                    <m:t>8</m:t>
                                  </m:r>
                                </m:sub>
                              </m:sSub>
                            </m:oMath>
                          </a14:m>
                          <a:endParaRPr lang="en-AU" dirty="0"/>
                        </a:p>
                      </a:txBody>
                      <a:tcPr anchor="ctr"/>
                    </a:tc>
                    <a:extLst>
                      <a:ext uri="{0D108BD9-81ED-4DB2-BD59-A6C34878D82A}">
                        <a16:rowId xmlns:a16="http://schemas.microsoft.com/office/drawing/2014/main" val="2906330875"/>
                      </a:ext>
                    </a:extLst>
                  </a:tr>
                </a:tbl>
              </a:graphicData>
            </a:graphic>
          </p:graphicFrame>
        </mc:Choice>
        <mc:Fallback>
          <p:graphicFrame>
            <p:nvGraphicFramePr>
              <p:cNvPr id="5" name="Table 4">
                <a:extLst>
                  <a:ext uri="{FF2B5EF4-FFF2-40B4-BE49-F238E27FC236}">
                    <a16:creationId xmlns:a16="http://schemas.microsoft.com/office/drawing/2014/main" id="{E0CFB51A-342C-00DF-D05E-1A3CB75C8B8E}"/>
                  </a:ext>
                </a:extLst>
              </p:cNvPr>
              <p:cNvGraphicFramePr>
                <a:graphicFrameLocks noGrp="1"/>
              </p:cNvGraphicFramePr>
              <p:nvPr>
                <p:extLst>
                  <p:ext uri="{D42A27DB-BD31-4B8C-83A1-F6EECF244321}">
                    <p14:modId xmlns:p14="http://schemas.microsoft.com/office/powerpoint/2010/main" val="633494013"/>
                  </p:ext>
                </p:extLst>
              </p:nvPr>
            </p:nvGraphicFramePr>
            <p:xfrm>
              <a:off x="8358552" y="2286001"/>
              <a:ext cx="3485663" cy="1828800"/>
            </p:xfrm>
            <a:graphic>
              <a:graphicData uri="http://schemas.openxmlformats.org/drawingml/2006/table">
                <a:tbl>
                  <a:tblPr>
                    <a:tableStyleId>{5C22544A-7EE6-4342-B048-85BDC9FD1C3A}</a:tableStyleId>
                  </a:tblPr>
                  <a:tblGrid>
                    <a:gridCol w="1977294">
                      <a:extLst>
                        <a:ext uri="{9D8B030D-6E8A-4147-A177-3AD203B41FA5}">
                          <a16:colId xmlns:a16="http://schemas.microsoft.com/office/drawing/2014/main" val="997962986"/>
                        </a:ext>
                      </a:extLst>
                    </a:gridCol>
                    <a:gridCol w="1508369">
                      <a:extLst>
                        <a:ext uri="{9D8B030D-6E8A-4147-A177-3AD203B41FA5}">
                          <a16:colId xmlns:a16="http://schemas.microsoft.com/office/drawing/2014/main" val="3440645883"/>
                        </a:ext>
                      </a:extLst>
                    </a:gridCol>
                  </a:tblGrid>
                  <a:tr h="365760">
                    <a:tc>
                      <a:txBody>
                        <a:bodyPr/>
                        <a:lstStyle/>
                        <a:p>
                          <a:pPr>
                            <a:buNone/>
                          </a:pPr>
                          <a:r>
                            <a:rPr lang="en-AU" b="1" dirty="0"/>
                            <a:t>Gradient direction</a:t>
                          </a:r>
                        </a:p>
                      </a:txBody>
                      <a:tcPr anchor="ctr"/>
                    </a:tc>
                    <a:tc>
                      <a:txBody>
                        <a:bodyPr/>
                        <a:lstStyle/>
                        <a:p>
                          <a:pPr algn="ctr">
                            <a:buNone/>
                          </a:pPr>
                          <a:r>
                            <a:rPr lang="en-AU" b="1" dirty="0" err="1"/>
                            <a:t>Neighbors</a:t>
                          </a:r>
                          <a:endParaRPr lang="en-AU" b="1" dirty="0"/>
                        </a:p>
                      </a:txBody>
                      <a:tcPr anchor="ctr"/>
                    </a:tc>
                    <a:extLst>
                      <a:ext uri="{0D108BD9-81ED-4DB2-BD59-A6C34878D82A}">
                        <a16:rowId xmlns:a16="http://schemas.microsoft.com/office/drawing/2014/main" val="1821319343"/>
                      </a:ext>
                    </a:extLst>
                  </a:tr>
                  <a:tr h="365760">
                    <a:tc>
                      <a:txBody>
                        <a:bodyPr/>
                        <a:lstStyle/>
                        <a:p>
                          <a:pPr>
                            <a:buNone/>
                          </a:pPr>
                          <a:r>
                            <a:rPr lang="en-AU" dirty="0"/>
                            <a:t>0° (horizontal)</a:t>
                          </a:r>
                        </a:p>
                      </a:txBody>
                      <a:tcPr anchor="ctr"/>
                    </a:tc>
                    <a:tc>
                      <a:txBody>
                        <a:bodyPr/>
                        <a:lstStyle/>
                        <a:p>
                          <a:endParaRPr lang="en-US"/>
                        </a:p>
                      </a:txBody>
                      <a:tcPr anchor="ctr">
                        <a:blipFill>
                          <a:blip r:embed="rId5"/>
                          <a:stretch>
                            <a:fillRect l="-131933" t="-106897" r="-1681" b="-327586"/>
                          </a:stretch>
                        </a:blipFill>
                      </a:tcPr>
                    </a:tc>
                    <a:extLst>
                      <a:ext uri="{0D108BD9-81ED-4DB2-BD59-A6C34878D82A}">
                        <a16:rowId xmlns:a16="http://schemas.microsoft.com/office/drawing/2014/main" val="2640611269"/>
                      </a:ext>
                    </a:extLst>
                  </a:tr>
                  <a:tr h="365760">
                    <a:tc>
                      <a:txBody>
                        <a:bodyPr/>
                        <a:lstStyle/>
                        <a:p>
                          <a:pPr>
                            <a:buNone/>
                          </a:pPr>
                          <a:r>
                            <a:rPr lang="en-AU"/>
                            <a:t>45°</a:t>
                          </a:r>
                        </a:p>
                      </a:txBody>
                      <a:tcPr anchor="ctr"/>
                    </a:tc>
                    <a:tc>
                      <a:txBody>
                        <a:bodyPr/>
                        <a:lstStyle/>
                        <a:p>
                          <a:endParaRPr lang="en-US"/>
                        </a:p>
                      </a:txBody>
                      <a:tcPr anchor="ctr">
                        <a:blipFill>
                          <a:blip r:embed="rId5"/>
                          <a:stretch>
                            <a:fillRect l="-131933" t="-206897" r="-1681" b="-227586"/>
                          </a:stretch>
                        </a:blipFill>
                      </a:tcPr>
                    </a:tc>
                    <a:extLst>
                      <a:ext uri="{0D108BD9-81ED-4DB2-BD59-A6C34878D82A}">
                        <a16:rowId xmlns:a16="http://schemas.microsoft.com/office/drawing/2014/main" val="710918603"/>
                      </a:ext>
                    </a:extLst>
                  </a:tr>
                  <a:tr h="365760">
                    <a:tc>
                      <a:txBody>
                        <a:bodyPr/>
                        <a:lstStyle/>
                        <a:p>
                          <a:pPr>
                            <a:buNone/>
                          </a:pPr>
                          <a:r>
                            <a:rPr lang="en-AU" dirty="0"/>
                            <a:t>90° (vertical)</a:t>
                          </a:r>
                        </a:p>
                      </a:txBody>
                      <a:tcPr anchor="ctr"/>
                    </a:tc>
                    <a:tc>
                      <a:txBody>
                        <a:bodyPr/>
                        <a:lstStyle/>
                        <a:p>
                          <a:endParaRPr lang="en-US"/>
                        </a:p>
                      </a:txBody>
                      <a:tcPr anchor="ctr">
                        <a:blipFill>
                          <a:blip r:embed="rId5"/>
                          <a:stretch>
                            <a:fillRect l="-131933" t="-306897" r="-1681" b="-127586"/>
                          </a:stretch>
                        </a:blipFill>
                      </a:tcPr>
                    </a:tc>
                    <a:extLst>
                      <a:ext uri="{0D108BD9-81ED-4DB2-BD59-A6C34878D82A}">
                        <a16:rowId xmlns:a16="http://schemas.microsoft.com/office/drawing/2014/main" val="2369043863"/>
                      </a:ext>
                    </a:extLst>
                  </a:tr>
                  <a:tr h="365760">
                    <a:tc>
                      <a:txBody>
                        <a:bodyPr/>
                        <a:lstStyle/>
                        <a:p>
                          <a:pPr>
                            <a:buNone/>
                          </a:pPr>
                          <a:r>
                            <a:rPr lang="en-AU"/>
                            <a:t>135°</a:t>
                          </a:r>
                        </a:p>
                      </a:txBody>
                      <a:tcPr anchor="ctr"/>
                    </a:tc>
                    <a:tc>
                      <a:txBody>
                        <a:bodyPr/>
                        <a:lstStyle/>
                        <a:p>
                          <a:endParaRPr lang="en-US"/>
                        </a:p>
                      </a:txBody>
                      <a:tcPr anchor="ctr">
                        <a:blipFill>
                          <a:blip r:embed="rId5"/>
                          <a:stretch>
                            <a:fillRect l="-131933" t="-406897" r="-1681" b="-27586"/>
                          </a:stretch>
                        </a:blipFill>
                      </a:tcPr>
                    </a:tc>
                    <a:extLst>
                      <a:ext uri="{0D108BD9-81ED-4DB2-BD59-A6C34878D82A}">
                        <a16:rowId xmlns:a16="http://schemas.microsoft.com/office/drawing/2014/main" val="2906330875"/>
                      </a:ext>
                    </a:extLst>
                  </a:tr>
                </a:tbl>
              </a:graphicData>
            </a:graphic>
          </p:graphicFrame>
        </mc:Fallback>
      </mc:AlternateContent>
      <p:pic>
        <p:nvPicPr>
          <p:cNvPr id="6" name="Picture 5">
            <a:extLst>
              <a:ext uri="{FF2B5EF4-FFF2-40B4-BE49-F238E27FC236}">
                <a16:creationId xmlns:a16="http://schemas.microsoft.com/office/drawing/2014/main" id="{187077DB-E4EF-9A46-585A-18DCE411CCA0}"/>
              </a:ext>
            </a:extLst>
          </p:cNvPr>
          <p:cNvPicPr>
            <a:picLocks noChangeAspect="1"/>
          </p:cNvPicPr>
          <p:nvPr/>
        </p:nvPicPr>
        <p:blipFill>
          <a:blip r:embed="rId6"/>
          <a:stretch>
            <a:fillRect/>
          </a:stretch>
        </p:blipFill>
        <p:spPr>
          <a:xfrm>
            <a:off x="838199" y="4114801"/>
            <a:ext cx="3485662" cy="2283109"/>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6D3A59F-A603-69BA-5E7B-1733A1051684}"/>
                  </a:ext>
                </a:extLst>
              </p:cNvPr>
              <p:cNvSpPr txBox="1"/>
              <p:nvPr/>
            </p:nvSpPr>
            <p:spPr>
              <a:xfrm>
                <a:off x="4838835" y="4575177"/>
                <a:ext cx="6696672" cy="1569660"/>
              </a:xfrm>
              <a:prstGeom prst="rect">
                <a:avLst/>
              </a:prstGeom>
              <a:noFill/>
            </p:spPr>
            <p:txBody>
              <a:bodyPr wrap="square" rtlCol="0">
                <a:spAutoFit/>
              </a:bodyPr>
              <a:lstStyle/>
              <a:p>
                <a:pPr marL="342900" indent="-342900">
                  <a:buFont typeface="Arial" panose="020B0604020202020204" pitchFamily="34" charset="0"/>
                  <a:buChar char="•"/>
                </a:pPr>
                <a:r>
                  <a:rPr lang="en-AU" sz="2400" dirty="0"/>
                  <a:t>Does  not always have exact angle. </a:t>
                </a:r>
              </a:p>
              <a:p>
                <a:pPr marL="342900" indent="-342900">
                  <a:buFont typeface="Arial" panose="020B0604020202020204" pitchFamily="34" charset="0"/>
                  <a:buChar char="•"/>
                </a:pPr>
                <a:r>
                  <a:rPr lang="en-AU" sz="2400" dirty="0"/>
                  <a:t>If the gradient direction falls in between the angle -22.5 and 22.5, then we use the pixels that fall between this angle (</a:t>
                </a:r>
                <a14:m>
                  <m:oMath xmlns:m="http://schemas.openxmlformats.org/officeDocument/2006/math">
                    <m:r>
                      <a:rPr lang="en-AU" sz="2400" i="1" dirty="0" smtClean="0">
                        <a:latin typeface="Cambria Math" panose="02040503050406030204" pitchFamily="18" charset="0"/>
                      </a:rPr>
                      <m:t>𝑟</m:t>
                    </m:r>
                  </m:oMath>
                </a14:m>
                <a:r>
                  <a:rPr lang="en-AU" sz="2400" dirty="0"/>
                  <a:t> and </a:t>
                </a:r>
                <a14:m>
                  <m:oMath xmlns:m="http://schemas.openxmlformats.org/officeDocument/2006/math">
                    <m:r>
                      <a:rPr lang="en-AU" sz="2400" i="1" dirty="0" smtClean="0">
                        <a:latin typeface="Cambria Math" panose="02040503050406030204" pitchFamily="18" charset="0"/>
                      </a:rPr>
                      <m:t>𝑞</m:t>
                    </m:r>
                  </m:oMath>
                </a14:m>
                <a:r>
                  <a:rPr lang="en-AU" sz="2400" dirty="0"/>
                  <a:t>).</a:t>
                </a:r>
              </a:p>
            </p:txBody>
          </p:sp>
        </mc:Choice>
        <mc:Fallback>
          <p:sp>
            <p:nvSpPr>
              <p:cNvPr id="7" name="TextBox 6">
                <a:extLst>
                  <a:ext uri="{FF2B5EF4-FFF2-40B4-BE49-F238E27FC236}">
                    <a16:creationId xmlns:a16="http://schemas.microsoft.com/office/drawing/2014/main" id="{16D3A59F-A603-69BA-5E7B-1733A1051684}"/>
                  </a:ext>
                </a:extLst>
              </p:cNvPr>
              <p:cNvSpPr txBox="1">
                <a:spLocks noRot="1" noChangeAspect="1" noMove="1" noResize="1" noEditPoints="1" noAdjustHandles="1" noChangeArrowheads="1" noChangeShapeType="1" noTextEdit="1"/>
              </p:cNvSpPr>
              <p:nvPr/>
            </p:nvSpPr>
            <p:spPr>
              <a:xfrm>
                <a:off x="4838835" y="4575177"/>
                <a:ext cx="6696672" cy="1569660"/>
              </a:xfrm>
              <a:prstGeom prst="rect">
                <a:avLst/>
              </a:prstGeom>
              <a:blipFill>
                <a:blip r:embed="rId7"/>
                <a:stretch>
                  <a:fillRect l="-1326" t="-3226" r="-2462" b="-8065"/>
                </a:stretch>
              </a:blipFill>
            </p:spPr>
            <p:txBody>
              <a:bodyPr/>
              <a:lstStyle/>
              <a:p>
                <a:r>
                  <a:rPr lang="en-US">
                    <a:noFill/>
                  </a:rPr>
                  <a:t> </a:t>
                </a:r>
              </a:p>
            </p:txBody>
          </p:sp>
        </mc:Fallback>
      </mc:AlternateContent>
    </p:spTree>
    <p:extLst>
      <p:ext uri="{BB962C8B-B14F-4D97-AF65-F5344CB8AC3E}">
        <p14:creationId xmlns:p14="http://schemas.microsoft.com/office/powerpoint/2010/main" val="1296386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34511-65E5-1311-747F-8B87F06B8DBE}"/>
              </a:ext>
            </a:extLst>
          </p:cNvPr>
          <p:cNvSpPr>
            <a:spLocks noGrp="1"/>
          </p:cNvSpPr>
          <p:nvPr>
            <p:ph type="title"/>
          </p:nvPr>
        </p:nvSpPr>
        <p:spPr/>
        <p:txBody>
          <a:bodyPr/>
          <a:lstStyle/>
          <a:p>
            <a:r>
              <a:rPr lang="en-US" b="1" dirty="0"/>
              <a:t>Neighbor selection (</a:t>
            </a:r>
            <a:r>
              <a:rPr lang="en-AU" b="1" dirty="0"/>
              <a:t>bilinear-</a:t>
            </a:r>
            <a:r>
              <a:rPr lang="en-AU" b="1" dirty="0" err="1"/>
              <a:t>i</a:t>
            </a:r>
            <a:r>
              <a:rPr lang="en-US" b="1" dirty="0" err="1"/>
              <a:t>nterpolation</a:t>
            </a:r>
            <a:r>
              <a:rPr lang="en-US" b="1" dirty="0"/>
              <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01EBA5-8689-B119-6896-C8BB99D9DD39}"/>
                  </a:ext>
                </a:extLst>
              </p:cNvPr>
              <p:cNvSpPr>
                <a:spLocks noGrp="1"/>
              </p:cNvSpPr>
              <p:nvPr>
                <p:ph idx="1"/>
              </p:nvPr>
            </p:nvSpPr>
            <p:spPr>
              <a:xfrm>
                <a:off x="838200" y="1825625"/>
                <a:ext cx="10158046" cy="4351338"/>
              </a:xfrm>
            </p:spPr>
            <p:txBody>
              <a:bodyPr>
                <a:normAutofit fontScale="92500"/>
              </a:bodyPr>
              <a:lstStyle/>
              <a:p>
                <a:r>
                  <a:rPr lang="en-AU" dirty="0"/>
                  <a:t>Walk along the gradient direction </a:t>
                </a:r>
                <a:r>
                  <a:rPr lang="en-AU" i="1" dirty="0"/>
                  <a:t>through</a:t>
                </a:r>
                <a:r>
                  <a:rPr lang="en-AU" dirty="0"/>
                  <a:t> pixel </a:t>
                </a:r>
                <a14:m>
                  <m:oMath xmlns:m="http://schemas.openxmlformats.org/officeDocument/2006/math">
                    <m:r>
                      <a:rPr lang="en-AU" i="1" dirty="0" smtClean="0">
                        <a:latin typeface="Cambria Math" panose="02040503050406030204" pitchFamily="18" charset="0"/>
                      </a:rPr>
                      <m:t>𝑞</m:t>
                    </m:r>
                  </m:oMath>
                </a14:m>
                <a:r>
                  <a:rPr lang="en-AU" dirty="0"/>
                  <a:t>, in </a:t>
                </a:r>
                <a:r>
                  <a:rPr lang="en-AU" b="1" dirty="0"/>
                  <a:t>both directions</a:t>
                </a:r>
                <a:r>
                  <a:rPr lang="en-AU" dirty="0"/>
                  <a:t>, and interpolate the intensity at whatever point the gradient line lands on. For this case the points in both directions are </a:t>
                </a:r>
                <a14:m>
                  <m:oMath xmlns:m="http://schemas.openxmlformats.org/officeDocument/2006/math">
                    <m:r>
                      <a:rPr lang="en-AU" i="1" dirty="0" smtClean="0">
                        <a:latin typeface="Cambria Math" panose="02040503050406030204" pitchFamily="18" charset="0"/>
                      </a:rPr>
                      <m:t>𝑝</m:t>
                    </m:r>
                  </m:oMath>
                </a14:m>
                <a:r>
                  <a:rPr lang="en-AU" dirty="0"/>
                  <a:t> and </a:t>
                </a:r>
                <a14:m>
                  <m:oMath xmlns:m="http://schemas.openxmlformats.org/officeDocument/2006/math">
                    <m:r>
                      <a:rPr lang="en-AU" i="1" dirty="0" smtClean="0">
                        <a:latin typeface="Cambria Math" panose="02040503050406030204" pitchFamily="18" charset="0"/>
                      </a:rPr>
                      <m:t>𝑟</m:t>
                    </m:r>
                  </m:oMath>
                </a14:m>
                <a:r>
                  <a:rPr lang="en-AU" dirty="0"/>
                  <a:t>. </a:t>
                </a:r>
              </a:p>
              <a:p>
                <a:pPr lvl="0"/>
                <a14:m>
                  <m:oMath xmlns:m="http://schemas.openxmlformats.org/officeDocument/2006/math">
                    <m:r>
                      <a:rPr lang="en-AU" b="1" i="1" dirty="0" smtClean="0">
                        <a:latin typeface="Cambria Math" panose="02040503050406030204" pitchFamily="18" charset="0"/>
                      </a:rPr>
                      <m:t>𝒓</m:t>
                    </m:r>
                    <m:r>
                      <a:rPr lang="en-AU" i="1" dirty="0">
                        <a:latin typeface="Cambria Math" panose="02040503050406030204" pitchFamily="18" charset="0"/>
                      </a:rPr>
                      <m:t> </m:t>
                    </m:r>
                  </m:oMath>
                </a14:m>
                <a:r>
                  <a:rPr lang="en-AU" dirty="0"/>
                  <a:t>is the point (forward) along the gradient direction (angle </a:t>
                </a:r>
                <a14:m>
                  <m:oMath xmlns:m="http://schemas.openxmlformats.org/officeDocument/2006/math">
                    <m:r>
                      <a:rPr lang="en-AU" i="1" dirty="0" smtClean="0">
                        <a:latin typeface="Cambria Math" panose="02040503050406030204" pitchFamily="18" charset="0"/>
                      </a:rPr>
                      <m:t>𝜃</m:t>
                    </m:r>
                  </m:oMath>
                </a14:m>
                <a:r>
                  <a:rPr lang="en-AU" dirty="0"/>
                  <a:t>) from </a:t>
                </a:r>
                <a14:m>
                  <m:oMath xmlns:m="http://schemas.openxmlformats.org/officeDocument/2006/math">
                    <m:r>
                      <a:rPr lang="en-AU" i="1" dirty="0" smtClean="0">
                        <a:latin typeface="Cambria Math" panose="02040503050406030204" pitchFamily="18" charset="0"/>
                      </a:rPr>
                      <m:t>𝑞</m:t>
                    </m:r>
                  </m:oMath>
                </a14:m>
                <a:r>
                  <a:rPr lang="en-AU" dirty="0"/>
                  <a:t>. If </a:t>
                </a:r>
                <a14:m>
                  <m:oMath xmlns:m="http://schemas.openxmlformats.org/officeDocument/2006/math">
                    <m:r>
                      <a:rPr lang="en-AU" b="0" i="0" dirty="0" smtClean="0">
                        <a:latin typeface="Cambria Math" panose="02040503050406030204" pitchFamily="18" charset="0"/>
                      </a:rPr>
                      <m:t>0≤</m:t>
                    </m:r>
                    <m:r>
                      <a:rPr lang="en-AU" i="1" dirty="0" smtClean="0">
                        <a:latin typeface="Cambria Math" panose="02040503050406030204" pitchFamily="18" charset="0"/>
                      </a:rPr>
                      <m:t>𝜃</m:t>
                    </m:r>
                    <m:r>
                      <a:rPr lang="en-AU" b="0" i="1" dirty="0" smtClean="0">
                        <a:latin typeface="Cambria Math" panose="02040503050406030204" pitchFamily="18" charset="0"/>
                      </a:rPr>
                      <m:t>&lt;45</m:t>
                    </m:r>
                  </m:oMath>
                </a14:m>
                <a:r>
                  <a:rPr lang="en-AU" dirty="0"/>
                  <a:t>, </a:t>
                </a:r>
                <a14:m>
                  <m:oMath xmlns:m="http://schemas.openxmlformats.org/officeDocument/2006/math">
                    <m:r>
                      <a:rPr lang="en-AU" b="0" i="1" dirty="0" smtClean="0">
                        <a:latin typeface="Cambria Math" panose="02040503050406030204" pitchFamily="18" charset="0"/>
                      </a:rPr>
                      <m:t>𝑟</m:t>
                    </m:r>
                    <m:r>
                      <a:rPr lang="en-AU" i="1" dirty="0">
                        <a:latin typeface="Cambria Math" panose="02040503050406030204" pitchFamily="18" charset="0"/>
                      </a:rPr>
                      <m:t> </m:t>
                    </m:r>
                  </m:oMath>
                </a14:m>
                <a:r>
                  <a:rPr lang="en-AU" dirty="0"/>
                  <a:t>lands somewhere on the segment between two </a:t>
                </a:r>
                <a:r>
                  <a:rPr lang="en-AU" dirty="0" err="1"/>
                  <a:t>neighbors</a:t>
                </a:r>
                <a:r>
                  <a:rPr lang="en-AU" dirty="0"/>
                  <a:t> of </a:t>
                </a:r>
                <a14:m>
                  <m:oMath xmlns:m="http://schemas.openxmlformats.org/officeDocument/2006/math">
                    <m:r>
                      <a:rPr lang="en-AU" i="1" dirty="0">
                        <a:latin typeface="Cambria Math" panose="02040503050406030204" pitchFamily="18" charset="0"/>
                      </a:rPr>
                      <m:t>𝑞</m:t>
                    </m:r>
                  </m:oMath>
                </a14:m>
                <a:r>
                  <a:rPr lang="en-AU" dirty="0"/>
                  <a:t>. If we call those two pixels </a:t>
                </a:r>
                <a14:m>
                  <m:oMath xmlns:m="http://schemas.openxmlformats.org/officeDocument/2006/math">
                    <m:r>
                      <a:rPr lang="en-AU" b="1" i="1" dirty="0" smtClean="0">
                        <a:latin typeface="Cambria Math" panose="02040503050406030204" pitchFamily="18" charset="0"/>
                      </a:rPr>
                      <m:t>𝒂</m:t>
                    </m:r>
                  </m:oMath>
                </a14:m>
                <a:r>
                  <a:rPr lang="en-AU" dirty="0"/>
                  <a:t> and </a:t>
                </a:r>
                <a14:m>
                  <m:oMath xmlns:m="http://schemas.openxmlformats.org/officeDocument/2006/math">
                    <m:r>
                      <a:rPr lang="en-AU" b="1" i="1" dirty="0" smtClean="0">
                        <a:latin typeface="Cambria Math" panose="02040503050406030204" pitchFamily="18" charset="0"/>
                      </a:rPr>
                      <m:t>𝒃</m:t>
                    </m:r>
                  </m:oMath>
                </a14:m>
                <a:r>
                  <a:rPr lang="en-AU" dirty="0"/>
                  <a:t>, then:</a:t>
                </a:r>
              </a:p>
              <a:p>
                <a:pPr lvl="1"/>
                <a14:m>
                  <m:oMath xmlns:m="http://schemas.openxmlformats.org/officeDocument/2006/math">
                    <m:r>
                      <a:rPr lang="en-AU" i="1"/>
                      <m:t>𝑟</m:t>
                    </m:r>
                    <m:r>
                      <a:rPr lang="en-AU"/>
                      <m:t>=</m:t>
                    </m:r>
                    <m:r>
                      <a:rPr lang="en-AU" i="1"/>
                      <m:t>𝛼</m:t>
                    </m:r>
                    <m:r>
                      <a:rPr lang="en-AU" i="1"/>
                      <m:t>𝑏</m:t>
                    </m:r>
                    <m:r>
                      <a:rPr lang="en-AU"/>
                      <m:t>+</m:t>
                    </m:r>
                    <m:d>
                      <m:dPr>
                        <m:ctrlPr>
                          <a:rPr lang="en-AU"/>
                        </m:ctrlPr>
                      </m:dPr>
                      <m:e>
                        <m:r>
                          <a:rPr lang="en-AU"/>
                          <m:t>1−</m:t>
                        </m:r>
                        <m:r>
                          <a:rPr lang="en-AU" i="1"/>
                          <m:t>𝛼</m:t>
                        </m:r>
                      </m:e>
                    </m:d>
                    <m:r>
                      <a:rPr lang="en-AU" i="1"/>
                      <m:t>𝑎</m:t>
                    </m:r>
                  </m:oMath>
                </a14:m>
                <a:r>
                  <a:rPr lang="en-AU" dirty="0"/>
                  <a:t>, where </a:t>
                </a:r>
                <a14:m>
                  <m:oMath xmlns:m="http://schemas.openxmlformats.org/officeDocument/2006/math">
                    <m:r>
                      <a:rPr lang="en-AU" i="1" dirty="0" smtClean="0">
                        <a:latin typeface="Cambria Math" panose="02040503050406030204" pitchFamily="18" charset="0"/>
                      </a:rPr>
                      <m:t>𝛼</m:t>
                    </m:r>
                    <m:r>
                      <a:rPr lang="en-AU" i="1" dirty="0" smtClean="0">
                        <a:latin typeface="Cambria Math" panose="02040503050406030204" pitchFamily="18" charset="0"/>
                      </a:rPr>
                      <m:t> = </m:t>
                    </m:r>
                    <m:r>
                      <m:rPr>
                        <m:sty m:val="p"/>
                      </m:rPr>
                      <a:rPr lang="en-AU" i="1" dirty="0" smtClean="0">
                        <a:latin typeface="Cambria Math" panose="02040503050406030204" pitchFamily="18" charset="0"/>
                      </a:rPr>
                      <m:t>tan</m:t>
                    </m:r>
                    <m:r>
                      <a:rPr lang="en-AU" i="1" dirty="0" smtClean="0">
                        <a:latin typeface="Cambria Math" panose="02040503050406030204" pitchFamily="18" charset="0"/>
                      </a:rPr>
                      <m:t>⁡(</m:t>
                    </m:r>
                    <m:r>
                      <a:rPr lang="en-AU" i="1" dirty="0" err="1">
                        <a:latin typeface="Cambria Math" panose="02040503050406030204" pitchFamily="18" charset="0"/>
                      </a:rPr>
                      <m:t>𝜃</m:t>
                    </m:r>
                    <m:r>
                      <a:rPr lang="en-AU" i="1" dirty="0">
                        <a:latin typeface="Cambria Math" panose="02040503050406030204" pitchFamily="18" charset="0"/>
                      </a:rPr>
                      <m:t>) </m:t>
                    </m:r>
                  </m:oMath>
                </a14:m>
                <a:r>
                  <a:rPr lang="en-AU" dirty="0"/>
                  <a:t>(the fractional distance between the two pixels).</a:t>
                </a:r>
              </a:p>
              <a:p>
                <a:pPr lvl="0"/>
                <a14:m>
                  <m:oMath xmlns:m="http://schemas.openxmlformats.org/officeDocument/2006/math">
                    <m:r>
                      <a:rPr lang="en-AU" b="1" i="1" dirty="0" smtClean="0">
                        <a:latin typeface="Cambria Math" panose="02040503050406030204" pitchFamily="18" charset="0"/>
                      </a:rPr>
                      <m:t>𝒑</m:t>
                    </m:r>
                  </m:oMath>
                </a14:m>
                <a:r>
                  <a:rPr lang="en-AU" dirty="0"/>
                  <a:t> is found the exact same way, but stepping </a:t>
                </a:r>
                <a:r>
                  <a:rPr lang="en-AU" i="1" dirty="0"/>
                  <a:t>backward</a:t>
                </a:r>
                <a:r>
                  <a:rPr lang="en-AU" dirty="0"/>
                  <a:t> along the gradient direction (i.e., 180° from </a:t>
                </a:r>
                <a14:m>
                  <m:oMath xmlns:m="http://schemas.openxmlformats.org/officeDocument/2006/math">
                    <m:r>
                      <a:rPr lang="en-AU" i="1" dirty="0" smtClean="0">
                        <a:latin typeface="Cambria Math" panose="02040503050406030204" pitchFamily="18" charset="0"/>
                      </a:rPr>
                      <m:t>𝑟</m:t>
                    </m:r>
                  </m:oMath>
                </a14:m>
                <a:r>
                  <a:rPr lang="en-AU" dirty="0"/>
                  <a:t>'s direction) from </a:t>
                </a:r>
                <a14:m>
                  <m:oMath xmlns:m="http://schemas.openxmlformats.org/officeDocument/2006/math">
                    <m:r>
                      <a:rPr lang="en-AU" i="1" dirty="0" smtClean="0">
                        <a:latin typeface="Cambria Math" panose="02040503050406030204" pitchFamily="18" charset="0"/>
                      </a:rPr>
                      <m:t>𝑞</m:t>
                    </m:r>
                  </m:oMath>
                </a14:m>
                <a:r>
                  <a:rPr lang="en-AU" dirty="0"/>
                  <a:t>.</a:t>
                </a:r>
              </a:p>
              <a:p>
                <a:pPr lvl="1"/>
                <a14:m>
                  <m:oMath xmlns:m="http://schemas.openxmlformats.org/officeDocument/2006/math">
                    <m:r>
                      <a:rPr lang="en-AU" i="1" dirty="0" smtClean="0">
                        <a:latin typeface="Cambria Math" panose="02040503050406030204" pitchFamily="18" charset="0"/>
                      </a:rPr>
                      <m:t>𝑝</m:t>
                    </m:r>
                    <m:r>
                      <a:rPr lang="en-AU" i="1" dirty="0" smtClean="0">
                        <a:latin typeface="Cambria Math" panose="02040503050406030204" pitchFamily="18" charset="0"/>
                      </a:rPr>
                      <m:t>=</m:t>
                    </m:r>
                    <m:r>
                      <a:rPr lang="en-AU" i="1" dirty="0" smtClean="0">
                        <a:latin typeface="Cambria Math" panose="02040503050406030204" pitchFamily="18" charset="0"/>
                      </a:rPr>
                      <m:t>𝛼</m:t>
                    </m:r>
                    <m:r>
                      <a:rPr lang="en-AU" i="1" dirty="0" smtClean="0">
                        <a:latin typeface="Cambria Math" panose="02040503050406030204" pitchFamily="18" charset="0"/>
                      </a:rPr>
                      <m:t>𝑐</m:t>
                    </m:r>
                    <m:r>
                      <a:rPr lang="en-AU" i="1" dirty="0" smtClean="0">
                        <a:latin typeface="Cambria Math" panose="02040503050406030204" pitchFamily="18" charset="0"/>
                      </a:rPr>
                      <m:t>+(1−</m:t>
                    </m:r>
                    <m:r>
                      <a:rPr lang="en-AU" i="1" dirty="0" smtClean="0">
                        <a:latin typeface="Cambria Math" panose="02040503050406030204" pitchFamily="18" charset="0"/>
                      </a:rPr>
                      <m:t>𝛼</m:t>
                    </m:r>
                    <m:r>
                      <a:rPr lang="en-AU" i="1" dirty="0" smtClean="0">
                        <a:latin typeface="Cambria Math" panose="02040503050406030204" pitchFamily="18" charset="0"/>
                      </a:rPr>
                      <m:t>)</m:t>
                    </m:r>
                    <m:r>
                      <a:rPr lang="en-AU" i="1" dirty="0" smtClean="0">
                        <a:latin typeface="Cambria Math" panose="02040503050406030204" pitchFamily="18" charset="0"/>
                      </a:rPr>
                      <m:t>𝑑</m:t>
                    </m:r>
                  </m:oMath>
                </a14:m>
                <a:r>
                  <a:rPr lang="en-AU" dirty="0"/>
                  <a:t> </a:t>
                </a:r>
              </a:p>
            </p:txBody>
          </p:sp>
        </mc:Choice>
        <mc:Fallback>
          <p:sp>
            <p:nvSpPr>
              <p:cNvPr id="3" name="Content Placeholder 2">
                <a:extLst>
                  <a:ext uri="{FF2B5EF4-FFF2-40B4-BE49-F238E27FC236}">
                    <a16:creationId xmlns:a16="http://schemas.microsoft.com/office/drawing/2014/main" id="{D201EBA5-8689-B119-6896-C8BB99D9DD39}"/>
                  </a:ext>
                </a:extLst>
              </p:cNvPr>
              <p:cNvSpPr>
                <a:spLocks noGrp="1" noRot="1" noChangeAspect="1" noMove="1" noResize="1" noEditPoints="1" noAdjustHandles="1" noChangeArrowheads="1" noChangeShapeType="1" noTextEdit="1"/>
              </p:cNvSpPr>
              <p:nvPr>
                <p:ph idx="1"/>
              </p:nvPr>
            </p:nvSpPr>
            <p:spPr>
              <a:xfrm>
                <a:off x="838200" y="1825625"/>
                <a:ext cx="10158046" cy="4351338"/>
              </a:xfrm>
              <a:blipFill>
                <a:blip r:embed="rId3"/>
                <a:stretch>
                  <a:fillRect l="-1000" t="-2035" r="-1125"/>
                </a:stretch>
              </a:blipFill>
            </p:spPr>
            <p:txBody>
              <a:bodyPr/>
              <a:lstStyle/>
              <a:p>
                <a:r>
                  <a:rPr lang="en-US">
                    <a:noFill/>
                  </a:rPr>
                  <a:t> </a:t>
                </a:r>
              </a:p>
            </p:txBody>
          </p:sp>
        </mc:Fallback>
      </mc:AlternateContent>
    </p:spTree>
    <p:extLst>
      <p:ext uri="{BB962C8B-B14F-4D97-AF65-F5344CB8AC3E}">
        <p14:creationId xmlns:p14="http://schemas.microsoft.com/office/powerpoint/2010/main" val="3278332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7EFA-B3F0-302E-30DE-DD8B6E4EA7E0}"/>
              </a:ext>
            </a:extLst>
          </p:cNvPr>
          <p:cNvSpPr>
            <a:spLocks noGrp="1"/>
          </p:cNvSpPr>
          <p:nvPr>
            <p:ph type="title"/>
          </p:nvPr>
        </p:nvSpPr>
        <p:spPr/>
        <p:txBody>
          <a:bodyPr/>
          <a:lstStyle/>
          <a:p>
            <a:r>
              <a:rPr lang="en-AU" b="1" dirty="0"/>
              <a:t>Bilinear-i</a:t>
            </a:r>
            <a:r>
              <a:rPr lang="en-US" b="1" dirty="0" err="1"/>
              <a:t>nterpolation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E327B3-DCA9-31D5-6689-3696B5B70733}"/>
                  </a:ext>
                </a:extLst>
              </p:cNvPr>
              <p:cNvSpPr>
                <a:spLocks noGrp="1"/>
              </p:cNvSpPr>
              <p:nvPr>
                <p:ph idx="1"/>
              </p:nvPr>
            </p:nvSpPr>
            <p:spPr>
              <a:xfrm>
                <a:off x="838200" y="1825626"/>
                <a:ext cx="7430020" cy="1890590"/>
              </a:xfrm>
            </p:spPr>
            <p:txBody>
              <a:bodyPr>
                <a:normAutofit/>
              </a:bodyPr>
              <a:lstStyle/>
              <a:p>
                <a14:m>
                  <m:oMath xmlns:m="http://schemas.openxmlformats.org/officeDocument/2006/math">
                    <m:r>
                      <a:rPr lang="en-AU" i="1" dirty="0" smtClean="0">
                        <a:latin typeface="Cambria Math" panose="02040503050406030204" pitchFamily="18" charset="0"/>
                      </a:rPr>
                      <m:t>𝑟</m:t>
                    </m:r>
                    <m:r>
                      <a:rPr lang="en-AU" i="1" dirty="0" smtClean="0">
                        <a:latin typeface="Cambria Math" panose="02040503050406030204" pitchFamily="18" charset="0"/>
                      </a:rPr>
                      <m:t> = </m:t>
                    </m:r>
                    <m:r>
                      <a:rPr lang="en-AU" i="1" dirty="0" smtClean="0">
                        <a:latin typeface="Cambria Math" panose="02040503050406030204" pitchFamily="18" charset="0"/>
                      </a:rPr>
                      <m:t>𝛼</m:t>
                    </m:r>
                    <m:r>
                      <a:rPr lang="en-AU" i="1" dirty="0" smtClean="0">
                        <a:latin typeface="Cambria Math" panose="02040503050406030204" pitchFamily="18" charset="0"/>
                      </a:rPr>
                      <m:t>·</m:t>
                    </m:r>
                    <m:r>
                      <a:rPr lang="en-AU" i="1" dirty="0" smtClean="0">
                        <a:latin typeface="Cambria Math" panose="02040503050406030204" pitchFamily="18" charset="0"/>
                      </a:rPr>
                      <m:t>𝑏</m:t>
                    </m:r>
                    <m:r>
                      <a:rPr lang="en-AU" i="1" dirty="0" smtClean="0">
                        <a:latin typeface="Cambria Math" panose="02040503050406030204" pitchFamily="18" charset="0"/>
                      </a:rPr>
                      <m:t> + </m:t>
                    </m:r>
                    <m:d>
                      <m:dPr>
                        <m:ctrlPr>
                          <a:rPr lang="en-AU" i="1" dirty="0" smtClean="0">
                            <a:latin typeface="Cambria Math" panose="02040503050406030204" pitchFamily="18" charset="0"/>
                          </a:rPr>
                        </m:ctrlPr>
                      </m:dPr>
                      <m:e>
                        <m:r>
                          <a:rPr lang="en-AU" i="1" dirty="0" smtClean="0">
                            <a:latin typeface="Cambria Math" panose="02040503050406030204" pitchFamily="18" charset="0"/>
                          </a:rPr>
                          <m:t>1−</m:t>
                        </m:r>
                        <m:r>
                          <a:rPr lang="en-AU" i="1" dirty="0" smtClean="0">
                            <a:latin typeface="Cambria Math" panose="02040503050406030204" pitchFamily="18" charset="0"/>
                          </a:rPr>
                          <m:t>𝛼</m:t>
                        </m:r>
                      </m:e>
                    </m:d>
                    <m:r>
                      <a:rPr lang="en-AU" i="1" dirty="0" smtClean="0">
                        <a:latin typeface="Cambria Math" panose="02040503050406030204" pitchFamily="18" charset="0"/>
                      </a:rPr>
                      <m:t>·</m:t>
                    </m:r>
                    <m:r>
                      <a:rPr lang="en-AU" i="1" dirty="0" err="1">
                        <a:latin typeface="Cambria Math" panose="02040503050406030204" pitchFamily="18" charset="0"/>
                      </a:rPr>
                      <m:t>𝑎</m:t>
                    </m:r>
                    <m:r>
                      <a:rPr lang="en-AU" i="1" dirty="0">
                        <a:latin typeface="Cambria Math" panose="02040503050406030204" pitchFamily="18" charset="0"/>
                      </a:rPr>
                      <m:t> </m:t>
                    </m:r>
                  </m:oMath>
                </a14:m>
                <a:endParaRPr lang="en-AU" dirty="0"/>
              </a:p>
              <a:p>
                <a:pPr lvl="1"/>
                <a:r>
                  <a:rPr lang="en-AU" dirty="0"/>
                  <a:t>Interpolated between top-right (</a:t>
                </a:r>
                <a14:m>
                  <m:oMath xmlns:m="http://schemas.openxmlformats.org/officeDocument/2006/math">
                    <m:r>
                      <a:rPr lang="en-AU" i="1" dirty="0" smtClean="0">
                        <a:latin typeface="Cambria Math" panose="02040503050406030204" pitchFamily="18" charset="0"/>
                      </a:rPr>
                      <m:t>𝑏</m:t>
                    </m:r>
                  </m:oMath>
                </a14:m>
                <a:r>
                  <a:rPr lang="en-AU" dirty="0"/>
                  <a:t>) and right (</a:t>
                </a:r>
                <a14:m>
                  <m:oMath xmlns:m="http://schemas.openxmlformats.org/officeDocument/2006/math">
                    <m:r>
                      <a:rPr lang="en-AU" i="1" dirty="0" smtClean="0">
                        <a:latin typeface="Cambria Math" panose="02040503050406030204" pitchFamily="18" charset="0"/>
                      </a:rPr>
                      <m:t>𝑎</m:t>
                    </m:r>
                  </m:oMath>
                </a14:m>
                <a:r>
                  <a:rPr lang="en-AU" dirty="0"/>
                  <a:t>)</a:t>
                </a:r>
              </a:p>
              <a:p>
                <a14:m>
                  <m:oMath xmlns:m="http://schemas.openxmlformats.org/officeDocument/2006/math">
                    <m:r>
                      <a:rPr lang="en-AU" i="1" dirty="0" smtClean="0">
                        <a:latin typeface="Cambria Math" panose="02040503050406030204" pitchFamily="18" charset="0"/>
                      </a:rPr>
                      <m:t>𝑝</m:t>
                    </m:r>
                    <m:r>
                      <a:rPr lang="en-AU" i="1" dirty="0" smtClean="0">
                        <a:latin typeface="Cambria Math" panose="02040503050406030204" pitchFamily="18" charset="0"/>
                      </a:rPr>
                      <m:t> = </m:t>
                    </m:r>
                    <m:r>
                      <a:rPr lang="en-AU" i="1" dirty="0">
                        <a:latin typeface="Cambria Math" panose="02040503050406030204" pitchFamily="18" charset="0"/>
                      </a:rPr>
                      <m:t>𝛼</m:t>
                    </m:r>
                    <m:r>
                      <a:rPr lang="en-AU" i="1" dirty="0">
                        <a:latin typeface="Cambria Math" panose="02040503050406030204" pitchFamily="18" charset="0"/>
                      </a:rPr>
                      <m:t>·</m:t>
                    </m:r>
                    <m:r>
                      <a:rPr lang="en-AU" i="1" dirty="0">
                        <a:latin typeface="Cambria Math" panose="02040503050406030204" pitchFamily="18" charset="0"/>
                      </a:rPr>
                      <m:t>𝑑</m:t>
                    </m:r>
                    <m:r>
                      <a:rPr lang="en-AU" i="1" dirty="0">
                        <a:latin typeface="Cambria Math" panose="02040503050406030204" pitchFamily="18" charset="0"/>
                      </a:rPr>
                      <m:t> + (1−</m:t>
                    </m:r>
                    <m:r>
                      <a:rPr lang="en-AU" i="1" dirty="0">
                        <a:latin typeface="Cambria Math" panose="02040503050406030204" pitchFamily="18" charset="0"/>
                      </a:rPr>
                      <m:t>𝛼</m:t>
                    </m:r>
                    <m:r>
                      <a:rPr lang="en-AU" i="1" dirty="0">
                        <a:latin typeface="Cambria Math" panose="02040503050406030204" pitchFamily="18" charset="0"/>
                      </a:rPr>
                      <m:t>)·</m:t>
                    </m:r>
                    <m:r>
                      <a:rPr lang="en-AU" i="1" dirty="0" smtClean="0">
                        <a:latin typeface="Cambria Math" panose="02040503050406030204" pitchFamily="18" charset="0"/>
                      </a:rPr>
                      <m:t>𝑐</m:t>
                    </m:r>
                  </m:oMath>
                </a14:m>
              </a:p>
              <a:p>
                <a:pPr lvl="1"/>
                <a:r>
                  <a:rPr lang="en-AU" dirty="0"/>
                  <a:t>interpolated between bottom-left (</a:t>
                </a:r>
                <a14:m>
                  <m:oMath xmlns:m="http://schemas.openxmlformats.org/officeDocument/2006/math">
                    <m:r>
                      <a:rPr lang="en-AU" i="1" dirty="0" smtClean="0">
                        <a:latin typeface="Cambria Math" panose="02040503050406030204" pitchFamily="18" charset="0"/>
                      </a:rPr>
                      <m:t>𝑑</m:t>
                    </m:r>
                  </m:oMath>
                </a14:m>
                <a:r>
                  <a:rPr lang="en-AU" dirty="0"/>
                  <a:t>) and left (</a:t>
                </a:r>
                <a14:m>
                  <m:oMath xmlns:m="http://schemas.openxmlformats.org/officeDocument/2006/math">
                    <m:r>
                      <a:rPr lang="en-AU" i="1" dirty="0" smtClean="0">
                        <a:latin typeface="Cambria Math" panose="02040503050406030204" pitchFamily="18" charset="0"/>
                      </a:rPr>
                      <m:t>𝑐</m:t>
                    </m:r>
                  </m:oMath>
                </a14:m>
                <a:r>
                  <a:rPr lang="en-AU" dirty="0"/>
                  <a:t>)</a:t>
                </a:r>
                <a:endParaRPr lang="en-US" dirty="0"/>
              </a:p>
            </p:txBody>
          </p:sp>
        </mc:Choice>
        <mc:Fallback>
          <p:sp>
            <p:nvSpPr>
              <p:cNvPr id="3" name="Content Placeholder 2">
                <a:extLst>
                  <a:ext uri="{FF2B5EF4-FFF2-40B4-BE49-F238E27FC236}">
                    <a16:creationId xmlns:a16="http://schemas.microsoft.com/office/drawing/2014/main" id="{93E327B3-DCA9-31D5-6689-3696B5B70733}"/>
                  </a:ext>
                </a:extLst>
              </p:cNvPr>
              <p:cNvSpPr>
                <a:spLocks noGrp="1" noRot="1" noChangeAspect="1" noMove="1" noResize="1" noEditPoints="1" noAdjustHandles="1" noChangeArrowheads="1" noChangeShapeType="1" noTextEdit="1"/>
              </p:cNvSpPr>
              <p:nvPr>
                <p:ph idx="1"/>
              </p:nvPr>
            </p:nvSpPr>
            <p:spPr>
              <a:xfrm>
                <a:off x="838200" y="1825626"/>
                <a:ext cx="7430020" cy="1890590"/>
              </a:xfrm>
              <a:blipFill>
                <a:blip r:embed="rId2"/>
                <a:stretch>
                  <a:fillRect l="-1538" t="-4000"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3A22C516-C25D-4621-FB60-F64FFBD24433}"/>
                  </a:ext>
                </a:extLst>
              </p:cNvPr>
              <p:cNvGraphicFramePr>
                <a:graphicFrameLocks noGrp="1"/>
              </p:cNvGraphicFramePr>
              <p:nvPr>
                <p:extLst>
                  <p:ext uri="{D42A27DB-BD31-4B8C-83A1-F6EECF244321}">
                    <p14:modId xmlns:p14="http://schemas.microsoft.com/office/powerpoint/2010/main" val="353789173"/>
                  </p:ext>
                </p:extLst>
              </p:nvPr>
            </p:nvGraphicFramePr>
            <p:xfrm>
              <a:off x="9077569" y="2199249"/>
              <a:ext cx="1789722" cy="1112520"/>
            </p:xfrm>
            <a:graphic>
              <a:graphicData uri="http://schemas.openxmlformats.org/drawingml/2006/table">
                <a:tbl>
                  <a:tblPr firstRow="1" bandRow="1">
                    <a:tableStyleId>{5940675A-B579-460E-94D1-54222C63F5DA}</a:tableStyleId>
                  </a:tblPr>
                  <a:tblGrid>
                    <a:gridCol w="596574">
                      <a:extLst>
                        <a:ext uri="{9D8B030D-6E8A-4147-A177-3AD203B41FA5}">
                          <a16:colId xmlns:a16="http://schemas.microsoft.com/office/drawing/2014/main" val="2145566540"/>
                        </a:ext>
                      </a:extLst>
                    </a:gridCol>
                    <a:gridCol w="596574">
                      <a:extLst>
                        <a:ext uri="{9D8B030D-6E8A-4147-A177-3AD203B41FA5}">
                          <a16:colId xmlns:a16="http://schemas.microsoft.com/office/drawing/2014/main" val="2347524097"/>
                        </a:ext>
                      </a:extLst>
                    </a:gridCol>
                    <a:gridCol w="596574">
                      <a:extLst>
                        <a:ext uri="{9D8B030D-6E8A-4147-A177-3AD203B41FA5}">
                          <a16:colId xmlns:a16="http://schemas.microsoft.com/office/drawing/2014/main" val="2546962315"/>
                        </a:ext>
                      </a:extLst>
                    </a:gridCol>
                  </a:tblGrid>
                  <a:tr h="370840">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AU" b="0" i="1" dirty="0" smtClean="0">
                                    <a:latin typeface="Cambria Math" panose="02040503050406030204" pitchFamily="18" charset="0"/>
                                  </a:rPr>
                                  <m:t>𝑏</m:t>
                                </m:r>
                              </m:oMath>
                            </m:oMathPara>
                          </a14:m>
                          <a:endParaRPr lang="en-US" dirty="0"/>
                        </a:p>
                      </a:txBody>
                      <a:tcPr/>
                    </a:tc>
                    <a:tc>
                      <a:txBody>
                        <a:bodyPr/>
                        <a:lstStyle/>
                        <a:p>
                          <a:endParaRPr lang="en-US" dirty="0"/>
                        </a:p>
                      </a:txBody>
                      <a:tcPr/>
                    </a:tc>
                    <a:extLst>
                      <a:ext uri="{0D108BD9-81ED-4DB2-BD59-A6C34878D82A}">
                        <a16:rowId xmlns:a16="http://schemas.microsoft.com/office/drawing/2014/main" val="472431780"/>
                      </a:ext>
                    </a:extLst>
                  </a:tr>
                  <a:tr h="370840">
                    <a:tc>
                      <a:txBody>
                        <a:bodyPr/>
                        <a:lstStyle/>
                        <a:p>
                          <a14:m>
                            <m:oMathPara xmlns:m="http://schemas.openxmlformats.org/officeDocument/2006/math">
                              <m:oMath>
                                <m:r>
                                  <a:rPr lang="en-AU" b="0" i="1" dirty="0" smtClean="0">
                                    <a:latin typeface="Cambria Math" panose="02040503050406030204" pitchFamily="18" charset="0"/>
                                  </a:rPr>
                                  <m:t>𝑑</m:t>
                                </m:r>
                              </m:oMath>
                            </m:oMathPara>
                          </a14:m>
                          <a:endParaRPr lang="en-US" dirty="0"/>
                        </a:p>
                      </a:txBody>
                      <a:tcPr/>
                    </a:tc>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AU" b="0" i="1" dirty="0" smtClean="0">
                                    <a:latin typeface="Cambria Math" panose="02040503050406030204" pitchFamily="18" charset="0"/>
                                  </a:rPr>
                                  <m:t>𝑎</m:t>
                                </m:r>
                              </m:oMath>
                            </m:oMathPara>
                          </a14:m>
                          <a:endParaRPr lang="en-US" dirty="0"/>
                        </a:p>
                      </a:txBody>
                      <a:tcPr/>
                    </a:tc>
                    <a:extLst>
                      <a:ext uri="{0D108BD9-81ED-4DB2-BD59-A6C34878D82A}">
                        <a16:rowId xmlns:a16="http://schemas.microsoft.com/office/drawing/2014/main" val="3054813935"/>
                      </a:ext>
                    </a:extLst>
                  </a:tr>
                  <a:tr h="370840">
                    <a:tc>
                      <a:txBody>
                        <a:bodyPr/>
                        <a:lstStyle/>
                        <a:p>
                          <a14:m>
                            <m:oMathPara xmlns:m="http://schemas.openxmlformats.org/officeDocument/2006/math">
                              <m:oMath>
                                <m:r>
                                  <a:rPr lang="en-AU" b="0" i="1" dirty="0" smtClean="0">
                                    <a:latin typeface="Cambria Math" panose="02040503050406030204" pitchFamily="18" charset="0"/>
                                  </a:rPr>
                                  <m:t>𝑐</m:t>
                                </m:r>
                              </m:oMath>
                            </m:oMathPara>
                          </a14:m>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80862163"/>
                      </a:ext>
                    </a:extLst>
                  </a:tr>
                </a:tbl>
              </a:graphicData>
            </a:graphic>
          </p:graphicFrame>
        </mc:Choice>
        <mc:Fallback>
          <p:graphicFrame>
            <p:nvGraphicFramePr>
              <p:cNvPr id="6" name="Table 5">
                <a:extLst>
                  <a:ext uri="{FF2B5EF4-FFF2-40B4-BE49-F238E27FC236}">
                    <a16:creationId xmlns:a16="http://schemas.microsoft.com/office/drawing/2014/main" id="{3A22C516-C25D-4621-FB60-F64FFBD24433}"/>
                  </a:ext>
                </a:extLst>
              </p:cNvPr>
              <p:cNvGraphicFramePr>
                <a:graphicFrameLocks noGrp="1"/>
              </p:cNvGraphicFramePr>
              <p:nvPr>
                <p:extLst>
                  <p:ext uri="{D42A27DB-BD31-4B8C-83A1-F6EECF244321}">
                    <p14:modId xmlns:p14="http://schemas.microsoft.com/office/powerpoint/2010/main" val="353789173"/>
                  </p:ext>
                </p:extLst>
              </p:nvPr>
            </p:nvGraphicFramePr>
            <p:xfrm>
              <a:off x="9077569" y="2199249"/>
              <a:ext cx="1789722" cy="1112520"/>
            </p:xfrm>
            <a:graphic>
              <a:graphicData uri="http://schemas.openxmlformats.org/drawingml/2006/table">
                <a:tbl>
                  <a:tblPr firstRow="1" bandRow="1">
                    <a:tableStyleId>{5940675A-B579-460E-94D1-54222C63F5DA}</a:tableStyleId>
                  </a:tblPr>
                  <a:tblGrid>
                    <a:gridCol w="596574">
                      <a:extLst>
                        <a:ext uri="{9D8B030D-6E8A-4147-A177-3AD203B41FA5}">
                          <a16:colId xmlns:a16="http://schemas.microsoft.com/office/drawing/2014/main" val="2145566540"/>
                        </a:ext>
                      </a:extLst>
                    </a:gridCol>
                    <a:gridCol w="596574">
                      <a:extLst>
                        <a:ext uri="{9D8B030D-6E8A-4147-A177-3AD203B41FA5}">
                          <a16:colId xmlns:a16="http://schemas.microsoft.com/office/drawing/2014/main" val="2347524097"/>
                        </a:ext>
                      </a:extLst>
                    </a:gridCol>
                    <a:gridCol w="596574">
                      <a:extLst>
                        <a:ext uri="{9D8B030D-6E8A-4147-A177-3AD203B41FA5}">
                          <a16:colId xmlns:a16="http://schemas.microsoft.com/office/drawing/2014/main" val="2546962315"/>
                        </a:ext>
                      </a:extLst>
                    </a:gridCol>
                  </a:tblGrid>
                  <a:tr h="370840">
                    <a:tc>
                      <a:txBody>
                        <a:bodyPr/>
                        <a:lstStyle/>
                        <a:p>
                          <a:endParaRPr lang="en-US" dirty="0"/>
                        </a:p>
                      </a:txBody>
                      <a:tcPr/>
                    </a:tc>
                    <a:tc>
                      <a:txBody>
                        <a:bodyPr/>
                        <a:lstStyle/>
                        <a:p>
                          <a:endParaRPr lang="en-US"/>
                        </a:p>
                      </a:txBody>
                      <a:tcPr>
                        <a:blipFill>
                          <a:blip r:embed="rId3"/>
                          <a:stretch>
                            <a:fillRect l="-97917" t="-3448" r="-100000" b="-210345"/>
                          </a:stretch>
                        </a:blipFill>
                      </a:tcPr>
                    </a:tc>
                    <a:tc>
                      <a:txBody>
                        <a:bodyPr/>
                        <a:lstStyle/>
                        <a:p>
                          <a:endParaRPr lang="en-US" dirty="0"/>
                        </a:p>
                      </a:txBody>
                      <a:tcPr/>
                    </a:tc>
                    <a:extLst>
                      <a:ext uri="{0D108BD9-81ED-4DB2-BD59-A6C34878D82A}">
                        <a16:rowId xmlns:a16="http://schemas.microsoft.com/office/drawing/2014/main" val="472431780"/>
                      </a:ext>
                    </a:extLst>
                  </a:tr>
                  <a:tr h="370840">
                    <a:tc>
                      <a:txBody>
                        <a:bodyPr/>
                        <a:lstStyle/>
                        <a:p>
                          <a:endParaRPr lang="en-US"/>
                        </a:p>
                      </a:txBody>
                      <a:tcPr>
                        <a:blipFill>
                          <a:blip r:embed="rId3"/>
                          <a:stretch>
                            <a:fillRect t="-100000" r="-204255" b="-103333"/>
                          </a:stretch>
                        </a:blipFill>
                      </a:tcPr>
                    </a:tc>
                    <a:tc>
                      <a:txBody>
                        <a:bodyPr/>
                        <a:lstStyle/>
                        <a:p>
                          <a:endParaRPr lang="en-US" dirty="0"/>
                        </a:p>
                      </a:txBody>
                      <a:tcPr/>
                    </a:tc>
                    <a:tc>
                      <a:txBody>
                        <a:bodyPr/>
                        <a:lstStyle/>
                        <a:p>
                          <a:endParaRPr lang="en-US"/>
                        </a:p>
                      </a:txBody>
                      <a:tcPr>
                        <a:blipFill>
                          <a:blip r:embed="rId3"/>
                          <a:stretch>
                            <a:fillRect l="-202128" t="-100000" r="-2128" b="-103333"/>
                          </a:stretch>
                        </a:blipFill>
                      </a:tcPr>
                    </a:tc>
                    <a:extLst>
                      <a:ext uri="{0D108BD9-81ED-4DB2-BD59-A6C34878D82A}">
                        <a16:rowId xmlns:a16="http://schemas.microsoft.com/office/drawing/2014/main" val="3054813935"/>
                      </a:ext>
                    </a:extLst>
                  </a:tr>
                  <a:tr h="370840">
                    <a:tc>
                      <a:txBody>
                        <a:bodyPr/>
                        <a:lstStyle/>
                        <a:p>
                          <a:endParaRPr lang="en-US"/>
                        </a:p>
                      </a:txBody>
                      <a:tcPr>
                        <a:blipFill>
                          <a:blip r:embed="rId3"/>
                          <a:stretch>
                            <a:fillRect t="-206897" r="-204255" b="-6897"/>
                          </a:stretch>
                        </a:blipFill>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80862163"/>
                      </a:ext>
                    </a:extLst>
                  </a:tr>
                </a:tbl>
              </a:graphicData>
            </a:graphic>
          </p:graphicFrame>
        </mc:Fallback>
      </mc:AlternateContent>
      <p:cxnSp>
        <p:nvCxnSpPr>
          <p:cNvPr id="8" name="Straight Arrow Connector 7">
            <a:extLst>
              <a:ext uri="{FF2B5EF4-FFF2-40B4-BE49-F238E27FC236}">
                <a16:creationId xmlns:a16="http://schemas.microsoft.com/office/drawing/2014/main" id="{6BE8F6EE-B1BC-9B87-7F21-63B28A132F47}"/>
              </a:ext>
            </a:extLst>
          </p:cNvPr>
          <p:cNvCxnSpPr>
            <a:cxnSpLocks/>
          </p:cNvCxnSpPr>
          <p:nvPr/>
        </p:nvCxnSpPr>
        <p:spPr>
          <a:xfrm flipV="1">
            <a:off x="9472246" y="2368062"/>
            <a:ext cx="1207477" cy="774308"/>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4CB5165-AD42-5847-D9B7-295087BDFD4B}"/>
              </a:ext>
            </a:extLst>
          </p:cNvPr>
          <p:cNvSpPr txBox="1"/>
          <p:nvPr/>
        </p:nvSpPr>
        <p:spPr>
          <a:xfrm>
            <a:off x="9972430" y="1621803"/>
            <a:ext cx="1056251" cy="646331"/>
          </a:xfrm>
          <a:prstGeom prst="rect">
            <a:avLst/>
          </a:prstGeom>
          <a:noFill/>
        </p:spPr>
        <p:txBody>
          <a:bodyPr wrap="none" rtlCol="0">
            <a:spAutoFit/>
          </a:bodyPr>
          <a:lstStyle/>
          <a:p>
            <a:r>
              <a:rPr lang="en-US" dirty="0"/>
              <a:t>Gradient </a:t>
            </a:r>
          </a:p>
          <a:p>
            <a:r>
              <a:rPr lang="en-US" dirty="0"/>
              <a:t>direction</a:t>
            </a:r>
          </a:p>
        </p:txBody>
      </p:sp>
      <p:cxnSp>
        <p:nvCxnSpPr>
          <p:cNvPr id="13" name="Straight Connector 12">
            <a:extLst>
              <a:ext uri="{FF2B5EF4-FFF2-40B4-BE49-F238E27FC236}">
                <a16:creationId xmlns:a16="http://schemas.microsoft.com/office/drawing/2014/main" id="{83EBC2DD-D0E7-B3BA-F022-7BCD38B7F0EF}"/>
              </a:ext>
            </a:extLst>
          </p:cNvPr>
          <p:cNvCxnSpPr>
            <a:cxnSpLocks/>
          </p:cNvCxnSpPr>
          <p:nvPr/>
        </p:nvCxnSpPr>
        <p:spPr>
          <a:xfrm>
            <a:off x="9554308" y="2051538"/>
            <a:ext cx="946247" cy="1377462"/>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A7D7F6E6-545C-D273-22C7-2E48D5F8CFDF}"/>
              </a:ext>
            </a:extLst>
          </p:cNvPr>
          <p:cNvSpPr txBox="1"/>
          <p:nvPr/>
        </p:nvSpPr>
        <p:spPr>
          <a:xfrm>
            <a:off x="9703386" y="3480582"/>
            <a:ext cx="1594338" cy="369332"/>
          </a:xfrm>
          <a:prstGeom prst="rect">
            <a:avLst/>
          </a:prstGeom>
          <a:noFill/>
        </p:spPr>
        <p:txBody>
          <a:bodyPr wrap="square">
            <a:spAutoFit/>
          </a:bodyPr>
          <a:lstStyle/>
          <a:p>
            <a:r>
              <a:rPr lang="en-US" sz="1800" dirty="0"/>
              <a:t>Edge direction</a:t>
            </a: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140111E9-1082-2C75-D977-373E58D59B7B}"/>
                  </a:ext>
                </a:extLst>
              </p:cNvPr>
              <p:cNvSpPr txBox="1"/>
              <p:nvPr/>
            </p:nvSpPr>
            <p:spPr>
              <a:xfrm>
                <a:off x="9322579" y="2755216"/>
                <a:ext cx="368627" cy="369332"/>
              </a:xfrm>
              <a:prstGeom prst="rect">
                <a:avLst/>
              </a:prstGeom>
              <a:noFill/>
            </p:spPr>
            <p:txBody>
              <a:bodyPr wrap="none" rtlCol="0">
                <a:spAutoFit/>
              </a:bodyPr>
              <a:lstStyle/>
              <a:p>
                <a14:m>
                  <m:oMathPara xmlns:m="http://schemas.openxmlformats.org/officeDocument/2006/math">
                    <m:oMath>
                      <m:r>
                        <a:rPr lang="en-US" i="1" dirty="0" smtClean="0">
                          <a:latin typeface="Cambria Math" panose="02040503050406030204" pitchFamily="18" charset="0"/>
                        </a:rPr>
                        <m:t>𝑝</m:t>
                      </m:r>
                    </m:oMath>
                  </m:oMathPara>
                </a14:m>
                <a:endParaRPr lang="en-US" dirty="0"/>
              </a:p>
            </p:txBody>
          </p:sp>
        </mc:Choice>
        <mc:Fallback>
          <p:sp>
            <p:nvSpPr>
              <p:cNvPr id="19" name="TextBox 18">
                <a:extLst>
                  <a:ext uri="{FF2B5EF4-FFF2-40B4-BE49-F238E27FC236}">
                    <a16:creationId xmlns:a16="http://schemas.microsoft.com/office/drawing/2014/main" id="{140111E9-1082-2C75-D977-373E58D59B7B}"/>
                  </a:ext>
                </a:extLst>
              </p:cNvPr>
              <p:cNvSpPr txBox="1">
                <a:spLocks noRot="1" noChangeAspect="1" noMove="1" noResize="1" noEditPoints="1" noAdjustHandles="1" noChangeArrowheads="1" noChangeShapeType="1" noTextEdit="1"/>
              </p:cNvSpPr>
              <p:nvPr/>
            </p:nvSpPr>
            <p:spPr>
              <a:xfrm>
                <a:off x="9322579" y="2755216"/>
                <a:ext cx="368627" cy="369332"/>
              </a:xfrm>
              <a:prstGeom prst="rect">
                <a:avLst/>
              </a:prstGeom>
              <a:blipFill>
                <a:blip r:embed="rId4"/>
                <a:stretch>
                  <a:fillRect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1154C320-4EA1-7720-18CA-B3F758A1759F}"/>
                  </a:ext>
                </a:extLst>
              </p:cNvPr>
              <p:cNvSpPr txBox="1"/>
              <p:nvPr/>
            </p:nvSpPr>
            <p:spPr>
              <a:xfrm>
                <a:off x="10297999" y="2198663"/>
                <a:ext cx="351635" cy="369332"/>
              </a:xfrm>
              <a:prstGeom prst="rect">
                <a:avLst/>
              </a:prstGeom>
              <a:noFill/>
            </p:spPr>
            <p:txBody>
              <a:bodyPr wrap="none" rtlCol="0">
                <a:spAutoFit/>
              </a:bodyPr>
              <a:lstStyle/>
              <a:p>
                <a14:m>
                  <m:oMathPara xmlns:m="http://schemas.openxmlformats.org/officeDocument/2006/math">
                    <m:oMath>
                      <m:r>
                        <a:rPr lang="en-AU" b="0" i="1" dirty="0" smtClean="0">
                          <a:latin typeface="Cambria Math" panose="02040503050406030204" pitchFamily="18" charset="0"/>
                        </a:rPr>
                        <m:t>𝑟</m:t>
                      </m:r>
                    </m:oMath>
                  </m:oMathPara>
                </a14:m>
                <a:endParaRPr lang="en-US" dirty="0"/>
              </a:p>
            </p:txBody>
          </p:sp>
        </mc:Choice>
        <mc:Fallback>
          <p:sp>
            <p:nvSpPr>
              <p:cNvPr id="22" name="TextBox 21">
                <a:extLst>
                  <a:ext uri="{FF2B5EF4-FFF2-40B4-BE49-F238E27FC236}">
                    <a16:creationId xmlns:a16="http://schemas.microsoft.com/office/drawing/2014/main" id="{1154C320-4EA1-7720-18CA-B3F758A1759F}"/>
                  </a:ext>
                </a:extLst>
              </p:cNvPr>
              <p:cNvSpPr txBox="1">
                <a:spLocks noRot="1" noChangeAspect="1" noMove="1" noResize="1" noEditPoints="1" noAdjustHandles="1" noChangeArrowheads="1" noChangeShapeType="1" noTextEdit="1"/>
              </p:cNvSpPr>
              <p:nvPr/>
            </p:nvSpPr>
            <p:spPr>
              <a:xfrm>
                <a:off x="10297999" y="2198663"/>
                <a:ext cx="35163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2E0AD472-D5ED-ABDB-3542-F9F54A84C290}"/>
                  </a:ext>
                </a:extLst>
              </p:cNvPr>
              <p:cNvSpPr txBox="1"/>
              <p:nvPr/>
            </p:nvSpPr>
            <p:spPr>
              <a:xfrm>
                <a:off x="9787636" y="2605285"/>
                <a:ext cx="369588" cy="369332"/>
              </a:xfrm>
              <a:prstGeom prst="rect">
                <a:avLst/>
              </a:prstGeom>
              <a:noFill/>
            </p:spPr>
            <p:txBody>
              <a:bodyPr wrap="none" rtlCol="0">
                <a:spAutoFit/>
              </a:bodyPr>
              <a:lstStyle/>
              <a:p>
                <a14:m>
                  <m:oMathPara xmlns:m="http://schemas.openxmlformats.org/officeDocument/2006/math">
                    <m:oMath>
                      <m:r>
                        <a:rPr lang="en-AU" b="0" i="1" smtClean="0">
                          <a:latin typeface="Cambria Math" panose="02040503050406030204" pitchFamily="18" charset="0"/>
                        </a:rPr>
                        <m:t>𝑞</m:t>
                      </m:r>
                    </m:oMath>
                  </m:oMathPara>
                </a14:m>
                <a:endParaRPr lang="en-US" dirty="0"/>
              </a:p>
            </p:txBody>
          </p:sp>
        </mc:Choice>
        <mc:Fallback>
          <p:sp>
            <p:nvSpPr>
              <p:cNvPr id="20" name="TextBox 19">
                <a:extLst>
                  <a:ext uri="{FF2B5EF4-FFF2-40B4-BE49-F238E27FC236}">
                    <a16:creationId xmlns:a16="http://schemas.microsoft.com/office/drawing/2014/main" id="{2E0AD472-D5ED-ABDB-3542-F9F54A84C290}"/>
                  </a:ext>
                </a:extLst>
              </p:cNvPr>
              <p:cNvSpPr txBox="1">
                <a:spLocks noRot="1" noChangeAspect="1" noMove="1" noResize="1" noEditPoints="1" noAdjustHandles="1" noChangeArrowheads="1" noChangeShapeType="1" noTextEdit="1"/>
              </p:cNvSpPr>
              <p:nvPr/>
            </p:nvSpPr>
            <p:spPr>
              <a:xfrm>
                <a:off x="9787636" y="2605285"/>
                <a:ext cx="369588" cy="369332"/>
              </a:xfrm>
              <a:prstGeom prst="rect">
                <a:avLst/>
              </a:prstGeom>
              <a:blipFill>
                <a:blip r:embed="rId6"/>
                <a:stretch>
                  <a:fillRect b="-6452"/>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53021558-ED08-65DF-0483-B89C7A86A917}"/>
              </a:ext>
            </a:extLst>
          </p:cNvPr>
          <p:cNvPicPr>
            <a:picLocks noChangeAspect="1"/>
          </p:cNvPicPr>
          <p:nvPr/>
        </p:nvPicPr>
        <p:blipFill>
          <a:blip r:embed="rId7"/>
          <a:stretch>
            <a:fillRect/>
          </a:stretch>
        </p:blipFill>
        <p:spPr>
          <a:xfrm>
            <a:off x="6701638" y="3903682"/>
            <a:ext cx="1391211" cy="1610876"/>
          </a:xfrm>
          <a:prstGeom prst="rect">
            <a:avLst/>
          </a:prstGeom>
        </p:spPr>
      </p:pic>
      <p:pic>
        <p:nvPicPr>
          <p:cNvPr id="26" name="Picture 25">
            <a:extLst>
              <a:ext uri="{FF2B5EF4-FFF2-40B4-BE49-F238E27FC236}">
                <a16:creationId xmlns:a16="http://schemas.microsoft.com/office/drawing/2014/main" id="{CE5F7B6E-81CE-B349-5F55-091183179F7A}"/>
              </a:ext>
            </a:extLst>
          </p:cNvPr>
          <p:cNvPicPr>
            <a:picLocks noChangeAspect="1"/>
          </p:cNvPicPr>
          <p:nvPr/>
        </p:nvPicPr>
        <p:blipFill>
          <a:blip r:embed="rId8"/>
          <a:stretch>
            <a:fillRect/>
          </a:stretch>
        </p:blipFill>
        <p:spPr>
          <a:xfrm>
            <a:off x="8381964" y="3903682"/>
            <a:ext cx="1391210" cy="1610875"/>
          </a:xfrm>
          <a:prstGeom prst="rect">
            <a:avLst/>
          </a:prstGeom>
        </p:spPr>
      </p:pic>
      <p:pic>
        <p:nvPicPr>
          <p:cNvPr id="28" name="Picture 27">
            <a:extLst>
              <a:ext uri="{FF2B5EF4-FFF2-40B4-BE49-F238E27FC236}">
                <a16:creationId xmlns:a16="http://schemas.microsoft.com/office/drawing/2014/main" id="{B0199B31-4836-D8E5-00A0-C848D4A0FE24}"/>
              </a:ext>
            </a:extLst>
          </p:cNvPr>
          <p:cNvPicPr>
            <a:picLocks noChangeAspect="1"/>
          </p:cNvPicPr>
          <p:nvPr/>
        </p:nvPicPr>
        <p:blipFill>
          <a:blip r:embed="rId9"/>
          <a:stretch>
            <a:fillRect/>
          </a:stretch>
        </p:blipFill>
        <p:spPr>
          <a:xfrm>
            <a:off x="9984118" y="3865110"/>
            <a:ext cx="1391210" cy="1610875"/>
          </a:xfrm>
          <a:prstGeom prst="rect">
            <a:avLst/>
          </a:prstGeom>
        </p:spPr>
      </p:pic>
      <p:sp>
        <p:nvSpPr>
          <p:cNvPr id="29" name="TextBox 28">
            <a:extLst>
              <a:ext uri="{FF2B5EF4-FFF2-40B4-BE49-F238E27FC236}">
                <a16:creationId xmlns:a16="http://schemas.microsoft.com/office/drawing/2014/main" id="{475F8F8B-9792-C8BE-9D0A-BCE8E6B297FF}"/>
              </a:ext>
            </a:extLst>
          </p:cNvPr>
          <p:cNvSpPr txBox="1"/>
          <p:nvPr/>
        </p:nvSpPr>
        <p:spPr>
          <a:xfrm>
            <a:off x="8944573" y="1668402"/>
            <a:ext cx="861133" cy="369332"/>
          </a:xfrm>
          <a:prstGeom prst="rect">
            <a:avLst/>
          </a:prstGeom>
          <a:noFill/>
        </p:spPr>
        <p:txBody>
          <a:bodyPr wrap="none" rtlCol="0">
            <a:spAutoFit/>
          </a:bodyPr>
          <a:lstStyle/>
          <a:p>
            <a:r>
              <a:rPr lang="en-AU" dirty="0"/>
              <a:t>0°–45° </a:t>
            </a:r>
            <a:endParaRPr lang="en-US" dirty="0"/>
          </a:p>
        </p:txBody>
      </p:sp>
      <mc:AlternateContent xmlns:mc="http://schemas.openxmlformats.org/markup-compatibility/2006">
        <mc:Choice xmlns:a14="http://schemas.microsoft.com/office/drawing/2010/main" Requires="a14">
          <p:sp>
            <p:nvSpPr>
              <p:cNvPr id="30" name="Content Placeholder 2">
                <a:extLst>
                  <a:ext uri="{FF2B5EF4-FFF2-40B4-BE49-F238E27FC236}">
                    <a16:creationId xmlns:a16="http://schemas.microsoft.com/office/drawing/2014/main" id="{E6B653BA-E42C-E188-B229-EC974BB8DF3D}"/>
                  </a:ext>
                </a:extLst>
              </p:cNvPr>
              <p:cNvSpPr txBox="1">
                <a:spLocks/>
              </p:cNvSpPr>
              <p:nvPr/>
            </p:nvSpPr>
            <p:spPr>
              <a:xfrm>
                <a:off x="517715" y="3716216"/>
                <a:ext cx="6183923" cy="2630946"/>
              </a:xfrm>
              <a:prstGeom prst="rect">
                <a:avLst/>
              </a:prstGeom>
              <a:solidFill>
                <a:schemeClr val="accent2">
                  <a:lumMod val="20000"/>
                  <a:lumOff val="80000"/>
                </a:schemeClr>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Note: </a:t>
                </a:r>
              </a:p>
              <a:p>
                <a14:m>
                  <m:oMath xmlns:m="http://schemas.openxmlformats.org/officeDocument/2006/math">
                    <m:r>
                      <a:rPr lang="en-AU" b="1" i="1" dirty="0" smtClean="0">
                        <a:latin typeface="Cambria Math" panose="02040503050406030204" pitchFamily="18" charset="0"/>
                      </a:rPr>
                      <m:t>𝜽</m:t>
                    </m:r>
                    <m:r>
                      <a:rPr lang="en-AU" b="1" i="1" dirty="0">
                        <a:latin typeface="Cambria Math" panose="02040503050406030204" pitchFamily="18" charset="0"/>
                      </a:rPr>
                      <m:t> = </m:t>
                    </m:r>
                    <m:r>
                      <m:rPr>
                        <m:sty m:val="p"/>
                      </m:rPr>
                      <a:rPr lang="en-AU" b="1" i="1" dirty="0">
                        <a:latin typeface="Cambria Math" panose="02040503050406030204" pitchFamily="18" charset="0"/>
                      </a:rPr>
                      <m:t>arctan</m:t>
                    </m:r>
                    <m:r>
                      <a:rPr lang="en-AU" b="1" i="1" dirty="0">
                        <a:latin typeface="Cambria Math" panose="02040503050406030204" pitchFamily="18" charset="0"/>
                      </a:rPr>
                      <m:t>⁡(</m:t>
                    </m:r>
                    <m:r>
                      <a:rPr lang="en-AU" b="1" i="1" dirty="0">
                        <a:latin typeface="Cambria Math" panose="02040503050406030204" pitchFamily="18" charset="0"/>
                      </a:rPr>
                      <m:t>𝑮𝒚</m:t>
                    </m:r>
                    <m:r>
                      <a:rPr lang="en-AU" b="1" i="1" dirty="0">
                        <a:latin typeface="Cambria Math" panose="02040503050406030204" pitchFamily="18" charset="0"/>
                      </a:rPr>
                      <m:t>, </m:t>
                    </m:r>
                    <m:r>
                      <a:rPr lang="en-AU" b="1" i="1" dirty="0">
                        <a:latin typeface="Cambria Math" panose="02040503050406030204" pitchFamily="18" charset="0"/>
                      </a:rPr>
                      <m:t>𝑮𝒙</m:t>
                    </m:r>
                    <m:r>
                      <a:rPr lang="en-AU" b="1" i="1" dirty="0">
                        <a:latin typeface="Cambria Math" panose="02040503050406030204" pitchFamily="18" charset="0"/>
                      </a:rPr>
                      <m:t>) </m:t>
                    </m:r>
                  </m:oMath>
                </a14:m>
                <a:r>
                  <a:rPr lang="en-AU" dirty="0"/>
                  <a:t>gives the actual gradient </a:t>
                </a:r>
                <a:r>
                  <a:rPr lang="en-AU" b="1" dirty="0"/>
                  <a:t>angle</a:t>
                </a:r>
                <a:r>
                  <a:rPr lang="en-AU" dirty="0"/>
                  <a:t>. </a:t>
                </a:r>
              </a:p>
              <a:p>
                <a14:m>
                  <m:oMath xmlns:m="http://schemas.openxmlformats.org/officeDocument/2006/math">
                    <m:r>
                      <a:rPr lang="en-AU" b="1" i="1" dirty="0">
                        <a:latin typeface="Cambria Math" panose="02040503050406030204" pitchFamily="18" charset="0"/>
                      </a:rPr>
                      <m:t>𝜽</m:t>
                    </m:r>
                    <m:r>
                      <a:rPr lang="en-AU" b="1" i="1" dirty="0">
                        <a:latin typeface="Cambria Math" panose="02040503050406030204" pitchFamily="18" charset="0"/>
                      </a:rPr>
                      <m:t> </m:t>
                    </m:r>
                  </m:oMath>
                </a14:m>
                <a:r>
                  <a:rPr lang="en-AU" dirty="0"/>
                  <a:t>is used to figure out </a:t>
                </a:r>
                <a:r>
                  <a:rPr lang="en-AU" i="1" dirty="0"/>
                  <a:t>which octant/sector</a:t>
                </a:r>
                <a:r>
                  <a:rPr lang="en-AU" dirty="0"/>
                  <a:t> we're in (0°–45°, 45°–90°, etc.) so that we know which 4 </a:t>
                </a:r>
                <a:r>
                  <a:rPr lang="en-AU" dirty="0" err="1"/>
                  <a:t>neighbors</a:t>
                </a:r>
                <a:r>
                  <a:rPr lang="en-AU" dirty="0"/>
                  <a:t> (</a:t>
                </a:r>
                <a14:m>
                  <m:oMath xmlns:m="http://schemas.openxmlformats.org/officeDocument/2006/math">
                    <m:r>
                      <a:rPr lang="en-AU" i="1" dirty="0" smtClean="0">
                        <a:latin typeface="Cambria Math" panose="02040503050406030204" pitchFamily="18" charset="0"/>
                      </a:rPr>
                      <m:t>𝑎</m:t>
                    </m:r>
                    <m:r>
                      <a:rPr lang="en-AU" i="1" dirty="0" smtClean="0">
                        <a:latin typeface="Cambria Math" panose="02040503050406030204" pitchFamily="18" charset="0"/>
                      </a:rPr>
                      <m:t>, </m:t>
                    </m:r>
                    <m:r>
                      <a:rPr lang="en-AU" i="1" dirty="0" smtClean="0">
                        <a:latin typeface="Cambria Math" panose="02040503050406030204" pitchFamily="18" charset="0"/>
                      </a:rPr>
                      <m:t>𝑏</m:t>
                    </m:r>
                    <m:r>
                      <a:rPr lang="en-AU" i="1" dirty="0" smtClean="0">
                        <a:latin typeface="Cambria Math" panose="02040503050406030204" pitchFamily="18" charset="0"/>
                      </a:rPr>
                      <m:t>, </m:t>
                    </m:r>
                    <m:r>
                      <a:rPr lang="en-AU" i="1" dirty="0" smtClean="0">
                        <a:latin typeface="Cambria Math" panose="02040503050406030204" pitchFamily="18" charset="0"/>
                      </a:rPr>
                      <m:t>𝑐</m:t>
                    </m:r>
                    <m:r>
                      <a:rPr lang="en-AU" i="1" dirty="0" smtClean="0">
                        <a:latin typeface="Cambria Math" panose="02040503050406030204" pitchFamily="18" charset="0"/>
                      </a:rPr>
                      <m:t>, </m:t>
                    </m:r>
                    <m:r>
                      <a:rPr lang="en-AU" i="1" dirty="0" smtClean="0">
                        <a:latin typeface="Cambria Math" panose="02040503050406030204" pitchFamily="18" charset="0"/>
                      </a:rPr>
                      <m:t>𝑑</m:t>
                    </m:r>
                  </m:oMath>
                </a14:m>
                <a:r>
                  <a:rPr lang="en-AU" dirty="0"/>
                  <a:t>) to consider.</a:t>
                </a:r>
              </a:p>
              <a:p>
                <a14:m>
                  <m:oMath xmlns:m="http://schemas.openxmlformats.org/officeDocument/2006/math">
                    <m:r>
                      <a:rPr lang="en-AU" b="0" i="1" smtClean="0">
                        <a:latin typeface="Cambria Math" panose="02040503050406030204" pitchFamily="18" charset="0"/>
                      </a:rPr>
                      <m:t>𝛼</m:t>
                    </m:r>
                  </m:oMath>
                </a14:m>
                <a:r>
                  <a:rPr lang="en-AU" dirty="0"/>
                  <a:t> is a </a:t>
                </a:r>
                <a:r>
                  <a:rPr lang="en-AU" b="1" dirty="0"/>
                  <a:t>weight between 0 and 1</a:t>
                </a:r>
                <a:r>
                  <a:rPr lang="en-AU" dirty="0"/>
                  <a:t> describing how far the interpolation point sits between two of those </a:t>
                </a:r>
                <a:r>
                  <a:rPr lang="en-AU" dirty="0" err="1"/>
                  <a:t>neighbors</a:t>
                </a:r>
                <a:r>
                  <a:rPr lang="en-AU" dirty="0"/>
                  <a:t>.</a:t>
                </a:r>
              </a:p>
              <a:p>
                <a:endParaRPr lang="en-US" dirty="0"/>
              </a:p>
            </p:txBody>
          </p:sp>
        </mc:Choice>
        <mc:Fallback>
          <p:sp>
            <p:nvSpPr>
              <p:cNvPr id="30" name="Content Placeholder 2">
                <a:extLst>
                  <a:ext uri="{FF2B5EF4-FFF2-40B4-BE49-F238E27FC236}">
                    <a16:creationId xmlns:a16="http://schemas.microsoft.com/office/drawing/2014/main" id="{E6B653BA-E42C-E188-B229-EC974BB8DF3D}"/>
                  </a:ext>
                </a:extLst>
              </p:cNvPr>
              <p:cNvSpPr txBox="1">
                <a:spLocks noRot="1" noChangeAspect="1" noMove="1" noResize="1" noEditPoints="1" noAdjustHandles="1" noChangeArrowheads="1" noChangeShapeType="1" noTextEdit="1"/>
              </p:cNvSpPr>
              <p:nvPr/>
            </p:nvSpPr>
            <p:spPr>
              <a:xfrm>
                <a:off x="517715" y="3716216"/>
                <a:ext cx="6183923" cy="2630946"/>
              </a:xfrm>
              <a:prstGeom prst="rect">
                <a:avLst/>
              </a:prstGeom>
              <a:blipFill>
                <a:blip r:embed="rId10"/>
                <a:stretch>
                  <a:fillRect l="-1230" t="-4808" r="-2254" b="-3846"/>
                </a:stretch>
              </a:blipFill>
            </p:spPr>
            <p:txBody>
              <a:bodyPr/>
              <a:lstStyle/>
              <a:p>
                <a:r>
                  <a:rPr lang="en-US">
                    <a:noFill/>
                  </a:rPr>
                  <a:t> </a:t>
                </a:r>
              </a:p>
            </p:txBody>
          </p:sp>
        </mc:Fallback>
      </mc:AlternateContent>
    </p:spTree>
    <p:extLst>
      <p:ext uri="{BB962C8B-B14F-4D97-AF65-F5344CB8AC3E}">
        <p14:creationId xmlns:p14="http://schemas.microsoft.com/office/powerpoint/2010/main" val="1419160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766333F-582A-93EA-D272-12C3C05437CB}"/>
                  </a:ext>
                </a:extLst>
              </p:cNvPr>
              <p:cNvSpPr>
                <a:spLocks noGrp="1"/>
              </p:cNvSpPr>
              <p:nvPr>
                <p:ph type="title"/>
              </p:nvPr>
            </p:nvSpPr>
            <p:spPr/>
            <p:txBody>
              <a:bodyPr/>
              <a:lstStyle/>
              <a:p>
                <a:pPr/>
                <a:r>
                  <a:rPr lang="en-AU" b="1" dirty="0"/>
                  <a:t>How to calculate </a:t>
                </a:r>
                <a14:m>
                  <m:oMath xmlns:m="http://schemas.openxmlformats.org/officeDocument/2006/math">
                    <m:r>
                      <a:rPr lang="en-AU" b="1" i="1">
                        <a:latin typeface="Cambria Math" panose="02040503050406030204" pitchFamily="18" charset="0"/>
                      </a:rPr>
                      <m:t>𝜶</m:t>
                    </m:r>
                  </m:oMath>
                </a14:m>
                <a:r>
                  <a:rPr lang="en-US" b="1" dirty="0"/>
                  <a:t>?</a:t>
                </a:r>
              </a:p>
            </p:txBody>
          </p:sp>
        </mc:Choice>
        <mc:Fallback>
          <p:sp>
            <p:nvSpPr>
              <p:cNvPr id="2" name="Title 1">
                <a:extLst>
                  <a:ext uri="{FF2B5EF4-FFF2-40B4-BE49-F238E27FC236}">
                    <a16:creationId xmlns:a16="http://schemas.microsoft.com/office/drawing/2014/main" id="{8766333F-582A-93EA-D272-12C3C05437CB}"/>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0CF5F7E-81F7-A633-4AB8-3E8D881EF83C}"/>
                  </a:ext>
                </a:extLst>
              </p:cNvPr>
              <p:cNvSpPr>
                <a:spLocks noGrp="1"/>
              </p:cNvSpPr>
              <p:nvPr>
                <p:ph idx="1"/>
              </p:nvPr>
            </p:nvSpPr>
            <p:spPr>
              <a:xfrm>
                <a:off x="838200" y="1825625"/>
                <a:ext cx="9653953" cy="4351338"/>
              </a:xfrm>
            </p:spPr>
            <p:txBody>
              <a:bodyPr>
                <a:normAutofit lnSpcReduction="10000"/>
              </a:bodyPr>
              <a:lstStyle/>
              <a:p>
                <a:pPr marL="514350" lvl="0" indent="-514350">
                  <a:buFont typeface="+mj-lt"/>
                  <a:buAutoNum type="arabicPeriod"/>
                </a:pPr>
                <a:r>
                  <a:rPr lang="en-AU" b="1" dirty="0"/>
                  <a:t>Get </a:t>
                </a:r>
                <a14:m>
                  <m:oMath xmlns:m="http://schemas.openxmlformats.org/officeDocument/2006/math">
                    <m:sSub>
                      <m:sSubPr>
                        <m:ctrlPr>
                          <a:rPr lang="en-AU" b="1" i="1" dirty="0" smtClean="0">
                            <a:latin typeface="Cambria Math" panose="02040503050406030204" pitchFamily="18" charset="0"/>
                          </a:rPr>
                        </m:ctrlPr>
                      </m:sSubPr>
                      <m:e>
                        <m:r>
                          <a:rPr lang="en-AU" b="1" i="1" dirty="0" smtClean="0">
                            <a:latin typeface="Cambria Math" panose="02040503050406030204" pitchFamily="18" charset="0"/>
                          </a:rPr>
                          <m:t>𝑮</m:t>
                        </m:r>
                      </m:e>
                      <m:sub>
                        <m:r>
                          <a:rPr lang="en-AU" b="1" i="1" dirty="0" smtClean="0">
                            <a:latin typeface="Cambria Math" panose="02040503050406030204" pitchFamily="18" charset="0"/>
                          </a:rPr>
                          <m:t>𝒙</m:t>
                        </m:r>
                      </m:sub>
                    </m:sSub>
                  </m:oMath>
                </a14:m>
                <a:r>
                  <a:rPr lang="en-AU" b="1" dirty="0"/>
                  <a:t> and </a:t>
                </a:r>
                <a14:m>
                  <m:oMath xmlns:m="http://schemas.openxmlformats.org/officeDocument/2006/math">
                    <m:sSub>
                      <m:sSubPr>
                        <m:ctrlPr>
                          <a:rPr lang="en-AU" b="1" i="1" dirty="0" smtClean="0">
                            <a:latin typeface="Cambria Math" panose="02040503050406030204" pitchFamily="18" charset="0"/>
                          </a:rPr>
                        </m:ctrlPr>
                      </m:sSubPr>
                      <m:e>
                        <m:r>
                          <a:rPr lang="en-AU" b="1" i="1" dirty="0" smtClean="0">
                            <a:latin typeface="Cambria Math" panose="02040503050406030204" pitchFamily="18" charset="0"/>
                          </a:rPr>
                          <m:t>𝑮</m:t>
                        </m:r>
                      </m:e>
                      <m:sub>
                        <m:r>
                          <a:rPr lang="en-AU" b="1" i="1" dirty="0" smtClean="0">
                            <a:latin typeface="Cambria Math" panose="02040503050406030204" pitchFamily="18" charset="0"/>
                          </a:rPr>
                          <m:t>𝒚</m:t>
                        </m:r>
                      </m:sub>
                    </m:sSub>
                  </m:oMath>
                </a14:m>
                <a:r>
                  <a:rPr lang="en-AU" dirty="0"/>
                  <a:t> at the pixel (from the Sobel or your chosen gradient operator). </a:t>
                </a:r>
              </a:p>
              <a:p>
                <a:pPr marL="514350" lvl="0" indent="-514350">
                  <a:buFont typeface="+mj-lt"/>
                  <a:buAutoNum type="arabicPeriod"/>
                </a:pPr>
                <a:r>
                  <a:rPr lang="en-AU" b="1" dirty="0"/>
                  <a:t>Take absolute values</a:t>
                </a:r>
                <a:r>
                  <a:rPr lang="en-AU" dirty="0"/>
                  <a:t> and compare them to find which one dominates:</a:t>
                </a:r>
                <a:br>
                  <a:rPr lang="en-AU" dirty="0"/>
                </a:br>
                <a:r>
                  <a:rPr lang="en-AU" dirty="0"/>
                  <a:t>if |</a:t>
                </a:r>
                <a14:m>
                  <m:oMath xmlns:m="http://schemas.openxmlformats.org/officeDocument/2006/math">
                    <m:sSub>
                      <m:sSubPr>
                        <m:ctrlPr>
                          <a:rPr lang="en-AU" i="1" dirty="0" smtClean="0">
                            <a:latin typeface="Cambria Math" panose="02040503050406030204" pitchFamily="18" charset="0"/>
                          </a:rPr>
                        </m:ctrlPr>
                      </m:sSubPr>
                      <m:e>
                        <m:r>
                          <a:rPr lang="en-AU" i="1" dirty="0" smtClean="0">
                            <a:latin typeface="Cambria Math" panose="02040503050406030204" pitchFamily="18" charset="0"/>
                          </a:rPr>
                          <m:t>𝐺</m:t>
                        </m:r>
                      </m:e>
                      <m:sub>
                        <m:r>
                          <a:rPr lang="en-AU" i="1" dirty="0" smtClean="0">
                            <a:latin typeface="Cambria Math" panose="02040503050406030204" pitchFamily="18" charset="0"/>
                          </a:rPr>
                          <m:t>𝑥</m:t>
                        </m:r>
                      </m:sub>
                    </m:sSub>
                  </m:oMath>
                </a14:m>
                <a:r>
                  <a:rPr lang="en-AU" dirty="0"/>
                  <a:t>| is bigger, so the gradient leans more toward horizontal than vertical.</a:t>
                </a:r>
              </a:p>
              <a:p>
                <a:pPr marL="514350" lvl="0" indent="-514350">
                  <a:buFont typeface="+mj-lt"/>
                  <a:buAutoNum type="arabicPeriod"/>
                </a:pPr>
                <a:r>
                  <a:rPr lang="en-AU" b="1" dirty="0"/>
                  <a:t>Divide the smaller by the larger: </a:t>
                </a:r>
                <a14:m>
                  <m:oMath xmlns:m="http://schemas.openxmlformats.org/officeDocument/2006/math">
                    <m:r>
                      <a:rPr lang="en-AU" b="1" i="1" smtClean="0">
                        <a:latin typeface="Cambria Math" panose="02040503050406030204" pitchFamily="18" charset="0"/>
                      </a:rPr>
                      <m:t>𝜶</m:t>
                    </m:r>
                    <m:r>
                      <a:rPr lang="en-AU" b="1" i="1" smtClean="0">
                        <a:latin typeface="Cambria Math" panose="02040503050406030204" pitchFamily="18" charset="0"/>
                      </a:rPr>
                      <m:t>=</m:t>
                    </m:r>
                    <m:f>
                      <m:fPr>
                        <m:ctrlPr>
                          <a:rPr lang="en-AU" b="1" i="1" smtClean="0">
                            <a:latin typeface="Cambria Math" panose="02040503050406030204" pitchFamily="18" charset="0"/>
                          </a:rPr>
                        </m:ctrlPr>
                      </m:fPr>
                      <m:num>
                        <m:func>
                          <m:funcPr>
                            <m:ctrlPr>
                              <a:rPr lang="en-AU" b="0" i="0" smtClean="0">
                                <a:latin typeface="Cambria Math" panose="02040503050406030204" pitchFamily="18" charset="0"/>
                              </a:rPr>
                            </m:ctrlPr>
                          </m:funcPr>
                          <m:fName>
                            <m:r>
                              <m:rPr>
                                <m:sty m:val="p"/>
                              </m:rPr>
                              <a:rPr lang="en-AU" b="0" i="0" smtClean="0">
                                <a:latin typeface="Cambria Math" panose="02040503050406030204" pitchFamily="18" charset="0"/>
                              </a:rPr>
                              <m:t>min</m:t>
                            </m:r>
                          </m:fName>
                          <m:e>
                            <m:r>
                              <a:rPr lang="en-AU" b="1" i="1" smtClean="0">
                                <a:latin typeface="Cambria Math" panose="02040503050406030204" pitchFamily="18" charset="0"/>
                              </a:rPr>
                              <m:t>(|</m:t>
                            </m:r>
                            <m:sSub>
                              <m:sSubPr>
                                <m:ctrlPr>
                                  <a:rPr lang="en-AU" b="1" i="1" smtClean="0">
                                    <a:latin typeface="Cambria Math" panose="02040503050406030204" pitchFamily="18" charset="0"/>
                                  </a:rPr>
                                </m:ctrlPr>
                              </m:sSubPr>
                              <m:e>
                                <m:r>
                                  <a:rPr lang="en-AU" b="1" i="1" smtClean="0">
                                    <a:latin typeface="Cambria Math" panose="02040503050406030204" pitchFamily="18" charset="0"/>
                                  </a:rPr>
                                  <m:t>𝑮</m:t>
                                </m:r>
                              </m:e>
                              <m:sub>
                                <m:r>
                                  <a:rPr lang="en-AU" b="1" i="1" smtClean="0">
                                    <a:latin typeface="Cambria Math" panose="02040503050406030204" pitchFamily="18" charset="0"/>
                                  </a:rPr>
                                  <m:t>𝒙</m:t>
                                </m:r>
                              </m:sub>
                            </m:sSub>
                            <m:r>
                              <a:rPr lang="en-AU" b="1" i="1" smtClean="0">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𝑮</m:t>
                                </m:r>
                              </m:e>
                              <m:sub>
                                <m:r>
                                  <a:rPr lang="en-AU" b="1" i="1" smtClean="0">
                                    <a:latin typeface="Cambria Math" panose="02040503050406030204" pitchFamily="18" charset="0"/>
                                  </a:rPr>
                                  <m:t>𝒚</m:t>
                                </m:r>
                              </m:sub>
                            </m:sSub>
                            <m:r>
                              <a:rPr lang="en-AU" b="1" i="1" smtClean="0">
                                <a:latin typeface="Cambria Math" panose="02040503050406030204" pitchFamily="18" charset="0"/>
                              </a:rPr>
                              <m:t>|)</m:t>
                            </m:r>
                          </m:e>
                        </m:func>
                        <m:r>
                          <a:rPr lang="en-AU" b="1" i="1" smtClean="0">
                            <a:latin typeface="Cambria Math" panose="02040503050406030204" pitchFamily="18" charset="0"/>
                          </a:rPr>
                          <m:t>  </m:t>
                        </m:r>
                      </m:num>
                      <m:den>
                        <m:func>
                          <m:funcPr>
                            <m:ctrlPr>
                              <a:rPr lang="en-AU">
                                <a:latin typeface="Cambria Math" panose="02040503050406030204" pitchFamily="18" charset="0"/>
                              </a:rPr>
                            </m:ctrlPr>
                          </m:funcPr>
                          <m:fName>
                            <m:r>
                              <m:rPr>
                                <m:sty m:val="p"/>
                              </m:rPr>
                              <a:rPr lang="en-AU">
                                <a:latin typeface="Cambria Math" panose="02040503050406030204" pitchFamily="18" charset="0"/>
                              </a:rPr>
                              <m:t>m</m:t>
                            </m:r>
                            <m:r>
                              <m:rPr>
                                <m:sty m:val="p"/>
                              </m:rPr>
                              <a:rPr lang="en-AU" b="0" i="0" smtClean="0">
                                <a:latin typeface="Cambria Math" panose="02040503050406030204" pitchFamily="18" charset="0"/>
                              </a:rPr>
                              <m:t>ax</m:t>
                            </m:r>
                          </m:fName>
                          <m:e>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𝑮</m:t>
                                </m:r>
                              </m:e>
                              <m:sub>
                                <m:r>
                                  <a:rPr lang="en-AU" b="1" i="1">
                                    <a:latin typeface="Cambria Math" panose="02040503050406030204" pitchFamily="18" charset="0"/>
                                  </a:rPr>
                                  <m:t>𝒙</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𝑮</m:t>
                                </m:r>
                              </m:e>
                              <m:sub>
                                <m:r>
                                  <a:rPr lang="en-AU" b="1" i="1">
                                    <a:latin typeface="Cambria Math" panose="02040503050406030204" pitchFamily="18" charset="0"/>
                                  </a:rPr>
                                  <m:t>𝒚</m:t>
                                </m:r>
                              </m:sub>
                            </m:sSub>
                            <m:r>
                              <a:rPr lang="en-AU" b="1" i="1">
                                <a:latin typeface="Cambria Math" panose="02040503050406030204" pitchFamily="18" charset="0"/>
                              </a:rPr>
                              <m:t>|)</m:t>
                            </m:r>
                          </m:e>
                        </m:func>
                      </m:den>
                    </m:f>
                  </m:oMath>
                </a14:m>
                <a:endParaRPr lang="en-AU" dirty="0"/>
              </a:p>
              <a:p>
                <a:pPr marL="0" indent="0">
                  <a:buNone/>
                </a:pPr>
                <a:endParaRPr lang="en-AU" dirty="0"/>
              </a:p>
              <a:p>
                <a:pPr marL="0" lvl="0" indent="0">
                  <a:buNone/>
                </a:pPr>
                <a14:m>
                  <m:oMath xmlns:m="http://schemas.openxmlformats.org/officeDocument/2006/math">
                    <m:r>
                      <a:rPr lang="en-AU" b="0" i="1" smtClean="0">
                        <a:latin typeface="Cambria Math" panose="02040503050406030204" pitchFamily="18" charset="0"/>
                      </a:rPr>
                      <m:t>𝛼</m:t>
                    </m:r>
                  </m:oMath>
                </a14:m>
                <a:r>
                  <a:rPr lang="en-AU" dirty="0"/>
                  <a:t> tells us how far the gradient vector has tilted away from its dominant axis.</a:t>
                </a:r>
              </a:p>
              <a:p>
                <a:endParaRPr lang="en-US" dirty="0"/>
              </a:p>
            </p:txBody>
          </p:sp>
        </mc:Choice>
        <mc:Fallback>
          <p:sp>
            <p:nvSpPr>
              <p:cNvPr id="3" name="Content Placeholder 2">
                <a:extLst>
                  <a:ext uri="{FF2B5EF4-FFF2-40B4-BE49-F238E27FC236}">
                    <a16:creationId xmlns:a16="http://schemas.microsoft.com/office/drawing/2014/main" id="{90CF5F7E-81F7-A633-4AB8-3E8D881EF83C}"/>
                  </a:ext>
                </a:extLst>
              </p:cNvPr>
              <p:cNvSpPr>
                <a:spLocks noGrp="1" noRot="1" noChangeAspect="1" noMove="1" noResize="1" noEditPoints="1" noAdjustHandles="1" noChangeArrowheads="1" noChangeShapeType="1" noTextEdit="1"/>
              </p:cNvSpPr>
              <p:nvPr>
                <p:ph idx="1"/>
              </p:nvPr>
            </p:nvSpPr>
            <p:spPr>
              <a:xfrm>
                <a:off x="838200" y="1825625"/>
                <a:ext cx="9653953" cy="4351338"/>
              </a:xfrm>
              <a:blipFill>
                <a:blip r:embed="rId3"/>
                <a:stretch>
                  <a:fillRect l="-1314" t="-3198" r="-1445" b="-2907"/>
                </a:stretch>
              </a:blipFill>
            </p:spPr>
            <p:txBody>
              <a:bodyPr/>
              <a:lstStyle/>
              <a:p>
                <a:r>
                  <a:rPr lang="en-US">
                    <a:noFill/>
                  </a:rPr>
                  <a:t> </a:t>
                </a:r>
              </a:p>
            </p:txBody>
          </p:sp>
        </mc:Fallback>
      </mc:AlternateContent>
    </p:spTree>
    <p:extLst>
      <p:ext uri="{BB962C8B-B14F-4D97-AF65-F5344CB8AC3E}">
        <p14:creationId xmlns:p14="http://schemas.microsoft.com/office/powerpoint/2010/main" val="346922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BE20-4D81-D22E-DC57-8EE8BFE40DF1}"/>
              </a:ext>
            </a:extLst>
          </p:cNvPr>
          <p:cNvSpPr>
            <a:spLocks noGrp="1"/>
          </p:cNvSpPr>
          <p:nvPr>
            <p:ph type="title"/>
          </p:nvPr>
        </p:nvSpPr>
        <p:spPr/>
        <p:txBody>
          <a:bodyPr/>
          <a:lstStyle/>
          <a:p>
            <a:r>
              <a:rPr lang="en-US" b="1" dirty="0"/>
              <a:t>Hysteresis and double thresholding</a:t>
            </a:r>
          </a:p>
        </p:txBody>
      </p:sp>
      <p:sp>
        <p:nvSpPr>
          <p:cNvPr id="3" name="Content Placeholder 2">
            <a:extLst>
              <a:ext uri="{FF2B5EF4-FFF2-40B4-BE49-F238E27FC236}">
                <a16:creationId xmlns:a16="http://schemas.microsoft.com/office/drawing/2014/main" id="{033CFE2F-4E2E-651B-0A2E-576A749EAD22}"/>
              </a:ext>
            </a:extLst>
          </p:cNvPr>
          <p:cNvSpPr>
            <a:spLocks noGrp="1"/>
          </p:cNvSpPr>
          <p:nvPr>
            <p:ph idx="1"/>
          </p:nvPr>
        </p:nvSpPr>
        <p:spPr/>
        <p:txBody>
          <a:bodyPr/>
          <a:lstStyle/>
          <a:p>
            <a:r>
              <a:rPr lang="en-AU" dirty="0"/>
              <a:t>Previously studied edge detector used one threshold value to record pixel as an edge.</a:t>
            </a:r>
          </a:p>
          <a:p>
            <a:r>
              <a:rPr lang="en-AU" dirty="0"/>
              <a:t>Canny’s method uses two threshold values:</a:t>
            </a:r>
          </a:p>
          <a:p>
            <a:pPr marL="914400" lvl="1" indent="-457200">
              <a:buFont typeface="+mj-lt"/>
              <a:buAutoNum type="arabicPeriod"/>
            </a:pPr>
            <a:r>
              <a:rPr lang="en-AU" b="1" dirty="0"/>
              <a:t>High</a:t>
            </a:r>
            <a:r>
              <a:rPr lang="en-AU" dirty="0"/>
              <a:t>: Above high, record pixel as an edge.</a:t>
            </a:r>
          </a:p>
          <a:p>
            <a:pPr marL="914400" lvl="1" indent="-457200">
              <a:buFont typeface="+mj-lt"/>
              <a:buAutoNum type="arabicPeriod"/>
            </a:pPr>
            <a:r>
              <a:rPr lang="en-AU" b="1" dirty="0"/>
              <a:t>Low</a:t>
            </a:r>
            <a:r>
              <a:rPr lang="en-AU" dirty="0"/>
              <a:t>: Below low, record pixel as an non-edge.</a:t>
            </a:r>
          </a:p>
          <a:p>
            <a:pPr marL="914400" lvl="1" indent="-457200">
              <a:buFont typeface="+mj-lt"/>
              <a:buAutoNum type="arabicPeriod"/>
            </a:pPr>
            <a:r>
              <a:rPr lang="en-AU" b="1" dirty="0"/>
              <a:t>Between high and low</a:t>
            </a:r>
            <a:r>
              <a:rPr lang="en-AU" dirty="0"/>
              <a:t>: record it as an edge pixel, if it is </a:t>
            </a:r>
            <a:r>
              <a:rPr lang="en-AU" b="1" dirty="0"/>
              <a:t>connected</a:t>
            </a:r>
            <a:r>
              <a:rPr lang="en-AU" dirty="0"/>
              <a:t> to an edge pixel. This is due to the fact that edges do not occur in isolation, rather edge pixels are connected.</a:t>
            </a:r>
          </a:p>
        </p:txBody>
      </p:sp>
    </p:spTree>
    <p:extLst>
      <p:ext uri="{BB962C8B-B14F-4D97-AF65-F5344CB8AC3E}">
        <p14:creationId xmlns:p14="http://schemas.microsoft.com/office/powerpoint/2010/main" val="4232927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3681-2767-498B-88A9-827C3B887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48225-8CE3-61E9-4986-F7732F2060C8}"/>
              </a:ext>
            </a:extLst>
          </p:cNvPr>
          <p:cNvSpPr>
            <a:spLocks noGrp="1"/>
          </p:cNvSpPr>
          <p:nvPr>
            <p:ph type="title"/>
          </p:nvPr>
        </p:nvSpPr>
        <p:spPr/>
        <p:txBody>
          <a:bodyPr/>
          <a:lstStyle/>
          <a:p>
            <a:r>
              <a:rPr lang="en-US" b="1" dirty="0"/>
              <a:t>Hysteresis and double thresholding</a:t>
            </a:r>
          </a:p>
        </p:txBody>
      </p:sp>
      <p:sp>
        <p:nvSpPr>
          <p:cNvPr id="3" name="Content Placeholder 2">
            <a:extLst>
              <a:ext uri="{FF2B5EF4-FFF2-40B4-BE49-F238E27FC236}">
                <a16:creationId xmlns:a16="http://schemas.microsoft.com/office/drawing/2014/main" id="{EE8C470F-9AD5-CD92-DEB6-0C522DEFC7A6}"/>
              </a:ext>
            </a:extLst>
          </p:cNvPr>
          <p:cNvSpPr>
            <a:spLocks noGrp="1"/>
          </p:cNvSpPr>
          <p:nvPr>
            <p:ph idx="1"/>
          </p:nvPr>
        </p:nvSpPr>
        <p:spPr>
          <a:xfrm>
            <a:off x="838200" y="4546599"/>
            <a:ext cx="10515600" cy="1630363"/>
          </a:xfrm>
        </p:spPr>
        <p:txBody>
          <a:bodyPr>
            <a:normAutofit lnSpcReduction="10000"/>
          </a:bodyPr>
          <a:lstStyle/>
          <a:p>
            <a:r>
              <a:rPr lang="en-AU" dirty="0"/>
              <a:t>All connected pixels, although below “high” threshold will be recorded as an edge pixels.</a:t>
            </a:r>
          </a:p>
          <a:p>
            <a:r>
              <a:rPr lang="en-AU" dirty="0"/>
              <a:t>Isolated pixels above “low” will not be recorded as an edge pixels as they are not connected to pixels that are above “high” threshold.</a:t>
            </a:r>
          </a:p>
          <a:p>
            <a:endParaRPr lang="en-AU" dirty="0"/>
          </a:p>
        </p:txBody>
      </p:sp>
      <p:pic>
        <p:nvPicPr>
          <p:cNvPr id="5" name="Picture 4">
            <a:extLst>
              <a:ext uri="{FF2B5EF4-FFF2-40B4-BE49-F238E27FC236}">
                <a16:creationId xmlns:a16="http://schemas.microsoft.com/office/drawing/2014/main" id="{D5D94B98-99A7-9463-88CB-9969DAF5791C}"/>
              </a:ext>
            </a:extLst>
          </p:cNvPr>
          <p:cNvPicPr>
            <a:picLocks noChangeAspect="1"/>
          </p:cNvPicPr>
          <p:nvPr/>
        </p:nvPicPr>
        <p:blipFill>
          <a:blip r:embed="rId2"/>
          <a:srcRect r="2075"/>
          <a:stretch>
            <a:fillRect/>
          </a:stretch>
        </p:blipFill>
        <p:spPr>
          <a:xfrm>
            <a:off x="929411" y="1690688"/>
            <a:ext cx="5001489" cy="2673057"/>
          </a:xfrm>
          <a:prstGeom prst="rect">
            <a:avLst/>
          </a:prstGeom>
        </p:spPr>
      </p:pic>
    </p:spTree>
    <p:extLst>
      <p:ext uri="{BB962C8B-B14F-4D97-AF65-F5344CB8AC3E}">
        <p14:creationId xmlns:p14="http://schemas.microsoft.com/office/powerpoint/2010/main" val="2752267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79F1A-CECD-F762-24DC-9258DA8E73D5}"/>
              </a:ext>
            </a:extLst>
          </p:cNvPr>
          <p:cNvSpPr>
            <a:spLocks noGrp="1"/>
          </p:cNvSpPr>
          <p:nvPr>
            <p:ph type="title"/>
          </p:nvPr>
        </p:nvSpPr>
        <p:spPr/>
        <p:txBody>
          <a:bodyPr/>
          <a:lstStyle/>
          <a:p>
            <a:r>
              <a:rPr lang="en-AU" b="1" dirty="0"/>
              <a:t>Feature Descriptors</a:t>
            </a:r>
            <a:endParaRPr lang="en-US" dirty="0"/>
          </a:p>
        </p:txBody>
      </p:sp>
      <p:sp>
        <p:nvSpPr>
          <p:cNvPr id="3" name="Content Placeholder 2">
            <a:extLst>
              <a:ext uri="{FF2B5EF4-FFF2-40B4-BE49-F238E27FC236}">
                <a16:creationId xmlns:a16="http://schemas.microsoft.com/office/drawing/2014/main" id="{7DBB684F-6DDE-E988-9915-46CAB3F4F938}"/>
              </a:ext>
            </a:extLst>
          </p:cNvPr>
          <p:cNvSpPr>
            <a:spLocks noGrp="1"/>
          </p:cNvSpPr>
          <p:nvPr>
            <p:ph idx="1"/>
          </p:nvPr>
        </p:nvSpPr>
        <p:spPr>
          <a:xfrm>
            <a:off x="838200" y="1460500"/>
            <a:ext cx="10515600" cy="4716463"/>
          </a:xfrm>
        </p:spPr>
        <p:txBody>
          <a:bodyPr>
            <a:normAutofit/>
          </a:bodyPr>
          <a:lstStyle/>
          <a:p>
            <a:r>
              <a:rPr lang="en-AU" sz="2400" dirty="0"/>
              <a:t>Crafted clever mathematical “fingerprints” to describe images. </a:t>
            </a:r>
          </a:p>
          <a:p>
            <a:r>
              <a:rPr lang="en-AU" sz="2400" b="1" dirty="0"/>
              <a:t>HOG (Histogram of Oriented Gradients) </a:t>
            </a:r>
            <a:r>
              <a:rPr lang="en-AU" sz="2400" dirty="0"/>
              <a:t>[2005] </a:t>
            </a:r>
          </a:p>
          <a:p>
            <a:pPr lvl="1"/>
            <a:r>
              <a:rPr lang="en-AU" dirty="0"/>
              <a:t>looking at </a:t>
            </a:r>
            <a:r>
              <a:rPr lang="en-AU" b="1" dirty="0"/>
              <a:t>shapes or structures </a:t>
            </a:r>
            <a:r>
              <a:rPr lang="en-AU" dirty="0"/>
              <a:t>in images (HOG)</a:t>
            </a:r>
          </a:p>
          <a:p>
            <a:r>
              <a:rPr lang="en-AU" sz="2400" b="1" dirty="0"/>
              <a:t>Haar Cascades</a:t>
            </a:r>
            <a:r>
              <a:rPr lang="en-AU" sz="2400" dirty="0"/>
              <a:t>[2001] </a:t>
            </a:r>
          </a:p>
          <a:p>
            <a:pPr lvl="1"/>
            <a:r>
              <a:rPr lang="en-AU" dirty="0"/>
              <a:t>looking at </a:t>
            </a:r>
            <a:r>
              <a:rPr lang="en-AU" b="1" dirty="0"/>
              <a:t>contrast</a:t>
            </a:r>
            <a:r>
              <a:rPr lang="en-AU" dirty="0"/>
              <a:t> (Haar).</a:t>
            </a:r>
          </a:p>
          <a:p>
            <a:r>
              <a:rPr lang="en-US" sz="2400" b="1" dirty="0"/>
              <a:t>SIFT</a:t>
            </a:r>
            <a:r>
              <a:rPr lang="en-AU" sz="2400" dirty="0"/>
              <a:t>[1999] </a:t>
            </a:r>
          </a:p>
          <a:p>
            <a:pPr lvl="1"/>
            <a:r>
              <a:rPr lang="en-AU" dirty="0"/>
              <a:t> transforms an image into a large collection of feature vectors</a:t>
            </a:r>
            <a:endParaRPr lang="en-US" sz="2000" b="1" dirty="0"/>
          </a:p>
          <a:p>
            <a:r>
              <a:rPr lang="en-AU" dirty="0"/>
              <a:t>Think of these as </a:t>
            </a:r>
            <a:r>
              <a:rPr lang="en-AU" b="1" dirty="0"/>
              <a:t>feature representation </a:t>
            </a:r>
            <a:r>
              <a:rPr lang="en-AU" dirty="0"/>
              <a:t>methods for machine learning algorithms i.e., outputs of these methods are fed to</a:t>
            </a:r>
            <a:r>
              <a:rPr lang="en-AU" b="1" dirty="0"/>
              <a:t> </a:t>
            </a:r>
            <a:r>
              <a:rPr lang="en-AU" dirty="0"/>
              <a:t>SVM, Random Forest, NN, or KNN for various tasks.</a:t>
            </a:r>
            <a:endParaRPr lang="en-US" dirty="0"/>
          </a:p>
        </p:txBody>
      </p:sp>
    </p:spTree>
    <p:extLst>
      <p:ext uri="{BB962C8B-B14F-4D97-AF65-F5344CB8AC3E}">
        <p14:creationId xmlns:p14="http://schemas.microsoft.com/office/powerpoint/2010/main" val="2195222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1CE47-62C4-86AD-B4B0-873241604A38}"/>
              </a:ext>
            </a:extLst>
          </p:cNvPr>
          <p:cNvSpPr>
            <a:spLocks noGrp="1"/>
          </p:cNvSpPr>
          <p:nvPr>
            <p:ph type="title"/>
          </p:nvPr>
        </p:nvSpPr>
        <p:spPr/>
        <p:txBody>
          <a:bodyPr/>
          <a:lstStyle/>
          <a:p>
            <a:r>
              <a:rPr lang="en-AU" b="1" dirty="0"/>
              <a:t>Histogram of Oriented Gradients (HOG)</a:t>
            </a:r>
          </a:p>
        </p:txBody>
      </p:sp>
      <p:sp>
        <p:nvSpPr>
          <p:cNvPr id="3" name="Content Placeholder 2">
            <a:extLst>
              <a:ext uri="{FF2B5EF4-FFF2-40B4-BE49-F238E27FC236}">
                <a16:creationId xmlns:a16="http://schemas.microsoft.com/office/drawing/2014/main" id="{00823A6C-54F2-5AA9-ABE5-D52DE88BB6E1}"/>
              </a:ext>
            </a:extLst>
          </p:cNvPr>
          <p:cNvSpPr>
            <a:spLocks noGrp="1"/>
          </p:cNvSpPr>
          <p:nvPr>
            <p:ph idx="1"/>
          </p:nvPr>
        </p:nvSpPr>
        <p:spPr>
          <a:xfrm>
            <a:off x="838200" y="1587500"/>
            <a:ext cx="10515600" cy="4905375"/>
          </a:xfrm>
        </p:spPr>
        <p:txBody>
          <a:bodyPr>
            <a:normAutofit/>
          </a:bodyPr>
          <a:lstStyle/>
          <a:p>
            <a:r>
              <a:rPr lang="en-AU" b="1" dirty="0"/>
              <a:t>HOG</a:t>
            </a:r>
            <a:r>
              <a:rPr lang="en-AU" dirty="0"/>
              <a:t> is a feature descriptor used in computer vision and image processing for </a:t>
            </a:r>
            <a:r>
              <a:rPr lang="en-AU" b="1" dirty="0"/>
              <a:t>object detection</a:t>
            </a:r>
            <a:r>
              <a:rPr lang="en-AU" dirty="0"/>
              <a:t>. </a:t>
            </a:r>
          </a:p>
          <a:p>
            <a:r>
              <a:rPr lang="en-AU" dirty="0"/>
              <a:t>Captures the structure or the shape of an object by </a:t>
            </a:r>
            <a:r>
              <a:rPr lang="en-AU" dirty="0" err="1"/>
              <a:t>analyzing</a:t>
            </a:r>
            <a:r>
              <a:rPr lang="en-AU" dirty="0"/>
              <a:t> the distribution (histograms) of gradient orientations. </a:t>
            </a:r>
          </a:p>
          <a:p>
            <a:r>
              <a:rPr lang="en-AU" dirty="0"/>
              <a:t>HOG is especially popular for human and vehicle detection.</a:t>
            </a:r>
          </a:p>
          <a:p>
            <a:r>
              <a:rPr lang="en-AU" dirty="0"/>
              <a:t>Core idea: </a:t>
            </a:r>
            <a:r>
              <a:rPr lang="en-AU" b="1" dirty="0"/>
              <a:t>We don’t need to know the </a:t>
            </a:r>
            <a:r>
              <a:rPr lang="en-AU" b="1" dirty="0" err="1"/>
              <a:t>color</a:t>
            </a:r>
            <a:r>
              <a:rPr lang="en-AU" b="1" dirty="0"/>
              <a:t> of an object to know what it is; we just need to know its edges.</a:t>
            </a:r>
            <a:endParaRPr lang="en-AU" dirty="0"/>
          </a:p>
          <a:p>
            <a:pPr lvl="1"/>
            <a:r>
              <a:rPr lang="en-AU" dirty="0"/>
              <a:t>If we trace the outline of a person, a car, or a cup, we can recognize it regardless of the lighting. </a:t>
            </a:r>
          </a:p>
          <a:p>
            <a:r>
              <a:rPr lang="en-AU" dirty="0"/>
              <a:t>HOG explicitly captures this “outline” information using gradients.</a:t>
            </a:r>
          </a:p>
        </p:txBody>
      </p:sp>
    </p:spTree>
    <p:extLst>
      <p:ext uri="{BB962C8B-B14F-4D97-AF65-F5344CB8AC3E}">
        <p14:creationId xmlns:p14="http://schemas.microsoft.com/office/powerpoint/2010/main" val="331517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904BC-E118-AE8B-8D05-8BA994B15125}"/>
              </a:ext>
            </a:extLst>
          </p:cNvPr>
          <p:cNvSpPr>
            <a:spLocks noGrp="1"/>
          </p:cNvSpPr>
          <p:nvPr>
            <p:ph type="title"/>
          </p:nvPr>
        </p:nvSpPr>
        <p:spPr/>
        <p:txBody>
          <a:bodyPr/>
          <a:lstStyle/>
          <a:p>
            <a:r>
              <a:rPr lang="en-AU" b="1" dirty="0"/>
              <a:t>The HOG Pipeline (Step-by-Step)</a:t>
            </a:r>
            <a:endParaRPr lang="en-US" dirty="0"/>
          </a:p>
        </p:txBody>
      </p:sp>
      <p:sp>
        <p:nvSpPr>
          <p:cNvPr id="3" name="Content Placeholder 2">
            <a:extLst>
              <a:ext uri="{FF2B5EF4-FFF2-40B4-BE49-F238E27FC236}">
                <a16:creationId xmlns:a16="http://schemas.microsoft.com/office/drawing/2014/main" id="{BF5AD1B3-FE0B-BF32-39A9-69C10EA08C52}"/>
              </a:ext>
            </a:extLst>
          </p:cNvPr>
          <p:cNvSpPr>
            <a:spLocks noGrp="1"/>
          </p:cNvSpPr>
          <p:nvPr>
            <p:ph idx="1"/>
          </p:nvPr>
        </p:nvSpPr>
        <p:spPr/>
        <p:txBody>
          <a:bodyPr>
            <a:normAutofit lnSpcReduction="10000"/>
          </a:bodyPr>
          <a:lstStyle/>
          <a:p>
            <a:pPr marL="0" lvl="0" indent="0">
              <a:buNone/>
            </a:pPr>
            <a:r>
              <a:rPr lang="en-AU" b="1" dirty="0"/>
              <a:t>2. Preprocessing:</a:t>
            </a:r>
            <a:r>
              <a:rPr lang="en-AU" dirty="0"/>
              <a:t> Gamma correction is often applied to normalize lighting.</a:t>
            </a:r>
          </a:p>
          <a:p>
            <a:pPr marL="0" lvl="0" indent="0">
              <a:buNone/>
            </a:pPr>
            <a:r>
              <a:rPr lang="en-AU" b="1" dirty="0"/>
              <a:t>2. Gradient Calculation: </a:t>
            </a:r>
            <a:r>
              <a:rPr lang="en-AU" dirty="0"/>
              <a:t>For every pixel, we calculate the Gradient Magnitude (how strong the edge is) and Gradient Orientation/Direction (which way the edge points).</a:t>
            </a:r>
          </a:p>
          <a:p>
            <a:pPr lvl="1"/>
            <a:r>
              <a:rPr lang="en-AU" i="1" dirty="0"/>
              <a:t>Result:</a:t>
            </a:r>
            <a:r>
              <a:rPr lang="en-AU" dirty="0"/>
              <a:t> The “texture” of the image is revealed, while flat </a:t>
            </a:r>
            <a:r>
              <a:rPr lang="en-AU" dirty="0" err="1"/>
              <a:t>colors</a:t>
            </a:r>
            <a:r>
              <a:rPr lang="en-AU" dirty="0"/>
              <a:t> are removed.</a:t>
            </a:r>
          </a:p>
          <a:p>
            <a:pPr marL="0" lvl="0" indent="0">
              <a:buNone/>
            </a:pPr>
            <a:r>
              <a:rPr lang="en-AU" b="1" dirty="0"/>
              <a:t>3. Cell Histograms (The “Histogram” in HOG)</a:t>
            </a:r>
            <a:r>
              <a:rPr lang="en-AU" dirty="0"/>
              <a:t>: Calculating gradients for every single pixel gives too much detail (and noise). To fix this, we divide the image into small grid squares called Cells (typically 8x8 pixels). Inside each cell, we create a </a:t>
            </a:r>
            <a:r>
              <a:rPr lang="en-AU" b="1" dirty="0"/>
              <a:t>histogram of gradient directions</a:t>
            </a:r>
            <a:r>
              <a:rPr lang="en-AU" dirty="0"/>
              <a:t>.</a:t>
            </a:r>
          </a:p>
          <a:p>
            <a:pPr lvl="1"/>
            <a:r>
              <a:rPr lang="en-AU" dirty="0"/>
              <a:t>We usually use </a:t>
            </a:r>
            <a:r>
              <a:rPr lang="en-AU" b="1" dirty="0"/>
              <a:t>9 bins</a:t>
            </a:r>
            <a:r>
              <a:rPr lang="en-AU" dirty="0"/>
              <a:t> (0° to 180°).</a:t>
            </a:r>
          </a:p>
        </p:txBody>
      </p:sp>
    </p:spTree>
    <p:extLst>
      <p:ext uri="{BB962C8B-B14F-4D97-AF65-F5344CB8AC3E}">
        <p14:creationId xmlns:p14="http://schemas.microsoft.com/office/powerpoint/2010/main" val="1177431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73D24-406B-22FD-AEE1-989FCD4D2258}"/>
              </a:ext>
            </a:extLst>
          </p:cNvPr>
          <p:cNvSpPr>
            <a:spLocks noGrp="1"/>
          </p:cNvSpPr>
          <p:nvPr>
            <p:ph type="title"/>
          </p:nvPr>
        </p:nvSpPr>
        <p:spPr/>
        <p:txBody>
          <a:bodyPr/>
          <a:lstStyle/>
          <a:p>
            <a:r>
              <a:rPr lang="en-AU" b="1" dirty="0"/>
              <a:t>Cell Histograms</a:t>
            </a:r>
            <a:endParaRPr lang="en-US" b="1" dirty="0"/>
          </a:p>
        </p:txBody>
      </p:sp>
      <p:pic>
        <p:nvPicPr>
          <p:cNvPr id="5" name="Content Placeholder 4">
            <a:extLst>
              <a:ext uri="{FF2B5EF4-FFF2-40B4-BE49-F238E27FC236}">
                <a16:creationId xmlns:a16="http://schemas.microsoft.com/office/drawing/2014/main" id="{C17284DE-8F52-4FB2-890E-3D3C4D021EBA}"/>
              </a:ext>
            </a:extLst>
          </p:cNvPr>
          <p:cNvPicPr>
            <a:picLocks noGrp="1" noChangeAspect="1"/>
          </p:cNvPicPr>
          <p:nvPr>
            <p:ph idx="1"/>
          </p:nvPr>
        </p:nvPicPr>
        <p:blipFill>
          <a:blip r:embed="rId2"/>
          <a:stretch>
            <a:fillRect/>
          </a:stretch>
        </p:blipFill>
        <p:spPr>
          <a:xfrm>
            <a:off x="996950" y="1690688"/>
            <a:ext cx="6108700" cy="4254500"/>
          </a:xfrm>
          <a:prstGeom prst="rect">
            <a:avLst/>
          </a:prstGeom>
        </p:spPr>
      </p:pic>
      <p:sp>
        <p:nvSpPr>
          <p:cNvPr id="6" name="TextBox 5">
            <a:extLst>
              <a:ext uri="{FF2B5EF4-FFF2-40B4-BE49-F238E27FC236}">
                <a16:creationId xmlns:a16="http://schemas.microsoft.com/office/drawing/2014/main" id="{737D9948-7EF3-7297-8797-2CE9EBC1CF38}"/>
              </a:ext>
            </a:extLst>
          </p:cNvPr>
          <p:cNvSpPr txBox="1"/>
          <p:nvPr/>
        </p:nvSpPr>
        <p:spPr>
          <a:xfrm>
            <a:off x="7594600" y="1690688"/>
            <a:ext cx="4254500" cy="2308324"/>
          </a:xfrm>
          <a:prstGeom prst="rect">
            <a:avLst/>
          </a:prstGeom>
          <a:noFill/>
        </p:spPr>
        <p:txBody>
          <a:bodyPr wrap="square" rtlCol="0">
            <a:spAutoFit/>
          </a:bodyPr>
          <a:lstStyle/>
          <a:p>
            <a:r>
              <a:rPr lang="en-AU" sz="2400" dirty="0"/>
              <a:t>Red has an angle of 10 degrees and  magnitude of 4. </a:t>
            </a:r>
          </a:p>
          <a:p>
            <a:r>
              <a:rPr lang="en-AU" sz="2400" dirty="0"/>
              <a:t>- Since 10 degrees is half way between 0 and 20, the vote by the pixel splits evenly  into the two bins.</a:t>
            </a:r>
            <a:endParaRPr lang="en-US" sz="2400" dirty="0"/>
          </a:p>
        </p:txBody>
      </p:sp>
    </p:spTree>
    <p:extLst>
      <p:ext uri="{BB962C8B-B14F-4D97-AF65-F5344CB8AC3E}">
        <p14:creationId xmlns:p14="http://schemas.microsoft.com/office/powerpoint/2010/main" val="2334216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C87A0-3381-3A4F-17EE-3D596236BF22}"/>
              </a:ext>
            </a:extLst>
          </p:cNvPr>
          <p:cNvSpPr>
            <a:spLocks noGrp="1"/>
          </p:cNvSpPr>
          <p:nvPr>
            <p:ph type="title"/>
          </p:nvPr>
        </p:nvSpPr>
        <p:spPr/>
        <p:txBody>
          <a:bodyPr/>
          <a:lstStyle/>
          <a:p>
            <a:r>
              <a:rPr lang="en-AU" b="1" dirty="0"/>
              <a:t>Cell Histograms</a:t>
            </a:r>
            <a:endParaRPr lang="en-US" dirty="0"/>
          </a:p>
        </p:txBody>
      </p:sp>
      <p:pic>
        <p:nvPicPr>
          <p:cNvPr id="5" name="Content Placeholder 4">
            <a:extLst>
              <a:ext uri="{FF2B5EF4-FFF2-40B4-BE49-F238E27FC236}">
                <a16:creationId xmlns:a16="http://schemas.microsoft.com/office/drawing/2014/main" id="{10CE429B-58ED-7B71-1814-BEB96CF54D26}"/>
              </a:ext>
            </a:extLst>
          </p:cNvPr>
          <p:cNvPicPr>
            <a:picLocks noGrp="1" noChangeAspect="1"/>
          </p:cNvPicPr>
          <p:nvPr>
            <p:ph idx="1"/>
          </p:nvPr>
        </p:nvPicPr>
        <p:blipFill>
          <a:blip r:embed="rId3"/>
          <a:stretch>
            <a:fillRect/>
          </a:stretch>
        </p:blipFill>
        <p:spPr>
          <a:xfrm>
            <a:off x="838200" y="1835944"/>
            <a:ext cx="5257800" cy="3661877"/>
          </a:xfrm>
          <a:prstGeom prst="rect">
            <a:avLst/>
          </a:prstGeom>
        </p:spPr>
      </p:pic>
      <p:sp>
        <p:nvSpPr>
          <p:cNvPr id="6" name="TextBox 5">
            <a:extLst>
              <a:ext uri="{FF2B5EF4-FFF2-40B4-BE49-F238E27FC236}">
                <a16:creationId xmlns:a16="http://schemas.microsoft.com/office/drawing/2014/main" id="{BCD13F99-65EC-D731-0849-CAB4574AF54A}"/>
              </a:ext>
            </a:extLst>
          </p:cNvPr>
          <p:cNvSpPr txBox="1"/>
          <p:nvPr/>
        </p:nvSpPr>
        <p:spPr>
          <a:xfrm>
            <a:off x="6934200" y="1835944"/>
            <a:ext cx="4950586" cy="2031325"/>
          </a:xfrm>
          <a:prstGeom prst="rect">
            <a:avLst/>
          </a:prstGeom>
          <a:noFill/>
        </p:spPr>
        <p:txBody>
          <a:bodyPr wrap="none" rtlCol="0">
            <a:spAutoFit/>
          </a:bodyPr>
          <a:lstStyle/>
          <a:p>
            <a:r>
              <a:rPr lang="en-AU" dirty="0"/>
              <a:t>If the angle is greater than 160 degrees, </a:t>
            </a:r>
            <a:br>
              <a:rPr lang="en-AU" dirty="0"/>
            </a:br>
            <a:r>
              <a:rPr lang="en-AU" dirty="0"/>
              <a:t>it is between 160 and 180, and we know the angle </a:t>
            </a:r>
          </a:p>
          <a:p>
            <a:r>
              <a:rPr lang="en-AU" dirty="0"/>
              <a:t>wraps around making 0 and 180 equivalent. </a:t>
            </a:r>
          </a:p>
          <a:p>
            <a:endParaRPr lang="en-AU" dirty="0"/>
          </a:p>
          <a:p>
            <a:r>
              <a:rPr lang="en-AU" dirty="0"/>
              <a:t>The pixel with angle 165 degrees contributes </a:t>
            </a:r>
          </a:p>
          <a:p>
            <a:r>
              <a:rPr lang="en-AU" dirty="0"/>
              <a:t>proportionally to the 0 degree bin and the </a:t>
            </a:r>
          </a:p>
          <a:p>
            <a:r>
              <a:rPr lang="en-AU" dirty="0"/>
              <a:t>160 degree bin.</a:t>
            </a:r>
            <a:endParaRPr lang="en-US" dirty="0"/>
          </a:p>
        </p:txBody>
      </p:sp>
    </p:spTree>
    <p:extLst>
      <p:ext uri="{BB962C8B-B14F-4D97-AF65-F5344CB8AC3E}">
        <p14:creationId xmlns:p14="http://schemas.microsoft.com/office/powerpoint/2010/main" val="2821291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B8495-E346-DD9A-C568-E556FD671A07}"/>
              </a:ext>
            </a:extLst>
          </p:cNvPr>
          <p:cNvSpPr>
            <a:spLocks noGrp="1"/>
          </p:cNvSpPr>
          <p:nvPr>
            <p:ph type="title"/>
          </p:nvPr>
        </p:nvSpPr>
        <p:spPr/>
        <p:txBody>
          <a:bodyPr/>
          <a:lstStyle/>
          <a:p>
            <a:r>
              <a:rPr lang="en-AU" b="1" dirty="0"/>
              <a:t>Cell Histograms - Interpolation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EE837A6-EFF9-0050-2AE2-5C7BCD4F1BBE}"/>
                  </a:ext>
                </a:extLst>
              </p:cNvPr>
              <p:cNvSpPr>
                <a:spLocks noGrp="1"/>
              </p:cNvSpPr>
              <p:nvPr>
                <p:ph idx="1"/>
              </p:nvPr>
            </p:nvSpPr>
            <p:spPr>
              <a:xfrm>
                <a:off x="838202" y="1537097"/>
                <a:ext cx="10638689" cy="4639866"/>
              </a:xfrm>
            </p:spPr>
            <p:txBody>
              <a:bodyPr>
                <a:normAutofit/>
              </a:bodyPr>
              <a:lstStyle/>
              <a:p>
                <a:r>
                  <a:rPr lang="en-AU" sz="2000" b="1" dirty="0"/>
                  <a:t>Rule 1 — Exact bin </a:t>
                </a:r>
                <a:r>
                  <a:rPr lang="en-AU" sz="2000" b="1" dirty="0" err="1"/>
                  <a:t>center</a:t>
                </a:r>
                <a:r>
                  <a:rPr lang="en-AU" sz="2000" b="1" dirty="0"/>
                  <a:t>: </a:t>
                </a:r>
                <a:r>
                  <a:rPr lang="en-AU" sz="2000" dirty="0"/>
                  <a:t>If </a:t>
                </a:r>
                <a14:m>
                  <m:oMath xmlns:m="http://schemas.openxmlformats.org/officeDocument/2006/math">
                    <m:r>
                      <a:rPr lang="en-AU" sz="2000" i="1"/>
                      <m:t>𝜃</m:t>
                    </m:r>
                  </m:oMath>
                </a14:m>
                <a:r>
                  <a:rPr lang="en-AU" sz="2000" dirty="0"/>
                  <a:t>falls </a:t>
                </a:r>
                <a:r>
                  <a:rPr lang="en-AU" sz="2000" b="1" dirty="0"/>
                  <a:t>exactly on a bin </a:t>
                </a:r>
                <a:r>
                  <a:rPr lang="en-AU" sz="2000" b="1" dirty="0" err="1"/>
                  <a:t>center</a:t>
                </a:r>
                <a:r>
                  <a:rPr lang="en-AU" sz="2000" dirty="0"/>
                  <a:t>, 100% of its magnitude goes into that bin. </a:t>
                </a:r>
                <a14:m>
                  <m:oMath xmlns:m="http://schemas.openxmlformats.org/officeDocument/2006/math">
                    <m:r>
                      <a:rPr lang="en-AU" sz="2000" i="1">
                        <a:latin typeface="Cambria Math" panose="02040503050406030204" pitchFamily="18" charset="0"/>
                      </a:rPr>
                      <m:t>𝜃</m:t>
                    </m:r>
                    <m:r>
                      <a:rPr lang="en-AU" sz="2000" b="0" i="1" smtClean="0">
                        <a:latin typeface="Cambria Math" panose="02040503050406030204" pitchFamily="18" charset="0"/>
                      </a:rPr>
                      <m:t>=80</m:t>
                    </m:r>
                  </m:oMath>
                </a14:m>
                <a:endParaRPr lang="en-AU" sz="2000" dirty="0"/>
              </a:p>
              <a:p>
                <a:endParaRPr lang="en-US" dirty="0"/>
              </a:p>
              <a:p>
                <a:r>
                  <a:rPr lang="en-AU" sz="2000" b="1" dirty="0"/>
                  <a:t>Rule 2 — Between two ordinary bin </a:t>
                </a:r>
                <a:r>
                  <a:rPr lang="en-AU" sz="2000" b="1" dirty="0" err="1"/>
                  <a:t>centers</a:t>
                </a:r>
                <a:r>
                  <a:rPr lang="en-AU" sz="2000" b="1" dirty="0"/>
                  <a:t>: </a:t>
                </a:r>
                <a:r>
                  <a:rPr lang="en-AU" sz="2000" dirty="0"/>
                  <a:t>If </a:t>
                </a:r>
                <a14:m>
                  <m:oMath xmlns:m="http://schemas.openxmlformats.org/officeDocument/2006/math">
                    <m:r>
                      <a:rPr lang="en-AU" sz="2000" i="1"/>
                      <m:t>𝜃</m:t>
                    </m:r>
                    <m:r>
                      <a:rPr lang="en-AU" sz="2000" b="0" i="1" smtClean="0">
                        <a:latin typeface="Cambria Math" panose="02040503050406030204" pitchFamily="18" charset="0"/>
                      </a:rPr>
                      <m:t> </m:t>
                    </m:r>
                  </m:oMath>
                </a14:m>
                <a:r>
                  <a:rPr lang="en-AU" sz="2000" dirty="0"/>
                  <a:t>falls between two </a:t>
                </a:r>
                <a:r>
                  <a:rPr lang="en-AU" sz="2000" dirty="0" err="1"/>
                  <a:t>neighboring</a:t>
                </a:r>
                <a:r>
                  <a:rPr lang="en-AU" sz="2000" dirty="0"/>
                  <a:t> bin </a:t>
                </a:r>
                <a:r>
                  <a:rPr lang="en-AU" sz="2000" dirty="0" err="1"/>
                  <a:t>centers</a:t>
                </a:r>
                <a:r>
                  <a:rPr lang="en-AU" sz="2000" dirty="0"/>
                  <a:t>, distribute magnitude between those two bins according to distance. </a:t>
                </a:r>
              </a:p>
              <a:p>
                <a:pPr lvl="1"/>
                <a:r>
                  <a:rPr lang="en-AU" sz="1600" dirty="0" err="1"/>
                  <a:t>Neighboring</a:t>
                </a:r>
                <a:r>
                  <a:rPr lang="en-AU" sz="1600" dirty="0"/>
                  <a:t> bin </a:t>
                </a:r>
                <a:r>
                  <a:rPr lang="en-AU" sz="1600" dirty="0" err="1"/>
                  <a:t>centers</a:t>
                </a:r>
                <a:r>
                  <a:rPr lang="en-AU" sz="1600" dirty="0"/>
                  <a:t>: every pixel has two neighbours e.g.,</a:t>
                </a:r>
                <a14:m>
                  <m:oMath xmlns:m="http://schemas.openxmlformats.org/officeDocument/2006/math">
                    <m:sSub>
                      <m:sSubPr>
                        <m:ctrlPr>
                          <a:rPr lang="en-AU" sz="1600" i="1">
                            <a:latin typeface="Cambria Math" panose="02040503050406030204" pitchFamily="18" charset="0"/>
                          </a:rPr>
                        </m:ctrlPr>
                      </m:sSubPr>
                      <m:e>
                        <m:r>
                          <a:rPr lang="en-AU" sz="1600" i="1">
                            <a:latin typeface="Cambria Math" panose="02040503050406030204" pitchFamily="18" charset="0"/>
                          </a:rPr>
                          <m:t>𝜃</m:t>
                        </m:r>
                      </m:e>
                      <m:sub>
                        <m:r>
                          <a:rPr lang="en-AU" sz="1600" b="0" i="1" smtClean="0">
                            <a:latin typeface="Cambria Math" panose="02040503050406030204" pitchFamily="18" charset="0"/>
                          </a:rPr>
                          <m:t>1</m:t>
                        </m:r>
                      </m:sub>
                    </m:sSub>
                    <m:r>
                      <a:rPr lang="en-AU" sz="1600" b="0" i="1" smtClean="0">
                        <a:latin typeface="Cambria Math" panose="02040503050406030204" pitchFamily="18" charset="0"/>
                      </a:rPr>
                      <m:t>&lt;</m:t>
                    </m:r>
                    <m:r>
                      <a:rPr lang="en-AU" sz="1600" i="1">
                        <a:latin typeface="Cambria Math" panose="02040503050406030204" pitchFamily="18" charset="0"/>
                      </a:rPr>
                      <m:t>𝜃</m:t>
                    </m:r>
                    <m:r>
                      <a:rPr lang="en-AU" sz="1600" b="0" i="1" smtClean="0">
                        <a:latin typeface="Cambria Math" panose="02040503050406030204" pitchFamily="18" charset="0"/>
                      </a:rPr>
                      <m:t>&lt;</m:t>
                    </m:r>
                    <m:sSub>
                      <m:sSubPr>
                        <m:ctrlPr>
                          <a:rPr lang="en-AU" sz="1600" i="1">
                            <a:latin typeface="Cambria Math" panose="02040503050406030204" pitchFamily="18" charset="0"/>
                          </a:rPr>
                        </m:ctrlPr>
                      </m:sSubPr>
                      <m:e>
                        <m:r>
                          <a:rPr lang="en-AU" sz="1600" i="1">
                            <a:latin typeface="Cambria Math" panose="02040503050406030204" pitchFamily="18" charset="0"/>
                          </a:rPr>
                          <m:t>𝜃</m:t>
                        </m:r>
                      </m:e>
                      <m:sub>
                        <m:r>
                          <a:rPr lang="en-AU" sz="1600" b="0" i="1" smtClean="0">
                            <a:latin typeface="Cambria Math" panose="02040503050406030204" pitchFamily="18" charset="0"/>
                          </a:rPr>
                          <m:t>2</m:t>
                        </m:r>
                      </m:sub>
                    </m:sSub>
                    <m:r>
                      <a:rPr lang="en-AU" sz="1600" b="0" i="1" smtClean="0">
                        <a:latin typeface="Cambria Math" panose="02040503050406030204" pitchFamily="18" charset="0"/>
                      </a:rPr>
                      <m:t> </m:t>
                    </m:r>
                  </m:oMath>
                </a14:m>
                <a:endParaRPr lang="en-AU" sz="1600" b="0" i="1" dirty="0">
                  <a:latin typeface="Cambria Math" panose="02040503050406030204" pitchFamily="18" charset="0"/>
                </a:endParaRPr>
              </a:p>
              <a:p>
                <a:pPr lvl="1"/>
                <a14:m>
                  <m:oMath xmlns:m="http://schemas.openxmlformats.org/officeDocument/2006/math">
                    <m:r>
                      <a:rPr lang="en-AU" sz="2000" i="1">
                        <a:latin typeface="Cambria Math" panose="02040503050406030204" pitchFamily="18" charset="0"/>
                      </a:rPr>
                      <m:t>𝜃</m:t>
                    </m:r>
                    <m:r>
                      <a:rPr lang="en-AU" sz="2000" i="1">
                        <a:latin typeface="Cambria Math" panose="02040503050406030204" pitchFamily="18" charset="0"/>
                      </a:rPr>
                      <m:t>=36</m:t>
                    </m:r>
                  </m:oMath>
                </a14:m>
                <a:r>
                  <a:rPr lang="en-AU" sz="2000" dirty="0"/>
                  <a:t> - bin </a:t>
                </a:r>
                <a:r>
                  <a:rPr lang="en-AU" sz="2000" dirty="0" err="1"/>
                  <a:t>centers</a:t>
                </a:r>
                <a:r>
                  <a:rPr lang="en-AU" sz="2000" dirty="0"/>
                  <a:t>, </a:t>
                </a:r>
                <a14:m>
                  <m:oMath xmlns:m="http://schemas.openxmlformats.org/officeDocument/2006/math">
                    <m:r>
                      <a:rPr lang="en-AU" sz="2000" b="0" i="0" smtClean="0">
                        <a:latin typeface="Cambria Math" panose="02040503050406030204" pitchFamily="18" charset="0"/>
                      </a:rPr>
                      <m:t>20&lt;</m:t>
                    </m:r>
                    <m:r>
                      <a:rPr lang="en-AU" sz="2000" i="1">
                        <a:latin typeface="Cambria Math" panose="02040503050406030204" pitchFamily="18" charset="0"/>
                      </a:rPr>
                      <m:t>36</m:t>
                    </m:r>
                    <m:r>
                      <a:rPr lang="en-AU" sz="2000" b="0" i="1" smtClean="0">
                        <a:latin typeface="Cambria Math" panose="02040503050406030204" pitchFamily="18" charset="0"/>
                      </a:rPr>
                      <m:t>&lt;40</m:t>
                    </m:r>
                  </m:oMath>
                </a14:m>
                <a:endParaRPr lang="en-AU" dirty="0"/>
              </a:p>
              <a:p>
                <a:pPr lvl="1"/>
                <a:endParaRPr lang="en-AU" sz="2000" i="1" dirty="0"/>
              </a:p>
              <a:p>
                <a:pPr lvl="1"/>
                <a:endParaRPr lang="en-AU" sz="2000" i="1" dirty="0"/>
              </a:p>
              <a:p>
                <a:pPr lvl="1"/>
                <a:endParaRPr lang="en-AU" sz="2000" i="1" dirty="0"/>
              </a:p>
              <a:p>
                <a:pPr lvl="1"/>
                <a14:m>
                  <m:oMath xmlns:m="http://schemas.openxmlformats.org/officeDocument/2006/math">
                    <m:r>
                      <a:rPr lang="en-AU" sz="2000" i="1"/>
                      <m:t>𝜃</m:t>
                    </m:r>
                    <m:r>
                      <a:rPr lang="en-AU" sz="2000" i="1"/>
                      <m:t>=5 </m:t>
                    </m:r>
                  </m:oMath>
                </a14:m>
                <a:r>
                  <a:rPr lang="en-AU" sz="2000" dirty="0"/>
                  <a:t>- bin </a:t>
                </a:r>
                <a:r>
                  <a:rPr lang="en-AU" sz="2000" dirty="0" err="1"/>
                  <a:t>centers</a:t>
                </a:r>
                <a:r>
                  <a:rPr lang="en-AU" sz="2000" dirty="0"/>
                  <a:t>, </a:t>
                </a:r>
                <a14:m>
                  <m:oMath xmlns:m="http://schemas.openxmlformats.org/officeDocument/2006/math">
                    <m:r>
                      <a:rPr lang="en-AU" sz="2000" dirty="0">
                        <a:latin typeface="Cambria Math" panose="02040503050406030204" pitchFamily="18" charset="0"/>
                      </a:rPr>
                      <m:t>0</m:t>
                    </m:r>
                    <m:r>
                      <a:rPr lang="en-AU" sz="2000">
                        <a:latin typeface="Cambria Math" panose="02040503050406030204" pitchFamily="18" charset="0"/>
                      </a:rPr>
                      <m:t>&lt;</m:t>
                    </m:r>
                    <m:r>
                      <a:rPr lang="en-AU" sz="2000" b="0" i="1" smtClean="0">
                        <a:latin typeface="Cambria Math" panose="02040503050406030204" pitchFamily="18" charset="0"/>
                      </a:rPr>
                      <m:t>5</m:t>
                    </m:r>
                    <m:r>
                      <a:rPr lang="en-AU" sz="2000" i="1">
                        <a:latin typeface="Cambria Math" panose="02040503050406030204" pitchFamily="18" charset="0"/>
                      </a:rPr>
                      <m:t>&lt;</m:t>
                    </m:r>
                    <m:r>
                      <a:rPr lang="en-AU" sz="2000" b="0" i="1" smtClean="0">
                        <a:latin typeface="Cambria Math" panose="02040503050406030204" pitchFamily="18" charset="0"/>
                      </a:rPr>
                      <m:t>20</m:t>
                    </m:r>
                  </m:oMath>
                </a14:m>
                <a:endParaRPr lang="en-AU" sz="2000" dirty="0"/>
              </a:p>
              <a:p>
                <a:pPr lvl="1"/>
                <a:endParaRPr lang="en-AU" sz="2000" dirty="0"/>
              </a:p>
              <a:p>
                <a:endParaRPr lang="en-AU" dirty="0"/>
              </a:p>
              <a:p>
                <a:endParaRPr lang="en-US" dirty="0"/>
              </a:p>
            </p:txBody>
          </p:sp>
        </mc:Choice>
        <mc:Fallback>
          <p:sp>
            <p:nvSpPr>
              <p:cNvPr id="3" name="Content Placeholder 2">
                <a:extLst>
                  <a:ext uri="{FF2B5EF4-FFF2-40B4-BE49-F238E27FC236}">
                    <a16:creationId xmlns:a16="http://schemas.microsoft.com/office/drawing/2014/main" id="{AEE837A6-EFF9-0050-2AE2-5C7BCD4F1BBE}"/>
                  </a:ext>
                </a:extLst>
              </p:cNvPr>
              <p:cNvSpPr>
                <a:spLocks noGrp="1" noRot="1" noChangeAspect="1" noMove="1" noResize="1" noEditPoints="1" noAdjustHandles="1" noChangeArrowheads="1" noChangeShapeType="1" noTextEdit="1"/>
              </p:cNvSpPr>
              <p:nvPr>
                <p:ph idx="1"/>
              </p:nvPr>
            </p:nvSpPr>
            <p:spPr>
              <a:xfrm>
                <a:off x="838202" y="1537097"/>
                <a:ext cx="10638689" cy="4639866"/>
              </a:xfrm>
              <a:blipFill>
                <a:blip r:embed="rId3"/>
                <a:stretch>
                  <a:fillRect l="-597" t="-1362"/>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EB034F00-1F92-A534-849A-D3FA014E7387}"/>
              </a:ext>
            </a:extLst>
          </p:cNvPr>
          <p:cNvSpPr/>
          <p:nvPr/>
        </p:nvSpPr>
        <p:spPr>
          <a:xfrm>
            <a:off x="5546669" y="2074344"/>
            <a:ext cx="520700" cy="3556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grpSp>
        <p:nvGrpSpPr>
          <p:cNvPr id="26" name="Group 25">
            <a:extLst>
              <a:ext uri="{FF2B5EF4-FFF2-40B4-BE49-F238E27FC236}">
                <a16:creationId xmlns:a16="http://schemas.microsoft.com/office/drawing/2014/main" id="{42C07BC7-4619-A176-FBE1-007949798A48}"/>
              </a:ext>
            </a:extLst>
          </p:cNvPr>
          <p:cNvGrpSpPr/>
          <p:nvPr/>
        </p:nvGrpSpPr>
        <p:grpSpPr>
          <a:xfrm>
            <a:off x="3471973" y="2074344"/>
            <a:ext cx="4686155" cy="629266"/>
            <a:chOff x="5727700" y="2356556"/>
            <a:chExt cx="4686155" cy="629266"/>
          </a:xfrm>
        </p:grpSpPr>
        <p:sp>
          <p:nvSpPr>
            <p:cNvPr id="27" name="Rectangle 26">
              <a:extLst>
                <a:ext uri="{FF2B5EF4-FFF2-40B4-BE49-F238E27FC236}">
                  <a16:creationId xmlns:a16="http://schemas.microsoft.com/office/drawing/2014/main" id="{8FEA9AF5-1AA7-A94B-1CC6-874CE7D06B14}"/>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BF54596-2162-5415-2E06-B0B965CE8556}"/>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B9B6AC6-E5B2-5C4D-70A1-92D66168D77C}"/>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5FBEE77-11EF-9A82-4E0B-DB32E4D8E49E}"/>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383C035-0C19-903F-4BAC-3AA4A79F79B2}"/>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0ACF32-F852-9C1F-FC27-36B9F3C0A2C5}"/>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42776C-CD2D-AAD8-6055-3371D7D06FDB}"/>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66A835D-3BA2-467C-9D0F-15F5172FE188}"/>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2026339-B012-20CA-86CF-7830512F1A42}"/>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36" name="TextBox 35">
              <a:extLst>
                <a:ext uri="{FF2B5EF4-FFF2-40B4-BE49-F238E27FC236}">
                  <a16:creationId xmlns:a16="http://schemas.microsoft.com/office/drawing/2014/main" id="{4CE97F57-1534-A6EC-6D71-940B7B16F8C4}"/>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37" name="TextBox 36">
              <a:extLst>
                <a:ext uri="{FF2B5EF4-FFF2-40B4-BE49-F238E27FC236}">
                  <a16:creationId xmlns:a16="http://schemas.microsoft.com/office/drawing/2014/main" id="{4A05D37C-A0FD-0F7D-8FDB-C71C673644CA}"/>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38" name="TextBox 37">
              <a:extLst>
                <a:ext uri="{FF2B5EF4-FFF2-40B4-BE49-F238E27FC236}">
                  <a16:creationId xmlns:a16="http://schemas.microsoft.com/office/drawing/2014/main" id="{DF8E0B52-8D62-6377-1734-28C1961C8809}"/>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39" name="TextBox 38">
              <a:extLst>
                <a:ext uri="{FF2B5EF4-FFF2-40B4-BE49-F238E27FC236}">
                  <a16:creationId xmlns:a16="http://schemas.microsoft.com/office/drawing/2014/main" id="{10F2EBD3-7A18-2930-138E-3A12E3E667BF}"/>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40" name="TextBox 39">
              <a:extLst>
                <a:ext uri="{FF2B5EF4-FFF2-40B4-BE49-F238E27FC236}">
                  <a16:creationId xmlns:a16="http://schemas.microsoft.com/office/drawing/2014/main" id="{AA2B8AB5-7952-8523-0176-86D40ECED022}"/>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41" name="TextBox 40">
              <a:extLst>
                <a:ext uri="{FF2B5EF4-FFF2-40B4-BE49-F238E27FC236}">
                  <a16:creationId xmlns:a16="http://schemas.microsoft.com/office/drawing/2014/main" id="{071FF65B-5FF6-6DC2-9258-8AF49555E05B}"/>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42" name="Rectangle 41">
              <a:extLst>
                <a:ext uri="{FF2B5EF4-FFF2-40B4-BE49-F238E27FC236}">
                  <a16:creationId xmlns:a16="http://schemas.microsoft.com/office/drawing/2014/main" id="{70C33BDA-8ED4-EE7E-03D4-23451C0EC26C}"/>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79F29B37-2711-9C04-A3F7-D16841DF7B0A}"/>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44" name="TextBox 43">
              <a:extLst>
                <a:ext uri="{FF2B5EF4-FFF2-40B4-BE49-F238E27FC236}">
                  <a16:creationId xmlns:a16="http://schemas.microsoft.com/office/drawing/2014/main" id="{C064542A-EDA0-4DEF-A253-88E8610C63A0}"/>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grpSp>
        <p:nvGrpSpPr>
          <p:cNvPr id="108" name="Group 107">
            <a:extLst>
              <a:ext uri="{FF2B5EF4-FFF2-40B4-BE49-F238E27FC236}">
                <a16:creationId xmlns:a16="http://schemas.microsoft.com/office/drawing/2014/main" id="{1AFA5A33-8963-F8C0-D11B-998305859A78}"/>
              </a:ext>
            </a:extLst>
          </p:cNvPr>
          <p:cNvGrpSpPr/>
          <p:nvPr/>
        </p:nvGrpSpPr>
        <p:grpSpPr>
          <a:xfrm>
            <a:off x="2749525" y="3972245"/>
            <a:ext cx="4686155" cy="931037"/>
            <a:chOff x="6802461" y="3248519"/>
            <a:chExt cx="4686155" cy="931037"/>
          </a:xfrm>
        </p:grpSpPr>
        <p:sp>
          <p:nvSpPr>
            <p:cNvPr id="85" name="Rectangle 84">
              <a:extLst>
                <a:ext uri="{FF2B5EF4-FFF2-40B4-BE49-F238E27FC236}">
                  <a16:creationId xmlns:a16="http://schemas.microsoft.com/office/drawing/2014/main" id="{66EDE1E3-AA97-0AC1-DF70-A3823A6883F9}"/>
                </a:ext>
              </a:extLst>
            </p:cNvPr>
            <p:cNvSpPr/>
            <p:nvPr/>
          </p:nvSpPr>
          <p:spPr>
            <a:xfrm>
              <a:off x="7516903" y="3544918"/>
              <a:ext cx="520700" cy="3556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grpSp>
          <p:nvGrpSpPr>
            <p:cNvPr id="45" name="Group 44">
              <a:extLst>
                <a:ext uri="{FF2B5EF4-FFF2-40B4-BE49-F238E27FC236}">
                  <a16:creationId xmlns:a16="http://schemas.microsoft.com/office/drawing/2014/main" id="{1C780277-3CB8-5C9B-F252-488E4EEEAAEF}"/>
                </a:ext>
              </a:extLst>
            </p:cNvPr>
            <p:cNvGrpSpPr/>
            <p:nvPr/>
          </p:nvGrpSpPr>
          <p:grpSpPr>
            <a:xfrm>
              <a:off x="6802461" y="3550290"/>
              <a:ext cx="4686155" cy="629266"/>
              <a:chOff x="5727700" y="2356556"/>
              <a:chExt cx="4686155" cy="629266"/>
            </a:xfrm>
          </p:grpSpPr>
          <p:sp>
            <p:nvSpPr>
              <p:cNvPr id="46" name="Rectangle 45">
                <a:extLst>
                  <a:ext uri="{FF2B5EF4-FFF2-40B4-BE49-F238E27FC236}">
                    <a16:creationId xmlns:a16="http://schemas.microsoft.com/office/drawing/2014/main" id="{67D9F8AF-3890-1187-D1C4-98DB24565CEA}"/>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3D107A4-1DB9-FB94-C074-8F5E4B30425C}"/>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5750BB0-1761-292E-6AD1-62176CE96A7A}"/>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F5AD8DE-9A3D-6CBC-F4FE-70BB3834321C}"/>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FDAD7B5F-C6BD-F865-4780-A758803C52F1}"/>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C40A8B9-91C9-E4B8-99C8-2EBC0555962A}"/>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405141A-B929-B7B0-1462-7C8AB876828C}"/>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CEB24BB7-C6AA-F1B5-B2BC-96811E8DE23E}"/>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0815216-A78A-8117-77CA-E6EF491ADDBB}"/>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55" name="TextBox 54">
                <a:extLst>
                  <a:ext uri="{FF2B5EF4-FFF2-40B4-BE49-F238E27FC236}">
                    <a16:creationId xmlns:a16="http://schemas.microsoft.com/office/drawing/2014/main" id="{E149B561-B97F-B03E-4B23-BA2A9735E85E}"/>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56" name="TextBox 55">
                <a:extLst>
                  <a:ext uri="{FF2B5EF4-FFF2-40B4-BE49-F238E27FC236}">
                    <a16:creationId xmlns:a16="http://schemas.microsoft.com/office/drawing/2014/main" id="{11D42923-7D0A-2008-36C5-7687CD40D35A}"/>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57" name="TextBox 56">
                <a:extLst>
                  <a:ext uri="{FF2B5EF4-FFF2-40B4-BE49-F238E27FC236}">
                    <a16:creationId xmlns:a16="http://schemas.microsoft.com/office/drawing/2014/main" id="{94E85DD3-27ED-01DD-BFA9-E3E4157B2D36}"/>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58" name="TextBox 57">
                <a:extLst>
                  <a:ext uri="{FF2B5EF4-FFF2-40B4-BE49-F238E27FC236}">
                    <a16:creationId xmlns:a16="http://schemas.microsoft.com/office/drawing/2014/main" id="{869495BD-FFA2-A81A-A328-5FC44017F780}"/>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59" name="TextBox 58">
                <a:extLst>
                  <a:ext uri="{FF2B5EF4-FFF2-40B4-BE49-F238E27FC236}">
                    <a16:creationId xmlns:a16="http://schemas.microsoft.com/office/drawing/2014/main" id="{76565E0F-B3F7-41E2-E6B0-5037162D15B2}"/>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60" name="TextBox 59">
                <a:extLst>
                  <a:ext uri="{FF2B5EF4-FFF2-40B4-BE49-F238E27FC236}">
                    <a16:creationId xmlns:a16="http://schemas.microsoft.com/office/drawing/2014/main" id="{EBA3B9F2-DBF6-58BE-22FC-7BC7FB103291}"/>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61" name="Rectangle 60">
                <a:extLst>
                  <a:ext uri="{FF2B5EF4-FFF2-40B4-BE49-F238E27FC236}">
                    <a16:creationId xmlns:a16="http://schemas.microsoft.com/office/drawing/2014/main" id="{F536DCD2-E944-F2EB-EB09-416DC8654D20}"/>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B125BD1F-BEEC-FCBF-C3E4-28A096C2BED5}"/>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63" name="TextBox 62">
                <a:extLst>
                  <a:ext uri="{FF2B5EF4-FFF2-40B4-BE49-F238E27FC236}">
                    <a16:creationId xmlns:a16="http://schemas.microsoft.com/office/drawing/2014/main" id="{D0D95E3D-9334-819B-9ECE-A4E7FC9F4D35}"/>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sp>
          <p:nvSpPr>
            <p:cNvPr id="65" name="TextBox 64">
              <a:extLst>
                <a:ext uri="{FF2B5EF4-FFF2-40B4-BE49-F238E27FC236}">
                  <a16:creationId xmlns:a16="http://schemas.microsoft.com/office/drawing/2014/main" id="{C510E7A6-A19E-FCBB-0E5E-EF69D531A94E}"/>
                </a:ext>
              </a:extLst>
            </p:cNvPr>
            <p:cNvSpPr txBox="1"/>
            <p:nvPr/>
          </p:nvSpPr>
          <p:spPr>
            <a:xfrm>
              <a:off x="7873481" y="3248519"/>
              <a:ext cx="418704" cy="369332"/>
            </a:xfrm>
            <a:prstGeom prst="rect">
              <a:avLst/>
            </a:prstGeom>
            <a:noFill/>
          </p:spPr>
          <p:txBody>
            <a:bodyPr wrap="none" rtlCol="0">
              <a:spAutoFit/>
            </a:bodyPr>
            <a:lstStyle/>
            <a:p>
              <a:r>
                <a:rPr lang="en-US" dirty="0"/>
                <a:t>36</a:t>
              </a:r>
            </a:p>
          </p:txBody>
        </p:sp>
      </p:grpSp>
      <p:grpSp>
        <p:nvGrpSpPr>
          <p:cNvPr id="111" name="Group 110">
            <a:extLst>
              <a:ext uri="{FF2B5EF4-FFF2-40B4-BE49-F238E27FC236}">
                <a16:creationId xmlns:a16="http://schemas.microsoft.com/office/drawing/2014/main" id="{866B77C8-0CD3-0258-BD82-ECF7F553BFC2}"/>
              </a:ext>
            </a:extLst>
          </p:cNvPr>
          <p:cNvGrpSpPr/>
          <p:nvPr/>
        </p:nvGrpSpPr>
        <p:grpSpPr>
          <a:xfrm>
            <a:off x="2741124" y="5266292"/>
            <a:ext cx="4694556" cy="947866"/>
            <a:chOff x="6100957" y="4057337"/>
            <a:chExt cx="4694556" cy="947866"/>
          </a:xfrm>
        </p:grpSpPr>
        <p:sp>
          <p:nvSpPr>
            <p:cNvPr id="64" name="Rectangle 63">
              <a:extLst>
                <a:ext uri="{FF2B5EF4-FFF2-40B4-BE49-F238E27FC236}">
                  <a16:creationId xmlns:a16="http://schemas.microsoft.com/office/drawing/2014/main" id="{1C4BF052-9D61-6C5F-4AAD-00AF5DA29E25}"/>
                </a:ext>
              </a:extLst>
            </p:cNvPr>
            <p:cNvSpPr/>
            <p:nvPr/>
          </p:nvSpPr>
          <p:spPr>
            <a:xfrm>
              <a:off x="6269401" y="4371912"/>
              <a:ext cx="520700" cy="3556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grpSp>
          <p:nvGrpSpPr>
            <p:cNvPr id="66" name="Group 65">
              <a:extLst>
                <a:ext uri="{FF2B5EF4-FFF2-40B4-BE49-F238E27FC236}">
                  <a16:creationId xmlns:a16="http://schemas.microsoft.com/office/drawing/2014/main" id="{392E6E1C-723B-D5D3-DA4D-29FD292BEB01}"/>
                </a:ext>
              </a:extLst>
            </p:cNvPr>
            <p:cNvGrpSpPr/>
            <p:nvPr/>
          </p:nvGrpSpPr>
          <p:grpSpPr>
            <a:xfrm>
              <a:off x="6109358" y="4375937"/>
              <a:ext cx="4686155" cy="629266"/>
              <a:chOff x="5727700" y="2356556"/>
              <a:chExt cx="4686155" cy="629266"/>
            </a:xfrm>
          </p:grpSpPr>
          <p:sp>
            <p:nvSpPr>
              <p:cNvPr id="67" name="Rectangle 66">
                <a:extLst>
                  <a:ext uri="{FF2B5EF4-FFF2-40B4-BE49-F238E27FC236}">
                    <a16:creationId xmlns:a16="http://schemas.microsoft.com/office/drawing/2014/main" id="{0B53146F-87D3-C480-FD6D-47E67BCEA733}"/>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7B8C93A-848B-40EF-8AC1-A3D2E760B97D}"/>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06FABFED-6F1F-7D34-F87A-5F68C6AE67BF}"/>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16225A3A-EC1B-F0C0-4FE4-BAA4BE96C36F}"/>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C7686C19-DFE4-3231-AD3C-0F946D460C0F}"/>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7B99E014-7120-4DDC-747B-F161844475CF}"/>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32ECA9C-AE42-AD16-7FEB-6827E77EA8A0}"/>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4033074-E915-524B-DDEB-E761E4EC6769}"/>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04AFBB71-BE00-8137-1F40-7B9F12587F5E}"/>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76" name="TextBox 75">
                <a:extLst>
                  <a:ext uri="{FF2B5EF4-FFF2-40B4-BE49-F238E27FC236}">
                    <a16:creationId xmlns:a16="http://schemas.microsoft.com/office/drawing/2014/main" id="{26A4DC1A-C9AD-0D11-E6C0-8090FFE847A7}"/>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77" name="TextBox 76">
                <a:extLst>
                  <a:ext uri="{FF2B5EF4-FFF2-40B4-BE49-F238E27FC236}">
                    <a16:creationId xmlns:a16="http://schemas.microsoft.com/office/drawing/2014/main" id="{D846C123-E34B-7C01-2B0D-AF8C69B2A567}"/>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78" name="TextBox 77">
                <a:extLst>
                  <a:ext uri="{FF2B5EF4-FFF2-40B4-BE49-F238E27FC236}">
                    <a16:creationId xmlns:a16="http://schemas.microsoft.com/office/drawing/2014/main" id="{BD6CA44A-735F-4590-2EDF-12E42B5FE54C}"/>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79" name="TextBox 78">
                <a:extLst>
                  <a:ext uri="{FF2B5EF4-FFF2-40B4-BE49-F238E27FC236}">
                    <a16:creationId xmlns:a16="http://schemas.microsoft.com/office/drawing/2014/main" id="{BF7328D8-89EC-4B5B-62A2-8F8F36F2F373}"/>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80" name="TextBox 79">
                <a:extLst>
                  <a:ext uri="{FF2B5EF4-FFF2-40B4-BE49-F238E27FC236}">
                    <a16:creationId xmlns:a16="http://schemas.microsoft.com/office/drawing/2014/main" id="{F4F1D709-7F24-ED65-3B96-2CB3363C9D5F}"/>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81" name="TextBox 80">
                <a:extLst>
                  <a:ext uri="{FF2B5EF4-FFF2-40B4-BE49-F238E27FC236}">
                    <a16:creationId xmlns:a16="http://schemas.microsoft.com/office/drawing/2014/main" id="{40EC3322-E767-8FFA-527A-8C4F72EA181F}"/>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82" name="Rectangle 81">
                <a:extLst>
                  <a:ext uri="{FF2B5EF4-FFF2-40B4-BE49-F238E27FC236}">
                    <a16:creationId xmlns:a16="http://schemas.microsoft.com/office/drawing/2014/main" id="{1B44ADDF-F9B2-8B12-E9CA-5154BD8C9856}"/>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F552F890-36B0-12F5-CF5E-D948D00E6069}"/>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84" name="TextBox 83">
                <a:extLst>
                  <a:ext uri="{FF2B5EF4-FFF2-40B4-BE49-F238E27FC236}">
                    <a16:creationId xmlns:a16="http://schemas.microsoft.com/office/drawing/2014/main" id="{D51EBB4D-122F-622F-5700-5529B0D4BEC6}"/>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sp>
          <p:nvSpPr>
            <p:cNvPr id="86" name="TextBox 85">
              <a:extLst>
                <a:ext uri="{FF2B5EF4-FFF2-40B4-BE49-F238E27FC236}">
                  <a16:creationId xmlns:a16="http://schemas.microsoft.com/office/drawing/2014/main" id="{3FC6FE22-9A40-A65C-98F1-A45D624E7D08}"/>
                </a:ext>
              </a:extLst>
            </p:cNvPr>
            <p:cNvSpPr txBox="1"/>
            <p:nvPr/>
          </p:nvSpPr>
          <p:spPr>
            <a:xfrm>
              <a:off x="6100957" y="4057337"/>
              <a:ext cx="301686" cy="369332"/>
            </a:xfrm>
            <a:prstGeom prst="rect">
              <a:avLst/>
            </a:prstGeom>
            <a:noFill/>
          </p:spPr>
          <p:txBody>
            <a:bodyPr wrap="square" rtlCol="0">
              <a:spAutoFit/>
            </a:bodyPr>
            <a:lstStyle/>
            <a:p>
              <a:r>
                <a:rPr lang="en-US" dirty="0"/>
                <a:t>5</a:t>
              </a:r>
            </a:p>
          </p:txBody>
        </p:sp>
      </p:grpSp>
    </p:spTree>
    <p:extLst>
      <p:ext uri="{BB962C8B-B14F-4D97-AF65-F5344CB8AC3E}">
        <p14:creationId xmlns:p14="http://schemas.microsoft.com/office/powerpoint/2010/main" val="3609999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1CED6-80A6-EB42-878F-E5BBCCA2C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3D306-5654-3D7B-BA4A-F8DCFADFAAD5}"/>
              </a:ext>
            </a:extLst>
          </p:cNvPr>
          <p:cNvSpPr>
            <a:spLocks noGrp="1"/>
          </p:cNvSpPr>
          <p:nvPr>
            <p:ph type="title"/>
          </p:nvPr>
        </p:nvSpPr>
        <p:spPr>
          <a:xfrm>
            <a:off x="838200" y="365125"/>
            <a:ext cx="10515600" cy="896419"/>
          </a:xfrm>
        </p:spPr>
        <p:txBody>
          <a:bodyPr/>
          <a:lstStyle/>
          <a:p>
            <a:r>
              <a:rPr lang="en-AU" b="1" dirty="0"/>
              <a:t>Cell Histograms - Interpolation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F2C105-74C8-2D6B-C0EA-CC492BCE54B2}"/>
                  </a:ext>
                </a:extLst>
              </p:cNvPr>
              <p:cNvSpPr>
                <a:spLocks noGrp="1"/>
              </p:cNvSpPr>
              <p:nvPr>
                <p:ph idx="1"/>
              </p:nvPr>
            </p:nvSpPr>
            <p:spPr>
              <a:xfrm>
                <a:off x="838202" y="1261545"/>
                <a:ext cx="10638689" cy="4283470"/>
              </a:xfrm>
            </p:spPr>
            <p:txBody>
              <a:bodyPr>
                <a:normAutofit/>
              </a:bodyPr>
              <a:lstStyle/>
              <a:p>
                <a:r>
                  <a:rPr lang="en-AU" sz="2400" b="1" dirty="0"/>
                  <a:t>Rule 3 — Angle near 180: </a:t>
                </a:r>
                <a14:m>
                  <m:oMath xmlns:m="http://schemas.openxmlformats.org/officeDocument/2006/math">
                    <m:r>
                      <m:rPr>
                        <m:sty m:val="p"/>
                      </m:rPr>
                      <a:rPr lang="en-AU" sz="2400" i="1">
                        <a:latin typeface="Cambria Math" panose="02040503050406030204" pitchFamily="18" charset="0"/>
                      </a:rPr>
                      <m:t>θ</m:t>
                    </m:r>
                  </m:oMath>
                </a14:m>
                <a:r>
                  <a:rPr lang="en-AU" sz="2400" dirty="0"/>
                  <a:t> lies between the </a:t>
                </a:r>
                <a14:m>
                  <m:oMath xmlns:m="http://schemas.openxmlformats.org/officeDocument/2006/math">
                    <m:r>
                      <a:rPr lang="en-AU" sz="2400" b="0" i="1" smtClean="0">
                        <a:latin typeface="Cambria Math" panose="02040503050406030204" pitchFamily="18" charset="0"/>
                      </a:rPr>
                      <m:t>160 </m:t>
                    </m:r>
                  </m:oMath>
                </a14:m>
                <a:r>
                  <a:rPr lang="en-AU" sz="2400" dirty="0"/>
                  <a:t>bin and the wrapped </a:t>
                </a:r>
                <a14:m>
                  <m:oMath xmlns:m="http://schemas.openxmlformats.org/officeDocument/2006/math">
                    <m:r>
                      <a:rPr lang="en-AU" sz="2400" b="0" i="1" smtClean="0">
                        <a:latin typeface="Cambria Math" panose="02040503050406030204" pitchFamily="18" charset="0"/>
                      </a:rPr>
                      <m:t>0</m:t>
                    </m:r>
                  </m:oMath>
                </a14:m>
                <a:r>
                  <a:rPr lang="en-AU" sz="2400" dirty="0"/>
                  <a:t> bin. </a:t>
                </a:r>
                <a14:m>
                  <m:oMath xmlns:m="http://schemas.openxmlformats.org/officeDocument/2006/math">
                    <m:r>
                      <a:rPr lang="en-AU" sz="2400" i="1" dirty="0">
                        <a:latin typeface="Cambria Math" panose="02040503050406030204" pitchFamily="18" charset="0"/>
                      </a:rPr>
                      <m:t>𝜃</m:t>
                    </m:r>
                    <m:r>
                      <a:rPr lang="en-AU" sz="2400" i="1" dirty="0">
                        <a:latin typeface="Cambria Math" panose="02040503050406030204" pitchFamily="18" charset="0"/>
                      </a:rPr>
                      <m:t>=</m:t>
                    </m:r>
                    <m:r>
                      <a:rPr lang="en-AU" sz="2400" i="1" dirty="0">
                        <a:latin typeface="Cambria Math" panose="02040503050406030204" pitchFamily="18" charset="0"/>
                      </a:rPr>
                      <m:t>175</m:t>
                    </m:r>
                  </m:oMath>
                </a14:m>
                <a:endParaRPr lang="en-AU" sz="2400" dirty="0"/>
              </a:p>
              <a:p>
                <a:pPr marL="0" indent="0">
                  <a:buNone/>
                </a:pPr>
                <a:endParaRPr lang="en-US" dirty="0"/>
              </a:p>
              <a:p>
                <a:r>
                  <a:rPr lang="en-AU" b="1" dirty="0"/>
                  <a:t>One very useful formula</a:t>
                </a:r>
              </a:p>
              <a:p>
                <a:pPr lvl="1"/>
                <a:r>
                  <a:rPr lang="en-AU" dirty="0"/>
                  <a:t>For an ordinary interval: </a:t>
                </a:r>
                <a14:m>
                  <m:oMath xmlns:m="http://schemas.openxmlformats.org/officeDocument/2006/math">
                    <m:sSub>
                      <m:sSubPr>
                        <m:ctrlPr>
                          <a:rPr lang="en-AU" i="1"/>
                        </m:ctrlPr>
                      </m:sSubPr>
                      <m:e>
                        <m:r>
                          <a:rPr lang="en-AU" i="1"/>
                          <m:t>𝐵</m:t>
                        </m:r>
                      </m:e>
                      <m:sub>
                        <m:r>
                          <a:rPr lang="en-AU"/>
                          <m:t>1</m:t>
                        </m:r>
                      </m:sub>
                    </m:sSub>
                    <m:r>
                      <a:rPr lang="en-AU"/>
                      <m:t>&lt;</m:t>
                    </m:r>
                    <m:r>
                      <a:rPr lang="en-AU" i="1"/>
                      <m:t>𝜃</m:t>
                    </m:r>
                    <m:r>
                      <a:rPr lang="en-AU"/>
                      <m:t>&lt;</m:t>
                    </m:r>
                    <m:sSub>
                      <m:sSubPr>
                        <m:ctrlPr>
                          <a:rPr lang="en-AU" i="1"/>
                        </m:ctrlPr>
                      </m:sSubPr>
                      <m:e>
                        <m:r>
                          <a:rPr lang="en-AU" i="1"/>
                          <m:t>𝐵</m:t>
                        </m:r>
                      </m:e>
                      <m:sub>
                        <m:r>
                          <a:rPr lang="en-AU"/>
                          <m:t>2</m:t>
                        </m:r>
                      </m:sub>
                    </m:sSub>
                  </m:oMath>
                </a14:m>
                <a:endParaRPr lang="en-AU" dirty="0"/>
              </a:p>
              <a:p>
                <a:pPr marL="457200" lvl="1" indent="0" algn="ctr">
                  <a:buNone/>
                </a:pPr>
                <a14:m>
                  <m:oMath xmlns:m="http://schemas.openxmlformats.org/officeDocument/2006/math">
                    <m:borderBox>
                      <m:borderBoxPr>
                        <m:ctrlPr>
                          <a:rPr lang="en-AU" i="1">
                            <a:latin typeface="Cambria Math" panose="02040503050406030204" pitchFamily="18" charset="0"/>
                          </a:rPr>
                        </m:ctrlPr>
                      </m:borderBoxPr>
                      <m:e>
                        <m:r>
                          <a:rPr lang="en-AU" i="1">
                            <a:latin typeface="Cambria Math" panose="02040503050406030204" pitchFamily="18" charset="0"/>
                          </a:rPr>
                          <m:t>𝐻</m:t>
                        </m:r>
                        <m:d>
                          <m:dPr>
                            <m:begChr m:val="["/>
                            <m:endChr m:val="]"/>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a:latin typeface="Cambria Math" panose="02040503050406030204" pitchFamily="18" charset="0"/>
                                  </a:rPr>
                                  <m:t>1</m:t>
                                </m:r>
                              </m:sub>
                            </m:sSub>
                          </m:e>
                        </m:d>
                        <m:r>
                          <a:rPr lang="en-AU">
                            <a:latin typeface="Cambria Math" panose="02040503050406030204" pitchFamily="18" charset="0"/>
                          </a:rPr>
                          <m:t>+=</m:t>
                        </m:r>
                        <m:r>
                          <a:rPr lang="en-AU" i="1">
                            <a:latin typeface="Cambria Math" panose="02040503050406030204" pitchFamily="18" charset="0"/>
                          </a:rPr>
                          <m:t>𝑀</m:t>
                        </m:r>
                        <m:f>
                          <m:fPr>
                            <m:ctrlPr>
                              <a:rPr lang="en-AU" i="1">
                                <a:latin typeface="Cambria Math" panose="02040503050406030204" pitchFamily="18" charset="0"/>
                              </a:rPr>
                            </m:ctrlPr>
                          </m:fPr>
                          <m:num>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a:latin typeface="Cambria Math" panose="02040503050406030204" pitchFamily="18" charset="0"/>
                                  </a:rPr>
                                  <m:t>2</m:t>
                                </m:r>
                              </m:sub>
                            </m:sSub>
                            <m:r>
                              <a:rPr lang="en-AU">
                                <a:latin typeface="Cambria Math" panose="02040503050406030204" pitchFamily="18" charset="0"/>
                              </a:rPr>
                              <m:t>−</m:t>
                            </m:r>
                            <m:r>
                              <a:rPr lang="en-AU" i="1">
                                <a:latin typeface="Cambria Math" panose="02040503050406030204" pitchFamily="18" charset="0"/>
                              </a:rPr>
                              <m:t>𝜃</m:t>
                            </m:r>
                          </m:num>
                          <m:den>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a:latin typeface="Cambria Math" panose="02040503050406030204" pitchFamily="18" charset="0"/>
                                  </a:rPr>
                                  <m:t>2</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a:latin typeface="Cambria Math" panose="02040503050406030204" pitchFamily="18" charset="0"/>
                                  </a:rPr>
                                  <m:t>1</m:t>
                                </m:r>
                              </m:sub>
                            </m:sSub>
                          </m:den>
                        </m:f>
                      </m:e>
                    </m:borderBox>
                  </m:oMath>
                </a14:m>
                <a:r>
                  <a:rPr lang="en-AU" dirty="0"/>
                  <a:t> </a:t>
                </a:r>
                <a14:m>
                  <m:oMath xmlns:m="http://schemas.openxmlformats.org/officeDocument/2006/math">
                    <m:borderBox>
                      <m:borderBoxPr>
                        <m:ctrlPr>
                          <a:rPr lang="en-AU" i="1">
                            <a:latin typeface="Cambria Math" panose="02040503050406030204" pitchFamily="18" charset="0"/>
                          </a:rPr>
                        </m:ctrlPr>
                      </m:borderBoxPr>
                      <m:e>
                        <m:r>
                          <a:rPr lang="en-AU" i="1">
                            <a:latin typeface="Cambria Math" panose="02040503050406030204" pitchFamily="18" charset="0"/>
                          </a:rPr>
                          <m:t>𝐻</m:t>
                        </m:r>
                        <m:d>
                          <m:dPr>
                            <m:begChr m:val="["/>
                            <m:endChr m:val="]"/>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a:latin typeface="Cambria Math" panose="02040503050406030204" pitchFamily="18" charset="0"/>
                                  </a:rPr>
                                  <m:t>2</m:t>
                                </m:r>
                              </m:sub>
                            </m:sSub>
                          </m:e>
                        </m:d>
                        <m:r>
                          <a:rPr lang="en-AU">
                            <a:latin typeface="Cambria Math" panose="02040503050406030204" pitchFamily="18" charset="0"/>
                          </a:rPr>
                          <m:t>+=</m:t>
                        </m:r>
                        <m:r>
                          <a:rPr lang="en-AU" i="1">
                            <a:latin typeface="Cambria Math" panose="02040503050406030204" pitchFamily="18" charset="0"/>
                          </a:rPr>
                          <m:t>𝑀</m:t>
                        </m:r>
                        <m:f>
                          <m:fPr>
                            <m:ctrlPr>
                              <a:rPr lang="en-AU" i="1">
                                <a:latin typeface="Cambria Math" panose="02040503050406030204" pitchFamily="18" charset="0"/>
                              </a:rPr>
                            </m:ctrlPr>
                          </m:fPr>
                          <m:num>
                            <m:r>
                              <a:rPr lang="en-AU" i="1">
                                <a:latin typeface="Cambria Math" panose="02040503050406030204" pitchFamily="18" charset="0"/>
                              </a:rPr>
                              <m:t>𝜃</m:t>
                            </m:r>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1</m:t>
                                </m:r>
                              </m:sub>
                            </m:sSub>
                          </m:num>
                          <m:den>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a:latin typeface="Cambria Math" panose="02040503050406030204" pitchFamily="18" charset="0"/>
                                  </a:rPr>
                                  <m:t>2</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a:latin typeface="Cambria Math" panose="02040503050406030204" pitchFamily="18" charset="0"/>
                                  </a:rPr>
                                  <m:t>1</m:t>
                                </m:r>
                              </m:sub>
                            </m:sSub>
                          </m:den>
                        </m:f>
                      </m:e>
                    </m:borderBox>
                  </m:oMath>
                </a14:m>
                <a:endParaRPr lang="en-AU" dirty="0"/>
              </a:p>
              <a:p>
                <a:pPr lvl="1"/>
                <a:endParaRPr lang="en-AU" b="1" dirty="0"/>
              </a:p>
              <a:p>
                <a:pPr lvl="1"/>
                <a:r>
                  <a:rPr lang="en-AU" b="1" dirty="0"/>
                  <a:t>Unusual case</a:t>
                </a:r>
                <a:r>
                  <a:rPr lang="en-AU" dirty="0"/>
                  <a:t> is the last interval: </a:t>
                </a:r>
                <a14:m>
                  <m:oMath xmlns:m="http://schemas.openxmlformats.org/officeDocument/2006/math">
                    <m:r>
                      <a:rPr lang="en-AU" b="0" i="0" smtClean="0">
                        <a:latin typeface="Cambria Math" panose="02040503050406030204" pitchFamily="18" charset="0"/>
                      </a:rPr>
                      <m:t>160</m:t>
                    </m:r>
                    <m:r>
                      <a:rPr lang="en-AU"/>
                      <m:t>&lt;</m:t>
                    </m:r>
                    <m:r>
                      <a:rPr lang="en-AU" i="1"/>
                      <m:t>𝜃</m:t>
                    </m:r>
                    <m:r>
                      <a:rPr lang="en-AU"/>
                      <m:t>&lt;</m:t>
                    </m:r>
                    <m:r>
                      <a:rPr lang="en-AU" b="0" i="0" smtClean="0">
                        <a:latin typeface="Cambria Math" panose="02040503050406030204" pitchFamily="18" charset="0"/>
                      </a:rPr>
                      <m:t>180</m:t>
                    </m:r>
                  </m:oMath>
                </a14:m>
                <a:r>
                  <a:rPr lang="en-AU" dirty="0"/>
                  <a:t> where we treat: </a:t>
                </a:r>
                <a14:m>
                  <m:oMath xmlns:m="http://schemas.openxmlformats.org/officeDocument/2006/math">
                    <m:r>
                      <a:rPr lang="en-AU" b="0" i="1" smtClean="0">
                        <a:latin typeface="Cambria Math" panose="02040503050406030204" pitchFamily="18" charset="0"/>
                      </a:rPr>
                      <m:t>180</m:t>
                    </m:r>
                    <m:r>
                      <a:rPr lang="en-AU"/>
                      <m:t>≡</m:t>
                    </m:r>
                    <m:r>
                      <a:rPr lang="en-AU" b="0" i="1" smtClean="0">
                        <a:latin typeface="Cambria Math" panose="02040503050406030204" pitchFamily="18" charset="0"/>
                      </a:rPr>
                      <m:t>0</m:t>
                    </m:r>
                  </m:oMath>
                </a14:m>
                <a:r>
                  <a:rPr lang="en-AU" dirty="0"/>
                  <a:t> i.e., when </a:t>
                </a:r>
                <a14:m>
                  <m:oMath xmlns:m="http://schemas.openxmlformats.org/officeDocument/2006/math">
                    <m:r>
                      <a:rPr lang="en-AU" i="1">
                        <a:latin typeface="Cambria Math" panose="02040503050406030204" pitchFamily="18" charset="0"/>
                      </a:rPr>
                      <m:t>𝜃</m:t>
                    </m:r>
                    <m:r>
                      <a:rPr lang="en-AU" b="0" i="0" smtClean="0">
                        <a:latin typeface="Cambria Math" panose="02040503050406030204" pitchFamily="18" charset="0"/>
                      </a:rPr>
                      <m:t>=</m:t>
                    </m:r>
                    <m:r>
                      <a:rPr lang="en-AU" b="0" i="1" smtClean="0">
                        <a:latin typeface="Cambria Math" panose="02040503050406030204" pitchFamily="18" charset="0"/>
                      </a:rPr>
                      <m:t>175</m:t>
                    </m:r>
                  </m:oMath>
                </a14:m>
                <a:r>
                  <a:rPr lang="en-AU" dirty="0"/>
                  <a:t>, </a:t>
                </a:r>
                <a14:m>
                  <m:oMath xmlns:m="http://schemas.openxmlformats.org/officeDocument/2006/math">
                    <m:r>
                      <a:rPr lang="en-AU" b="0" i="0" smtClean="0">
                        <a:latin typeface="Cambria Math" panose="02040503050406030204" pitchFamily="18" charset="0"/>
                      </a:rPr>
                      <m:t>160&lt;</m:t>
                    </m:r>
                    <m:r>
                      <a:rPr lang="en-AU" i="1">
                        <a:latin typeface="Cambria Math" panose="02040503050406030204" pitchFamily="18" charset="0"/>
                      </a:rPr>
                      <m:t>175</m:t>
                    </m:r>
                    <m:r>
                      <a:rPr lang="en-AU" b="0" i="1" smtClean="0">
                        <a:latin typeface="Cambria Math" panose="02040503050406030204" pitchFamily="18" charset="0"/>
                      </a:rPr>
                      <m:t>&lt;0</m:t>
                    </m:r>
                  </m:oMath>
                </a14:m>
                <a:r>
                  <a:rPr lang="en-AU" dirty="0"/>
                  <a:t> since </a:t>
                </a:r>
                <a14:m>
                  <m:oMath xmlns:m="http://schemas.openxmlformats.org/officeDocument/2006/math">
                    <m:r>
                      <a:rPr lang="en-AU" i="1">
                        <a:latin typeface="Cambria Math" panose="02040503050406030204" pitchFamily="18" charset="0"/>
                      </a:rPr>
                      <m:t>180</m:t>
                    </m:r>
                    <m:r>
                      <a:rPr lang="en-AU">
                        <a:latin typeface="Cambria Math" panose="02040503050406030204" pitchFamily="18" charset="0"/>
                      </a:rPr>
                      <m:t>≡</m:t>
                    </m:r>
                    <m:r>
                      <a:rPr lang="en-AU" i="1">
                        <a:latin typeface="Cambria Math" panose="02040503050406030204" pitchFamily="18" charset="0"/>
                      </a:rPr>
                      <m:t>0</m:t>
                    </m:r>
                  </m:oMath>
                </a14:m>
                <a:r>
                  <a:rPr lang="en-AU" dirty="0"/>
                  <a:t>, so </a:t>
                </a:r>
                <a14:m>
                  <m:oMath xmlns:m="http://schemas.openxmlformats.org/officeDocument/2006/math">
                    <m:sSub>
                      <m:sSubPr>
                        <m:ctrlPr>
                          <a:rPr lang="en-AU" i="1" dirty="0" smtClean="0">
                            <a:latin typeface="Cambria Math" panose="02040503050406030204" pitchFamily="18" charset="0"/>
                          </a:rPr>
                        </m:ctrlPr>
                      </m:sSubPr>
                      <m:e>
                        <m:r>
                          <m:rPr>
                            <m:sty m:val="p"/>
                          </m:rPr>
                          <a:rPr lang="en-AU" i="1" dirty="0" smtClean="0">
                            <a:latin typeface="Cambria Math" panose="02040503050406030204" pitchFamily="18" charset="0"/>
                          </a:rPr>
                          <m:t>B</m:t>
                        </m:r>
                      </m:e>
                      <m:sub>
                        <m:r>
                          <a:rPr lang="en-AU" b="0" i="1" dirty="0" smtClean="0">
                            <a:latin typeface="Cambria Math" panose="02040503050406030204" pitchFamily="18" charset="0"/>
                          </a:rPr>
                          <m:t>1</m:t>
                        </m:r>
                      </m:sub>
                    </m:sSub>
                    <m:r>
                      <a:rPr lang="en-AU" b="0" i="1" dirty="0" smtClean="0">
                        <a:latin typeface="Cambria Math" panose="02040503050406030204" pitchFamily="18" charset="0"/>
                      </a:rPr>
                      <m:t>=16</m:t>
                    </m:r>
                    <m:r>
                      <a:rPr lang="en-AU" i="1">
                        <a:latin typeface="Cambria Math" panose="02040503050406030204" pitchFamily="18" charset="0"/>
                      </a:rPr>
                      <m:t>0</m:t>
                    </m:r>
                  </m:oMath>
                </a14:m>
                <a:r>
                  <a:rPr lang="en-AU" dirty="0"/>
                  <a:t> and </a:t>
                </a:r>
                <a14:m>
                  <m:oMath xmlns:m="http://schemas.openxmlformats.org/officeDocument/2006/math">
                    <m:sSub>
                      <m:sSubPr>
                        <m:ctrlPr>
                          <a:rPr lang="en-AU" i="1" dirty="0">
                            <a:latin typeface="Cambria Math" panose="02040503050406030204" pitchFamily="18" charset="0"/>
                          </a:rPr>
                        </m:ctrlPr>
                      </m:sSubPr>
                      <m:e>
                        <m:r>
                          <m:rPr>
                            <m:sty m:val="p"/>
                          </m:rPr>
                          <a:rPr lang="en-AU" i="1" dirty="0">
                            <a:latin typeface="Cambria Math" panose="02040503050406030204" pitchFamily="18" charset="0"/>
                          </a:rPr>
                          <m:t>B</m:t>
                        </m:r>
                      </m:e>
                      <m:sub>
                        <m:r>
                          <a:rPr lang="en-AU" b="0" i="1" dirty="0" smtClean="0">
                            <a:latin typeface="Cambria Math" panose="02040503050406030204" pitchFamily="18" charset="0"/>
                          </a:rPr>
                          <m:t>2</m:t>
                        </m:r>
                      </m:sub>
                    </m:sSub>
                    <m:r>
                      <a:rPr lang="en-AU" i="1" dirty="0">
                        <a:latin typeface="Cambria Math" panose="02040503050406030204" pitchFamily="18" charset="0"/>
                      </a:rPr>
                      <m:t>=</m:t>
                    </m:r>
                    <m:r>
                      <a:rPr lang="en-AU" i="1">
                        <a:latin typeface="Cambria Math" panose="02040503050406030204" pitchFamily="18" charset="0"/>
                      </a:rPr>
                      <m:t>0</m:t>
                    </m:r>
                  </m:oMath>
                </a14:m>
                <a:endParaRPr lang="en-AU" dirty="0"/>
              </a:p>
            </p:txBody>
          </p:sp>
        </mc:Choice>
        <mc:Fallback>
          <p:sp>
            <p:nvSpPr>
              <p:cNvPr id="3" name="Content Placeholder 2">
                <a:extLst>
                  <a:ext uri="{FF2B5EF4-FFF2-40B4-BE49-F238E27FC236}">
                    <a16:creationId xmlns:a16="http://schemas.microsoft.com/office/drawing/2014/main" id="{11F2C105-74C8-2D6B-C0EA-CC492BCE54B2}"/>
                  </a:ext>
                </a:extLst>
              </p:cNvPr>
              <p:cNvSpPr>
                <a:spLocks noGrp="1" noRot="1" noChangeAspect="1" noMove="1" noResize="1" noEditPoints="1" noAdjustHandles="1" noChangeArrowheads="1" noChangeShapeType="1" noTextEdit="1"/>
              </p:cNvSpPr>
              <p:nvPr>
                <p:ph idx="1"/>
              </p:nvPr>
            </p:nvSpPr>
            <p:spPr>
              <a:xfrm>
                <a:off x="838202" y="1261545"/>
                <a:ext cx="10638689" cy="4283470"/>
              </a:xfrm>
              <a:blipFill>
                <a:blip r:embed="rId3"/>
                <a:stretch>
                  <a:fillRect l="-1074" t="-1775" r="-1193"/>
                </a:stretch>
              </a:blipFill>
            </p:spPr>
            <p:txBody>
              <a:bodyPr/>
              <a:lstStyle/>
              <a:p>
                <a:r>
                  <a:rPr lang="en-US">
                    <a:noFill/>
                  </a:rPr>
                  <a:t> </a:t>
                </a:r>
              </a:p>
            </p:txBody>
          </p:sp>
        </mc:Fallback>
      </mc:AlternateContent>
      <p:grpSp>
        <p:nvGrpSpPr>
          <p:cNvPr id="113" name="Group 112">
            <a:extLst>
              <a:ext uri="{FF2B5EF4-FFF2-40B4-BE49-F238E27FC236}">
                <a16:creationId xmlns:a16="http://schemas.microsoft.com/office/drawing/2014/main" id="{A4E58A52-1E62-8CC3-05D8-DE4335F36989}"/>
              </a:ext>
            </a:extLst>
          </p:cNvPr>
          <p:cNvGrpSpPr/>
          <p:nvPr/>
        </p:nvGrpSpPr>
        <p:grpSpPr>
          <a:xfrm>
            <a:off x="2984498" y="1470665"/>
            <a:ext cx="5335663" cy="968868"/>
            <a:chOff x="5844928" y="5545737"/>
            <a:chExt cx="5335663" cy="968868"/>
          </a:xfrm>
        </p:grpSpPr>
        <p:sp>
          <p:nvSpPr>
            <p:cNvPr id="23" name="Rectangle 22">
              <a:extLst>
                <a:ext uri="{FF2B5EF4-FFF2-40B4-BE49-F238E27FC236}">
                  <a16:creationId xmlns:a16="http://schemas.microsoft.com/office/drawing/2014/main" id="{581662DA-4C6D-8A16-FB64-EF15C6D3A191}"/>
                </a:ext>
              </a:extLst>
            </p:cNvPr>
            <p:cNvSpPr/>
            <p:nvPr/>
          </p:nvSpPr>
          <p:spPr>
            <a:xfrm>
              <a:off x="10376240" y="5881786"/>
              <a:ext cx="520700" cy="3556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
              </a:r>
            </a:p>
          </p:txBody>
        </p:sp>
        <p:grpSp>
          <p:nvGrpSpPr>
            <p:cNvPr id="87" name="Group 86">
              <a:extLst>
                <a:ext uri="{FF2B5EF4-FFF2-40B4-BE49-F238E27FC236}">
                  <a16:creationId xmlns:a16="http://schemas.microsoft.com/office/drawing/2014/main" id="{5ACAC4A1-E374-6D30-007E-746EE80ACD8C}"/>
                </a:ext>
              </a:extLst>
            </p:cNvPr>
            <p:cNvGrpSpPr/>
            <p:nvPr/>
          </p:nvGrpSpPr>
          <p:grpSpPr>
            <a:xfrm>
              <a:off x="5844928" y="5883452"/>
              <a:ext cx="4686155" cy="629266"/>
              <a:chOff x="5727700" y="2356556"/>
              <a:chExt cx="4686155" cy="629266"/>
            </a:xfrm>
          </p:grpSpPr>
          <p:sp>
            <p:nvSpPr>
              <p:cNvPr id="88" name="Rectangle 87">
                <a:extLst>
                  <a:ext uri="{FF2B5EF4-FFF2-40B4-BE49-F238E27FC236}">
                    <a16:creationId xmlns:a16="http://schemas.microsoft.com/office/drawing/2014/main" id="{8CB2BD9A-D84D-6935-CDFB-AA70F5150A86}"/>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A241867E-C914-069D-CB05-9330910ED67B}"/>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15D83440-6E70-AF69-6645-88456DEB5FF1}"/>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37FD08AB-566B-F51A-B783-EAA4CB29E133}"/>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Rectangle 91">
                <a:extLst>
                  <a:ext uri="{FF2B5EF4-FFF2-40B4-BE49-F238E27FC236}">
                    <a16:creationId xmlns:a16="http://schemas.microsoft.com/office/drawing/2014/main" id="{6672AAA2-FE22-CDD8-46F6-A338EA395999}"/>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EEC72F4A-8B5F-236C-C0D9-90D5A7B7285A}"/>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FB716B87-2096-713C-96B7-95ADAB799C5D}"/>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DF41F9CA-AD29-F498-B973-A8A0BCA4DD09}"/>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CEDEA405-087F-87C1-E4A3-B76A83F70B2B}"/>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97" name="TextBox 96">
                <a:extLst>
                  <a:ext uri="{FF2B5EF4-FFF2-40B4-BE49-F238E27FC236}">
                    <a16:creationId xmlns:a16="http://schemas.microsoft.com/office/drawing/2014/main" id="{7289B2C7-C0CC-A601-909D-92E572A797BE}"/>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98" name="TextBox 97">
                <a:extLst>
                  <a:ext uri="{FF2B5EF4-FFF2-40B4-BE49-F238E27FC236}">
                    <a16:creationId xmlns:a16="http://schemas.microsoft.com/office/drawing/2014/main" id="{B97301D5-0F9E-6F3C-4796-383DB9944AF7}"/>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99" name="TextBox 98">
                <a:extLst>
                  <a:ext uri="{FF2B5EF4-FFF2-40B4-BE49-F238E27FC236}">
                    <a16:creationId xmlns:a16="http://schemas.microsoft.com/office/drawing/2014/main" id="{151C2C06-F8D9-8F18-6767-7CC1F5391E22}"/>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100" name="TextBox 99">
                <a:extLst>
                  <a:ext uri="{FF2B5EF4-FFF2-40B4-BE49-F238E27FC236}">
                    <a16:creationId xmlns:a16="http://schemas.microsoft.com/office/drawing/2014/main" id="{257D5F54-2360-A98E-FBE6-84903021A006}"/>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101" name="TextBox 100">
                <a:extLst>
                  <a:ext uri="{FF2B5EF4-FFF2-40B4-BE49-F238E27FC236}">
                    <a16:creationId xmlns:a16="http://schemas.microsoft.com/office/drawing/2014/main" id="{536AE79C-80C1-868F-6372-D75555E2B962}"/>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102" name="TextBox 101">
                <a:extLst>
                  <a:ext uri="{FF2B5EF4-FFF2-40B4-BE49-F238E27FC236}">
                    <a16:creationId xmlns:a16="http://schemas.microsoft.com/office/drawing/2014/main" id="{D65DED80-3EC5-E8DA-D789-CE8D4967DCCF}"/>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103" name="Rectangle 102">
                <a:extLst>
                  <a:ext uri="{FF2B5EF4-FFF2-40B4-BE49-F238E27FC236}">
                    <a16:creationId xmlns:a16="http://schemas.microsoft.com/office/drawing/2014/main" id="{32628A16-667D-C806-B21A-760C7549F18E}"/>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EEEBE4C9-C597-9188-279C-DE4A7B3217F6}"/>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105" name="TextBox 104">
                <a:extLst>
                  <a:ext uri="{FF2B5EF4-FFF2-40B4-BE49-F238E27FC236}">
                    <a16:creationId xmlns:a16="http://schemas.microsoft.com/office/drawing/2014/main" id="{9E294E34-76ED-A422-FA02-C6FF73EB2E00}"/>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sp>
          <p:nvSpPr>
            <p:cNvPr id="106" name="Rectangle 105">
              <a:extLst>
                <a:ext uri="{FF2B5EF4-FFF2-40B4-BE49-F238E27FC236}">
                  <a16:creationId xmlns:a16="http://schemas.microsoft.com/office/drawing/2014/main" id="{6B7FC7EE-5D9F-A020-DCDC-E1C73B5CD5C4}"/>
                </a:ext>
              </a:extLst>
            </p:cNvPr>
            <p:cNvSpPr/>
            <p:nvPr/>
          </p:nvSpPr>
          <p:spPr>
            <a:xfrm>
              <a:off x="10540891" y="5883608"/>
              <a:ext cx="520700" cy="3521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110" name="TextBox 109">
                  <a:extLst>
                    <a:ext uri="{FF2B5EF4-FFF2-40B4-BE49-F238E27FC236}">
                      <a16:creationId xmlns:a16="http://schemas.microsoft.com/office/drawing/2014/main" id="{E36E98F6-2B9C-1855-7A65-5933EA4C9E33}"/>
                    </a:ext>
                  </a:extLst>
                </p:cNvPr>
                <p:cNvSpPr txBox="1"/>
                <p:nvPr/>
              </p:nvSpPr>
              <p:spPr>
                <a:xfrm>
                  <a:off x="10505828" y="6237606"/>
                  <a:ext cx="614271" cy="276999"/>
                </a:xfrm>
                <a:prstGeom prst="rect">
                  <a:avLst/>
                </a:prstGeom>
                <a:noFill/>
              </p:spPr>
              <p:txBody>
                <a:bodyPr wrap="none" rtlCol="0">
                  <a:spAutoFit/>
                </a:bodyPr>
                <a:lstStyle/>
                <a:p>
                  <a:r>
                    <a:rPr lang="en-US" sz="1200" b="1" dirty="0"/>
                    <a:t>180</a:t>
                  </a:r>
                  <a14:m>
                    <m:oMath xmlns:m="http://schemas.openxmlformats.org/officeDocument/2006/math">
                      <m:r>
                        <a:rPr lang="en-US" sz="1200" b="1" i="1" smtClean="0">
                          <a:latin typeface="Cambria Math" panose="02040503050406030204" pitchFamily="18" charset="0"/>
                          <a:ea typeface="Cambria Math" panose="02040503050406030204" pitchFamily="18" charset="0"/>
                        </a:rPr>
                        <m:t>≡</m:t>
                      </m:r>
                    </m:oMath>
                  </a14:m>
                  <a:r>
                    <a:rPr lang="en-US" sz="1200" b="1" dirty="0"/>
                    <a:t>0</a:t>
                  </a:r>
                </a:p>
              </p:txBody>
            </p:sp>
          </mc:Choice>
          <mc:Fallback>
            <p:sp>
              <p:nvSpPr>
                <p:cNvPr id="110" name="TextBox 109">
                  <a:extLst>
                    <a:ext uri="{FF2B5EF4-FFF2-40B4-BE49-F238E27FC236}">
                      <a16:creationId xmlns:a16="http://schemas.microsoft.com/office/drawing/2014/main" id="{E36E98F6-2B9C-1855-7A65-5933EA4C9E33}"/>
                    </a:ext>
                  </a:extLst>
                </p:cNvPr>
                <p:cNvSpPr txBox="1">
                  <a:spLocks noRot="1" noChangeAspect="1" noMove="1" noResize="1" noEditPoints="1" noAdjustHandles="1" noChangeArrowheads="1" noChangeShapeType="1" noTextEdit="1"/>
                </p:cNvSpPr>
                <p:nvPr/>
              </p:nvSpPr>
              <p:spPr>
                <a:xfrm>
                  <a:off x="10505828" y="6237606"/>
                  <a:ext cx="614271" cy="276999"/>
                </a:xfrm>
                <a:prstGeom prst="rect">
                  <a:avLst/>
                </a:prstGeom>
                <a:blipFill>
                  <a:blip r:embed="rId4"/>
                  <a:stretch>
                    <a:fillRect t="-4545" b="-13636"/>
                  </a:stretch>
                </a:blipFill>
              </p:spPr>
              <p:txBody>
                <a:bodyPr/>
                <a:lstStyle/>
                <a:p>
                  <a:r>
                    <a:rPr lang="en-US">
                      <a:noFill/>
                    </a:rPr>
                    <a:t> </a:t>
                  </a:r>
                </a:p>
              </p:txBody>
            </p:sp>
          </mc:Fallback>
        </mc:AlternateContent>
        <p:sp>
          <p:nvSpPr>
            <p:cNvPr id="112" name="TextBox 111">
              <a:extLst>
                <a:ext uri="{FF2B5EF4-FFF2-40B4-BE49-F238E27FC236}">
                  <a16:creationId xmlns:a16="http://schemas.microsoft.com/office/drawing/2014/main" id="{3FA9E99F-FCDE-5026-3565-B5478BC51857}"/>
                </a:ext>
              </a:extLst>
            </p:cNvPr>
            <p:cNvSpPr txBox="1"/>
            <p:nvPr/>
          </p:nvSpPr>
          <p:spPr>
            <a:xfrm>
              <a:off x="10606836" y="5545737"/>
              <a:ext cx="573755" cy="369332"/>
            </a:xfrm>
            <a:prstGeom prst="rect">
              <a:avLst/>
            </a:prstGeom>
            <a:noFill/>
          </p:spPr>
          <p:txBody>
            <a:bodyPr wrap="square" rtlCol="0">
              <a:spAutoFit/>
            </a:bodyPr>
            <a:lstStyle/>
            <a:p>
              <a:r>
                <a:rPr lang="en-US" dirty="0"/>
                <a:t>175</a:t>
              </a:r>
            </a:p>
          </p:txBody>
        </p:sp>
      </p:grpSp>
    </p:spTree>
    <p:extLst>
      <p:ext uri="{BB962C8B-B14F-4D97-AF65-F5344CB8AC3E}">
        <p14:creationId xmlns:p14="http://schemas.microsoft.com/office/powerpoint/2010/main" val="2111389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17574-7CD8-5573-5FF5-59B2E4AB9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FC038-694F-EB22-DC8C-F4D7AB4DBF62}"/>
              </a:ext>
            </a:extLst>
          </p:cNvPr>
          <p:cNvSpPr>
            <a:spLocks noGrp="1"/>
          </p:cNvSpPr>
          <p:nvPr>
            <p:ph type="title"/>
          </p:nvPr>
        </p:nvSpPr>
        <p:spPr>
          <a:xfrm>
            <a:off x="838200" y="365125"/>
            <a:ext cx="10515600" cy="896419"/>
          </a:xfrm>
        </p:spPr>
        <p:txBody>
          <a:bodyPr/>
          <a:lstStyle/>
          <a:p>
            <a:r>
              <a:rPr lang="en-AU" b="1" dirty="0"/>
              <a:t>Cell Histograms – Workout example</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8C6681-0B7F-9AB9-1443-A123EB03A99E}"/>
                  </a:ext>
                </a:extLst>
              </p:cNvPr>
              <p:cNvSpPr>
                <a:spLocks noGrp="1"/>
              </p:cNvSpPr>
              <p:nvPr>
                <p:ph idx="1"/>
              </p:nvPr>
            </p:nvSpPr>
            <p:spPr>
              <a:xfrm>
                <a:off x="7071738" y="1221752"/>
                <a:ext cx="3561093" cy="2110153"/>
              </a:xfrm>
              <a:solidFill>
                <a:schemeClr val="accent4">
                  <a:lumMod val="20000"/>
                  <a:lumOff val="80000"/>
                </a:schemeClr>
              </a:solidFill>
            </p:spPr>
            <p:txBody>
              <a:bodyPr>
                <a:normAutofit/>
              </a:bodyPr>
              <a:lstStyle/>
              <a:p>
                <a:pPr marL="0" indent="0">
                  <a:buNone/>
                </a:pPr>
                <a:r>
                  <a:rPr lang="en-AU" sz="1800" dirty="0"/>
                  <a:t>For any interval: </a:t>
                </a:r>
                <a14:m>
                  <m:oMath xmlns:m="http://schemas.openxmlformats.org/officeDocument/2006/math">
                    <m:sSub>
                      <m:sSubPr>
                        <m:ctrlPr>
                          <a:rPr lang="en-AU" sz="1800" i="1"/>
                        </m:ctrlPr>
                      </m:sSubPr>
                      <m:e>
                        <m:r>
                          <a:rPr lang="en-AU" sz="1800" i="1"/>
                          <m:t>𝐵</m:t>
                        </m:r>
                      </m:e>
                      <m:sub>
                        <m:r>
                          <a:rPr lang="en-AU" sz="1800"/>
                          <m:t>1</m:t>
                        </m:r>
                      </m:sub>
                    </m:sSub>
                    <m:r>
                      <a:rPr lang="en-AU" sz="1800"/>
                      <m:t>&lt;</m:t>
                    </m:r>
                    <m:r>
                      <a:rPr lang="en-AU" sz="1800" i="1"/>
                      <m:t>𝜃</m:t>
                    </m:r>
                    <m:r>
                      <a:rPr lang="en-AU" sz="1800"/>
                      <m:t>&lt;</m:t>
                    </m:r>
                    <m:sSub>
                      <m:sSubPr>
                        <m:ctrlPr>
                          <a:rPr lang="en-AU" sz="1800" i="1"/>
                        </m:ctrlPr>
                      </m:sSubPr>
                      <m:e>
                        <m:r>
                          <a:rPr lang="en-AU" sz="1800" i="1"/>
                          <m:t>𝐵</m:t>
                        </m:r>
                      </m:e>
                      <m:sub>
                        <m:r>
                          <a:rPr lang="en-AU" sz="1800"/>
                          <m:t>2</m:t>
                        </m:r>
                      </m:sub>
                    </m:sSub>
                  </m:oMath>
                </a14:m>
                <a:endParaRPr lang="en-AU" sz="1800" dirty="0"/>
              </a:p>
              <a:p>
                <a:pPr marL="457200" lvl="1" indent="0">
                  <a:buNone/>
                </a:pPr>
                <a14:m>
                  <m:oMathPara xmlns:m="http://schemas.openxmlformats.org/officeDocument/2006/math">
                    <m:oMath>
                      <m:borderBox>
                        <m:borderBoxPr>
                          <m:ctrlPr>
                            <a:rPr lang="en-AU" sz="1600" i="1"/>
                          </m:ctrlPr>
                        </m:borderBoxPr>
                        <m:e>
                          <m:r>
                            <a:rPr lang="en-AU" sz="1600" i="1"/>
                            <m:t>𝐻</m:t>
                          </m:r>
                          <m:d>
                            <m:dPr>
                              <m:begChr m:val="["/>
                              <m:endChr m:val="]"/>
                              <m:ctrlPr>
                                <a:rPr lang="en-AU" sz="1600" i="1"/>
                              </m:ctrlPr>
                            </m:dPr>
                            <m:e>
                              <m:sSub>
                                <m:sSubPr>
                                  <m:ctrlPr>
                                    <a:rPr lang="en-AU" sz="1600" i="1"/>
                                  </m:ctrlPr>
                                </m:sSubPr>
                                <m:e>
                                  <m:r>
                                    <a:rPr lang="en-AU" sz="1600" i="1"/>
                                    <m:t>𝐵</m:t>
                                  </m:r>
                                </m:e>
                                <m:sub>
                                  <m:r>
                                    <a:rPr lang="en-AU" sz="1600"/>
                                    <m:t>1</m:t>
                                  </m:r>
                                </m:sub>
                              </m:sSub>
                            </m:e>
                          </m:d>
                          <m:r>
                            <a:rPr lang="en-AU" sz="1600"/>
                            <m:t>=</m:t>
                          </m:r>
                          <m:r>
                            <a:rPr lang="en-AU" sz="1600" i="1"/>
                            <m:t>𝐻</m:t>
                          </m:r>
                          <m:d>
                            <m:dPr>
                              <m:begChr m:val="["/>
                              <m:endChr m:val="]"/>
                              <m:ctrlPr>
                                <a:rPr lang="en-AU" sz="1600" i="1"/>
                              </m:ctrlPr>
                            </m:dPr>
                            <m:e>
                              <m:sSub>
                                <m:sSubPr>
                                  <m:ctrlPr>
                                    <a:rPr lang="en-AU" sz="1600" i="1"/>
                                  </m:ctrlPr>
                                </m:sSubPr>
                                <m:e>
                                  <m:r>
                                    <a:rPr lang="en-AU" sz="1600" i="1"/>
                                    <m:t>𝐵</m:t>
                                  </m:r>
                                </m:e>
                                <m:sub>
                                  <m:r>
                                    <a:rPr lang="en-AU" sz="1600"/>
                                    <m:t>1</m:t>
                                  </m:r>
                                </m:sub>
                              </m:sSub>
                            </m:e>
                          </m:d>
                          <m:r>
                            <a:rPr lang="en-AU" sz="1600" b="0" i="1" smtClean="0"/>
                            <m:t>+</m:t>
                          </m:r>
                          <m:r>
                            <a:rPr lang="en-AU" sz="1600" i="1"/>
                            <m:t>𝑀</m:t>
                          </m:r>
                          <m:f>
                            <m:fPr>
                              <m:ctrlPr>
                                <a:rPr lang="en-AU" sz="1600" i="1"/>
                              </m:ctrlPr>
                            </m:fPr>
                            <m:num>
                              <m:sSub>
                                <m:sSubPr>
                                  <m:ctrlPr>
                                    <a:rPr lang="en-AU" sz="1600" i="1"/>
                                  </m:ctrlPr>
                                </m:sSubPr>
                                <m:e>
                                  <m:r>
                                    <a:rPr lang="en-AU" sz="1600" i="1"/>
                                    <m:t>𝐵</m:t>
                                  </m:r>
                                </m:e>
                                <m:sub>
                                  <m:r>
                                    <a:rPr lang="en-AU" sz="1600"/>
                                    <m:t>2</m:t>
                                  </m:r>
                                </m:sub>
                              </m:sSub>
                              <m:r>
                                <a:rPr lang="en-AU" sz="1600"/>
                                <m:t>−</m:t>
                              </m:r>
                              <m:r>
                                <a:rPr lang="en-AU" sz="1600" i="1"/>
                                <m:t>𝜃</m:t>
                              </m:r>
                            </m:num>
                            <m:den>
                              <m:sSub>
                                <m:sSubPr>
                                  <m:ctrlPr>
                                    <a:rPr lang="en-AU" sz="1600" i="1"/>
                                  </m:ctrlPr>
                                </m:sSubPr>
                                <m:e>
                                  <m:r>
                                    <a:rPr lang="en-AU" sz="1600" i="1"/>
                                    <m:t>𝐵</m:t>
                                  </m:r>
                                </m:e>
                                <m:sub>
                                  <m:r>
                                    <a:rPr lang="en-AU" sz="1600"/>
                                    <m:t>2</m:t>
                                  </m:r>
                                </m:sub>
                              </m:sSub>
                              <m:r>
                                <a:rPr lang="en-AU" sz="1600"/>
                                <m:t>−</m:t>
                              </m:r>
                              <m:sSub>
                                <m:sSubPr>
                                  <m:ctrlPr>
                                    <a:rPr lang="en-AU" sz="1600" i="1"/>
                                  </m:ctrlPr>
                                </m:sSubPr>
                                <m:e>
                                  <m:r>
                                    <a:rPr lang="en-AU" sz="1600" i="1"/>
                                    <m:t>𝐵</m:t>
                                  </m:r>
                                </m:e>
                                <m:sub>
                                  <m:r>
                                    <a:rPr lang="en-AU" sz="1600"/>
                                    <m:t>1</m:t>
                                  </m:r>
                                </m:sub>
                              </m:sSub>
                            </m:den>
                          </m:f>
                        </m:e>
                      </m:borderBox>
                    </m:oMath>
                  </m:oMathPara>
                </a14:m>
                <a:endParaRPr lang="en-AU" sz="1800" dirty="0"/>
              </a:p>
              <a:p>
                <a:pPr marL="457200" lvl="1" indent="0">
                  <a:buNone/>
                </a:pPr>
                <a:r>
                  <a:rPr lang="en-AU" sz="1800" dirty="0"/>
                  <a:t> </a:t>
                </a:r>
                <a14:m>
                  <m:oMath xmlns:m="http://schemas.openxmlformats.org/officeDocument/2006/math">
                    <m:borderBox>
                      <m:borderBoxPr>
                        <m:ctrlPr>
                          <a:rPr lang="en-AU" sz="1800" i="1"/>
                        </m:ctrlPr>
                      </m:borderBoxPr>
                      <m:e>
                        <m:r>
                          <a:rPr lang="en-AU" sz="1800" i="1"/>
                          <m:t>𝐻</m:t>
                        </m:r>
                        <m:d>
                          <m:dPr>
                            <m:begChr m:val="["/>
                            <m:endChr m:val="]"/>
                            <m:ctrlPr>
                              <a:rPr lang="en-AU" sz="1800" i="1"/>
                            </m:ctrlPr>
                          </m:dPr>
                          <m:e>
                            <m:sSub>
                              <m:sSubPr>
                                <m:ctrlPr>
                                  <a:rPr lang="en-AU" sz="1800" i="1"/>
                                </m:ctrlPr>
                              </m:sSubPr>
                              <m:e>
                                <m:r>
                                  <a:rPr lang="en-AU" sz="1800" i="1"/>
                                  <m:t>𝐵</m:t>
                                </m:r>
                              </m:e>
                              <m:sub>
                                <m:r>
                                  <a:rPr lang="en-AU" sz="1800"/>
                                  <m:t>2</m:t>
                                </m:r>
                              </m:sub>
                            </m:sSub>
                          </m:e>
                        </m:d>
                        <m:r>
                          <a:rPr lang="en-AU" sz="1800"/>
                          <m:t>=</m:t>
                        </m:r>
                        <m:r>
                          <a:rPr lang="en-AU" sz="1800" i="1"/>
                          <m:t>𝐻</m:t>
                        </m:r>
                        <m:d>
                          <m:dPr>
                            <m:begChr m:val="["/>
                            <m:endChr m:val="]"/>
                            <m:ctrlPr>
                              <a:rPr lang="en-AU" sz="1800" i="1"/>
                            </m:ctrlPr>
                          </m:dPr>
                          <m:e>
                            <m:sSub>
                              <m:sSubPr>
                                <m:ctrlPr>
                                  <a:rPr lang="en-AU" sz="1800" i="1"/>
                                </m:ctrlPr>
                              </m:sSubPr>
                              <m:e>
                                <m:r>
                                  <a:rPr lang="en-AU" sz="1800" i="1"/>
                                  <m:t>𝐵</m:t>
                                </m:r>
                              </m:e>
                              <m:sub>
                                <m:r>
                                  <a:rPr lang="en-AU" sz="1800" b="0" i="0" smtClean="0"/>
                                  <m:t>2</m:t>
                                </m:r>
                              </m:sub>
                            </m:sSub>
                          </m:e>
                        </m:d>
                        <m:r>
                          <a:rPr lang="en-AU" sz="1800" b="0" i="1" smtClean="0"/>
                          <m:t>+</m:t>
                        </m:r>
                        <m:r>
                          <a:rPr lang="en-AU" sz="1800" i="1"/>
                          <m:t>𝑀</m:t>
                        </m:r>
                        <m:f>
                          <m:fPr>
                            <m:ctrlPr>
                              <a:rPr lang="en-AU" sz="1800" i="1"/>
                            </m:ctrlPr>
                          </m:fPr>
                          <m:num>
                            <m:r>
                              <a:rPr lang="en-AU" sz="1800" i="1"/>
                              <m:t>𝜃</m:t>
                            </m:r>
                            <m:r>
                              <a:rPr lang="en-AU" sz="1800" i="1"/>
                              <m:t>−</m:t>
                            </m:r>
                            <m:sSub>
                              <m:sSubPr>
                                <m:ctrlPr>
                                  <a:rPr lang="en-AU" sz="1800" i="1"/>
                                </m:ctrlPr>
                              </m:sSubPr>
                              <m:e>
                                <m:r>
                                  <a:rPr lang="en-AU" sz="1800" i="1"/>
                                  <m:t>𝐵</m:t>
                                </m:r>
                              </m:e>
                              <m:sub>
                                <m:r>
                                  <a:rPr lang="en-AU" sz="1800" i="1"/>
                                  <m:t>1</m:t>
                                </m:r>
                              </m:sub>
                            </m:sSub>
                          </m:num>
                          <m:den>
                            <m:sSub>
                              <m:sSubPr>
                                <m:ctrlPr>
                                  <a:rPr lang="en-AU" sz="1800" i="1"/>
                                </m:ctrlPr>
                              </m:sSubPr>
                              <m:e>
                                <m:r>
                                  <a:rPr lang="en-AU" sz="1800" i="1"/>
                                  <m:t>𝐵</m:t>
                                </m:r>
                              </m:e>
                              <m:sub>
                                <m:r>
                                  <a:rPr lang="en-AU" sz="1800"/>
                                  <m:t>2</m:t>
                                </m:r>
                              </m:sub>
                            </m:sSub>
                            <m:r>
                              <a:rPr lang="en-AU" sz="1800"/>
                              <m:t>−</m:t>
                            </m:r>
                            <m:sSub>
                              <m:sSubPr>
                                <m:ctrlPr>
                                  <a:rPr lang="en-AU" sz="1800" i="1"/>
                                </m:ctrlPr>
                              </m:sSubPr>
                              <m:e>
                                <m:r>
                                  <a:rPr lang="en-AU" sz="1800" i="1"/>
                                  <m:t>𝐵</m:t>
                                </m:r>
                              </m:e>
                              <m:sub>
                                <m:r>
                                  <a:rPr lang="en-AU" sz="1800"/>
                                  <m:t>1</m:t>
                                </m:r>
                              </m:sub>
                            </m:sSub>
                          </m:den>
                        </m:f>
                      </m:e>
                    </m:borderBox>
                  </m:oMath>
                </a14:m>
                <a:endParaRPr lang="en-AU" sz="1800" b="1" dirty="0"/>
              </a:p>
              <a:p>
                <a:pPr marL="11113" lvl="1" indent="0">
                  <a:buNone/>
                </a:pPr>
                <a:r>
                  <a:rPr lang="en-AU" sz="1800" b="1" dirty="0"/>
                  <a:t>When </a:t>
                </a:r>
                <a14:m>
                  <m:oMath xmlns:m="http://schemas.openxmlformats.org/officeDocument/2006/math">
                    <m:r>
                      <a:rPr lang="en-AU" sz="1800" b="0" i="1" smtClean="0"/>
                      <m:t>160</m:t>
                    </m:r>
                    <m:r>
                      <a:rPr lang="en-AU" sz="1800"/>
                      <m:t>&lt;</m:t>
                    </m:r>
                    <m:r>
                      <a:rPr lang="en-AU" sz="1800" i="1"/>
                      <m:t>𝜃</m:t>
                    </m:r>
                    <m:r>
                      <a:rPr lang="en-AU" sz="1800"/>
                      <m:t>&lt;</m:t>
                    </m:r>
                    <m:r>
                      <a:rPr lang="en-AU" sz="1800" b="0" i="1" smtClean="0"/>
                      <m:t>180</m:t>
                    </m:r>
                  </m:oMath>
                </a14:m>
                <a:r>
                  <a:rPr lang="en-AU" sz="1800" dirty="0"/>
                  <a:t>, we threat </a:t>
                </a:r>
                <a14:m>
                  <m:oMath xmlns:m="http://schemas.openxmlformats.org/officeDocument/2006/math">
                    <m:sSub>
                      <m:sSubPr>
                        <m:ctrlPr>
                          <a:rPr lang="en-AU" sz="1800" i="1"/>
                        </m:ctrlPr>
                      </m:sSubPr>
                      <m:e>
                        <m:r>
                          <a:rPr lang="en-AU" sz="1800" i="1"/>
                          <m:t>𝐵</m:t>
                        </m:r>
                      </m:e>
                      <m:sub>
                        <m:r>
                          <a:rPr lang="en-AU" sz="1800"/>
                          <m:t>2</m:t>
                        </m:r>
                      </m:sub>
                    </m:sSub>
                    <m:r>
                      <a:rPr lang="en-AU" sz="1800" b="0" i="1" smtClean="0"/>
                      <m:t>=0 </m:t>
                    </m:r>
                  </m:oMath>
                </a14:m>
                <a:r>
                  <a:rPr lang="en-AU" sz="1800" dirty="0"/>
                  <a:t>to distribute magnitude</a:t>
                </a:r>
              </a:p>
            </p:txBody>
          </p:sp>
        </mc:Choice>
        <mc:Fallback>
          <p:sp>
            <p:nvSpPr>
              <p:cNvPr id="3" name="Content Placeholder 2">
                <a:extLst>
                  <a:ext uri="{FF2B5EF4-FFF2-40B4-BE49-F238E27FC236}">
                    <a16:creationId xmlns:a16="http://schemas.microsoft.com/office/drawing/2014/main" id="{1E8C6681-0B7F-9AB9-1443-A123EB03A99E}"/>
                  </a:ext>
                </a:extLst>
              </p:cNvPr>
              <p:cNvSpPr>
                <a:spLocks noGrp="1" noRot="1" noChangeAspect="1" noMove="1" noResize="1" noEditPoints="1" noAdjustHandles="1" noChangeArrowheads="1" noChangeShapeType="1" noTextEdit="1"/>
              </p:cNvSpPr>
              <p:nvPr>
                <p:ph idx="1"/>
              </p:nvPr>
            </p:nvSpPr>
            <p:spPr>
              <a:xfrm>
                <a:off x="7071738" y="1221752"/>
                <a:ext cx="3561093" cy="2110153"/>
              </a:xfrm>
              <a:blipFill>
                <a:blip r:embed="rId3"/>
                <a:stretch>
                  <a:fillRect l="-1418" t="-2395"/>
                </a:stretch>
              </a:blipFill>
            </p:spPr>
            <p:txBody>
              <a:bodyPr/>
              <a:lstStyle/>
              <a:p>
                <a:r>
                  <a:rPr lang="en-US">
                    <a:noFill/>
                  </a:rPr>
                  <a:t> </a:t>
                </a:r>
              </a:p>
            </p:txBody>
          </p:sp>
        </mc:Fallback>
      </mc:AlternateContent>
      <p:pic>
        <p:nvPicPr>
          <p:cNvPr id="4" name="Content Placeholder 4">
            <a:extLst>
              <a:ext uri="{FF2B5EF4-FFF2-40B4-BE49-F238E27FC236}">
                <a16:creationId xmlns:a16="http://schemas.microsoft.com/office/drawing/2014/main" id="{7908D078-58E8-9FC0-E3AB-835000810C52}"/>
              </a:ext>
            </a:extLst>
          </p:cNvPr>
          <p:cNvPicPr>
            <a:picLocks noChangeAspect="1"/>
          </p:cNvPicPr>
          <p:nvPr/>
        </p:nvPicPr>
        <p:blipFill>
          <a:blip r:embed="rId4"/>
          <a:srcRect l="2954" t="1442" r="2954" b="41770"/>
          <a:stretch>
            <a:fillRect/>
          </a:stretch>
        </p:blipFill>
        <p:spPr>
          <a:xfrm>
            <a:off x="1055077" y="1308437"/>
            <a:ext cx="4501661" cy="1892276"/>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31D6578-132C-1ECF-CBE4-54B876A81B6A}"/>
                  </a:ext>
                </a:extLst>
              </p:cNvPr>
              <p:cNvSpPr txBox="1"/>
              <p:nvPr/>
            </p:nvSpPr>
            <p:spPr>
              <a:xfrm>
                <a:off x="838200" y="3630281"/>
                <a:ext cx="4173415" cy="369332"/>
              </a:xfrm>
              <a:prstGeom prst="rect">
                <a:avLst/>
              </a:prstGeom>
              <a:noFill/>
            </p:spPr>
            <p:txBody>
              <a:bodyPr wrap="square" rtlCol="0">
                <a:spAutoFit/>
              </a:bodyPr>
              <a:lstStyle/>
              <a:p>
                <a:r>
                  <a:rPr lang="en-US" dirty="0"/>
                  <a:t>For the first pixel, </a:t>
                </a:r>
                <a14:m>
                  <m:oMath xmlns:m="http://schemas.openxmlformats.org/officeDocument/2006/math">
                    <m:r>
                      <a:rPr lang="en-AU" b="0" i="1" smtClean="0">
                        <a:latin typeface="Cambria Math" panose="02040503050406030204" pitchFamily="18" charset="0"/>
                      </a:rPr>
                      <m:t>𝜃</m:t>
                    </m:r>
                    <m:r>
                      <a:rPr lang="en-AU" b="0" i="1" smtClean="0">
                        <a:latin typeface="Cambria Math" panose="02040503050406030204" pitchFamily="18" charset="0"/>
                      </a:rPr>
                      <m:t>=80 , </m:t>
                    </m:r>
                  </m:oMath>
                </a14:m>
                <a:r>
                  <a:rPr lang="en-US" dirty="0"/>
                  <a:t>exact center</a:t>
                </a:r>
              </a:p>
            </p:txBody>
          </p:sp>
        </mc:Choice>
        <mc:Fallback>
          <p:sp>
            <p:nvSpPr>
              <p:cNvPr id="6" name="TextBox 5">
                <a:extLst>
                  <a:ext uri="{FF2B5EF4-FFF2-40B4-BE49-F238E27FC236}">
                    <a16:creationId xmlns:a16="http://schemas.microsoft.com/office/drawing/2014/main" id="{631D6578-132C-1ECF-CBE4-54B876A81B6A}"/>
                  </a:ext>
                </a:extLst>
              </p:cNvPr>
              <p:cNvSpPr txBox="1">
                <a:spLocks noRot="1" noChangeAspect="1" noMove="1" noResize="1" noEditPoints="1" noAdjustHandles="1" noChangeArrowheads="1" noChangeShapeType="1" noTextEdit="1"/>
              </p:cNvSpPr>
              <p:nvPr/>
            </p:nvSpPr>
            <p:spPr>
              <a:xfrm>
                <a:off x="838200" y="3630281"/>
                <a:ext cx="4173415" cy="369332"/>
              </a:xfrm>
              <a:prstGeom prst="rect">
                <a:avLst/>
              </a:prstGeom>
              <a:blipFill>
                <a:blip r:embed="rId5"/>
                <a:stretch>
                  <a:fillRect l="-1520" t="-10345" b="-27586"/>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727DFF3A-89D4-E294-F276-B6B9DDA5F00A}"/>
              </a:ext>
            </a:extLst>
          </p:cNvPr>
          <p:cNvGrpSpPr/>
          <p:nvPr/>
        </p:nvGrpSpPr>
        <p:grpSpPr>
          <a:xfrm>
            <a:off x="7193643" y="3550067"/>
            <a:ext cx="4686155" cy="629266"/>
            <a:chOff x="5727700" y="2356556"/>
            <a:chExt cx="4686155" cy="629266"/>
          </a:xfrm>
        </p:grpSpPr>
        <p:sp>
          <p:nvSpPr>
            <p:cNvPr id="13" name="Rectangle 12">
              <a:extLst>
                <a:ext uri="{FF2B5EF4-FFF2-40B4-BE49-F238E27FC236}">
                  <a16:creationId xmlns:a16="http://schemas.microsoft.com/office/drawing/2014/main" id="{A3095C9C-D648-72BA-618B-66123844D4A4}"/>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6C9E99-F436-6D9D-91CF-0FC09241DB5E}"/>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41EB5C-9975-E8A5-C875-F0016CCC110E}"/>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6E0FC0D-EDEF-5AB6-0D88-5C1F72262796}"/>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8A3B755-283B-F75F-57A0-959DD05F1AE2}"/>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50E67FC-2831-E62F-8134-E8F3B0B4E6FD}"/>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163F1B3-A782-4BF9-3139-672BA212FCD9}"/>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E3C3C9A-C69D-25B2-EE0B-8D95B3081033}"/>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928B8F6-AD31-5C23-9085-838A44C28881}"/>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22" name="TextBox 21">
              <a:extLst>
                <a:ext uri="{FF2B5EF4-FFF2-40B4-BE49-F238E27FC236}">
                  <a16:creationId xmlns:a16="http://schemas.microsoft.com/office/drawing/2014/main" id="{F0E35C5F-5608-3C58-AADC-945DB732C3BA}"/>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24" name="TextBox 23">
              <a:extLst>
                <a:ext uri="{FF2B5EF4-FFF2-40B4-BE49-F238E27FC236}">
                  <a16:creationId xmlns:a16="http://schemas.microsoft.com/office/drawing/2014/main" id="{42FDC94B-64B9-5C20-39F3-73941A3C27A8}"/>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25" name="TextBox 24">
              <a:extLst>
                <a:ext uri="{FF2B5EF4-FFF2-40B4-BE49-F238E27FC236}">
                  <a16:creationId xmlns:a16="http://schemas.microsoft.com/office/drawing/2014/main" id="{A5B9435D-3ED8-590F-0057-88B6CE983B54}"/>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26" name="TextBox 25">
              <a:extLst>
                <a:ext uri="{FF2B5EF4-FFF2-40B4-BE49-F238E27FC236}">
                  <a16:creationId xmlns:a16="http://schemas.microsoft.com/office/drawing/2014/main" id="{0ADB4B9B-AF28-B648-25D4-50688D858C8F}"/>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27" name="TextBox 26">
              <a:extLst>
                <a:ext uri="{FF2B5EF4-FFF2-40B4-BE49-F238E27FC236}">
                  <a16:creationId xmlns:a16="http://schemas.microsoft.com/office/drawing/2014/main" id="{1F7E5C1B-3B77-E78A-97B0-C7B6F3C7C29A}"/>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28" name="TextBox 27">
              <a:extLst>
                <a:ext uri="{FF2B5EF4-FFF2-40B4-BE49-F238E27FC236}">
                  <a16:creationId xmlns:a16="http://schemas.microsoft.com/office/drawing/2014/main" id="{C0172AC4-283E-2546-A510-D9584A98322A}"/>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29" name="Rectangle 28">
              <a:extLst>
                <a:ext uri="{FF2B5EF4-FFF2-40B4-BE49-F238E27FC236}">
                  <a16:creationId xmlns:a16="http://schemas.microsoft.com/office/drawing/2014/main" id="{C09D01E0-98B6-1004-9D6A-4C32F631EE33}"/>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560E104-3D16-62FA-03B0-24350CEDE38C}"/>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31" name="TextBox 30">
              <a:extLst>
                <a:ext uri="{FF2B5EF4-FFF2-40B4-BE49-F238E27FC236}">
                  <a16:creationId xmlns:a16="http://schemas.microsoft.com/office/drawing/2014/main" id="{5DA38F62-F9AB-3489-4A70-D13A47D87231}"/>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sp>
        <p:nvSpPr>
          <p:cNvPr id="36" name="TextBox 35">
            <a:extLst>
              <a:ext uri="{FF2B5EF4-FFF2-40B4-BE49-F238E27FC236}">
                <a16:creationId xmlns:a16="http://schemas.microsoft.com/office/drawing/2014/main" id="{EA513C65-7483-F6AA-4610-86B49C268135}"/>
              </a:ext>
            </a:extLst>
          </p:cNvPr>
          <p:cNvSpPr txBox="1"/>
          <p:nvPr/>
        </p:nvSpPr>
        <p:spPr>
          <a:xfrm>
            <a:off x="9365199" y="3533003"/>
            <a:ext cx="301686" cy="369332"/>
          </a:xfrm>
          <a:prstGeom prst="rect">
            <a:avLst/>
          </a:prstGeom>
          <a:noFill/>
        </p:spPr>
        <p:txBody>
          <a:bodyPr wrap="none" rtlCol="0">
            <a:spAutoFit/>
          </a:bodyPr>
          <a:lstStyle/>
          <a:p>
            <a:r>
              <a:rPr lang="en-US" dirty="0"/>
              <a:t>2</a:t>
            </a: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2C802DA4-C3F0-06E6-8B4E-3B7100704894}"/>
                  </a:ext>
                </a:extLst>
              </p:cNvPr>
              <p:cNvSpPr txBox="1"/>
              <p:nvPr/>
            </p:nvSpPr>
            <p:spPr>
              <a:xfrm>
                <a:off x="105508" y="4147305"/>
                <a:ext cx="12004430" cy="838371"/>
              </a:xfrm>
              <a:prstGeom prst="rect">
                <a:avLst/>
              </a:prstGeom>
              <a:solidFill>
                <a:schemeClr val="bg2"/>
              </a:solidFill>
            </p:spPr>
            <p:txBody>
              <a:bodyPr wrap="square" rtlCol="0">
                <a:spAutoFit/>
              </a:bodyPr>
              <a:lstStyle/>
              <a:p>
                <a:r>
                  <a:rPr lang="en-US" dirty="0"/>
                  <a:t>Then </a:t>
                </a:r>
                <a14:m>
                  <m:oMath xmlns:m="http://schemas.openxmlformats.org/officeDocument/2006/math">
                    <m:r>
                      <a:rPr lang="en-AU" b="0" i="1" smtClean="0">
                        <a:latin typeface="Cambria Math" panose="02040503050406030204" pitchFamily="18" charset="0"/>
                      </a:rPr>
                      <m:t>𝜃</m:t>
                    </m:r>
                    <m:r>
                      <a:rPr lang="en-AU" b="0" i="1" smtClean="0">
                        <a:latin typeface="Cambria Math" panose="02040503050406030204" pitchFamily="18" charset="0"/>
                      </a:rPr>
                      <m:t>=36 , </m:t>
                    </m:r>
                  </m:oMath>
                </a14:m>
                <a:r>
                  <a:rPr lang="en-US" dirty="0"/>
                  <a:t>we have </a:t>
                </a:r>
                <a14:m>
                  <m:oMath xmlns:m="http://schemas.openxmlformats.org/officeDocument/2006/math">
                    <m:r>
                      <a:rPr lang="en-AU" b="0" i="0" smtClean="0">
                        <a:latin typeface="Cambria Math" panose="02040503050406030204" pitchFamily="18" charset="0"/>
                      </a:rPr>
                      <m:t>20&lt;</m:t>
                    </m:r>
                    <m:r>
                      <a:rPr lang="en-AU" i="1">
                        <a:latin typeface="Cambria Math" panose="02040503050406030204" pitchFamily="18" charset="0"/>
                      </a:rPr>
                      <m:t>36</m:t>
                    </m:r>
                    <m:r>
                      <a:rPr lang="en-AU" b="0" i="1" smtClean="0">
                        <a:latin typeface="Cambria Math" panose="02040503050406030204" pitchFamily="18" charset="0"/>
                      </a:rPr>
                      <m:t>&lt;40</m:t>
                    </m:r>
                  </m:oMath>
                </a14:m>
                <a:r>
                  <a:rPr lang="en-AU" dirty="0"/>
                  <a:t> </a:t>
                </a:r>
                <a:endParaRPr lang="en-AU" i="1" dirty="0">
                  <a:latin typeface="Cambria Math" panose="02040503050406030204" pitchFamily="18" charset="0"/>
                </a:endParaRPr>
              </a:p>
              <a:p>
                <a:pPr marL="11113"/>
                <a14:m>
                  <m:oMathPara xmlns:m="http://schemas.openxmlformats.org/officeDocument/2006/math">
                    <m:oMathParaPr>
                      <m:jc m:val="left"/>
                    </m:oMathParaPr>
                    <m:oMath>
                      <m:r>
                        <m:rPr>
                          <m:sty m:val="p"/>
                        </m:rPr>
                        <a:rPr lang="en-AU" sz="1600" i="1">
                          <a:latin typeface="Cambria Math" panose="02040503050406030204" pitchFamily="18" charset="0"/>
                        </a:rPr>
                        <m:t>H</m:t>
                      </m:r>
                      <m:d>
                        <m:dPr>
                          <m:begChr m:val="["/>
                          <m:endChr m:val="]"/>
                          <m:ctrlPr>
                            <a:rPr lang="en-AU" sz="1600" b="0" i="1" smtClean="0">
                              <a:latin typeface="Cambria Math" panose="02040503050406030204" pitchFamily="18" charset="0"/>
                            </a:rPr>
                          </m:ctrlPr>
                        </m:dPr>
                        <m:e>
                          <m:r>
                            <a:rPr lang="en-AU" sz="1600" b="0" i="1" smtClean="0">
                              <a:latin typeface="Cambria Math" panose="02040503050406030204" pitchFamily="18" charset="0"/>
                            </a:rPr>
                            <m:t>20</m:t>
                          </m:r>
                        </m:e>
                      </m:d>
                      <m:r>
                        <a:rPr lang="en-AU" sz="1600" i="1">
                          <a:latin typeface="Cambria Math" panose="02040503050406030204" pitchFamily="18" charset="0"/>
                        </a:rPr>
                        <m:t>=</m:t>
                      </m:r>
                      <m:r>
                        <a:rPr lang="en-AU" sz="1600" b="0" i="1" smtClean="0">
                          <a:latin typeface="Cambria Math" panose="02040503050406030204" pitchFamily="18" charset="0"/>
                        </a:rPr>
                        <m:t>0+</m:t>
                      </m:r>
                      <m:f>
                        <m:fPr>
                          <m:ctrlPr>
                            <a:rPr lang="en-AU" sz="1600" b="0" i="1" smtClean="0">
                              <a:latin typeface="Cambria Math" panose="02040503050406030204" pitchFamily="18" charset="0"/>
                            </a:rPr>
                          </m:ctrlPr>
                        </m:fPr>
                        <m:num>
                          <m:r>
                            <a:rPr lang="en-AU" sz="1600" b="0" i="1" smtClean="0">
                              <a:latin typeface="Cambria Math" panose="02040503050406030204" pitchFamily="18" charset="0"/>
                            </a:rPr>
                            <m:t>3</m:t>
                          </m:r>
                          <m:r>
                            <a:rPr lang="en-AU" sz="1600" i="1">
                              <a:latin typeface="Cambria Math" panose="02040503050406030204" pitchFamily="18" charset="0"/>
                            </a:rPr>
                            <m:t>∗(</m:t>
                          </m:r>
                          <m:r>
                            <a:rPr lang="en-AU" sz="1600" b="0" i="1" smtClean="0">
                              <a:latin typeface="Cambria Math" panose="02040503050406030204" pitchFamily="18" charset="0"/>
                            </a:rPr>
                            <m:t>40−36</m:t>
                          </m:r>
                          <m:r>
                            <a:rPr lang="en-AU" sz="1600" i="1">
                              <a:latin typeface="Cambria Math" panose="02040503050406030204" pitchFamily="18" charset="0"/>
                            </a:rPr>
                            <m:t>)</m:t>
                          </m:r>
                        </m:num>
                        <m:den>
                          <m:r>
                            <a:rPr lang="en-AU" sz="1600" b="0" i="1" smtClean="0">
                              <a:latin typeface="Cambria Math" panose="02040503050406030204" pitchFamily="18" charset="0"/>
                            </a:rPr>
                            <m:t>40−20</m:t>
                          </m:r>
                        </m:den>
                      </m:f>
                      <m:r>
                        <a:rPr lang="en-AU" sz="1600" b="0" i="1" smtClean="0">
                          <a:latin typeface="Cambria Math" panose="02040503050406030204" pitchFamily="18" charset="0"/>
                        </a:rPr>
                        <m:t>=0.6,</m:t>
                      </m:r>
                      <m:r>
                        <m:rPr>
                          <m:sty m:val="p"/>
                        </m:rPr>
                        <a:rPr lang="en-AU" sz="1600" i="1">
                          <a:latin typeface="Cambria Math" panose="02040503050406030204" pitchFamily="18" charset="0"/>
                        </a:rPr>
                        <m:t>H</m:t>
                      </m:r>
                      <m:d>
                        <m:dPr>
                          <m:begChr m:val="["/>
                          <m:endChr m:val="]"/>
                          <m:ctrlPr>
                            <a:rPr lang="en-AU" sz="1600" b="0" i="1" smtClean="0">
                              <a:latin typeface="Cambria Math" panose="02040503050406030204" pitchFamily="18" charset="0"/>
                            </a:rPr>
                          </m:ctrlPr>
                        </m:dPr>
                        <m:e>
                          <m:r>
                            <a:rPr lang="en-AU" sz="1600" b="0" i="1" smtClean="0">
                              <a:latin typeface="Cambria Math" panose="02040503050406030204" pitchFamily="18" charset="0"/>
                            </a:rPr>
                            <m:t>40</m:t>
                          </m:r>
                        </m:e>
                      </m:d>
                      <m:r>
                        <a:rPr lang="en-AU" sz="1600" i="1">
                          <a:latin typeface="Cambria Math" panose="02040503050406030204" pitchFamily="18" charset="0"/>
                        </a:rPr>
                        <m:t>=</m:t>
                      </m:r>
                      <m:r>
                        <a:rPr lang="en-AU" sz="1600" i="1">
                          <a:latin typeface="Cambria Math" panose="02040503050406030204" pitchFamily="18" charset="0"/>
                        </a:rPr>
                        <m:t>0+</m:t>
                      </m:r>
                      <m:f>
                        <m:fPr>
                          <m:ctrlPr>
                            <a:rPr lang="en-AU" sz="1600" i="1">
                              <a:latin typeface="Cambria Math" panose="02040503050406030204" pitchFamily="18" charset="0"/>
                            </a:rPr>
                          </m:ctrlPr>
                        </m:fPr>
                        <m:num>
                          <m:r>
                            <a:rPr lang="en-AU" sz="1600" i="1">
                              <a:latin typeface="Cambria Math" panose="02040503050406030204" pitchFamily="18" charset="0"/>
                            </a:rPr>
                            <m:t>3</m:t>
                          </m:r>
                          <m:r>
                            <a:rPr lang="en-AU" sz="1600" i="1">
                              <a:latin typeface="Cambria Math" panose="02040503050406030204" pitchFamily="18" charset="0"/>
                            </a:rPr>
                            <m:t>∗(</m:t>
                          </m:r>
                          <m:r>
                            <a:rPr lang="en-AU" sz="1600" i="1">
                              <a:latin typeface="Cambria Math" panose="02040503050406030204" pitchFamily="18" charset="0"/>
                            </a:rPr>
                            <m:t>36</m:t>
                          </m:r>
                          <m:r>
                            <a:rPr lang="en-AU" sz="1600" b="0" i="1" smtClean="0">
                              <a:latin typeface="Cambria Math" panose="02040503050406030204" pitchFamily="18" charset="0"/>
                            </a:rPr>
                            <m:t>−20</m:t>
                          </m:r>
                          <m:r>
                            <a:rPr lang="en-AU" sz="1600" i="1">
                              <a:latin typeface="Cambria Math" panose="02040503050406030204" pitchFamily="18" charset="0"/>
                            </a:rPr>
                            <m:t>)</m:t>
                          </m:r>
                        </m:num>
                        <m:den>
                          <m:r>
                            <a:rPr lang="en-AU" sz="1600" i="1">
                              <a:latin typeface="Cambria Math" panose="02040503050406030204" pitchFamily="18" charset="0"/>
                            </a:rPr>
                            <m:t>20</m:t>
                          </m:r>
                        </m:den>
                      </m:f>
                      <m:r>
                        <a:rPr lang="en-AU" sz="1600" i="1">
                          <a:latin typeface="Cambria Math" panose="02040503050406030204" pitchFamily="18" charset="0"/>
                        </a:rPr>
                        <m:t>=</m:t>
                      </m:r>
                      <m:r>
                        <a:rPr lang="en-AU" sz="1600" b="0" i="1" smtClean="0">
                          <a:latin typeface="Cambria Math" panose="02040503050406030204" pitchFamily="18" charset="0"/>
                        </a:rPr>
                        <m:t>2</m:t>
                      </m:r>
                      <m:r>
                        <a:rPr lang="en-AU" sz="1600" i="1">
                          <a:latin typeface="Cambria Math" panose="02040503050406030204" pitchFamily="18" charset="0"/>
                        </a:rPr>
                        <m:t>.</m:t>
                      </m:r>
                      <m:r>
                        <a:rPr lang="en-AU" sz="1600" b="0" i="1" smtClean="0">
                          <a:latin typeface="Cambria Math" panose="02040503050406030204" pitchFamily="18" charset="0"/>
                        </a:rPr>
                        <m:t>4</m:t>
                      </m:r>
                    </m:oMath>
                  </m:oMathPara>
                </a14:m>
                <a:endParaRPr lang="en-US" dirty="0"/>
              </a:p>
            </p:txBody>
          </p:sp>
        </mc:Choice>
        <mc:Fallback>
          <p:sp>
            <p:nvSpPr>
              <p:cNvPr id="37" name="TextBox 36">
                <a:extLst>
                  <a:ext uri="{FF2B5EF4-FFF2-40B4-BE49-F238E27FC236}">
                    <a16:creationId xmlns:a16="http://schemas.microsoft.com/office/drawing/2014/main" id="{2C802DA4-C3F0-06E6-8B4E-3B7100704894}"/>
                  </a:ext>
                </a:extLst>
              </p:cNvPr>
              <p:cNvSpPr txBox="1">
                <a:spLocks noRot="1" noChangeAspect="1" noMove="1" noResize="1" noEditPoints="1" noAdjustHandles="1" noChangeArrowheads="1" noChangeShapeType="1" noTextEdit="1"/>
              </p:cNvSpPr>
              <p:nvPr/>
            </p:nvSpPr>
            <p:spPr>
              <a:xfrm>
                <a:off x="105508" y="4147305"/>
                <a:ext cx="12004430" cy="838371"/>
              </a:xfrm>
              <a:prstGeom prst="rect">
                <a:avLst/>
              </a:prstGeom>
              <a:blipFill>
                <a:blip r:embed="rId6"/>
                <a:stretch>
                  <a:fillRect l="-423" t="-2985" b="-1493"/>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DCB3009F-4A72-4332-950A-09423FA3343B}"/>
              </a:ext>
            </a:extLst>
          </p:cNvPr>
          <p:cNvGrpSpPr/>
          <p:nvPr/>
        </p:nvGrpSpPr>
        <p:grpSpPr>
          <a:xfrm>
            <a:off x="7162179" y="4397141"/>
            <a:ext cx="4686155" cy="629266"/>
            <a:chOff x="5727700" y="2356556"/>
            <a:chExt cx="4686155" cy="629266"/>
          </a:xfrm>
        </p:grpSpPr>
        <p:sp>
          <p:nvSpPr>
            <p:cNvPr id="39" name="Rectangle 38">
              <a:extLst>
                <a:ext uri="{FF2B5EF4-FFF2-40B4-BE49-F238E27FC236}">
                  <a16:creationId xmlns:a16="http://schemas.microsoft.com/office/drawing/2014/main" id="{FE9D3FAE-3F05-D0C8-B912-9AC9258F6A1B}"/>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CCA2074-25EF-F087-7C6F-FCBCC77B79D3}"/>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A33C15D-FF38-B02C-9F9A-383A9C2DF884}"/>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D69F543-D094-C160-0E45-0F97298AEF2A}"/>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ACA38893-71CD-4BB5-DF71-F01498A6F91A}"/>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B74177D-377B-60AF-FCF4-55318F4FBC62}"/>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18C0602-7F9A-81D3-3D98-09801B6032AA}"/>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2266D92-2ACB-7C88-193C-0EDC3AFDD30F}"/>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9483720-6573-B3EC-0C89-14A04CA8B6FD}"/>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48" name="TextBox 47">
              <a:extLst>
                <a:ext uri="{FF2B5EF4-FFF2-40B4-BE49-F238E27FC236}">
                  <a16:creationId xmlns:a16="http://schemas.microsoft.com/office/drawing/2014/main" id="{540B295C-8D02-0DCF-0A4B-166ED01958A2}"/>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49" name="TextBox 48">
              <a:extLst>
                <a:ext uri="{FF2B5EF4-FFF2-40B4-BE49-F238E27FC236}">
                  <a16:creationId xmlns:a16="http://schemas.microsoft.com/office/drawing/2014/main" id="{A3928DE9-00DA-760A-5A41-9F14F7D2CD4C}"/>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50" name="TextBox 49">
              <a:extLst>
                <a:ext uri="{FF2B5EF4-FFF2-40B4-BE49-F238E27FC236}">
                  <a16:creationId xmlns:a16="http://schemas.microsoft.com/office/drawing/2014/main" id="{73B1D887-8FBC-B7EF-7E13-E5539E149E00}"/>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51" name="TextBox 50">
              <a:extLst>
                <a:ext uri="{FF2B5EF4-FFF2-40B4-BE49-F238E27FC236}">
                  <a16:creationId xmlns:a16="http://schemas.microsoft.com/office/drawing/2014/main" id="{DF435283-CF99-7D68-62D1-385C4582FB5D}"/>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52" name="TextBox 51">
              <a:extLst>
                <a:ext uri="{FF2B5EF4-FFF2-40B4-BE49-F238E27FC236}">
                  <a16:creationId xmlns:a16="http://schemas.microsoft.com/office/drawing/2014/main" id="{0D21AF39-944E-494C-6A33-64FE4758DCBF}"/>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53" name="TextBox 52">
              <a:extLst>
                <a:ext uri="{FF2B5EF4-FFF2-40B4-BE49-F238E27FC236}">
                  <a16:creationId xmlns:a16="http://schemas.microsoft.com/office/drawing/2014/main" id="{5EDB70DD-3278-152B-7EC1-44D23B4E7DA6}"/>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54" name="Rectangle 53">
              <a:extLst>
                <a:ext uri="{FF2B5EF4-FFF2-40B4-BE49-F238E27FC236}">
                  <a16:creationId xmlns:a16="http://schemas.microsoft.com/office/drawing/2014/main" id="{EB560802-4BA0-4622-3D96-1EFCC32BFE35}"/>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46A36A42-A1DD-C95D-9114-20477D4F987E}"/>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56" name="TextBox 55">
              <a:extLst>
                <a:ext uri="{FF2B5EF4-FFF2-40B4-BE49-F238E27FC236}">
                  <a16:creationId xmlns:a16="http://schemas.microsoft.com/office/drawing/2014/main" id="{9CBF7902-6C01-C12B-8C20-AEB386F042A9}"/>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sp>
        <p:nvSpPr>
          <p:cNvPr id="57" name="TextBox 56">
            <a:extLst>
              <a:ext uri="{FF2B5EF4-FFF2-40B4-BE49-F238E27FC236}">
                <a16:creationId xmlns:a16="http://schemas.microsoft.com/office/drawing/2014/main" id="{300B3AB8-69BE-8937-BD35-55562AF1E5ED}"/>
              </a:ext>
            </a:extLst>
          </p:cNvPr>
          <p:cNvSpPr txBox="1"/>
          <p:nvPr/>
        </p:nvSpPr>
        <p:spPr>
          <a:xfrm>
            <a:off x="9357180" y="4415246"/>
            <a:ext cx="301686" cy="369332"/>
          </a:xfrm>
          <a:prstGeom prst="rect">
            <a:avLst/>
          </a:prstGeom>
          <a:noFill/>
        </p:spPr>
        <p:txBody>
          <a:bodyPr wrap="none" rtlCol="0">
            <a:spAutoFit/>
          </a:bodyPr>
          <a:lstStyle/>
          <a:p>
            <a:r>
              <a:rPr lang="en-US" dirty="0"/>
              <a:t>2</a:t>
            </a:r>
          </a:p>
        </p:txBody>
      </p:sp>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91FF1B17-347D-B608-9F7C-9E8F30A10A7D}"/>
                  </a:ext>
                </a:extLst>
              </p:cNvPr>
              <p:cNvSpPr txBox="1"/>
              <p:nvPr/>
            </p:nvSpPr>
            <p:spPr>
              <a:xfrm>
                <a:off x="914957" y="5046950"/>
                <a:ext cx="6156781" cy="807593"/>
              </a:xfrm>
              <a:prstGeom prst="rect">
                <a:avLst/>
              </a:prstGeom>
              <a:noFill/>
            </p:spPr>
            <p:txBody>
              <a:bodyPr wrap="square" rtlCol="0">
                <a:spAutoFit/>
              </a:bodyPr>
              <a:lstStyle/>
              <a:p>
                <a:r>
                  <a:rPr lang="en-US" sz="1600" dirty="0"/>
                  <a:t>Then </a:t>
                </a:r>
                <a14:m>
                  <m:oMath xmlns:m="http://schemas.openxmlformats.org/officeDocument/2006/math">
                    <m:r>
                      <a:rPr lang="en-AU" sz="1600" i="1">
                        <a:latin typeface="Cambria Math" panose="02040503050406030204" pitchFamily="18" charset="0"/>
                      </a:rPr>
                      <m:t>𝜃</m:t>
                    </m:r>
                    <m:r>
                      <a:rPr lang="en-AU" sz="1600" i="1">
                        <a:latin typeface="Cambria Math" panose="02040503050406030204" pitchFamily="18" charset="0"/>
                      </a:rPr>
                      <m:t>=5 , </m:t>
                    </m:r>
                  </m:oMath>
                </a14:m>
                <a:r>
                  <a:rPr lang="en-US" sz="1600" dirty="0"/>
                  <a:t>we have </a:t>
                </a:r>
                <a14:m>
                  <m:oMath xmlns:m="http://schemas.openxmlformats.org/officeDocument/2006/math">
                    <m:r>
                      <a:rPr lang="en-AU" sz="1600">
                        <a:latin typeface="Cambria Math" panose="02040503050406030204" pitchFamily="18" charset="0"/>
                      </a:rPr>
                      <m:t>0&lt;</m:t>
                    </m:r>
                    <m:r>
                      <a:rPr lang="en-AU" sz="1600" b="0" i="1" smtClean="0">
                        <a:latin typeface="Cambria Math" panose="02040503050406030204" pitchFamily="18" charset="0"/>
                      </a:rPr>
                      <m:t>5</m:t>
                    </m:r>
                    <m:r>
                      <a:rPr lang="en-AU" sz="1600" i="1">
                        <a:latin typeface="Cambria Math" panose="02040503050406030204" pitchFamily="18" charset="0"/>
                      </a:rPr>
                      <m:t>&lt;</m:t>
                    </m:r>
                    <m:r>
                      <a:rPr lang="en-AU" sz="1600" b="0" i="1" smtClean="0">
                        <a:latin typeface="Cambria Math" panose="02040503050406030204" pitchFamily="18" charset="0"/>
                      </a:rPr>
                      <m:t>20</m:t>
                    </m:r>
                  </m:oMath>
                </a14:m>
                <a:r>
                  <a:rPr lang="en-AU" sz="1600" dirty="0"/>
                  <a:t> </a:t>
                </a:r>
                <a:endParaRPr lang="en-AU" sz="1600" i="1" dirty="0">
                  <a:latin typeface="Cambria Math" panose="02040503050406030204" pitchFamily="18" charset="0"/>
                </a:endParaRPr>
              </a:p>
              <a:p>
                <a:pPr marL="11113"/>
                <a14:m>
                  <m:oMathPara xmlns:m="http://schemas.openxmlformats.org/officeDocument/2006/math">
                    <m:oMathParaPr>
                      <m:jc m:val="left"/>
                    </m:oMathParaPr>
                    <m:oMath>
                      <m:r>
                        <m:rPr>
                          <m:sty m:val="p"/>
                        </m:rPr>
                        <a:rPr lang="en-AU" sz="1600" i="1">
                          <a:latin typeface="Cambria Math" panose="02040503050406030204" pitchFamily="18" charset="0"/>
                        </a:rPr>
                        <m:t>H</m:t>
                      </m:r>
                      <m:d>
                        <m:dPr>
                          <m:begChr m:val="["/>
                          <m:endChr m:val="]"/>
                          <m:ctrlPr>
                            <a:rPr lang="en-AU" sz="1600" i="1">
                              <a:latin typeface="Cambria Math" panose="02040503050406030204" pitchFamily="18" charset="0"/>
                            </a:rPr>
                          </m:ctrlPr>
                        </m:dPr>
                        <m:e>
                          <m:r>
                            <a:rPr lang="en-AU" sz="1600" i="1">
                              <a:latin typeface="Cambria Math" panose="02040503050406030204" pitchFamily="18" charset="0"/>
                            </a:rPr>
                            <m:t>0</m:t>
                          </m:r>
                        </m:e>
                      </m:d>
                      <m:r>
                        <a:rPr lang="en-AU" sz="1600" i="1">
                          <a:latin typeface="Cambria Math" panose="02040503050406030204" pitchFamily="18" charset="0"/>
                        </a:rPr>
                        <m:t>=</m:t>
                      </m:r>
                      <m:r>
                        <a:rPr lang="en-AU" sz="1600" i="1">
                          <a:latin typeface="Cambria Math" panose="02040503050406030204" pitchFamily="18" charset="0"/>
                        </a:rPr>
                        <m:t>0+</m:t>
                      </m:r>
                      <m:f>
                        <m:fPr>
                          <m:ctrlPr>
                            <a:rPr lang="en-AU" sz="1600" b="0" i="1" smtClean="0">
                              <a:latin typeface="Cambria Math" panose="02040503050406030204" pitchFamily="18" charset="0"/>
                            </a:rPr>
                          </m:ctrlPr>
                        </m:fPr>
                        <m:num>
                          <m:r>
                            <a:rPr lang="en-AU" sz="1600" b="0" i="1" smtClean="0">
                              <a:latin typeface="Cambria Math" panose="02040503050406030204" pitchFamily="18" charset="0"/>
                            </a:rPr>
                            <m:t>4</m:t>
                          </m:r>
                          <m:r>
                            <a:rPr lang="en-AU" sz="1600" i="1">
                              <a:latin typeface="Cambria Math" panose="02040503050406030204" pitchFamily="18" charset="0"/>
                            </a:rPr>
                            <m:t>∗(</m:t>
                          </m:r>
                          <m:r>
                            <a:rPr lang="en-AU" sz="1600" b="0" i="1" smtClean="0">
                              <a:latin typeface="Cambria Math" panose="02040503050406030204" pitchFamily="18" charset="0"/>
                            </a:rPr>
                            <m:t>2</m:t>
                          </m:r>
                          <m:r>
                            <a:rPr lang="en-AU" sz="1600" i="1">
                              <a:latin typeface="Cambria Math" panose="02040503050406030204" pitchFamily="18" charset="0"/>
                            </a:rPr>
                            <m:t>0−</m:t>
                          </m:r>
                          <m:r>
                            <a:rPr lang="en-AU" sz="1600" b="0" i="1" smtClean="0">
                              <a:latin typeface="Cambria Math" panose="02040503050406030204" pitchFamily="18" charset="0"/>
                            </a:rPr>
                            <m:t>5</m:t>
                          </m:r>
                          <m:r>
                            <a:rPr lang="en-AU" sz="1600" i="1">
                              <a:latin typeface="Cambria Math" panose="02040503050406030204" pitchFamily="18" charset="0"/>
                            </a:rPr>
                            <m:t>)</m:t>
                          </m:r>
                        </m:num>
                        <m:den>
                          <m:r>
                            <a:rPr lang="en-AU" sz="1600" b="0" i="1" smtClean="0">
                              <a:latin typeface="Cambria Math" panose="02040503050406030204" pitchFamily="18" charset="0"/>
                            </a:rPr>
                            <m:t>2</m:t>
                          </m:r>
                          <m:r>
                            <a:rPr lang="en-AU" sz="1600" i="1">
                              <a:latin typeface="Cambria Math" panose="02040503050406030204" pitchFamily="18" charset="0"/>
                            </a:rPr>
                            <m:t>0−0</m:t>
                          </m:r>
                        </m:den>
                      </m:f>
                      <m:r>
                        <a:rPr lang="en-AU" sz="1600" i="1">
                          <a:latin typeface="Cambria Math" panose="02040503050406030204" pitchFamily="18" charset="0"/>
                        </a:rPr>
                        <m:t>=</m:t>
                      </m:r>
                      <m:r>
                        <a:rPr lang="en-AU" sz="1600" b="0" i="1" smtClean="0">
                          <a:latin typeface="Cambria Math" panose="02040503050406030204" pitchFamily="18" charset="0"/>
                        </a:rPr>
                        <m:t>3</m:t>
                      </m:r>
                      <m:r>
                        <a:rPr lang="en-AU" sz="1600" i="1">
                          <a:latin typeface="Cambria Math" panose="02040503050406030204" pitchFamily="18" charset="0"/>
                        </a:rPr>
                        <m:t>,</m:t>
                      </m:r>
                      <m:r>
                        <m:rPr>
                          <m:sty m:val="p"/>
                        </m:rPr>
                        <a:rPr lang="en-AU" sz="1600" i="1">
                          <a:latin typeface="Cambria Math" panose="02040503050406030204" pitchFamily="18" charset="0"/>
                        </a:rPr>
                        <m:t>H</m:t>
                      </m:r>
                      <m:d>
                        <m:dPr>
                          <m:begChr m:val="["/>
                          <m:endChr m:val="]"/>
                          <m:ctrlPr>
                            <a:rPr lang="en-AU" sz="1600" b="0" i="1" smtClean="0">
                              <a:latin typeface="Cambria Math" panose="02040503050406030204" pitchFamily="18" charset="0"/>
                            </a:rPr>
                          </m:ctrlPr>
                        </m:dPr>
                        <m:e>
                          <m:r>
                            <a:rPr lang="en-AU" sz="1600" b="0" i="1" smtClean="0">
                              <a:latin typeface="Cambria Math" panose="02040503050406030204" pitchFamily="18" charset="0"/>
                            </a:rPr>
                            <m:t>2</m:t>
                          </m:r>
                          <m:r>
                            <a:rPr lang="en-AU" sz="1600" i="1">
                              <a:latin typeface="Cambria Math" panose="02040503050406030204" pitchFamily="18" charset="0"/>
                            </a:rPr>
                            <m:t>0</m:t>
                          </m:r>
                        </m:e>
                      </m:d>
                      <m:r>
                        <a:rPr lang="en-AU" sz="1600" i="1">
                          <a:latin typeface="Cambria Math" panose="02040503050406030204" pitchFamily="18" charset="0"/>
                        </a:rPr>
                        <m:t>=0</m:t>
                      </m:r>
                      <m:r>
                        <a:rPr lang="en-AU" sz="1600" b="0" i="1" smtClean="0">
                          <a:latin typeface="Cambria Math" panose="02040503050406030204" pitchFamily="18" charset="0"/>
                        </a:rPr>
                        <m:t>.6</m:t>
                      </m:r>
                      <m:r>
                        <a:rPr lang="en-AU" sz="1600" i="1">
                          <a:latin typeface="Cambria Math" panose="02040503050406030204" pitchFamily="18" charset="0"/>
                        </a:rPr>
                        <m:t>+</m:t>
                      </m:r>
                      <m:f>
                        <m:fPr>
                          <m:ctrlPr>
                            <a:rPr lang="en-AU" sz="1600" b="0" i="1" smtClean="0">
                              <a:latin typeface="Cambria Math" panose="02040503050406030204" pitchFamily="18" charset="0"/>
                            </a:rPr>
                          </m:ctrlPr>
                        </m:fPr>
                        <m:num>
                          <m:r>
                            <a:rPr lang="en-AU" sz="1600" b="0" i="1" smtClean="0">
                              <a:latin typeface="Cambria Math" panose="02040503050406030204" pitchFamily="18" charset="0"/>
                            </a:rPr>
                            <m:t>4</m:t>
                          </m:r>
                          <m:r>
                            <a:rPr lang="en-AU" sz="1600" i="1">
                              <a:latin typeface="Cambria Math" panose="02040503050406030204" pitchFamily="18" charset="0"/>
                            </a:rPr>
                            <m:t>∗(</m:t>
                          </m:r>
                          <m:r>
                            <a:rPr lang="en-AU" sz="1600" b="0" i="1" smtClean="0">
                              <a:latin typeface="Cambria Math" panose="02040503050406030204" pitchFamily="18" charset="0"/>
                            </a:rPr>
                            <m:t>5</m:t>
                          </m:r>
                          <m:r>
                            <a:rPr lang="en-AU" sz="1600" i="1">
                              <a:latin typeface="Cambria Math" panose="02040503050406030204" pitchFamily="18" charset="0"/>
                            </a:rPr>
                            <m:t>−0</m:t>
                          </m:r>
                          <m:r>
                            <a:rPr lang="en-AU" sz="1600" i="1">
                              <a:latin typeface="Cambria Math" panose="02040503050406030204" pitchFamily="18" charset="0"/>
                            </a:rPr>
                            <m:t>)</m:t>
                          </m:r>
                        </m:num>
                        <m:den>
                          <m:r>
                            <a:rPr lang="en-AU" sz="1600" i="1">
                              <a:latin typeface="Cambria Math" panose="02040503050406030204" pitchFamily="18" charset="0"/>
                            </a:rPr>
                            <m:t>20</m:t>
                          </m:r>
                        </m:den>
                      </m:f>
                      <m:r>
                        <a:rPr lang="en-AU" sz="1600" i="1">
                          <a:latin typeface="Cambria Math" panose="02040503050406030204" pitchFamily="18" charset="0"/>
                        </a:rPr>
                        <m:t>=</m:t>
                      </m:r>
                      <m:r>
                        <a:rPr lang="en-AU" sz="1600" b="0" i="1" smtClean="0">
                          <a:latin typeface="Cambria Math" panose="02040503050406030204" pitchFamily="18" charset="0"/>
                        </a:rPr>
                        <m:t>1</m:t>
                      </m:r>
                      <m:r>
                        <a:rPr lang="en-AU" sz="1600" i="1">
                          <a:latin typeface="Cambria Math" panose="02040503050406030204" pitchFamily="18" charset="0"/>
                        </a:rPr>
                        <m:t>.</m:t>
                      </m:r>
                      <m:r>
                        <a:rPr lang="en-AU" sz="1600" b="0" i="1" smtClean="0">
                          <a:latin typeface="Cambria Math" panose="02040503050406030204" pitchFamily="18" charset="0"/>
                        </a:rPr>
                        <m:t>6</m:t>
                      </m:r>
                    </m:oMath>
                  </m:oMathPara>
                </a14:m>
                <a:endParaRPr lang="en-US" sz="1600" dirty="0"/>
              </a:p>
            </p:txBody>
          </p:sp>
        </mc:Choice>
        <mc:Fallback>
          <p:sp>
            <p:nvSpPr>
              <p:cNvPr id="58" name="TextBox 57">
                <a:extLst>
                  <a:ext uri="{FF2B5EF4-FFF2-40B4-BE49-F238E27FC236}">
                    <a16:creationId xmlns:a16="http://schemas.microsoft.com/office/drawing/2014/main" id="{91FF1B17-347D-B608-9F7C-9E8F30A10A7D}"/>
                  </a:ext>
                </a:extLst>
              </p:cNvPr>
              <p:cNvSpPr txBox="1">
                <a:spLocks noRot="1" noChangeAspect="1" noMove="1" noResize="1" noEditPoints="1" noAdjustHandles="1" noChangeArrowheads="1" noChangeShapeType="1" noTextEdit="1"/>
              </p:cNvSpPr>
              <p:nvPr/>
            </p:nvSpPr>
            <p:spPr>
              <a:xfrm>
                <a:off x="914957" y="5046950"/>
                <a:ext cx="6156781" cy="807593"/>
              </a:xfrm>
              <a:prstGeom prst="rect">
                <a:avLst/>
              </a:prstGeom>
              <a:blipFill>
                <a:blip r:embed="rId7"/>
                <a:stretch>
                  <a:fillRect l="-619" t="-1563" b="-1563"/>
                </a:stretch>
              </a:blipFill>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8A8CF63A-CE99-5F89-38E6-A0938259A516}"/>
              </a:ext>
            </a:extLst>
          </p:cNvPr>
          <p:cNvGrpSpPr/>
          <p:nvPr/>
        </p:nvGrpSpPr>
        <p:grpSpPr>
          <a:xfrm>
            <a:off x="7170759" y="5185600"/>
            <a:ext cx="4686155" cy="629266"/>
            <a:chOff x="5727700" y="2356556"/>
            <a:chExt cx="4686155" cy="629266"/>
          </a:xfrm>
        </p:grpSpPr>
        <p:sp>
          <p:nvSpPr>
            <p:cNvPr id="60" name="Rectangle 59">
              <a:extLst>
                <a:ext uri="{FF2B5EF4-FFF2-40B4-BE49-F238E27FC236}">
                  <a16:creationId xmlns:a16="http://schemas.microsoft.com/office/drawing/2014/main" id="{0567B627-D11B-1D56-EAA9-455F19933BC6}"/>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FA11FC8-CA79-9B9D-476B-54C2E9EBD1EB}"/>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474BC57A-8ACC-5F48-3C12-152ECD7AAE63}"/>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CCE5BB5F-2147-851A-AFC9-B96F1B4F6C40}"/>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63">
              <a:extLst>
                <a:ext uri="{FF2B5EF4-FFF2-40B4-BE49-F238E27FC236}">
                  <a16:creationId xmlns:a16="http://schemas.microsoft.com/office/drawing/2014/main" id="{BEFC4ACD-F2DF-EF3F-6768-6A422462F688}"/>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7E72B5A0-4218-75B5-7F1A-ADB25D49CF92}"/>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68E45C6-FAE2-4C65-16D7-760500D918E3}"/>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8F31DBCA-63F9-7101-56E8-A04D6826F0FC}"/>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A2298D19-DC92-3031-B406-7AD2B4827E0A}"/>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69" name="TextBox 68">
              <a:extLst>
                <a:ext uri="{FF2B5EF4-FFF2-40B4-BE49-F238E27FC236}">
                  <a16:creationId xmlns:a16="http://schemas.microsoft.com/office/drawing/2014/main" id="{F3BA55BC-A162-5FDF-B5BC-69482C6F3072}"/>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70" name="TextBox 69">
              <a:extLst>
                <a:ext uri="{FF2B5EF4-FFF2-40B4-BE49-F238E27FC236}">
                  <a16:creationId xmlns:a16="http://schemas.microsoft.com/office/drawing/2014/main" id="{3281213A-4309-B2B5-2CD5-B6B2CB928967}"/>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71" name="TextBox 70">
              <a:extLst>
                <a:ext uri="{FF2B5EF4-FFF2-40B4-BE49-F238E27FC236}">
                  <a16:creationId xmlns:a16="http://schemas.microsoft.com/office/drawing/2014/main" id="{B1303275-C5EF-2CB4-7B3B-7139CB2BD05F}"/>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72" name="TextBox 71">
              <a:extLst>
                <a:ext uri="{FF2B5EF4-FFF2-40B4-BE49-F238E27FC236}">
                  <a16:creationId xmlns:a16="http://schemas.microsoft.com/office/drawing/2014/main" id="{8D5C1A44-1995-F028-4AF3-140FE3778B9A}"/>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73" name="TextBox 72">
              <a:extLst>
                <a:ext uri="{FF2B5EF4-FFF2-40B4-BE49-F238E27FC236}">
                  <a16:creationId xmlns:a16="http://schemas.microsoft.com/office/drawing/2014/main" id="{CB949CDF-4921-CA05-8A79-842C3FE5BAF2}"/>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74" name="TextBox 73">
              <a:extLst>
                <a:ext uri="{FF2B5EF4-FFF2-40B4-BE49-F238E27FC236}">
                  <a16:creationId xmlns:a16="http://schemas.microsoft.com/office/drawing/2014/main" id="{AB5806FD-EB41-FAA4-C827-8BB2916BF88E}"/>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75" name="Rectangle 74">
              <a:extLst>
                <a:ext uri="{FF2B5EF4-FFF2-40B4-BE49-F238E27FC236}">
                  <a16:creationId xmlns:a16="http://schemas.microsoft.com/office/drawing/2014/main" id="{218A9279-E82F-ED2C-DDC0-E5DA358C4341}"/>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43ABE858-52B3-029D-4C9E-4C330185468B}"/>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77" name="TextBox 76">
              <a:extLst>
                <a:ext uri="{FF2B5EF4-FFF2-40B4-BE49-F238E27FC236}">
                  <a16:creationId xmlns:a16="http://schemas.microsoft.com/office/drawing/2014/main" id="{040041D7-A668-5395-B22A-57A666B8FC04}"/>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sp>
        <p:nvSpPr>
          <p:cNvPr id="78" name="TextBox 77">
            <a:extLst>
              <a:ext uri="{FF2B5EF4-FFF2-40B4-BE49-F238E27FC236}">
                <a16:creationId xmlns:a16="http://schemas.microsoft.com/office/drawing/2014/main" id="{481745D9-7CEE-7BC3-B719-B75A58E971E0}"/>
              </a:ext>
            </a:extLst>
          </p:cNvPr>
          <p:cNvSpPr txBox="1"/>
          <p:nvPr/>
        </p:nvSpPr>
        <p:spPr>
          <a:xfrm>
            <a:off x="9377482" y="5203705"/>
            <a:ext cx="301686" cy="369332"/>
          </a:xfrm>
          <a:prstGeom prst="rect">
            <a:avLst/>
          </a:prstGeom>
          <a:noFill/>
        </p:spPr>
        <p:txBody>
          <a:bodyPr wrap="none" rtlCol="0">
            <a:spAutoFit/>
          </a:bodyPr>
          <a:lstStyle/>
          <a:p>
            <a:r>
              <a:rPr lang="en-US" dirty="0"/>
              <a:t>2</a:t>
            </a:r>
          </a:p>
        </p:txBody>
      </p:sp>
      <mc:AlternateContent xmlns:mc="http://schemas.openxmlformats.org/markup-compatibility/2006">
        <mc:Choice xmlns:a14="http://schemas.microsoft.com/office/drawing/2010/main" Requires="a14">
          <p:sp>
            <p:nvSpPr>
              <p:cNvPr id="79" name="TextBox 78">
                <a:extLst>
                  <a:ext uri="{FF2B5EF4-FFF2-40B4-BE49-F238E27FC236}">
                    <a16:creationId xmlns:a16="http://schemas.microsoft.com/office/drawing/2014/main" id="{C2EC1F1F-8643-8FEF-B081-1BD3BD5CFA8F}"/>
                  </a:ext>
                </a:extLst>
              </p:cNvPr>
              <p:cNvSpPr txBox="1"/>
              <p:nvPr/>
            </p:nvSpPr>
            <p:spPr>
              <a:xfrm>
                <a:off x="105508" y="5907199"/>
                <a:ext cx="12086491" cy="807593"/>
              </a:xfrm>
              <a:prstGeom prst="rect">
                <a:avLst/>
              </a:prstGeom>
              <a:solidFill>
                <a:schemeClr val="bg2"/>
              </a:solidFill>
            </p:spPr>
            <p:txBody>
              <a:bodyPr wrap="square" rtlCol="0">
                <a:spAutoFit/>
              </a:bodyPr>
              <a:lstStyle/>
              <a:p>
                <a:r>
                  <a:rPr lang="en-AU" sz="1600" dirty="0"/>
                  <a:t>Consider the case, </a:t>
                </a:r>
                <a14:m>
                  <m:oMath xmlns:m="http://schemas.openxmlformats.org/officeDocument/2006/math">
                    <m:r>
                      <a:rPr lang="en-AU" sz="1600" i="1">
                        <a:latin typeface="Cambria Math" panose="02040503050406030204" pitchFamily="18" charset="0"/>
                      </a:rPr>
                      <m:t>𝜃</m:t>
                    </m:r>
                    <m:r>
                      <a:rPr lang="en-AU" sz="1600" i="1">
                        <a:latin typeface="Cambria Math" panose="02040503050406030204" pitchFamily="18" charset="0"/>
                      </a:rPr>
                      <m:t>=165 </m:t>
                    </m:r>
                    <m:r>
                      <a:rPr lang="en-AU" sz="1600" b="0" i="1" smtClean="0">
                        <a:latin typeface="Cambria Math" panose="02040503050406030204" pitchFamily="18" charset="0"/>
                      </a:rPr>
                      <m:t>,</m:t>
                    </m:r>
                    <m:r>
                      <a:rPr lang="en-AU" sz="1600" b="0" i="0" smtClean="0">
                        <a:latin typeface="Cambria Math" panose="02040503050406030204" pitchFamily="18" charset="0"/>
                      </a:rPr>
                      <m:t> 160</m:t>
                    </m:r>
                    <m:r>
                      <a:rPr lang="en-AU" sz="1600">
                        <a:latin typeface="Cambria Math" panose="02040503050406030204" pitchFamily="18" charset="0"/>
                      </a:rPr>
                      <m:t>&lt;</m:t>
                    </m:r>
                    <m:r>
                      <a:rPr lang="en-AU" sz="1600" b="0" i="1" smtClean="0">
                        <a:latin typeface="Cambria Math" panose="02040503050406030204" pitchFamily="18" charset="0"/>
                      </a:rPr>
                      <m:t>16</m:t>
                    </m:r>
                    <m:r>
                      <a:rPr lang="en-AU" sz="1600" i="1">
                        <a:latin typeface="Cambria Math" panose="02040503050406030204" pitchFamily="18" charset="0"/>
                      </a:rPr>
                      <m:t>5</m:t>
                    </m:r>
                    <m:r>
                      <a:rPr lang="en-AU" sz="1600" i="1">
                        <a:latin typeface="Cambria Math" panose="02040503050406030204" pitchFamily="18" charset="0"/>
                      </a:rPr>
                      <m:t>&lt;</m:t>
                    </m:r>
                    <m:r>
                      <a:rPr lang="en-AU" sz="1600" b="0" i="1" smtClean="0">
                        <a:latin typeface="Cambria Math" panose="02040503050406030204" pitchFamily="18" charset="0"/>
                      </a:rPr>
                      <m:t>180</m:t>
                    </m:r>
                  </m:oMath>
                </a14:m>
                <a:r>
                  <a:rPr lang="en-US" sz="1600" dirty="0"/>
                  <a:t>, we get</a:t>
                </a:r>
              </a:p>
              <a:p>
                <a:pPr/>
                <a14:m>
                  <m:oMathPara xmlns:m="http://schemas.openxmlformats.org/officeDocument/2006/math">
                    <m:oMathParaPr>
                      <m:jc m:val="left"/>
                    </m:oMathParaPr>
                    <m:oMath>
                      <m:r>
                        <m:rPr>
                          <m:sty m:val="p"/>
                        </m:rPr>
                        <a:rPr lang="en-AU" sz="1600" i="1">
                          <a:latin typeface="Cambria Math" panose="02040503050406030204" pitchFamily="18" charset="0"/>
                        </a:rPr>
                        <m:t>H</m:t>
                      </m:r>
                      <m:d>
                        <m:dPr>
                          <m:begChr m:val="["/>
                          <m:endChr m:val="]"/>
                          <m:ctrlPr>
                            <a:rPr lang="en-AU" sz="1600" b="0" i="1" smtClean="0">
                              <a:latin typeface="Cambria Math" panose="02040503050406030204" pitchFamily="18" charset="0"/>
                            </a:rPr>
                          </m:ctrlPr>
                        </m:dPr>
                        <m:e>
                          <m:r>
                            <a:rPr lang="en-AU" sz="1600" b="0" i="1" smtClean="0">
                              <a:latin typeface="Cambria Math" panose="02040503050406030204" pitchFamily="18" charset="0"/>
                            </a:rPr>
                            <m:t>160</m:t>
                          </m:r>
                        </m:e>
                      </m:d>
                      <m:r>
                        <a:rPr lang="en-AU" sz="1600" i="1">
                          <a:latin typeface="Cambria Math" panose="02040503050406030204" pitchFamily="18" charset="0"/>
                        </a:rPr>
                        <m:t>=0+</m:t>
                      </m:r>
                      <m:f>
                        <m:fPr>
                          <m:ctrlPr>
                            <a:rPr lang="en-AU" sz="1600" b="0" i="1" smtClean="0">
                              <a:latin typeface="Cambria Math" panose="02040503050406030204" pitchFamily="18" charset="0"/>
                            </a:rPr>
                          </m:ctrlPr>
                        </m:fPr>
                        <m:num>
                          <m:r>
                            <a:rPr lang="en-AU" sz="1600" b="0" i="1" smtClean="0">
                              <a:latin typeface="Cambria Math" panose="02040503050406030204" pitchFamily="18" charset="0"/>
                            </a:rPr>
                            <m:t>85</m:t>
                          </m:r>
                          <m:r>
                            <a:rPr lang="en-AU" sz="1600" i="1">
                              <a:latin typeface="Cambria Math" panose="02040503050406030204" pitchFamily="18" charset="0"/>
                            </a:rPr>
                            <m:t>∗(</m:t>
                          </m:r>
                          <m:r>
                            <a:rPr lang="en-AU" sz="1600" b="0" i="1" smtClean="0">
                              <a:latin typeface="Cambria Math" panose="02040503050406030204" pitchFamily="18" charset="0"/>
                            </a:rPr>
                            <m:t>180</m:t>
                          </m:r>
                          <m:r>
                            <a:rPr lang="en-AU" sz="1600" i="1">
                              <a:latin typeface="Cambria Math" panose="02040503050406030204" pitchFamily="18" charset="0"/>
                            </a:rPr>
                            <m:t>−</m:t>
                          </m:r>
                          <m:r>
                            <a:rPr lang="en-AU" sz="1600" b="0" i="1" smtClean="0">
                              <a:latin typeface="Cambria Math" panose="02040503050406030204" pitchFamily="18" charset="0"/>
                            </a:rPr>
                            <m:t>165</m:t>
                          </m:r>
                          <m:r>
                            <a:rPr lang="en-AU" sz="1600" i="1">
                              <a:latin typeface="Cambria Math" panose="02040503050406030204" pitchFamily="18" charset="0"/>
                            </a:rPr>
                            <m:t>)</m:t>
                          </m:r>
                        </m:num>
                        <m:den>
                          <m:r>
                            <a:rPr lang="en-AU" sz="1600" i="1">
                              <a:latin typeface="Cambria Math" panose="02040503050406030204" pitchFamily="18" charset="0"/>
                            </a:rPr>
                            <m:t>2</m:t>
                          </m:r>
                          <m:r>
                            <a:rPr lang="en-AU" sz="1600" b="0" i="1" smtClean="0">
                              <a:latin typeface="Cambria Math" panose="02040503050406030204" pitchFamily="18" charset="0"/>
                            </a:rPr>
                            <m:t>0</m:t>
                          </m:r>
                        </m:den>
                      </m:f>
                      <m:r>
                        <a:rPr lang="en-AU" sz="1600" i="1">
                          <a:latin typeface="Cambria Math" panose="02040503050406030204" pitchFamily="18" charset="0"/>
                        </a:rPr>
                        <m:t>=</m:t>
                      </m:r>
                      <m:r>
                        <a:rPr lang="en-AU" sz="1600" b="0" i="1" smtClean="0">
                          <a:latin typeface="Cambria Math" panose="02040503050406030204" pitchFamily="18" charset="0"/>
                        </a:rPr>
                        <m:t>6</m:t>
                      </m:r>
                      <m:r>
                        <a:rPr lang="en-AU" sz="1600" i="1">
                          <a:latin typeface="Cambria Math" panose="02040503050406030204" pitchFamily="18" charset="0"/>
                        </a:rPr>
                        <m:t>3</m:t>
                      </m:r>
                      <m:r>
                        <a:rPr lang="en-AU" sz="1600" b="0" i="1" smtClean="0">
                          <a:latin typeface="Cambria Math" panose="02040503050406030204" pitchFamily="18" charset="0"/>
                        </a:rPr>
                        <m:t>.75</m:t>
                      </m:r>
                      <m:r>
                        <a:rPr lang="en-AU" sz="1600" i="1">
                          <a:latin typeface="Cambria Math" panose="02040503050406030204" pitchFamily="18" charset="0"/>
                        </a:rPr>
                        <m:t>,</m:t>
                      </m:r>
                      <m:r>
                        <a:rPr lang="en-AU" sz="1600" b="0" i="1" smtClean="0">
                          <a:latin typeface="Cambria Math" panose="02040503050406030204" pitchFamily="18" charset="0"/>
                        </a:rPr>
                        <m:t> </m:t>
                      </m:r>
                      <m:r>
                        <m:rPr>
                          <m:sty m:val="p"/>
                        </m:rPr>
                        <a:rPr lang="en-AU" sz="1600" i="1">
                          <a:latin typeface="Cambria Math" panose="02040503050406030204" pitchFamily="18" charset="0"/>
                        </a:rPr>
                        <m:t>H</m:t>
                      </m:r>
                      <m:d>
                        <m:dPr>
                          <m:begChr m:val="["/>
                          <m:endChr m:val="]"/>
                          <m:ctrlPr>
                            <a:rPr lang="en-AU" sz="1600" i="1">
                              <a:latin typeface="Cambria Math" panose="02040503050406030204" pitchFamily="18" charset="0"/>
                            </a:rPr>
                          </m:ctrlPr>
                        </m:dPr>
                        <m:e>
                          <m:r>
                            <a:rPr lang="en-AU" sz="1600" i="1">
                              <a:latin typeface="Cambria Math" panose="02040503050406030204" pitchFamily="18" charset="0"/>
                            </a:rPr>
                            <m:t>0</m:t>
                          </m:r>
                        </m:e>
                      </m:d>
                      <m:r>
                        <a:rPr lang="en-AU" sz="1600" i="1">
                          <a:latin typeface="Cambria Math" panose="02040503050406030204" pitchFamily="18" charset="0"/>
                        </a:rPr>
                        <m:t>=</m:t>
                      </m:r>
                      <m:r>
                        <a:rPr lang="en-AU" sz="1600" b="0" i="1" smtClean="0">
                          <a:latin typeface="Cambria Math" panose="02040503050406030204" pitchFamily="18" charset="0"/>
                        </a:rPr>
                        <m:t>3</m:t>
                      </m:r>
                      <m:r>
                        <a:rPr lang="en-AU" sz="1600" i="1">
                          <a:latin typeface="Cambria Math" panose="02040503050406030204" pitchFamily="18" charset="0"/>
                        </a:rPr>
                        <m:t>+</m:t>
                      </m:r>
                      <m:f>
                        <m:fPr>
                          <m:ctrlPr>
                            <a:rPr lang="en-AU" sz="1600" b="0" i="1" smtClean="0">
                              <a:latin typeface="Cambria Math" panose="02040503050406030204" pitchFamily="18" charset="0"/>
                            </a:rPr>
                          </m:ctrlPr>
                        </m:fPr>
                        <m:num>
                          <m:r>
                            <a:rPr lang="en-AU" sz="1600" b="0" i="1" smtClean="0">
                              <a:latin typeface="Cambria Math" panose="02040503050406030204" pitchFamily="18" charset="0"/>
                            </a:rPr>
                            <m:t>85</m:t>
                          </m:r>
                          <m:r>
                            <a:rPr lang="en-AU" sz="1600" i="1">
                              <a:latin typeface="Cambria Math" panose="02040503050406030204" pitchFamily="18" charset="0"/>
                            </a:rPr>
                            <m:t>∗(</m:t>
                          </m:r>
                          <m:r>
                            <a:rPr lang="en-AU" sz="1600" b="0" i="1" smtClean="0">
                              <a:latin typeface="Cambria Math" panose="02040503050406030204" pitchFamily="18" charset="0"/>
                            </a:rPr>
                            <m:t>165</m:t>
                          </m:r>
                          <m:r>
                            <a:rPr lang="en-AU" sz="1600" i="1">
                              <a:latin typeface="Cambria Math" panose="02040503050406030204" pitchFamily="18" charset="0"/>
                            </a:rPr>
                            <m:t>−</m:t>
                          </m:r>
                          <m:r>
                            <a:rPr lang="en-AU" sz="1600" b="0" i="1" smtClean="0">
                              <a:latin typeface="Cambria Math" panose="02040503050406030204" pitchFamily="18" charset="0"/>
                            </a:rPr>
                            <m:t>160</m:t>
                          </m:r>
                          <m:r>
                            <a:rPr lang="en-AU" sz="1600" i="1">
                              <a:latin typeface="Cambria Math" panose="02040503050406030204" pitchFamily="18" charset="0"/>
                            </a:rPr>
                            <m:t>)</m:t>
                          </m:r>
                        </m:num>
                        <m:den>
                          <m:r>
                            <a:rPr lang="en-AU" sz="1600" i="1">
                              <a:latin typeface="Cambria Math" panose="02040503050406030204" pitchFamily="18" charset="0"/>
                            </a:rPr>
                            <m:t>20</m:t>
                          </m:r>
                        </m:den>
                      </m:f>
                      <m:r>
                        <a:rPr lang="en-AU" sz="1600" i="1">
                          <a:latin typeface="Cambria Math" panose="02040503050406030204" pitchFamily="18" charset="0"/>
                        </a:rPr>
                        <m:t>=</m:t>
                      </m:r>
                      <m:r>
                        <a:rPr lang="en-AU" sz="1600" b="0" i="1" smtClean="0">
                          <a:latin typeface="Cambria Math" panose="02040503050406030204" pitchFamily="18" charset="0"/>
                        </a:rPr>
                        <m:t>24.25</m:t>
                      </m:r>
                    </m:oMath>
                  </m:oMathPara>
                </a14:m>
                <a:endParaRPr lang="en-US" sz="1600" dirty="0"/>
              </a:p>
            </p:txBody>
          </p:sp>
        </mc:Choice>
        <mc:Fallback>
          <p:sp>
            <p:nvSpPr>
              <p:cNvPr id="79" name="TextBox 78">
                <a:extLst>
                  <a:ext uri="{FF2B5EF4-FFF2-40B4-BE49-F238E27FC236}">
                    <a16:creationId xmlns:a16="http://schemas.microsoft.com/office/drawing/2014/main" id="{C2EC1F1F-8643-8FEF-B081-1BD3BD5CFA8F}"/>
                  </a:ext>
                </a:extLst>
              </p:cNvPr>
              <p:cNvSpPr txBox="1">
                <a:spLocks noRot="1" noChangeAspect="1" noMove="1" noResize="1" noEditPoints="1" noAdjustHandles="1" noChangeArrowheads="1" noChangeShapeType="1" noTextEdit="1"/>
              </p:cNvSpPr>
              <p:nvPr/>
            </p:nvSpPr>
            <p:spPr>
              <a:xfrm>
                <a:off x="105508" y="5907199"/>
                <a:ext cx="12086491" cy="807593"/>
              </a:xfrm>
              <a:prstGeom prst="rect">
                <a:avLst/>
              </a:prstGeom>
              <a:blipFill>
                <a:blip r:embed="rId8"/>
                <a:stretch>
                  <a:fillRect l="-315" t="-3125" b="-1563"/>
                </a:stretch>
              </a:blipFill>
            </p:spPr>
            <p:txBody>
              <a:bodyPr/>
              <a:lstStyle/>
              <a:p>
                <a:r>
                  <a:rPr lang="en-US">
                    <a:noFill/>
                  </a:rPr>
                  <a:t> </a:t>
                </a:r>
              </a:p>
            </p:txBody>
          </p:sp>
        </mc:Fallback>
      </mc:AlternateContent>
      <p:sp>
        <p:nvSpPr>
          <p:cNvPr id="144" name="TextBox 143">
            <a:extLst>
              <a:ext uri="{FF2B5EF4-FFF2-40B4-BE49-F238E27FC236}">
                <a16:creationId xmlns:a16="http://schemas.microsoft.com/office/drawing/2014/main" id="{DB291C2E-BC57-25D8-7D24-34453D0CD138}"/>
              </a:ext>
            </a:extLst>
          </p:cNvPr>
          <p:cNvSpPr txBox="1"/>
          <p:nvPr/>
        </p:nvSpPr>
        <p:spPr>
          <a:xfrm>
            <a:off x="7715949" y="4380077"/>
            <a:ext cx="476412" cy="369332"/>
          </a:xfrm>
          <a:prstGeom prst="rect">
            <a:avLst/>
          </a:prstGeom>
          <a:noFill/>
        </p:spPr>
        <p:txBody>
          <a:bodyPr wrap="none" rtlCol="0">
            <a:spAutoFit/>
          </a:bodyPr>
          <a:lstStyle/>
          <a:p>
            <a:r>
              <a:rPr lang="en-US" dirty="0"/>
              <a:t>0.6</a:t>
            </a:r>
          </a:p>
        </p:txBody>
      </p:sp>
      <p:sp>
        <p:nvSpPr>
          <p:cNvPr id="145" name="TextBox 144">
            <a:extLst>
              <a:ext uri="{FF2B5EF4-FFF2-40B4-BE49-F238E27FC236}">
                <a16:creationId xmlns:a16="http://schemas.microsoft.com/office/drawing/2014/main" id="{78E1AA68-B5A0-F2F1-7290-DB064B1BB65E}"/>
              </a:ext>
            </a:extLst>
          </p:cNvPr>
          <p:cNvSpPr txBox="1"/>
          <p:nvPr/>
        </p:nvSpPr>
        <p:spPr>
          <a:xfrm>
            <a:off x="8231762" y="4391801"/>
            <a:ext cx="476412" cy="369332"/>
          </a:xfrm>
          <a:prstGeom prst="rect">
            <a:avLst/>
          </a:prstGeom>
          <a:noFill/>
        </p:spPr>
        <p:txBody>
          <a:bodyPr wrap="none" rtlCol="0">
            <a:spAutoFit/>
          </a:bodyPr>
          <a:lstStyle/>
          <a:p>
            <a:r>
              <a:rPr lang="en-US" dirty="0"/>
              <a:t>2.4</a:t>
            </a:r>
          </a:p>
        </p:txBody>
      </p:sp>
      <p:sp>
        <p:nvSpPr>
          <p:cNvPr id="146" name="TextBox 145">
            <a:extLst>
              <a:ext uri="{FF2B5EF4-FFF2-40B4-BE49-F238E27FC236}">
                <a16:creationId xmlns:a16="http://schemas.microsoft.com/office/drawing/2014/main" id="{35CA924D-50F8-9FD5-4FC5-6D1C61A3859C}"/>
              </a:ext>
            </a:extLst>
          </p:cNvPr>
          <p:cNvSpPr txBox="1"/>
          <p:nvPr/>
        </p:nvSpPr>
        <p:spPr>
          <a:xfrm>
            <a:off x="7712803" y="5203705"/>
            <a:ext cx="476412" cy="369332"/>
          </a:xfrm>
          <a:prstGeom prst="rect">
            <a:avLst/>
          </a:prstGeom>
          <a:noFill/>
        </p:spPr>
        <p:txBody>
          <a:bodyPr wrap="none" rtlCol="0">
            <a:spAutoFit/>
          </a:bodyPr>
          <a:lstStyle/>
          <a:p>
            <a:r>
              <a:rPr lang="en-US" dirty="0"/>
              <a:t>1.6</a:t>
            </a:r>
          </a:p>
        </p:txBody>
      </p:sp>
      <p:sp>
        <p:nvSpPr>
          <p:cNvPr id="147" name="TextBox 146">
            <a:extLst>
              <a:ext uri="{FF2B5EF4-FFF2-40B4-BE49-F238E27FC236}">
                <a16:creationId xmlns:a16="http://schemas.microsoft.com/office/drawing/2014/main" id="{F906840B-A063-DA6F-6B9B-4E501DC3ADC1}"/>
              </a:ext>
            </a:extLst>
          </p:cNvPr>
          <p:cNvSpPr txBox="1"/>
          <p:nvPr/>
        </p:nvSpPr>
        <p:spPr>
          <a:xfrm>
            <a:off x="8240341" y="5203705"/>
            <a:ext cx="476412" cy="369332"/>
          </a:xfrm>
          <a:prstGeom prst="rect">
            <a:avLst/>
          </a:prstGeom>
          <a:noFill/>
        </p:spPr>
        <p:txBody>
          <a:bodyPr wrap="none" rtlCol="0">
            <a:spAutoFit/>
          </a:bodyPr>
          <a:lstStyle/>
          <a:p>
            <a:r>
              <a:rPr lang="en-US" dirty="0"/>
              <a:t>2.4</a:t>
            </a:r>
          </a:p>
        </p:txBody>
      </p:sp>
      <p:sp>
        <p:nvSpPr>
          <p:cNvPr id="148" name="TextBox 147">
            <a:extLst>
              <a:ext uri="{FF2B5EF4-FFF2-40B4-BE49-F238E27FC236}">
                <a16:creationId xmlns:a16="http://schemas.microsoft.com/office/drawing/2014/main" id="{18284901-0564-655A-2D9E-BABE6501B068}"/>
              </a:ext>
            </a:extLst>
          </p:cNvPr>
          <p:cNvSpPr txBox="1"/>
          <p:nvPr/>
        </p:nvSpPr>
        <p:spPr>
          <a:xfrm>
            <a:off x="7279053" y="5168537"/>
            <a:ext cx="301686" cy="369332"/>
          </a:xfrm>
          <a:prstGeom prst="rect">
            <a:avLst/>
          </a:prstGeom>
          <a:noFill/>
        </p:spPr>
        <p:txBody>
          <a:bodyPr wrap="none" rtlCol="0">
            <a:spAutoFit/>
          </a:bodyPr>
          <a:lstStyle/>
          <a:p>
            <a:r>
              <a:rPr lang="en-US" dirty="0"/>
              <a:t>3</a:t>
            </a:r>
          </a:p>
        </p:txBody>
      </p:sp>
      <p:grpSp>
        <p:nvGrpSpPr>
          <p:cNvPr id="152" name="Group 151">
            <a:extLst>
              <a:ext uri="{FF2B5EF4-FFF2-40B4-BE49-F238E27FC236}">
                <a16:creationId xmlns:a16="http://schemas.microsoft.com/office/drawing/2014/main" id="{00FC4E9F-A8CA-420D-B4C1-99B8C2312AFE}"/>
              </a:ext>
            </a:extLst>
          </p:cNvPr>
          <p:cNvGrpSpPr/>
          <p:nvPr/>
        </p:nvGrpSpPr>
        <p:grpSpPr>
          <a:xfrm>
            <a:off x="7170760" y="6088272"/>
            <a:ext cx="4686155" cy="629266"/>
            <a:chOff x="5727700" y="2356556"/>
            <a:chExt cx="4686155" cy="629266"/>
          </a:xfrm>
        </p:grpSpPr>
        <p:sp>
          <p:nvSpPr>
            <p:cNvPr id="153" name="Rectangle 152">
              <a:extLst>
                <a:ext uri="{FF2B5EF4-FFF2-40B4-BE49-F238E27FC236}">
                  <a16:creationId xmlns:a16="http://schemas.microsoft.com/office/drawing/2014/main" id="{CF1F9A4B-159D-50B0-7532-83958A9A7CAC}"/>
                </a:ext>
              </a:extLst>
            </p:cNvPr>
            <p:cNvSpPr/>
            <p:nvPr/>
          </p:nvSpPr>
          <p:spPr>
            <a:xfrm>
              <a:off x="67691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6D911AD4-B8AB-475A-FA84-0A85FAC19C76}"/>
                </a:ext>
              </a:extLst>
            </p:cNvPr>
            <p:cNvSpPr/>
            <p:nvPr/>
          </p:nvSpPr>
          <p:spPr>
            <a:xfrm>
              <a:off x="72898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3A442FBA-CEC3-D82F-9502-2AA9A221FFD7}"/>
                </a:ext>
              </a:extLst>
            </p:cNvPr>
            <p:cNvSpPr/>
            <p:nvPr/>
          </p:nvSpPr>
          <p:spPr>
            <a:xfrm>
              <a:off x="62484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267D6AB5-84A9-B59C-C350-CF393CEACEEF}"/>
                </a:ext>
              </a:extLst>
            </p:cNvPr>
            <p:cNvSpPr/>
            <p:nvPr/>
          </p:nvSpPr>
          <p:spPr>
            <a:xfrm>
              <a:off x="57277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Rectangle 156">
              <a:extLst>
                <a:ext uri="{FF2B5EF4-FFF2-40B4-BE49-F238E27FC236}">
                  <a16:creationId xmlns:a16="http://schemas.microsoft.com/office/drawing/2014/main" id="{8173CEC0-E898-C5DB-A80D-934DA277F5FF}"/>
                </a:ext>
              </a:extLst>
            </p:cNvPr>
            <p:cNvSpPr/>
            <p:nvPr/>
          </p:nvSpPr>
          <p:spPr>
            <a:xfrm>
              <a:off x="88519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1F77B679-3C68-5EDE-F8E9-3057695AB010}"/>
                </a:ext>
              </a:extLst>
            </p:cNvPr>
            <p:cNvSpPr/>
            <p:nvPr/>
          </p:nvSpPr>
          <p:spPr>
            <a:xfrm>
              <a:off x="93726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81D12D61-00BA-E37E-7895-F99609478EE5}"/>
                </a:ext>
              </a:extLst>
            </p:cNvPr>
            <p:cNvSpPr/>
            <p:nvPr/>
          </p:nvSpPr>
          <p:spPr>
            <a:xfrm>
              <a:off x="83312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7A441675-D70A-84D5-F4C0-23058D7AE720}"/>
                </a:ext>
              </a:extLst>
            </p:cNvPr>
            <p:cNvSpPr/>
            <p:nvPr/>
          </p:nvSpPr>
          <p:spPr>
            <a:xfrm>
              <a:off x="7810500"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TextBox 160">
              <a:extLst>
                <a:ext uri="{FF2B5EF4-FFF2-40B4-BE49-F238E27FC236}">
                  <a16:creationId xmlns:a16="http://schemas.microsoft.com/office/drawing/2014/main" id="{D5C10A91-CA7F-8CAA-4C4F-96A12F4B81A3}"/>
                </a:ext>
              </a:extLst>
            </p:cNvPr>
            <p:cNvSpPr txBox="1"/>
            <p:nvPr/>
          </p:nvSpPr>
          <p:spPr>
            <a:xfrm>
              <a:off x="5857832" y="2708823"/>
              <a:ext cx="263214" cy="276999"/>
            </a:xfrm>
            <a:prstGeom prst="rect">
              <a:avLst/>
            </a:prstGeom>
            <a:noFill/>
          </p:spPr>
          <p:txBody>
            <a:bodyPr wrap="none" rtlCol="0">
              <a:spAutoFit/>
            </a:bodyPr>
            <a:lstStyle/>
            <a:p>
              <a:r>
                <a:rPr lang="en-US" sz="1200" b="1" dirty="0"/>
                <a:t>0</a:t>
              </a:r>
            </a:p>
          </p:txBody>
        </p:sp>
        <p:sp>
          <p:nvSpPr>
            <p:cNvPr id="162" name="TextBox 161">
              <a:extLst>
                <a:ext uri="{FF2B5EF4-FFF2-40B4-BE49-F238E27FC236}">
                  <a16:creationId xmlns:a16="http://schemas.microsoft.com/office/drawing/2014/main" id="{9623B83B-CAF0-C27D-1DFE-DD936E012634}"/>
                </a:ext>
              </a:extLst>
            </p:cNvPr>
            <p:cNvSpPr txBox="1"/>
            <p:nvPr/>
          </p:nvSpPr>
          <p:spPr>
            <a:xfrm>
              <a:off x="6332531" y="2708823"/>
              <a:ext cx="341760" cy="276999"/>
            </a:xfrm>
            <a:prstGeom prst="rect">
              <a:avLst/>
            </a:prstGeom>
            <a:noFill/>
          </p:spPr>
          <p:txBody>
            <a:bodyPr wrap="none" rtlCol="0">
              <a:spAutoFit/>
            </a:bodyPr>
            <a:lstStyle/>
            <a:p>
              <a:r>
                <a:rPr lang="en-US" sz="1200" b="1" dirty="0"/>
                <a:t>20</a:t>
              </a:r>
            </a:p>
          </p:txBody>
        </p:sp>
        <p:sp>
          <p:nvSpPr>
            <p:cNvPr id="163" name="TextBox 162">
              <a:extLst>
                <a:ext uri="{FF2B5EF4-FFF2-40B4-BE49-F238E27FC236}">
                  <a16:creationId xmlns:a16="http://schemas.microsoft.com/office/drawing/2014/main" id="{1EDD4F29-1F93-8215-0919-979BB0CEAB12}"/>
                </a:ext>
              </a:extLst>
            </p:cNvPr>
            <p:cNvSpPr txBox="1"/>
            <p:nvPr/>
          </p:nvSpPr>
          <p:spPr>
            <a:xfrm>
              <a:off x="6868972" y="2708823"/>
              <a:ext cx="341760" cy="276999"/>
            </a:xfrm>
            <a:prstGeom prst="rect">
              <a:avLst/>
            </a:prstGeom>
            <a:noFill/>
          </p:spPr>
          <p:txBody>
            <a:bodyPr wrap="none" rtlCol="0">
              <a:spAutoFit/>
            </a:bodyPr>
            <a:lstStyle/>
            <a:p>
              <a:r>
                <a:rPr lang="en-US" sz="1200" b="1" dirty="0"/>
                <a:t>40</a:t>
              </a:r>
            </a:p>
          </p:txBody>
        </p:sp>
        <p:sp>
          <p:nvSpPr>
            <p:cNvPr id="164" name="TextBox 163">
              <a:extLst>
                <a:ext uri="{FF2B5EF4-FFF2-40B4-BE49-F238E27FC236}">
                  <a16:creationId xmlns:a16="http://schemas.microsoft.com/office/drawing/2014/main" id="{088E8FC1-2D43-57AA-13D3-CF52D8FF5569}"/>
                </a:ext>
              </a:extLst>
            </p:cNvPr>
            <p:cNvSpPr txBox="1"/>
            <p:nvPr/>
          </p:nvSpPr>
          <p:spPr>
            <a:xfrm>
              <a:off x="7391796" y="2708823"/>
              <a:ext cx="341760" cy="276999"/>
            </a:xfrm>
            <a:prstGeom prst="rect">
              <a:avLst/>
            </a:prstGeom>
            <a:noFill/>
          </p:spPr>
          <p:txBody>
            <a:bodyPr wrap="none" rtlCol="0">
              <a:spAutoFit/>
            </a:bodyPr>
            <a:lstStyle/>
            <a:p>
              <a:r>
                <a:rPr lang="en-US" sz="1200" b="1" dirty="0"/>
                <a:t>60</a:t>
              </a:r>
            </a:p>
          </p:txBody>
        </p:sp>
        <p:sp>
          <p:nvSpPr>
            <p:cNvPr id="165" name="TextBox 164">
              <a:extLst>
                <a:ext uri="{FF2B5EF4-FFF2-40B4-BE49-F238E27FC236}">
                  <a16:creationId xmlns:a16="http://schemas.microsoft.com/office/drawing/2014/main" id="{1EF3DAB4-A492-7C32-568E-C2ECD74733A1}"/>
                </a:ext>
              </a:extLst>
            </p:cNvPr>
            <p:cNvSpPr txBox="1"/>
            <p:nvPr/>
          </p:nvSpPr>
          <p:spPr>
            <a:xfrm>
              <a:off x="7917244" y="2708823"/>
              <a:ext cx="341760" cy="276999"/>
            </a:xfrm>
            <a:prstGeom prst="rect">
              <a:avLst/>
            </a:prstGeom>
            <a:noFill/>
          </p:spPr>
          <p:txBody>
            <a:bodyPr wrap="none" rtlCol="0">
              <a:spAutoFit/>
            </a:bodyPr>
            <a:lstStyle/>
            <a:p>
              <a:r>
                <a:rPr lang="en-US" sz="1200" b="1" dirty="0"/>
                <a:t>80</a:t>
              </a:r>
            </a:p>
          </p:txBody>
        </p:sp>
        <p:sp>
          <p:nvSpPr>
            <p:cNvPr id="166" name="TextBox 165">
              <a:extLst>
                <a:ext uri="{FF2B5EF4-FFF2-40B4-BE49-F238E27FC236}">
                  <a16:creationId xmlns:a16="http://schemas.microsoft.com/office/drawing/2014/main" id="{C1E58C43-57EC-BAB6-804A-894DBB14839B}"/>
                </a:ext>
              </a:extLst>
            </p:cNvPr>
            <p:cNvSpPr txBox="1"/>
            <p:nvPr/>
          </p:nvSpPr>
          <p:spPr>
            <a:xfrm>
              <a:off x="8385071" y="2708823"/>
              <a:ext cx="420308" cy="276999"/>
            </a:xfrm>
            <a:prstGeom prst="rect">
              <a:avLst/>
            </a:prstGeom>
            <a:noFill/>
          </p:spPr>
          <p:txBody>
            <a:bodyPr wrap="none" rtlCol="0">
              <a:spAutoFit/>
            </a:bodyPr>
            <a:lstStyle/>
            <a:p>
              <a:r>
                <a:rPr lang="en-US" sz="1200" b="1" dirty="0"/>
                <a:t>100</a:t>
              </a:r>
            </a:p>
          </p:txBody>
        </p:sp>
        <p:sp>
          <p:nvSpPr>
            <p:cNvPr id="167" name="TextBox 166">
              <a:extLst>
                <a:ext uri="{FF2B5EF4-FFF2-40B4-BE49-F238E27FC236}">
                  <a16:creationId xmlns:a16="http://schemas.microsoft.com/office/drawing/2014/main" id="{E985C255-8ACE-33FB-F5C3-CFDE48D76C9C}"/>
                </a:ext>
              </a:extLst>
            </p:cNvPr>
            <p:cNvSpPr txBox="1"/>
            <p:nvPr/>
          </p:nvSpPr>
          <p:spPr>
            <a:xfrm>
              <a:off x="8902152" y="2708823"/>
              <a:ext cx="420308" cy="276999"/>
            </a:xfrm>
            <a:prstGeom prst="rect">
              <a:avLst/>
            </a:prstGeom>
            <a:noFill/>
          </p:spPr>
          <p:txBody>
            <a:bodyPr wrap="none" rtlCol="0">
              <a:spAutoFit/>
            </a:bodyPr>
            <a:lstStyle/>
            <a:p>
              <a:r>
                <a:rPr lang="en-US" sz="1200" b="1" dirty="0"/>
                <a:t>120</a:t>
              </a:r>
            </a:p>
          </p:txBody>
        </p:sp>
        <p:sp>
          <p:nvSpPr>
            <p:cNvPr id="168" name="Rectangle 167">
              <a:extLst>
                <a:ext uri="{FF2B5EF4-FFF2-40B4-BE49-F238E27FC236}">
                  <a16:creationId xmlns:a16="http://schemas.microsoft.com/office/drawing/2014/main" id="{BC5D12FD-E776-8859-7373-C82FC049AA08}"/>
                </a:ext>
              </a:extLst>
            </p:cNvPr>
            <p:cNvSpPr/>
            <p:nvPr/>
          </p:nvSpPr>
          <p:spPr>
            <a:xfrm>
              <a:off x="9893155" y="2356556"/>
              <a:ext cx="5207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TextBox 168">
              <a:extLst>
                <a:ext uri="{FF2B5EF4-FFF2-40B4-BE49-F238E27FC236}">
                  <a16:creationId xmlns:a16="http://schemas.microsoft.com/office/drawing/2014/main" id="{0555F934-9D41-8323-3702-3AFCC1C0E948}"/>
                </a:ext>
              </a:extLst>
            </p:cNvPr>
            <p:cNvSpPr txBox="1"/>
            <p:nvPr/>
          </p:nvSpPr>
          <p:spPr>
            <a:xfrm>
              <a:off x="9425136" y="2708823"/>
              <a:ext cx="420308" cy="276999"/>
            </a:xfrm>
            <a:prstGeom prst="rect">
              <a:avLst/>
            </a:prstGeom>
            <a:noFill/>
          </p:spPr>
          <p:txBody>
            <a:bodyPr wrap="none" rtlCol="0">
              <a:spAutoFit/>
            </a:bodyPr>
            <a:lstStyle/>
            <a:p>
              <a:r>
                <a:rPr lang="en-US" sz="1200" b="1" dirty="0"/>
                <a:t>140</a:t>
              </a:r>
            </a:p>
          </p:txBody>
        </p:sp>
        <p:sp>
          <p:nvSpPr>
            <p:cNvPr id="170" name="TextBox 169">
              <a:extLst>
                <a:ext uri="{FF2B5EF4-FFF2-40B4-BE49-F238E27FC236}">
                  <a16:creationId xmlns:a16="http://schemas.microsoft.com/office/drawing/2014/main" id="{27B5AF98-F095-449F-2BC1-8C97796B0692}"/>
                </a:ext>
              </a:extLst>
            </p:cNvPr>
            <p:cNvSpPr txBox="1"/>
            <p:nvPr/>
          </p:nvSpPr>
          <p:spPr>
            <a:xfrm>
              <a:off x="9950355" y="2708823"/>
              <a:ext cx="420308" cy="276999"/>
            </a:xfrm>
            <a:prstGeom prst="rect">
              <a:avLst/>
            </a:prstGeom>
            <a:noFill/>
          </p:spPr>
          <p:txBody>
            <a:bodyPr wrap="none" rtlCol="0">
              <a:spAutoFit/>
            </a:bodyPr>
            <a:lstStyle/>
            <a:p>
              <a:r>
                <a:rPr lang="en-US" sz="1200" b="1" dirty="0"/>
                <a:t>160</a:t>
              </a:r>
            </a:p>
          </p:txBody>
        </p:sp>
      </p:grpSp>
      <p:sp>
        <p:nvSpPr>
          <p:cNvPr id="171" name="TextBox 170">
            <a:extLst>
              <a:ext uri="{FF2B5EF4-FFF2-40B4-BE49-F238E27FC236}">
                <a16:creationId xmlns:a16="http://schemas.microsoft.com/office/drawing/2014/main" id="{F22235AB-8D70-6DF1-C739-2FCF8310369D}"/>
              </a:ext>
            </a:extLst>
          </p:cNvPr>
          <p:cNvSpPr txBox="1"/>
          <p:nvPr/>
        </p:nvSpPr>
        <p:spPr>
          <a:xfrm>
            <a:off x="9377483" y="6106377"/>
            <a:ext cx="301686" cy="369332"/>
          </a:xfrm>
          <a:prstGeom prst="rect">
            <a:avLst/>
          </a:prstGeom>
          <a:noFill/>
        </p:spPr>
        <p:txBody>
          <a:bodyPr wrap="none" rtlCol="0">
            <a:spAutoFit/>
          </a:bodyPr>
          <a:lstStyle/>
          <a:p>
            <a:r>
              <a:rPr lang="en-US" dirty="0"/>
              <a:t>2</a:t>
            </a:r>
          </a:p>
        </p:txBody>
      </p:sp>
      <p:sp>
        <p:nvSpPr>
          <p:cNvPr id="172" name="TextBox 171">
            <a:extLst>
              <a:ext uri="{FF2B5EF4-FFF2-40B4-BE49-F238E27FC236}">
                <a16:creationId xmlns:a16="http://schemas.microsoft.com/office/drawing/2014/main" id="{DCC874E8-AB1C-6CDE-5281-EA44406FCC4C}"/>
              </a:ext>
            </a:extLst>
          </p:cNvPr>
          <p:cNvSpPr txBox="1"/>
          <p:nvPr/>
        </p:nvSpPr>
        <p:spPr>
          <a:xfrm>
            <a:off x="7712804" y="6106377"/>
            <a:ext cx="476412" cy="369332"/>
          </a:xfrm>
          <a:prstGeom prst="rect">
            <a:avLst/>
          </a:prstGeom>
          <a:noFill/>
        </p:spPr>
        <p:txBody>
          <a:bodyPr wrap="none" rtlCol="0">
            <a:spAutoFit/>
          </a:bodyPr>
          <a:lstStyle/>
          <a:p>
            <a:r>
              <a:rPr lang="en-US" dirty="0"/>
              <a:t>1.6</a:t>
            </a:r>
          </a:p>
        </p:txBody>
      </p:sp>
      <p:sp>
        <p:nvSpPr>
          <p:cNvPr id="173" name="TextBox 172">
            <a:extLst>
              <a:ext uri="{FF2B5EF4-FFF2-40B4-BE49-F238E27FC236}">
                <a16:creationId xmlns:a16="http://schemas.microsoft.com/office/drawing/2014/main" id="{2FA6B1D5-6C8D-6ADF-E614-2912BAEC6D5D}"/>
              </a:ext>
            </a:extLst>
          </p:cNvPr>
          <p:cNvSpPr txBox="1"/>
          <p:nvPr/>
        </p:nvSpPr>
        <p:spPr>
          <a:xfrm>
            <a:off x="8240342" y="6106377"/>
            <a:ext cx="476412" cy="369332"/>
          </a:xfrm>
          <a:prstGeom prst="rect">
            <a:avLst/>
          </a:prstGeom>
          <a:noFill/>
        </p:spPr>
        <p:txBody>
          <a:bodyPr wrap="none" rtlCol="0">
            <a:spAutoFit/>
          </a:bodyPr>
          <a:lstStyle/>
          <a:p>
            <a:r>
              <a:rPr lang="en-US" dirty="0"/>
              <a:t>2.4</a:t>
            </a:r>
          </a:p>
        </p:txBody>
      </p:sp>
      <p:sp>
        <p:nvSpPr>
          <p:cNvPr id="174" name="TextBox 173">
            <a:extLst>
              <a:ext uri="{FF2B5EF4-FFF2-40B4-BE49-F238E27FC236}">
                <a16:creationId xmlns:a16="http://schemas.microsoft.com/office/drawing/2014/main" id="{90FCA2CD-B6E6-E419-5850-2AA1F52454AD}"/>
              </a:ext>
            </a:extLst>
          </p:cNvPr>
          <p:cNvSpPr txBox="1"/>
          <p:nvPr/>
        </p:nvSpPr>
        <p:spPr>
          <a:xfrm>
            <a:off x="7056317" y="6082932"/>
            <a:ext cx="710451" cy="369332"/>
          </a:xfrm>
          <a:prstGeom prst="rect">
            <a:avLst/>
          </a:prstGeom>
          <a:noFill/>
        </p:spPr>
        <p:txBody>
          <a:bodyPr wrap="none" rtlCol="0">
            <a:spAutoFit/>
          </a:bodyPr>
          <a:lstStyle/>
          <a:p>
            <a:r>
              <a:rPr lang="en-US" dirty="0"/>
              <a:t>24.25</a:t>
            </a:r>
          </a:p>
        </p:txBody>
      </p:sp>
      <p:sp>
        <p:nvSpPr>
          <p:cNvPr id="175" name="TextBox 174">
            <a:extLst>
              <a:ext uri="{FF2B5EF4-FFF2-40B4-BE49-F238E27FC236}">
                <a16:creationId xmlns:a16="http://schemas.microsoft.com/office/drawing/2014/main" id="{78B07033-468F-1729-F801-6FC2FE09213C}"/>
              </a:ext>
            </a:extLst>
          </p:cNvPr>
          <p:cNvSpPr txBox="1"/>
          <p:nvPr/>
        </p:nvSpPr>
        <p:spPr>
          <a:xfrm>
            <a:off x="11253182" y="6106378"/>
            <a:ext cx="710451" cy="369332"/>
          </a:xfrm>
          <a:prstGeom prst="rect">
            <a:avLst/>
          </a:prstGeom>
          <a:noFill/>
        </p:spPr>
        <p:txBody>
          <a:bodyPr wrap="none" rtlCol="0">
            <a:spAutoFit/>
          </a:bodyPr>
          <a:lstStyle/>
          <a:p>
            <a:r>
              <a:rPr lang="en-US" dirty="0"/>
              <a:t>63.75</a:t>
            </a:r>
          </a:p>
        </p:txBody>
      </p:sp>
    </p:spTree>
    <p:extLst>
      <p:ext uri="{BB962C8B-B14F-4D97-AF65-F5344CB8AC3E}">
        <p14:creationId xmlns:p14="http://schemas.microsoft.com/office/powerpoint/2010/main" val="2171415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A6026-D01A-FAA9-8F3A-DDB4A157A54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02CEA7B-D59E-5059-DF2F-8AA1E26D029E}"/>
              </a:ext>
            </a:extLst>
          </p:cNvPr>
          <p:cNvSpPr/>
          <p:nvPr/>
        </p:nvSpPr>
        <p:spPr>
          <a:xfrm>
            <a:off x="838200" y="5168900"/>
            <a:ext cx="10515600" cy="124460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E89130-1637-081B-B55F-C29878454FBD}"/>
              </a:ext>
            </a:extLst>
          </p:cNvPr>
          <p:cNvSpPr>
            <a:spLocks noGrp="1"/>
          </p:cNvSpPr>
          <p:nvPr>
            <p:ph type="title"/>
          </p:nvPr>
        </p:nvSpPr>
        <p:spPr/>
        <p:txBody>
          <a:bodyPr/>
          <a:lstStyle/>
          <a:p>
            <a:r>
              <a:rPr lang="en-AU" b="1" dirty="0"/>
              <a:t>The HOG Pipeline (Step-by-Step)</a:t>
            </a:r>
            <a:endParaRPr lang="en-US" dirty="0"/>
          </a:p>
        </p:txBody>
      </p:sp>
      <p:sp>
        <p:nvSpPr>
          <p:cNvPr id="3" name="Content Placeholder 2">
            <a:extLst>
              <a:ext uri="{FF2B5EF4-FFF2-40B4-BE49-F238E27FC236}">
                <a16:creationId xmlns:a16="http://schemas.microsoft.com/office/drawing/2014/main" id="{5313E419-85C5-E5F8-B179-561634E3FEAC}"/>
              </a:ext>
            </a:extLst>
          </p:cNvPr>
          <p:cNvSpPr>
            <a:spLocks noGrp="1"/>
          </p:cNvSpPr>
          <p:nvPr>
            <p:ph idx="1"/>
          </p:nvPr>
        </p:nvSpPr>
        <p:spPr>
          <a:xfrm>
            <a:off x="838200" y="1825624"/>
            <a:ext cx="10515600" cy="4667251"/>
          </a:xfrm>
        </p:spPr>
        <p:txBody>
          <a:bodyPr>
            <a:normAutofit lnSpcReduction="10000"/>
          </a:bodyPr>
          <a:lstStyle/>
          <a:p>
            <a:pPr marL="0" lvl="0" indent="0">
              <a:buNone/>
            </a:pPr>
            <a:r>
              <a:rPr lang="en-AU" b="1" dirty="0"/>
              <a:t>4. Block Normalization:</a:t>
            </a:r>
            <a:br>
              <a:rPr lang="en-AU" b="1" dirty="0"/>
            </a:br>
            <a:r>
              <a:rPr lang="en-AU" dirty="0"/>
              <a:t>Lighting is never perfect. To make the descriptor robust to brightness changes, we group cells into larger Blocks (typically 2x2 cells or 16x16 pixels). We mathematically normalize the histograms within this block (e.g., L2-norm).</a:t>
            </a:r>
          </a:p>
          <a:p>
            <a:pPr marL="0" lvl="0" indent="0">
              <a:buNone/>
            </a:pPr>
            <a:r>
              <a:rPr lang="en-AU" b="1" dirty="0"/>
              <a:t>5. Feature Vector Construction:</a:t>
            </a:r>
            <a:br>
              <a:rPr lang="en-AU" b="1" dirty="0"/>
            </a:br>
            <a:r>
              <a:rPr lang="en-AU" dirty="0"/>
              <a:t>All the normalized histograms are concatenated into one giant list of numbers. This is your feature vector.</a:t>
            </a:r>
          </a:p>
          <a:p>
            <a:pPr marL="0" lvl="0" indent="0">
              <a:buNone/>
            </a:pPr>
            <a:endParaRPr lang="en-AU" dirty="0"/>
          </a:p>
          <a:p>
            <a:r>
              <a:rPr lang="en-AU" b="1" dirty="0"/>
              <a:t>Why it works:</a:t>
            </a:r>
            <a:r>
              <a:rPr lang="en-AU" dirty="0"/>
              <a:t> HOG is incredibly robust to geometric changes. A person’s arm might move slightly, but the general </a:t>
            </a:r>
            <a:r>
              <a:rPr lang="en-AU" i="1" dirty="0"/>
              <a:t>distribution</a:t>
            </a:r>
            <a:r>
              <a:rPr lang="en-AU" dirty="0"/>
              <a:t> of edge directions in that 8x8 cell remains roughly the same.</a:t>
            </a:r>
          </a:p>
        </p:txBody>
      </p:sp>
    </p:spTree>
    <p:extLst>
      <p:ext uri="{BB962C8B-B14F-4D97-AF65-F5344CB8AC3E}">
        <p14:creationId xmlns:p14="http://schemas.microsoft.com/office/powerpoint/2010/main" val="3050264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861E-F477-A30B-CAE1-A9F98E717E9F}"/>
              </a:ext>
            </a:extLst>
          </p:cNvPr>
          <p:cNvSpPr>
            <a:spLocks noGrp="1"/>
          </p:cNvSpPr>
          <p:nvPr>
            <p:ph type="title"/>
          </p:nvPr>
        </p:nvSpPr>
        <p:spPr>
          <a:xfrm>
            <a:off x="495300" y="238125"/>
            <a:ext cx="5676900" cy="815975"/>
          </a:xfrm>
        </p:spPr>
        <p:txBody>
          <a:bodyPr/>
          <a:lstStyle/>
          <a:p>
            <a:r>
              <a:rPr lang="en-AU" b="1" dirty="0"/>
              <a:t>Block Normalization</a:t>
            </a:r>
            <a:endParaRPr lang="en-US" dirty="0"/>
          </a:p>
        </p:txBody>
      </p:sp>
      <p:pic>
        <p:nvPicPr>
          <p:cNvPr id="5" name="Content Placeholder 4">
            <a:extLst>
              <a:ext uri="{FF2B5EF4-FFF2-40B4-BE49-F238E27FC236}">
                <a16:creationId xmlns:a16="http://schemas.microsoft.com/office/drawing/2014/main" id="{FB02E16A-100A-2423-0E88-5D84A065ECBE}"/>
              </a:ext>
            </a:extLst>
          </p:cNvPr>
          <p:cNvPicPr>
            <a:picLocks noGrp="1" noChangeAspect="1"/>
          </p:cNvPicPr>
          <p:nvPr>
            <p:ph idx="1"/>
          </p:nvPr>
        </p:nvPicPr>
        <p:blipFill>
          <a:blip r:embed="rId3"/>
          <a:stretch>
            <a:fillRect/>
          </a:stretch>
        </p:blipFill>
        <p:spPr>
          <a:xfrm>
            <a:off x="9144000" y="837832"/>
            <a:ext cx="2771109" cy="5444252"/>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464B56C-19B0-A642-9FED-A05970A6F59E}"/>
                  </a:ext>
                </a:extLst>
              </p:cNvPr>
              <p:cNvSpPr txBox="1"/>
              <p:nvPr/>
            </p:nvSpPr>
            <p:spPr>
              <a:xfrm>
                <a:off x="419100" y="1092199"/>
                <a:ext cx="7581900" cy="1193147"/>
              </a:xfrm>
              <a:prstGeom prst="rect">
                <a:avLst/>
              </a:prstGeom>
              <a:noFill/>
            </p:spPr>
            <p:txBody>
              <a:bodyPr wrap="square" rtlCol="0">
                <a:spAutoFit/>
              </a:bodyPr>
              <a:lstStyle/>
              <a:p>
                <a:pPr marL="457200" indent="-457200">
                  <a:buFont typeface="Arial" panose="020B0604020202020204" pitchFamily="34" charset="0"/>
                  <a:buChar char="•"/>
                </a:pPr>
                <a:r>
                  <a:rPr lang="en-AU" sz="2200" dirty="0"/>
                  <a:t>Let’s say we have an RGB </a:t>
                </a:r>
                <a:r>
                  <a:rPr lang="en-AU" sz="2200" dirty="0" err="1"/>
                  <a:t>color</a:t>
                </a:r>
                <a:r>
                  <a:rPr lang="en-AU" sz="2200" dirty="0"/>
                  <a:t> vector [ 128, 64, 32 ]. </a:t>
                </a:r>
              </a:p>
              <a:p>
                <a:pPr marL="457200" indent="-457200">
                  <a:buFont typeface="Arial" panose="020B0604020202020204" pitchFamily="34" charset="0"/>
                  <a:buChar char="•"/>
                </a:pPr>
                <a:r>
                  <a:rPr lang="en-AU" sz="2200" dirty="0"/>
                  <a:t>The length of this vector is </a:t>
                </a:r>
                <a14:m>
                  <m:oMath xmlns:m="http://schemas.openxmlformats.org/officeDocument/2006/math">
                    <m:rad>
                      <m:radPr>
                        <m:degHide m:val="on"/>
                        <m:ctrlPr>
                          <a:rPr lang="en-AU" sz="2200" i="1" smtClean="0"/>
                        </m:ctrlPr>
                      </m:radPr>
                      <m:deg/>
                      <m:e>
                        <m:sSup>
                          <m:sSupPr>
                            <m:ctrlPr>
                              <a:rPr lang="en-AU" sz="2200" b="0" i="1" smtClean="0"/>
                            </m:ctrlPr>
                          </m:sSupPr>
                          <m:e>
                            <m:r>
                              <a:rPr lang="en-AU" sz="2200" b="0" i="1" smtClean="0"/>
                              <m:t>128</m:t>
                            </m:r>
                          </m:e>
                          <m:sup>
                            <m:r>
                              <a:rPr lang="en-AU" sz="2200" b="0" i="1" smtClean="0"/>
                              <m:t>2</m:t>
                            </m:r>
                          </m:sup>
                        </m:sSup>
                        <m:r>
                          <a:rPr lang="en-AU" sz="2200" b="0" i="1" smtClean="0"/>
                          <m:t>+</m:t>
                        </m:r>
                        <m:sSup>
                          <m:sSupPr>
                            <m:ctrlPr>
                              <a:rPr lang="en-AU" sz="2200" b="0" i="1" smtClean="0"/>
                            </m:ctrlPr>
                          </m:sSupPr>
                          <m:e>
                            <m:r>
                              <a:rPr lang="en-AU" sz="2200" b="0" i="1" smtClean="0"/>
                              <m:t>64</m:t>
                            </m:r>
                          </m:e>
                          <m:sup>
                            <m:r>
                              <a:rPr lang="en-AU" sz="2200" b="0" i="1" smtClean="0"/>
                              <m:t>2</m:t>
                            </m:r>
                          </m:sup>
                        </m:sSup>
                        <m:r>
                          <a:rPr lang="en-AU" sz="2200" b="0" i="1" smtClean="0"/>
                          <m:t>+</m:t>
                        </m:r>
                        <m:sSup>
                          <m:sSupPr>
                            <m:ctrlPr>
                              <a:rPr lang="en-AU" sz="2200" b="0" i="1" smtClean="0"/>
                            </m:ctrlPr>
                          </m:sSupPr>
                          <m:e>
                            <m:r>
                              <a:rPr lang="en-AU" sz="2200" b="0" i="1" smtClean="0"/>
                              <m:t>32</m:t>
                            </m:r>
                          </m:e>
                          <m:sup>
                            <m:r>
                              <a:rPr lang="en-AU" sz="2200" b="0" i="1" smtClean="0"/>
                              <m:t>2</m:t>
                            </m:r>
                          </m:sup>
                        </m:sSup>
                        <m:r>
                          <a:rPr lang="en-AU" sz="2200" b="0" i="1" smtClean="0"/>
                          <m:t>=146.64</m:t>
                        </m:r>
                      </m:e>
                    </m:rad>
                    <m:r>
                      <a:rPr lang="en-AU" sz="2200" i="1" dirty="0" smtClean="0"/>
                      <m:t> </m:t>
                    </m:r>
                  </m:oMath>
                </a14:m>
                <a:endParaRPr lang="en-AU" sz="2200" dirty="0"/>
              </a:p>
              <a:p>
                <a:pPr marL="457200" indent="-457200">
                  <a:buFont typeface="Arial" panose="020B0604020202020204" pitchFamily="34" charset="0"/>
                  <a:buChar char="•"/>
                </a:pPr>
                <a:r>
                  <a:rPr lang="en-AU" sz="2200" dirty="0"/>
                  <a:t>The normalized vector [0.87, 0.43, 0.22].</a:t>
                </a:r>
                <a:endParaRPr lang="en-US" sz="2200" dirty="0"/>
              </a:p>
            </p:txBody>
          </p:sp>
        </mc:Choice>
        <mc:Fallback>
          <p:sp>
            <p:nvSpPr>
              <p:cNvPr id="6" name="TextBox 5">
                <a:extLst>
                  <a:ext uri="{FF2B5EF4-FFF2-40B4-BE49-F238E27FC236}">
                    <a16:creationId xmlns:a16="http://schemas.microsoft.com/office/drawing/2014/main" id="{1464B56C-19B0-A642-9FED-A05970A6F59E}"/>
                  </a:ext>
                </a:extLst>
              </p:cNvPr>
              <p:cNvSpPr txBox="1">
                <a:spLocks noRot="1" noChangeAspect="1" noMove="1" noResize="1" noEditPoints="1" noAdjustHandles="1" noChangeArrowheads="1" noChangeShapeType="1" noTextEdit="1"/>
              </p:cNvSpPr>
              <p:nvPr/>
            </p:nvSpPr>
            <p:spPr>
              <a:xfrm>
                <a:off x="419100" y="1092199"/>
                <a:ext cx="7581900" cy="1193147"/>
              </a:xfrm>
              <a:prstGeom prst="rect">
                <a:avLst/>
              </a:prstGeom>
              <a:blipFill>
                <a:blip r:embed="rId4"/>
                <a:stretch>
                  <a:fillRect l="-1003" t="-2105" b="-94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52F7833-12AB-7FCB-4EA6-2378CD09E9DE}"/>
                  </a:ext>
                </a:extLst>
              </p:cNvPr>
              <p:cNvSpPr txBox="1"/>
              <p:nvPr/>
            </p:nvSpPr>
            <p:spPr>
              <a:xfrm>
                <a:off x="419100" y="2545779"/>
                <a:ext cx="8534400" cy="3967048"/>
              </a:xfrm>
              <a:prstGeom prst="rect">
                <a:avLst/>
              </a:prstGeom>
              <a:solidFill>
                <a:schemeClr val="accent6">
                  <a:lumMod val="20000"/>
                  <a:lumOff val="80000"/>
                </a:schemeClr>
              </a:solidFill>
            </p:spPr>
            <p:txBody>
              <a:bodyPr wrap="square" rtlCol="0">
                <a:spAutoFit/>
              </a:bodyPr>
              <a:lstStyle/>
              <a:p>
                <a:pPr marL="285750" indent="-285750">
                  <a:buFont typeface="Arial" panose="020B0604020202020204" pitchFamily="34" charset="0"/>
                  <a:buChar char="•"/>
                </a:pPr>
                <a:r>
                  <a:rPr lang="en-AU" sz="2200" dirty="0"/>
                  <a:t>Total pixels in the image: </a:t>
                </a:r>
                <a14:m>
                  <m:oMath xmlns:m="http://schemas.openxmlformats.org/officeDocument/2006/math">
                    <m:r>
                      <a:rPr lang="en-AU" sz="2200" b="0" i="1" smtClean="0">
                        <a:latin typeface="Cambria Math" panose="02040503050406030204" pitchFamily="18" charset="0"/>
                      </a:rPr>
                      <m:t>64</m:t>
                    </m:r>
                    <m:r>
                      <a:rPr lang="en-AU" sz="2200" b="0" i="1">
                        <a:latin typeface="Cambria Math" panose="02040503050406030204" pitchFamily="18" charset="0"/>
                      </a:rPr>
                      <m:t>×</m:t>
                    </m:r>
                    <m:r>
                      <a:rPr lang="en-AU" sz="2200" b="0" i="1" smtClean="0">
                        <a:latin typeface="Cambria Math" panose="02040503050406030204" pitchFamily="18" charset="0"/>
                      </a:rPr>
                      <m:t>12</m:t>
                    </m:r>
                    <m:r>
                      <a:rPr lang="en-AU" sz="2200" b="0" i="1">
                        <a:latin typeface="Cambria Math" panose="02040503050406030204" pitchFamily="18" charset="0"/>
                      </a:rPr>
                      <m:t>8</m:t>
                    </m:r>
                    <m:r>
                      <a:rPr lang="en-AU" sz="2200" b="0" i="1" smtClean="0">
                        <a:latin typeface="Cambria Math" panose="02040503050406030204" pitchFamily="18" charset="0"/>
                      </a:rPr>
                      <m:t>=8192</m:t>
                    </m:r>
                    <m:r>
                      <a:rPr lang="en-AU" sz="2200" b="0" i="0" smtClean="0">
                        <a:latin typeface="Cambria Math" panose="02040503050406030204" pitchFamily="18" charset="0"/>
                      </a:rPr>
                      <m:t>. </m:t>
                    </m:r>
                  </m:oMath>
                </a14:m>
                <a:r>
                  <a:rPr lang="en-AU" sz="2200" dirty="0"/>
                  <a:t>We divide it into </a:t>
                </a:r>
                <a14:m>
                  <m:oMath xmlns:m="http://schemas.openxmlformats.org/officeDocument/2006/math">
                    <m:r>
                      <a:rPr lang="en-AU" sz="2200" b="0" i="1" smtClean="0">
                        <a:latin typeface="Cambria Math" panose="02040503050406030204" pitchFamily="18" charset="0"/>
                      </a:rPr>
                      <m:t>8×8 </m:t>
                    </m:r>
                  </m:oMath>
                </a14:m>
                <a:r>
                  <a:rPr lang="en-AU" sz="2200" dirty="0"/>
                  <a:t>cells, giving us </a:t>
                </a:r>
                <a14:m>
                  <m:oMath xmlns:m="http://schemas.openxmlformats.org/officeDocument/2006/math">
                    <m:f>
                      <m:fPr>
                        <m:ctrlPr>
                          <a:rPr lang="en-AU" sz="2200" b="0" i="0" smtClean="0">
                            <a:latin typeface="Cambria Math" panose="02040503050406030204" pitchFamily="18" charset="0"/>
                          </a:rPr>
                        </m:ctrlPr>
                      </m:fPr>
                      <m:num>
                        <m:r>
                          <a:rPr lang="en-AU" sz="2200" b="0" i="0" smtClean="0">
                            <a:latin typeface="Cambria Math" panose="02040503050406030204" pitchFamily="18" charset="0"/>
                          </a:rPr>
                          <m:t>64</m:t>
                        </m:r>
                      </m:num>
                      <m:den>
                        <m:r>
                          <a:rPr lang="en-AU" sz="2200" b="0" i="1">
                            <a:latin typeface="Cambria Math" panose="02040503050406030204" pitchFamily="18" charset="0"/>
                          </a:rPr>
                          <m:t>8</m:t>
                        </m:r>
                      </m:den>
                    </m:f>
                    <m:r>
                      <a:rPr lang="en-AU" sz="2200" b="0" i="1">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128</m:t>
                        </m:r>
                      </m:num>
                      <m:den>
                        <m:r>
                          <a:rPr lang="en-AU" sz="2200" b="0" i="1">
                            <a:latin typeface="Cambria Math" panose="02040503050406030204" pitchFamily="18" charset="0"/>
                          </a:rPr>
                          <m:t>8</m:t>
                        </m:r>
                      </m:den>
                    </m:f>
                    <m:r>
                      <a:rPr lang="en-AU" sz="2200" b="0" i="1" smtClean="0">
                        <a:latin typeface="Cambria Math" panose="02040503050406030204" pitchFamily="18" charset="0"/>
                      </a:rPr>
                      <m:t>=8×16 </m:t>
                    </m:r>
                  </m:oMath>
                </a14:m>
                <a:r>
                  <a:rPr lang="en-AU" sz="2200" dirty="0"/>
                  <a:t>cells. </a:t>
                </a:r>
              </a:p>
              <a:p>
                <a:pPr marL="285750" indent="-285750">
                  <a:buFont typeface="Arial" panose="020B0604020202020204" pitchFamily="34" charset="0"/>
                  <a:buChar char="•"/>
                </a:pPr>
                <a:r>
                  <a:rPr lang="en-AU" sz="2200" dirty="0"/>
                  <a:t>Each cell provide 9 bins. </a:t>
                </a:r>
              </a:p>
              <a:p>
                <a:pPr marL="285750" indent="-285750">
                  <a:buFont typeface="Arial" panose="020B0604020202020204" pitchFamily="34" charset="0"/>
                  <a:buChar char="•"/>
                </a:pPr>
                <a:r>
                  <a:rPr lang="en-AU" sz="2200" dirty="0"/>
                  <a:t>Each block consists of 4 cells i.e.,  a block provides </a:t>
                </a:r>
                <a14:m>
                  <m:oMath xmlns:m="http://schemas.openxmlformats.org/officeDocument/2006/math">
                    <m:r>
                      <a:rPr lang="en-AU" sz="2200" b="0" i="1" smtClean="0">
                        <a:latin typeface="Cambria Math" panose="02040503050406030204" pitchFamily="18" charset="0"/>
                      </a:rPr>
                      <m:t>4</m:t>
                    </m:r>
                    <m:r>
                      <a:rPr lang="en-AU" sz="2200" b="0" i="1">
                        <a:latin typeface="Cambria Math" panose="02040503050406030204" pitchFamily="18" charset="0"/>
                      </a:rPr>
                      <m:t>×</m:t>
                    </m:r>
                    <m:r>
                      <a:rPr lang="en-AU" sz="2200" b="0" i="1" smtClean="0">
                        <a:latin typeface="Cambria Math" panose="02040503050406030204" pitchFamily="18" charset="0"/>
                      </a:rPr>
                      <m:t>9=36</m:t>
                    </m:r>
                    <m:r>
                      <a:rPr lang="en-AU" sz="2200" b="0" i="1">
                        <a:latin typeface="Cambria Math" panose="02040503050406030204" pitchFamily="18" charset="0"/>
                      </a:rPr>
                      <m:t> </m:t>
                    </m:r>
                  </m:oMath>
                </a14:m>
                <a:r>
                  <a:rPr lang="en-AU" sz="2200" dirty="0"/>
                  <a:t>i.e., 3</a:t>
                </a:r>
                <a14:m>
                  <m:oMath xmlns:m="http://schemas.openxmlformats.org/officeDocument/2006/math">
                    <m:r>
                      <a:rPr lang="en-AU" sz="2200" b="0" i="1">
                        <a:latin typeface="Cambria Math" panose="02040503050406030204" pitchFamily="18" charset="0"/>
                      </a:rPr>
                      <m:t>6</m:t>
                    </m:r>
                    <m:r>
                      <a:rPr lang="en-AU" sz="2200" b="0" i="1" smtClean="0">
                        <a:latin typeface="Cambria Math" panose="02040503050406030204" pitchFamily="18" charset="0"/>
                      </a:rPr>
                      <m:t>×1</m:t>
                    </m:r>
                    <m:r>
                      <a:rPr lang="en-AU" sz="2200" b="0" i="1">
                        <a:latin typeface="Cambria Math" panose="02040503050406030204" pitchFamily="18" charset="0"/>
                      </a:rPr>
                      <m:t> </m:t>
                    </m:r>
                  </m:oMath>
                </a14:m>
                <a:r>
                  <a:rPr lang="en-AU" sz="2200" dirty="0"/>
                  <a:t>element vector.</a:t>
                </a:r>
              </a:p>
              <a:p>
                <a:pPr marL="285750" indent="-285750">
                  <a:buFont typeface="Arial" panose="020B0604020202020204" pitchFamily="34" charset="0"/>
                  <a:buChar char="•"/>
                </a:pPr>
                <a:r>
                  <a:rPr lang="en-AU" sz="2200" b="1" dirty="0">
                    <a:solidFill>
                      <a:srgbClr val="FF0000"/>
                    </a:solidFill>
                  </a:rPr>
                  <a:t>What is the shape of each block?</a:t>
                </a:r>
                <a:r>
                  <a:rPr lang="en-AU" sz="2200" b="1" dirty="0"/>
                  <a:t> - </a:t>
                </a:r>
                <a14:m>
                  <m:oMath xmlns:m="http://schemas.openxmlformats.org/officeDocument/2006/math">
                    <m:r>
                      <a:rPr lang="en-AU" sz="2200" b="0" i="0" smtClean="0">
                        <a:latin typeface="Cambria Math" panose="02040503050406030204" pitchFamily="18" charset="0"/>
                      </a:rPr>
                      <m:t>16</m:t>
                    </m:r>
                    <m:r>
                      <a:rPr lang="en-AU" sz="2200" b="0" i="1">
                        <a:latin typeface="Cambria Math" panose="02040503050406030204" pitchFamily="18" charset="0"/>
                      </a:rPr>
                      <m:t>×</m:t>
                    </m:r>
                    <m:r>
                      <a:rPr lang="en-AU" sz="2200" b="0" i="1" smtClean="0">
                        <a:latin typeface="Cambria Math" panose="02040503050406030204" pitchFamily="18" charset="0"/>
                      </a:rPr>
                      <m:t>16</m:t>
                    </m:r>
                  </m:oMath>
                </a14:m>
                <a:r>
                  <a:rPr lang="en-AU" sz="2200" dirty="0"/>
                  <a:t> – a block is 2 cells wide and 2 cells height, each cell is </a:t>
                </a:r>
                <a14:m>
                  <m:oMath xmlns:m="http://schemas.openxmlformats.org/officeDocument/2006/math">
                    <m:r>
                      <a:rPr lang="en-AU" sz="2200" b="0" i="0" smtClean="0">
                        <a:latin typeface="Cambria Math" panose="02040503050406030204" pitchFamily="18" charset="0"/>
                      </a:rPr>
                      <m:t>8</m:t>
                    </m:r>
                    <m:r>
                      <a:rPr lang="en-AU" sz="2200" b="0" i="1">
                        <a:latin typeface="Cambria Math" panose="02040503050406030204" pitchFamily="18" charset="0"/>
                      </a:rPr>
                      <m:t>×</m:t>
                    </m:r>
                    <m:r>
                      <a:rPr lang="en-AU" sz="2200" b="0" i="1" smtClean="0">
                        <a:latin typeface="Cambria Math" panose="02040503050406030204" pitchFamily="18" charset="0"/>
                      </a:rPr>
                      <m:t>8</m:t>
                    </m:r>
                  </m:oMath>
                </a14:m>
                <a:r>
                  <a:rPr lang="en-AU" sz="2200" dirty="0"/>
                  <a:t> pixels.  </a:t>
                </a:r>
              </a:p>
              <a:p>
                <a:pPr marL="285750" indent="-285750">
                  <a:buFont typeface="Arial" panose="020B0604020202020204" pitchFamily="34" charset="0"/>
                  <a:buChar char="•"/>
                </a:pPr>
                <a:r>
                  <a:rPr lang="en-AU" sz="2200" dirty="0"/>
                  <a:t>There are 7 horizontal and 15 vertical positions making a total of </a:t>
                </a:r>
                <a14:m>
                  <m:oMath xmlns:m="http://schemas.openxmlformats.org/officeDocument/2006/math">
                    <m:r>
                      <a:rPr lang="en-AU" sz="2200" b="0" i="0" smtClean="0">
                        <a:latin typeface="Cambria Math" panose="02040503050406030204" pitchFamily="18" charset="0"/>
                      </a:rPr>
                      <m:t>7</m:t>
                    </m:r>
                    <m:r>
                      <a:rPr lang="en-AU" sz="2200" b="0" i="1">
                        <a:latin typeface="Cambria Math" panose="02040503050406030204" pitchFamily="18" charset="0"/>
                      </a:rPr>
                      <m:t>×</m:t>
                    </m:r>
                    <m:r>
                      <a:rPr lang="en-AU" sz="2200" b="0" i="1">
                        <a:latin typeface="Cambria Math" panose="02040503050406030204" pitchFamily="18" charset="0"/>
                      </a:rPr>
                      <m:t>1</m:t>
                    </m:r>
                    <m:r>
                      <a:rPr lang="en-AU" sz="2200" b="0" i="1" smtClean="0">
                        <a:latin typeface="Cambria Math" panose="02040503050406030204" pitchFamily="18" charset="0"/>
                      </a:rPr>
                      <m:t>5=105</m:t>
                    </m:r>
                    <m:r>
                      <a:rPr lang="en-AU" sz="2200" b="0" i="1">
                        <a:latin typeface="Cambria Math" panose="02040503050406030204" pitchFamily="18" charset="0"/>
                      </a:rPr>
                      <m:t> </m:t>
                    </m:r>
                  </m:oMath>
                </a14:m>
                <a:r>
                  <a:rPr lang="en-AU" sz="2200" dirty="0"/>
                  <a:t>positions (of a block) in the image.</a:t>
                </a:r>
              </a:p>
              <a:p>
                <a:pPr marL="285750" indent="-285750">
                  <a:buFont typeface="Arial" panose="020B0604020202020204" pitchFamily="34" charset="0"/>
                  <a:buChar char="•"/>
                </a:pPr>
                <a:r>
                  <a:rPr lang="en-AU" sz="2200" dirty="0"/>
                  <a:t>Concatenate them all into one giant vector we obtain a </a:t>
                </a:r>
                <a14:m>
                  <m:oMath xmlns:m="http://schemas.openxmlformats.org/officeDocument/2006/math">
                    <m:r>
                      <a:rPr lang="en-AU" sz="2200" b="0" i="0" smtClean="0">
                        <a:latin typeface="Cambria Math" panose="02040503050406030204" pitchFamily="18" charset="0"/>
                      </a:rPr>
                      <m:t>3</m:t>
                    </m:r>
                    <m:r>
                      <a:rPr lang="en-AU" sz="2200" b="0" i="1">
                        <a:latin typeface="Cambria Math" panose="02040503050406030204" pitchFamily="18" charset="0"/>
                      </a:rPr>
                      <m:t>6</m:t>
                    </m:r>
                    <m:r>
                      <a:rPr lang="en-AU" sz="2200" b="0" i="1">
                        <a:latin typeface="Cambria Math" panose="02040503050406030204" pitchFamily="18" charset="0"/>
                      </a:rPr>
                      <m:t>×</m:t>
                    </m:r>
                    <m:r>
                      <a:rPr lang="en-AU" sz="2200" b="0" i="1">
                        <a:latin typeface="Cambria Math" panose="02040503050406030204" pitchFamily="18" charset="0"/>
                      </a:rPr>
                      <m:t>1</m:t>
                    </m:r>
                    <m:r>
                      <a:rPr lang="en-AU" sz="2200" b="0" i="1" smtClean="0">
                        <a:latin typeface="Cambria Math" panose="02040503050406030204" pitchFamily="18" charset="0"/>
                      </a:rPr>
                      <m:t>05=3780</m:t>
                    </m:r>
                    <m:r>
                      <a:rPr lang="en-AU" sz="2200" b="0" i="1">
                        <a:latin typeface="Cambria Math" panose="02040503050406030204" pitchFamily="18" charset="0"/>
                      </a:rPr>
                      <m:t> </m:t>
                    </m:r>
                  </m:oMath>
                </a14:m>
                <a:r>
                  <a:rPr lang="en-AU" sz="2200" dirty="0"/>
                  <a:t>D vector.</a:t>
                </a:r>
              </a:p>
            </p:txBody>
          </p:sp>
        </mc:Choice>
        <mc:Fallback>
          <p:sp>
            <p:nvSpPr>
              <p:cNvPr id="8" name="TextBox 7">
                <a:extLst>
                  <a:ext uri="{FF2B5EF4-FFF2-40B4-BE49-F238E27FC236}">
                    <a16:creationId xmlns:a16="http://schemas.microsoft.com/office/drawing/2014/main" id="{252F7833-12AB-7FCB-4EA6-2378CD09E9DE}"/>
                  </a:ext>
                </a:extLst>
              </p:cNvPr>
              <p:cNvSpPr txBox="1">
                <a:spLocks noRot="1" noChangeAspect="1" noMove="1" noResize="1" noEditPoints="1" noAdjustHandles="1" noChangeArrowheads="1" noChangeShapeType="1" noTextEdit="1"/>
              </p:cNvSpPr>
              <p:nvPr/>
            </p:nvSpPr>
            <p:spPr>
              <a:xfrm>
                <a:off x="419100" y="2545779"/>
                <a:ext cx="8534400" cy="3967048"/>
              </a:xfrm>
              <a:prstGeom prst="rect">
                <a:avLst/>
              </a:prstGeom>
              <a:blipFill>
                <a:blip r:embed="rId5"/>
                <a:stretch>
                  <a:fillRect l="-892" t="-958" r="-743" b="-2236"/>
                </a:stretch>
              </a:blipFill>
            </p:spPr>
            <p:txBody>
              <a:bodyPr/>
              <a:lstStyle/>
              <a:p>
                <a:r>
                  <a:rPr lang="en-US">
                    <a:noFill/>
                  </a:rPr>
                  <a:t> </a:t>
                </a:r>
              </a:p>
            </p:txBody>
          </p:sp>
        </mc:Fallback>
      </mc:AlternateContent>
    </p:spTree>
    <p:extLst>
      <p:ext uri="{BB962C8B-B14F-4D97-AF65-F5344CB8AC3E}">
        <p14:creationId xmlns:p14="http://schemas.microsoft.com/office/powerpoint/2010/main" val="426256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EDD74-5FB5-6546-02EF-0AE1B0661235}"/>
              </a:ext>
            </a:extLst>
          </p:cNvPr>
          <p:cNvSpPr>
            <a:spLocks noGrp="1"/>
          </p:cNvSpPr>
          <p:nvPr>
            <p:ph type="title"/>
          </p:nvPr>
        </p:nvSpPr>
        <p:spPr>
          <a:xfrm>
            <a:off x="838200" y="365125"/>
            <a:ext cx="10515600" cy="748567"/>
          </a:xfrm>
        </p:spPr>
        <p:txBody>
          <a:bodyPr/>
          <a:lstStyle/>
          <a:p>
            <a:r>
              <a:rPr lang="en-US" b="1" dirty="0"/>
              <a:t>Readings</a:t>
            </a:r>
          </a:p>
        </p:txBody>
      </p:sp>
      <p:sp>
        <p:nvSpPr>
          <p:cNvPr id="3" name="Content Placeholder 2">
            <a:extLst>
              <a:ext uri="{FF2B5EF4-FFF2-40B4-BE49-F238E27FC236}">
                <a16:creationId xmlns:a16="http://schemas.microsoft.com/office/drawing/2014/main" id="{95C6D408-0329-138A-87FD-E29997D49E41}"/>
              </a:ext>
            </a:extLst>
          </p:cNvPr>
          <p:cNvSpPr>
            <a:spLocks noGrp="1"/>
          </p:cNvSpPr>
          <p:nvPr>
            <p:ph idx="1"/>
          </p:nvPr>
        </p:nvSpPr>
        <p:spPr>
          <a:xfrm>
            <a:off x="838200" y="1418493"/>
            <a:ext cx="10873154" cy="4900246"/>
          </a:xfrm>
        </p:spPr>
        <p:txBody>
          <a:bodyPr>
            <a:normAutofit lnSpcReduction="10000"/>
          </a:bodyPr>
          <a:lstStyle/>
          <a:p>
            <a:r>
              <a:rPr lang="en-US" sz="2200" dirty="0"/>
              <a:t>Computer Vision - A Modern Approach - D. Forsyth, J. Ponce: </a:t>
            </a:r>
          </a:p>
          <a:p>
            <a:pPr lvl="1"/>
            <a:r>
              <a:rPr lang="en-US" sz="2200" dirty="0"/>
              <a:t>Ch 5 (</a:t>
            </a:r>
            <a:r>
              <a:rPr lang="en-AU" sz="2200" dirty="0"/>
              <a:t>Local Image Features</a:t>
            </a:r>
            <a:r>
              <a:rPr lang="en-US" sz="2200" dirty="0"/>
              <a:t>): section 5.4</a:t>
            </a:r>
          </a:p>
          <a:p>
            <a:r>
              <a:rPr lang="en-US" sz="2200" dirty="0" err="1"/>
              <a:t>Szeliski</a:t>
            </a:r>
            <a:r>
              <a:rPr lang="en-US" sz="2200" dirty="0"/>
              <a:t> book – Chap 3: Image processing</a:t>
            </a:r>
          </a:p>
          <a:p>
            <a:pPr lvl="1"/>
            <a:r>
              <a:rPr lang="en-US" sz="2200" dirty="0"/>
              <a:t>Sections: 3.2</a:t>
            </a:r>
          </a:p>
          <a:p>
            <a:r>
              <a:rPr lang="en-US" sz="2200" dirty="0">
                <a:hlinkClick r:id="rId3"/>
              </a:rPr>
              <a:t>https://cvl-umass.github.io/intro-cv-spring-2025/assets/notes/imageprocessing.pdf</a:t>
            </a:r>
            <a:endParaRPr lang="en-US" sz="2200" dirty="0"/>
          </a:p>
          <a:p>
            <a:pPr lvl="1"/>
            <a:r>
              <a:rPr lang="en-US" sz="2200" dirty="0"/>
              <a:t>Sections: 4, 5, 7 and 8</a:t>
            </a:r>
          </a:p>
          <a:p>
            <a:r>
              <a:rPr lang="en-US" sz="2200" b="1" dirty="0"/>
              <a:t>Canny</a:t>
            </a:r>
            <a:r>
              <a:rPr lang="en-US" sz="2200" dirty="0"/>
              <a:t>: </a:t>
            </a:r>
          </a:p>
          <a:p>
            <a:pPr lvl="1"/>
            <a:r>
              <a:rPr lang="en-US" sz="2200" dirty="0">
                <a:hlinkClick r:id="rId4"/>
              </a:rPr>
              <a:t>https://medium.com/ai-in-plain-english/canny-edge-detection-in-python-4cbc1209adbc</a:t>
            </a:r>
            <a:endParaRPr lang="en-US" sz="2200" dirty="0"/>
          </a:p>
          <a:p>
            <a:pPr lvl="1"/>
            <a:r>
              <a:rPr lang="en-US" sz="2200" dirty="0">
                <a:hlinkClick r:id="rId5"/>
              </a:rPr>
              <a:t>https://justin-liang.com/tutorials/canny/</a:t>
            </a:r>
            <a:endParaRPr lang="en-US" sz="2200" dirty="0"/>
          </a:p>
          <a:p>
            <a:r>
              <a:rPr lang="en-US" sz="2200" b="1" dirty="0"/>
              <a:t>HOG: </a:t>
            </a:r>
            <a:r>
              <a:rPr lang="en-US" sz="2200" dirty="0">
                <a:hlinkClick r:id="rId6"/>
              </a:rPr>
              <a:t>https://learnopencv.com/histogram-of-oriented-gradients/</a:t>
            </a:r>
            <a:endParaRPr lang="en-US" sz="2200" dirty="0"/>
          </a:p>
          <a:p>
            <a:r>
              <a:rPr lang="en-US" sz="2200" dirty="0"/>
              <a:t>Notebooks:</a:t>
            </a:r>
          </a:p>
          <a:p>
            <a:pPr lvl="1"/>
            <a:r>
              <a:rPr lang="en-US" sz="2200" dirty="0">
                <a:hlinkClick r:id="rId7"/>
              </a:rPr>
              <a:t>https://www.kaggle.com/code/zahidbd/lecture10-nb1-gradients/</a:t>
            </a:r>
            <a:endParaRPr lang="en-US" sz="2200" dirty="0"/>
          </a:p>
          <a:p>
            <a:pPr lvl="1"/>
            <a:r>
              <a:rPr lang="en-US" sz="2200" dirty="0">
                <a:hlinkClick r:id="rId8"/>
              </a:rPr>
              <a:t>https://www.kaggle.com/code/zahidbd/lecture10-nb2-feature-extraction/</a:t>
            </a:r>
            <a:endParaRPr lang="en-US" sz="2200" dirty="0"/>
          </a:p>
          <a:p>
            <a:endParaRPr lang="en-US" dirty="0"/>
          </a:p>
          <a:p>
            <a:pPr lvl="1"/>
            <a:endParaRPr lang="en-US" dirty="0"/>
          </a:p>
          <a:p>
            <a:pPr lvl="1"/>
            <a:endParaRPr lang="en-US" dirty="0"/>
          </a:p>
          <a:p>
            <a:pPr marL="0" indent="0">
              <a:buNone/>
            </a:pPr>
            <a:endParaRPr lang="en-US" dirty="0"/>
          </a:p>
        </p:txBody>
      </p:sp>
    </p:spTree>
    <p:extLst>
      <p:ext uri="{BB962C8B-B14F-4D97-AF65-F5344CB8AC3E}">
        <p14:creationId xmlns:p14="http://schemas.microsoft.com/office/powerpoint/2010/main" val="3203063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31514</TotalTime>
  <Words>3104</Words>
  <Application>Microsoft Macintosh PowerPoint</Application>
  <PresentationFormat>Widescreen</PresentationFormat>
  <Paragraphs>400</Paragraphs>
  <Slides>35</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Cambria Math</vt:lpstr>
      <vt:lpstr>Google Sans Text</vt:lpstr>
      <vt:lpstr>Office Theme</vt:lpstr>
      <vt:lpstr>COMPUTER VISION</vt:lpstr>
      <vt:lpstr>Derivative recap</vt:lpstr>
      <vt:lpstr>Derivative recap</vt:lpstr>
      <vt:lpstr>Gradient</vt:lpstr>
      <vt:lpstr>Gradient application Pipeline</vt:lpstr>
      <vt:lpstr>Sobel Mask</vt:lpstr>
      <vt:lpstr>How do we get the weights in the Sobel operator?</vt:lpstr>
      <vt:lpstr>Horizontal Derivative Vector (D_x)</vt:lpstr>
      <vt:lpstr>Vertical Smoothing Vector (S_y)</vt:lpstr>
      <vt:lpstr>Edge detection: Naive thresholding</vt:lpstr>
      <vt:lpstr>Other operators</vt:lpstr>
      <vt:lpstr>Effect of noise on edge detector</vt:lpstr>
      <vt:lpstr>Edge detection in noisy image</vt:lpstr>
      <vt:lpstr>Problems with edge detection</vt:lpstr>
      <vt:lpstr>Edge detection</vt:lpstr>
      <vt:lpstr>Canny Edge Detector Algorithm</vt:lpstr>
      <vt:lpstr>Non-maxima suppression (Non-interpolation)</vt:lpstr>
      <vt:lpstr>Non-maxima suppression</vt:lpstr>
      <vt:lpstr>Neighbor selection (non-interpolation)</vt:lpstr>
      <vt:lpstr>Neighbor selection (bilinear-interpolation)</vt:lpstr>
      <vt:lpstr>Bilinear-interpolation</vt:lpstr>
      <vt:lpstr>How to calculate α?</vt:lpstr>
      <vt:lpstr>Hysteresis and double thresholding</vt:lpstr>
      <vt:lpstr>Hysteresis and double thresholding</vt:lpstr>
      <vt:lpstr>Feature Descriptors</vt:lpstr>
      <vt:lpstr>Histogram of Oriented Gradients (HOG)</vt:lpstr>
      <vt:lpstr>The HOG Pipeline (Step-by-Step)</vt:lpstr>
      <vt:lpstr>Cell Histograms</vt:lpstr>
      <vt:lpstr>Cell Histograms</vt:lpstr>
      <vt:lpstr>Cell Histograms - Interpolation</vt:lpstr>
      <vt:lpstr>Cell Histograms - Interpolation</vt:lpstr>
      <vt:lpstr>Cell Histograms – Workout example</vt:lpstr>
      <vt:lpstr>The HOG Pipeline (Step-by-Step)</vt:lpstr>
      <vt:lpstr>Block Normalization</vt:lpstr>
      <vt:lpstr>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Zahidul Islam</dc:creator>
  <cp:lastModifiedBy>Md Zahidul Islam</cp:lastModifiedBy>
  <cp:revision>939</cp:revision>
  <dcterms:created xsi:type="dcterms:W3CDTF">2026-08-04T00:11:14Z</dcterms:created>
  <dcterms:modified xsi:type="dcterms:W3CDTF">2026-09-13T19:51:34Z</dcterms:modified>
</cp:coreProperties>
</file>