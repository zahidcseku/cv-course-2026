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6" r:id="rId1"/>
  </p:sldMasterIdLst>
  <p:notesMasterIdLst>
    <p:notesMasterId r:id="rId31"/>
  </p:notesMasterIdLst>
  <p:sldIdLst>
    <p:sldId id="256" r:id="rId2"/>
    <p:sldId id="261" r:id="rId3"/>
    <p:sldId id="262" r:id="rId4"/>
    <p:sldId id="285" r:id="rId5"/>
    <p:sldId id="257" r:id="rId6"/>
    <p:sldId id="258" r:id="rId7"/>
    <p:sldId id="263" r:id="rId8"/>
    <p:sldId id="259" r:id="rId9"/>
    <p:sldId id="280" r:id="rId10"/>
    <p:sldId id="279" r:id="rId11"/>
    <p:sldId id="260" r:id="rId12"/>
    <p:sldId id="281" r:id="rId13"/>
    <p:sldId id="282" r:id="rId14"/>
    <p:sldId id="283" r:id="rId15"/>
    <p:sldId id="284" r:id="rId16"/>
    <p:sldId id="265" r:id="rId17"/>
    <p:sldId id="266" r:id="rId18"/>
    <p:sldId id="267" r:id="rId19"/>
    <p:sldId id="268" r:id="rId20"/>
    <p:sldId id="269" r:id="rId21"/>
    <p:sldId id="270" r:id="rId22"/>
    <p:sldId id="286" r:id="rId23"/>
    <p:sldId id="271" r:id="rId24"/>
    <p:sldId id="272" r:id="rId25"/>
    <p:sldId id="273" r:id="rId26"/>
    <p:sldId id="274" r:id="rId27"/>
    <p:sldId id="275" r:id="rId28"/>
    <p:sldId id="276" r:id="rId29"/>
    <p:sldId id="2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8"/>
    <p:restoredTop sz="80702"/>
  </p:normalViewPr>
  <p:slideViewPr>
    <p:cSldViewPr snapToGrid="0">
      <p:cViewPr>
        <p:scale>
          <a:sx n="111" d="100"/>
          <a:sy n="111" d="100"/>
        </p:scale>
        <p:origin x="96" y="-10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69E75-2F2A-4340-80BD-3C270EF90E93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5E430-97AE-C04C-BB4B-47DC21A0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videntscientific.com/en/microscope-resource/tutorials/olympusmicd/digitalimaging/contrast" TargetMode="External"/><Relationship Id="rId3" Type="http://schemas.openxmlformats.org/officeDocument/2006/relationships/hyperlink" Target="https://www.sciencedirect.com/topics/engineering/image-brightness" TargetMode="External"/><Relationship Id="rId7" Type="http://schemas.openxmlformats.org/officeDocument/2006/relationships/hyperlink" Target="https://www.cs.princeton.edu/courses/archive/spring21/cos426/lectures/Lecture-1.pdf" TargetMode="External"/><Relationship Id="rId12" Type="http://schemas.openxmlformats.org/officeDocument/2006/relationships/hyperlink" Target="https://imagej.net/learn/brightness-and-contrast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tutorialspoint.com/dip/brightness_and_contrast.htm" TargetMode="External"/><Relationship Id="rId11" Type="http://schemas.openxmlformats.org/officeDocument/2006/relationships/hyperlink" Target="https://www.imperial.ac.uk/media/imperial-college/medicine/facilities/film/Fiji-methods.pdf" TargetMode="External"/><Relationship Id="rId5" Type="http://schemas.openxmlformats.org/officeDocument/2006/relationships/hyperlink" Target="https://www.uomus.edu.iq/img/lectures21/MUCLecture_2024_112923514.pdf" TargetMode="External"/><Relationship Id="rId10" Type="http://schemas.openxmlformats.org/officeDocument/2006/relationships/hyperlink" Target="https://roberin.com/en/projects/image-bc-tool/" TargetMode="External"/><Relationship Id="rId4" Type="http://schemas.openxmlformats.org/officeDocument/2006/relationships/hyperlink" Target="https://pure.port.ac.uk/ws/portalfiles/portal/95972610/Contrast_and_brightness_balance_in_image_enhancement.pdf" TargetMode="External"/><Relationship Id="rId9" Type="http://schemas.openxmlformats.org/officeDocument/2006/relationships/hyperlink" Target="https://blog.annimon.com/image-processing-6/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Devices include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X-ray machines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Cameras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Video cameras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CCTV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MRI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AU" dirty="0"/>
              <a:t>Need basic image operations and filtering provides the foundational toolkit required to prepare, refine, and extract structural information from visual data.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19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7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6425-C810-550E-E483-C979524A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FD201-A327-1408-0FBC-35A431AF7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573A2-B8DB-6A93-14C5-35090CF1D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8A916-A98A-BA4E-7E73-9A77324A7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7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- (plus, potentially, some globally collected information or parameters)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90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U" dirty="0"/>
              <a:t>- Brightness refers to the overall lightness or darkness of an image, determined by the pixel intensity.</a:t>
            </a:r>
          </a:p>
          <a:p>
            <a:pPr lvl="0"/>
            <a:r>
              <a:rPr lang="en-AU" dirty="0"/>
              <a:t>- Contrast refers to the difference in intensity between pixels compared to a reference value (e.g., the mean pixel intensity). It essentially measures how "sharp" or "distinct" the variations in the image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49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can measure brightness and contrast in images using simple statistical metrics computed from pixel intensities. Brightness is typically the </a:t>
            </a:r>
            <a:r>
              <a:rPr lang="en-AU" b="1" dirty="0"/>
              <a:t>mean pixel intensity</a:t>
            </a:r>
            <a:r>
              <a:rPr lang="en-AU" dirty="0"/>
              <a:t>, while contrast is commonly measured as the </a:t>
            </a:r>
            <a:r>
              <a:rPr lang="en-AU" b="1" dirty="0"/>
              <a:t>standard deviation</a:t>
            </a:r>
            <a:r>
              <a:rPr lang="en-AU" dirty="0"/>
              <a:t> of pixel intensities or the </a:t>
            </a:r>
            <a:r>
              <a:rPr lang="en-AU" b="1" dirty="0"/>
              <a:t>difference between max and min intensity</a:t>
            </a:r>
            <a:r>
              <a:rPr lang="en-AU" dirty="0"/>
              <a:t>.[</a:t>
            </a:r>
            <a:r>
              <a:rPr lang="en-AU" dirty="0">
                <a:hlinkClick r:id="rId3"/>
              </a:rPr>
              <a:t>sciencedirect</a:t>
            </a:r>
            <a:r>
              <a:rPr lang="en-AU" dirty="0"/>
              <a:t>][</a:t>
            </a:r>
            <a:r>
              <a:rPr lang="en-AU" dirty="0">
                <a:hlinkClick r:id="rId4"/>
              </a:rPr>
              <a:t>pure.port.ac</a:t>
            </a:r>
            <a:r>
              <a:rPr lang="en-AU" dirty="0"/>
              <a:t>][</a:t>
            </a:r>
            <a:r>
              <a:rPr lang="en-AU" dirty="0">
                <a:hlinkClick r:id="rId5"/>
              </a:rPr>
              <a:t>uomus.edu</a:t>
            </a:r>
            <a:r>
              <a:rPr lang="en-AU" dirty="0"/>
              <a:t>][</a:t>
            </a:r>
            <a:r>
              <a:rPr lang="en-AU" dirty="0">
                <a:hlinkClick r:id="rId6"/>
              </a:rPr>
              <a:t>tutorialspoint</a:t>
            </a:r>
            <a:r>
              <a:rPr lang="en-AU" dirty="0"/>
              <a:t>]</a:t>
            </a:r>
          </a:p>
          <a:p>
            <a:r>
              <a:rPr lang="en-AU" b="1" dirty="0"/>
              <a:t>Core Metrics</a:t>
            </a:r>
          </a:p>
          <a:p>
            <a:r>
              <a:rPr lang="en-AU" b="1" dirty="0"/>
              <a:t>Brightness</a:t>
            </a:r>
          </a:p>
          <a:p>
            <a:pPr lvl="0"/>
            <a:r>
              <a:rPr lang="en-AU" b="1" dirty="0"/>
              <a:t>Definition</a:t>
            </a:r>
            <a:r>
              <a:rPr lang="en-AU" dirty="0"/>
              <a:t>: Average light intensity across all pixels in the image.[</a:t>
            </a:r>
            <a:r>
              <a:rPr lang="en-AU" dirty="0">
                <a:hlinkClick r:id="rId4"/>
              </a:rPr>
              <a:t>pure.port.ac</a:t>
            </a:r>
            <a:r>
              <a:rPr lang="en-AU" dirty="0"/>
              <a:t>][</a:t>
            </a:r>
            <a:r>
              <a:rPr lang="en-AU" dirty="0">
                <a:hlinkClick r:id="rId5"/>
              </a:rPr>
              <a:t>uomus.edu</a:t>
            </a:r>
            <a:r>
              <a:rPr lang="en-AU" dirty="0"/>
              <a:t>]</a:t>
            </a:r>
          </a:p>
          <a:p>
            <a:pPr lvl="0"/>
            <a:r>
              <a:rPr lang="en-AU" b="1" dirty="0"/>
              <a:t>Formula</a:t>
            </a:r>
            <a:r>
              <a:rPr lang="en-AU" dirty="0"/>
              <a:t> (grayscale or converted to luminance):</a:t>
            </a:r>
          </a:p>
          <a:p>
            <a:pPr lv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\text{Brightness} = \frac{1}{N} \sum_{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=1}^{N}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I_i</a:t>
            </a:r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AU" dirty="0"/>
              <a:t>where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I_i</a:t>
            </a:r>
            <a:r>
              <a:rPr lang="en-AU" dirty="0"/>
              <a:t> is the intensity of pixel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AU" dirty="0"/>
              <a:t> and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AU" dirty="0"/>
              <a:t> is total number of pixels.[</a:t>
            </a:r>
            <a:r>
              <a:rPr lang="en-AU" dirty="0">
                <a:hlinkClick r:id="rId4"/>
              </a:rPr>
              <a:t>pure.port.ac</a:t>
            </a:r>
            <a:r>
              <a:rPr lang="en-AU" dirty="0"/>
              <a:t>][</a:t>
            </a:r>
            <a:r>
              <a:rPr lang="en-AU" dirty="0">
                <a:hlinkClick r:id="rId5"/>
              </a:rPr>
              <a:t>uomus.edu</a:t>
            </a:r>
            <a:r>
              <a:rPr lang="en-AU" dirty="0"/>
              <a:t>]</a:t>
            </a:r>
          </a:p>
          <a:p>
            <a:pPr lvl="0"/>
            <a:r>
              <a:rPr lang="en-AU" b="1" dirty="0"/>
              <a:t>For </a:t>
            </a:r>
            <a:r>
              <a:rPr lang="en-AU" b="1" dirty="0" err="1"/>
              <a:t>color</a:t>
            </a:r>
            <a:r>
              <a:rPr lang="en-AU" b="1" dirty="0"/>
              <a:t> images</a:t>
            </a:r>
            <a:r>
              <a:rPr lang="en-AU" dirty="0"/>
              <a:t>: Convert to grayscale first using luminance weights (e.g.,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 = 0.30R + 0.59G + 0.11B</a:t>
            </a:r>
            <a:r>
              <a:rPr lang="en-AU" dirty="0"/>
              <a:t>) or compute mean across all channels.[</a:t>
            </a:r>
            <a:r>
              <a:rPr lang="en-AU" dirty="0">
                <a:hlinkClick r:id="rId7"/>
              </a:rPr>
              <a:t>cs.princeton</a:t>
            </a:r>
            <a:r>
              <a:rPr lang="en-AU" dirty="0"/>
              <a:t>][</a:t>
            </a:r>
            <a:r>
              <a:rPr lang="en-AU" dirty="0">
                <a:hlinkClick r:id="rId8"/>
              </a:rPr>
              <a:t>evidentscientific</a:t>
            </a:r>
            <a:r>
              <a:rPr lang="en-AU" dirty="0"/>
              <a:t>]</a:t>
            </a:r>
          </a:p>
          <a:p>
            <a:r>
              <a:rPr lang="en-AU" b="1" dirty="0"/>
              <a:t>Contrast</a:t>
            </a:r>
          </a:p>
          <a:p>
            <a:r>
              <a:rPr lang="en-AU" dirty="0"/>
              <a:t>Multiple standard measures exist:</a:t>
            </a:r>
          </a:p>
          <a:p>
            <a:r>
              <a:rPr lang="en-AU" dirty="0"/>
              <a:t>Measure</a:t>
            </a:r>
          </a:p>
          <a:p>
            <a:r>
              <a:rPr lang="en-AU" dirty="0"/>
              <a:t>Formula</a:t>
            </a:r>
          </a:p>
          <a:p>
            <a:r>
              <a:rPr lang="en-AU" dirty="0"/>
              <a:t>Interpretation</a:t>
            </a:r>
          </a:p>
          <a:p>
            <a:r>
              <a:rPr lang="en-AU" b="1" dirty="0"/>
              <a:t>Standard Deviation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\sigma = \sqrt{\frac{1}{N}\sum_{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=1}^{N}(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I_i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\mu)^2}</a:t>
            </a:r>
            <a:r>
              <a:rPr lang="en-AU" dirty="0"/>
              <a:t>Higher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\sigma</a:t>
            </a:r>
            <a:r>
              <a:rPr lang="en-AU" dirty="0"/>
              <a:t> → greater spread of intensities → higher contrast [</a:t>
            </a:r>
            <a:r>
              <a:rPr lang="en-AU" dirty="0">
                <a:hlinkClick r:id="rId3"/>
              </a:rPr>
              <a:t>sciencedirect</a:t>
            </a:r>
            <a:r>
              <a:rPr lang="en-AU" dirty="0"/>
              <a:t>][</a:t>
            </a:r>
            <a:r>
              <a:rPr lang="en-AU" dirty="0">
                <a:hlinkClick r:id="rId5"/>
              </a:rPr>
              <a:t>uomus.edu</a:t>
            </a:r>
            <a:r>
              <a:rPr lang="en-AU" dirty="0"/>
              <a:t>]</a:t>
            </a:r>
          </a:p>
          <a:p>
            <a:r>
              <a:rPr lang="en-AU" b="1" dirty="0"/>
              <a:t>Dynamic Range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\text{Contrast} = I_{\max} - I_{\min}</a:t>
            </a:r>
            <a:r>
              <a:rPr lang="en-AU" dirty="0"/>
              <a:t>Difference between brightest and darkest pixels [</a:t>
            </a:r>
            <a:r>
              <a:rPr lang="en-AU" dirty="0">
                <a:hlinkClick r:id="rId9"/>
              </a:rPr>
              <a:t>blog.annimon</a:t>
            </a:r>
            <a:r>
              <a:rPr lang="en-AU" dirty="0"/>
              <a:t>][</a:t>
            </a:r>
            <a:r>
              <a:rPr lang="en-AU" dirty="0">
                <a:hlinkClick r:id="rId6"/>
              </a:rPr>
              <a:t>tutorialspoint</a:t>
            </a:r>
            <a:r>
              <a:rPr lang="en-AU" dirty="0"/>
              <a:t>]</a:t>
            </a:r>
          </a:p>
          <a:p>
            <a:r>
              <a:rPr lang="en-AU" b="1" dirty="0"/>
              <a:t>RMS Contrast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\text{RMS} = \sqrt{\frac{1}{N}\sum_{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=1}^{N}(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I_i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\mu)^2}</a:t>
            </a:r>
            <a:r>
              <a:rPr lang="en-AU" dirty="0"/>
              <a:t>Equivalent to standard deviation; widely used in vision science</a:t>
            </a:r>
          </a:p>
          <a:p>
            <a:pPr lvl="0"/>
            <a:r>
              <a:rPr lang="en-AU" dirty="0"/>
              <a:t>Low contrast images have pixel values clustered near the mean (small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\sigma</a:t>
            </a:r>
            <a:r>
              <a:rPr lang="en-AU" dirty="0"/>
              <a:t>), while high contrast images span a wide intensity range.[</a:t>
            </a:r>
            <a:r>
              <a:rPr lang="en-AU" dirty="0">
                <a:hlinkClick r:id="rId5"/>
              </a:rPr>
              <a:t>uomus.edu</a:t>
            </a:r>
            <a:r>
              <a:rPr lang="en-AU" dirty="0"/>
              <a:t>][</a:t>
            </a:r>
            <a:r>
              <a:rPr lang="en-AU" dirty="0">
                <a:hlinkClick r:id="rId8"/>
              </a:rPr>
              <a:t>evidentscientific</a:t>
            </a:r>
            <a:r>
              <a:rPr lang="en-AU" dirty="0"/>
              <a:t>]</a:t>
            </a:r>
          </a:p>
          <a:p>
            <a:r>
              <a:rPr lang="en-AU" b="1" dirty="0"/>
              <a:t>Python Implementation</a:t>
            </a:r>
          </a:p>
          <a:p>
            <a:r>
              <a:rPr lang="en-AU" dirty="0"/>
              <a:t>Here's a concise function to compute these metrics: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np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PIL import Image</a:t>
            </a:r>
          </a:p>
          <a:p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measure_brightness_contrast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image_path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Image.open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image_path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).convert('L')  # Convert to grayscale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pixels =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np.array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).flatten()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brightness =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np.mean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(pixels)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contrast_std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np.std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(pixels)          # Standard deviation measure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contrast_range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np.max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(pixels) -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np.min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(pixels)  # Dynamic range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{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'brightness': brightness,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'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contrast_std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':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contrast_std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'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contrast_range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':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contrast_range</a:t>
            </a:r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AU" b="1" dirty="0"/>
              <a:t>Practical Notes</a:t>
            </a:r>
          </a:p>
          <a:p>
            <a:pPr lvl="0"/>
            <a:r>
              <a:rPr lang="en-AU" b="1" dirty="0"/>
              <a:t>Normalization</a:t>
            </a:r>
            <a:r>
              <a:rPr lang="en-AU" dirty="0"/>
              <a:t>: For 8-bit images, pixel values range 0–255. You can normalize brightness to a 0–100% scale: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\text{Brightness\%} = \frac{\text{mean}}{255} \times 100</a:t>
            </a:r>
            <a:r>
              <a:rPr lang="en-AU" dirty="0"/>
              <a:t>.[</a:t>
            </a:r>
            <a:r>
              <a:rPr lang="en-AU" dirty="0">
                <a:hlinkClick r:id="rId10"/>
              </a:rPr>
              <a:t>roberin</a:t>
            </a:r>
            <a:r>
              <a:rPr lang="en-AU" dirty="0"/>
              <a:t>]</a:t>
            </a:r>
          </a:p>
          <a:p>
            <a:pPr lvl="0"/>
            <a:r>
              <a:rPr lang="en-AU" b="1" dirty="0"/>
              <a:t>Local vs Global</a:t>
            </a:r>
            <a:r>
              <a:rPr lang="en-AU" dirty="0"/>
              <a:t>: For more nuanced analysis, compute these metrics on local patches (e.g., non-overlapping tiles) and aggregate (e.g., mean of local standard deviations).[</a:t>
            </a:r>
            <a:r>
              <a:rPr lang="en-AU" dirty="0">
                <a:hlinkClick r:id="rId3"/>
              </a:rPr>
              <a:t>sciencedirect</a:t>
            </a:r>
            <a:r>
              <a:rPr lang="en-AU" dirty="0"/>
              <a:t>]</a:t>
            </a:r>
          </a:p>
          <a:p>
            <a:pPr lvl="0"/>
            <a:r>
              <a:rPr lang="en-AU" b="1" dirty="0"/>
              <a:t>Tools</a:t>
            </a:r>
            <a:r>
              <a:rPr lang="en-AU" dirty="0"/>
              <a:t>: ImageJ/Fiji provides built-in measurement via </a:t>
            </a:r>
            <a:r>
              <a:rPr lang="en-AU" i="1" dirty="0" err="1"/>
              <a:t>Analyze</a:t>
            </a:r>
            <a:r>
              <a:rPr lang="en-AU" i="1" dirty="0"/>
              <a:t> → Measure</a:t>
            </a:r>
            <a:r>
              <a:rPr lang="en-AU" dirty="0"/>
              <a:t> after adjusting display with </a:t>
            </a:r>
            <a:r>
              <a:rPr lang="en-AU" i="1" dirty="0"/>
              <a:t>Image → Adjust → Brightness/Contrast</a:t>
            </a:r>
            <a:r>
              <a:rPr lang="en-AU" dirty="0"/>
              <a:t>.[</a:t>
            </a:r>
            <a:r>
              <a:rPr lang="en-AU" dirty="0">
                <a:hlinkClick r:id="rId11"/>
              </a:rPr>
              <a:t>imperial.ac</a:t>
            </a:r>
            <a:r>
              <a:rPr lang="en-AU" dirty="0"/>
              <a:t>][</a:t>
            </a:r>
            <a:r>
              <a:rPr lang="en-AU" dirty="0">
                <a:hlinkClick r:id="rId12"/>
              </a:rPr>
              <a:t>imagej</a:t>
            </a:r>
            <a:r>
              <a:rPr lang="en-AU" dirty="0"/>
              <a:t>]</a:t>
            </a:r>
          </a:p>
          <a:p>
            <a:r>
              <a:rPr lang="en-AU" dirty="0"/>
              <a:t>These metrics are widely used in image quality assessment, enhancement evaluation (e.g., Contrast Improvement Index =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C_{\text{enhanced}} / C_{\text{original}}</a:t>
            </a:r>
            <a:r>
              <a:rPr lang="en-AU" dirty="0"/>
              <a:t>), and preprocessing pipelines for computer vision.[</a:t>
            </a:r>
            <a:r>
              <a:rPr lang="en-AU" dirty="0">
                <a:hlinkClick r:id="rId3"/>
              </a:rPr>
              <a:t>sciencedirect</a:t>
            </a:r>
            <a:r>
              <a:rPr lang="en-AU" dirty="0"/>
              <a:t>][</a:t>
            </a:r>
            <a:r>
              <a:rPr lang="en-AU" dirty="0">
                <a:hlinkClick r:id="rId4"/>
              </a:rPr>
              <a:t>pure.port.ac</a:t>
            </a:r>
            <a:r>
              <a:rPr lang="en-AU" dirty="0"/>
              <a:t>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92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Core Concepts Explained</a:t>
                </a:r>
              </a:p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 The Problem with Direct RGB Manipulation</a:t>
                </a:r>
              </a:p>
              <a:p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When you add a constant offset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𝑐</m:t>
                    </m:r>
                    <m:r>
                      <a:rPr lang="en-AU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every channel in an RGB image (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′=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𝐺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′=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𝐺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𝐵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′=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𝐵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you attempt to increase the apparent brightness (intensity). However, this naive approach introduces severe visual artifacts: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Saturation Loss (Desaturation):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Adding an equal constant to all channels shifts the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closer to pure white (where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𝐺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𝐵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Dark or richly saturated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colors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quickly appear washed out or chalky.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Hue Shifts: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Because RGB values are bounded between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255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(or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0.0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1.0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brighter channels clip (hit maximum value) before darker channels. For instance, if red is already high, adding a constant clips red while green and blue continue to rise, shifting the perceived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balance (hue).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Non-linear Perception: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Human perception of brightness (luminance) is not equal across all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colors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humans are far more sensitive to green than to blue or red.</a:t>
                </a:r>
              </a:p>
              <a:p>
                <a:endParaRPr lang="en-AU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 Decoupling Luminance from Chrominance</a:t>
                </a:r>
              </a:p>
              <a:p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modify brightness without changing the underlying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identity (hue and saturation), vision algorithms separate 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luminance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(light intensity) from 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chrominance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information):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Chromaticity Coordinates /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Ratios: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Chromaticity normalizes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relative to total intensity: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𝑟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𝑅</m:t>
                          </m:r>
                        </m:num>
                        <m:den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𝑅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𝐺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𝐵</m:t>
                          </m:r>
                        </m:den>
                      </m:f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, 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𝑔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𝐺</m:t>
                          </m:r>
                        </m:num>
                        <m:den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𝑅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𝐺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𝐵</m:t>
                          </m:r>
                        </m:den>
                      </m:f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, 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𝑏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𝐵</m:t>
                          </m:r>
                        </m:num>
                        <m:den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𝑅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𝐺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A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By preserving these ratios, you can adjust the luminance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independently and then scale the original ratios back up to recalculate valid RGB values without altering hue or saturation.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Perceptual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Spaces (e.g., HSV, Lab):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spaces like HSV (Hue, Saturation, Value) or CIELAB, brightness is isolated in a single channel (Value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 Lightness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𝐿</m:t>
                        </m:r>
                      </m:e>
                      <m:sup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Brightening an image simply means scaling this single channel while holding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𝐻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constant.</a:t>
                </a:r>
              </a:p>
              <a:p>
                <a:endParaRPr lang="en-AU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Balancing &amp; 3×3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Twist Matrices</a:t>
                </a:r>
              </a:p>
              <a:p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 light sources (e.g., warm incandescent vs. cool daylight) cast different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tints over an entire scene.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Simple Scaling: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Multiplying each RGB channel by a scalar (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′=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𝑟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𝐺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′=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𝑔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𝐺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𝐵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′=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𝐵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offers a basic white-balance adjustment.</a:t>
                </a:r>
              </a:p>
              <a:p>
                <a:pPr lvl="0"/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Twist Transform Matrix: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For precise,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-accurate conversion (such as matching human perception under a specific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illuminant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the image is mapped to the CIE XYZ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 via a linear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×3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matrix transformation:</a:t>
                </a: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$$\begin{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 X \\ Y \\ Z \end{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 = \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mathbf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{M} \begin{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 R \\ G \\ B \end{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}$$</a:t>
                </a: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chromatic adaptions (shifting the scene's nominal white point) are calculated in XYZ space, and the values are then transformed back to RGB.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Core Concepts Explained</a:t>
                </a:r>
              </a:p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 The Problem with Direct RGB Manipulation</a:t>
                </a:r>
              </a:p>
              <a:p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When you add a constant offset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AU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every channel in an RGB image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𝑅′=𝑅+𝑐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𝐺′=𝐺+𝑐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𝐵′=𝐵+𝑐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you attempt to increase the apparent brightness (intensity). However, this naive approach introduces severe visual artifacts: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Saturation Loss (Desaturation):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Adding an equal constant to all channels shifts the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closer to pure white (where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𝑅=𝐺=𝐵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Dark or richly saturated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colors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quickly appear washed out or chalky.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Hue Shifts: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Because RGB values are bounded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255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0.0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1.0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brighter channels clip (hit maximum value) before darker channels. For instance, if red is already high, adding a constant clips red while green and blue continue to rise, shifting the perceived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balance (hue).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Non-linear Perception: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Human perception of brightness (luminance) is not equal across all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colors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humans are far more sensitive to green than to blue or red.</a:t>
                </a:r>
              </a:p>
              <a:p>
                <a:endParaRPr lang="en-AU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 Decoupling Luminance from Chrominance</a:t>
                </a:r>
              </a:p>
              <a:p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modify brightness without changing the underlying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identity (hue and saturation), vision algorithms separate 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luminance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(light intensity) from 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chrominance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information):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Chromaticity Coordinates /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Ratios: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Chromaticity normalizes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relative to total intensity: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𝑟=𝑅/(𝑅+𝐺+𝐵), 𝑔=𝐺/(𝑅+𝐺+𝐵), 𝑏=𝐵/(𝑅+𝐺+𝐵)</a:t>
                </a:r>
                <a:endParaRPr lang="en-A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By preserving these ratios, you can adjust the luminance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independently and then scale the original ratios back up to recalculate valid RGB values without altering hue or saturation.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Perceptual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Spaces (e.g., HSV, Lab):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spaces like HSV (Hue, Saturation, Value) or CIELAB, brightness is isolated in a single channel (Value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 Lightness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𝐿^∗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Brightening an image simply means scaling this single channel while holding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constant.</a:t>
                </a:r>
              </a:p>
              <a:p>
                <a:endParaRPr lang="en-AU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Balancing &amp; 3×3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Twist Matrices</a:t>
                </a:r>
              </a:p>
              <a:p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 light sources (e.g., warm incandescent vs. cool daylight) cast different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tints over an entire scene.</a:t>
                </a: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Simple Scaling: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Multiplying each RGB channel by a scalar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𝑅′=𝑘_𝑟 𝑅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𝐺′=𝑘_𝑔 𝐺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𝐵′=𝑏_𝑏 𝐵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offers a basic white-balance adjustment.</a:t>
                </a:r>
              </a:p>
              <a:p>
                <a:pPr lvl="0"/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Twist Transform Matrix: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For precise,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-accurate conversion (such as matching human perception under a specific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illuminant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the image is mapped to the CIE XYZ 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 via a linear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3×3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matrix transformation:</a:t>
                </a: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$$\begin{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 X \\ Y \\ Z \end{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 = \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mathbf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{M} \begin{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 R \\ G \\ B \end{</a:t>
                </a:r>
                <a:r>
                  <a:rPr lang="en-AU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bmatrix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}$$</a:t>
                </a: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chromatic adaptions (shifting the scene's nominal white point) are calculated in XYZ space, and the values are then transformed back to RGB.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21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87D6-E691-7771-36E3-516C8330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EC57F-77D2-3F37-0E6C-4C9532058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FDAA974-16CB-6162-375F-58F1D4E523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Perceptual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Spaces (e.g., HSV, Lab):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spaces like HSV (Hue, Saturation, Value) or CIELAB, brightness is isolated in a single channel (Value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 Lightness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p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Brightening an image simply means scaling this single channel while holding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constant.</a:t>
                </a:r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FDAA974-16CB-6162-375F-58F1D4E523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Perceptual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Spaces (e.g., HSV, Lab):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spaces like HSV (Hue, Saturation, Value) or CIELAB, brightness is isolated in a single channel (Value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𝑉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 Lightness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𝐿^∗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Brightening an image simply means scaling this single channel while holding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𝐻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constant.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1415F-A000-A9AE-9D4E-B6387D994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39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56499-0C96-F2A6-0B0F-2163496A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92241-9781-0313-2432-396008FF2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BCB6E1A-3723-CD6C-9551-F4579AFA35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Perceptual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Spaces (e.g., HSV, Lab):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spaces like HSV (Hue, Saturation, Value) or CIELAB, brightness is isolated in a single channel (Value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 Lightness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p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 </a:t>
                </a: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Brightening an image simply means scaling this single channel while holding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constant.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BCB6E1A-3723-CD6C-9551-F4579AFA35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Perceptual </a:t>
                </a:r>
                <a:r>
                  <a:rPr lang="en-AU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Color</a:t>
                </a:r>
                <a:r>
                  <a:rPr lang="en-AU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Spaces (e.g., HSV, Lab):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spaces like HSV (Hue, Saturation, Value) or CIELAB, brightness is isolated in a single channel (Value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𝑉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 Lightness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𝐿^∗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 </a:t>
                </a:r>
              </a:p>
              <a:p>
                <a:pPr lvl="0"/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Brightening an image simply means scaling this single channel while holding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𝐻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</a:t>
                </a:r>
                <a:r>
                  <a:rPr lang="en-AU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constant.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822C8-B1F3-7FA5-B459-48E00B381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5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0" i="0" u="none" dirty="0">
                <a:solidFill>
                  <a:srgbClr val="94A3B8"/>
                </a:solidFill>
                <a:latin typeface="Lato"/>
              </a:rPr>
              <a:t>Without offsetting the pivot point to mid-</a:t>
            </a:r>
            <a:r>
              <a:rPr lang="en-AU" sz="1200" b="0" i="0" u="none" dirty="0" err="1">
                <a:solidFill>
                  <a:srgbClr val="94A3B8"/>
                </a:solidFill>
                <a:latin typeface="Lato"/>
              </a:rPr>
              <a:t>gray</a:t>
            </a:r>
            <a:r>
              <a:rPr lang="en-AU" sz="1200" b="0" i="0" u="none" dirty="0">
                <a:solidFill>
                  <a:srgbClr val="94A3B8"/>
                </a:solidFill>
                <a:latin typeface="Lato"/>
              </a:rPr>
              <a:t>, gain multiplication acts purely as a gain scaling around zero, shifting brightness out of control.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why do we need (</a:t>
            </a:r>
            <a:r>
              <a:rPr lang="en-AU" dirty="0" err="1"/>
              <a:t>img_float</a:t>
            </a:r>
            <a:r>
              <a:rPr lang="en-AU" dirty="0"/>
              <a:t> - 127.5) * contrast + 127.5 the 127.5 addition and subtraction?</a:t>
            </a:r>
          </a:p>
          <a:p>
            <a:r>
              <a:rPr lang="en-AU" dirty="0"/>
              <a:t>- 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to subtract and add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127.5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 contrast scaling must be done relative to the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mid-tone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image, rather than absolute zero (black).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exactly what happens if you don't do this, and why the math is designed this way: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Midpoint Anchor (127.5)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an 8-bit digital image, pixel values range from 0 (pure black) to 255 (pure white). The exact mathematical middle of this spectrum is: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\(\frac{255}{2}=127.5\)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adjust contrast, your goal is to make the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 pixels brighter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 pixels darker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do that accurately, the computer needs to know what is considered "already bright" and what is "already dark". 127.5 acts as that balancing point.</a:t>
            </a:r>
          </a:p>
          <a:p>
            <a:br>
              <a:rPr lang="en-AU" dirty="0"/>
            </a:br>
            <a:endParaRPr lang="en-AU" dirty="0"/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Step-by-Step Math Transformation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break down the formula using a contrast multiplier of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2.0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(doubling the contrast) on two different pixels: a dark pixel (100) and a light pixel (200).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\(\text{New\ Value}=(\text{Pixel}-127.5)\times \text{Contrast}+127.5\)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 Pixel (100)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 Pixel (200)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Subtract 127.5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(Shifts 127.5 to become the "zero" point)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\(100 - 127.5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{-27.5}\)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(Negative means it's dark)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\(200 - 127.5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{+72.5}\)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(Positive means it's light)</a:t>
            </a:r>
            <a:endParaRPr lang="en-AU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Multiply by Contrast (2.0)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(Pushes values away from zero)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\(-27.5 \times 2.0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{-55.0}\)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(Becomes even more negative)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\(72.5 \times 2.0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{+145.0}\)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(Becomes even more positive)</a:t>
            </a:r>
            <a:endParaRPr lang="en-AU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Add 127.5 back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(Shifts back to original 0–255 scale)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\(-55.0 + 127.5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{72.5}\)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(Successfully darkened from 100)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\(145.0 + 127.5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{272.5}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{255}\)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(Successfully brightened from 200)</a:t>
            </a:r>
            <a:endParaRPr lang="en-AU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this anchor, the dark pixel got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(dropped from 100 to 72.5) and the bright pixel got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(rose from 200 to 255). The middle tones right around 127.5 stay perfectly balanced.</a:t>
            </a:r>
          </a:p>
          <a:p>
            <a:br>
              <a:rPr lang="en-AU" dirty="0"/>
            </a:br>
            <a:endParaRPr lang="en-AU" dirty="0"/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What happens if you skip it? (The Broken Way)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simply multiply the pixels directly without shifting (Pixel * Contrast), your anchor point automatically becomes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(pure black)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double the contrast of our pixels using just multiplication (Pixel * 2.0):</a:t>
            </a:r>
          </a:p>
          <a:p>
            <a:pPr lvl="0"/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dark pixel (100) becomes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(It got </a:t>
            </a: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the opposite of what low contrast needs).</a:t>
            </a:r>
          </a:p>
          <a:p>
            <a:pPr lvl="0"/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light pixel (200) becomes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(Clips out to 255).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the 127.5 shift, increasing contrast would aggressively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brighten the entire image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completely destroy your dark shadows, turning your contrast tool into a messy brightness tool.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08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D660-55C4-8477-AC00-5E453371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FF1CC-16E0-BFDC-9F36-9D8A3C7D2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ACEBB-DD00-33E7-0CA1-E61E0617D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0" i="0" u="none" dirty="0">
                <a:solidFill>
                  <a:srgbClr val="94A3B8"/>
                </a:solidFill>
                <a:latin typeface="Lato"/>
              </a:rPr>
              <a:t>Without offsetting the pivot point to mid-</a:t>
            </a:r>
            <a:r>
              <a:rPr lang="en-AU" sz="1200" b="0" i="0" u="none" dirty="0" err="1">
                <a:solidFill>
                  <a:srgbClr val="94A3B8"/>
                </a:solidFill>
                <a:latin typeface="Lato"/>
              </a:rPr>
              <a:t>gray</a:t>
            </a:r>
            <a:r>
              <a:rPr lang="en-AU" sz="1200" b="0" i="0" u="none" dirty="0">
                <a:solidFill>
                  <a:srgbClr val="94A3B8"/>
                </a:solidFill>
                <a:latin typeface="Lato"/>
              </a:rPr>
              <a:t>, gain multiplication acts purely as a gain scaling around zero, shifting brightness out of control.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why do we need (</a:t>
            </a:r>
            <a:r>
              <a:rPr lang="en-AU" dirty="0" err="1"/>
              <a:t>img_float</a:t>
            </a:r>
            <a:r>
              <a:rPr lang="en-AU" dirty="0"/>
              <a:t> - 127.5) * contrast + 127.5 the 127.5 addition and subtraction?</a:t>
            </a:r>
          </a:p>
          <a:p>
            <a:r>
              <a:rPr lang="en-AU" dirty="0"/>
              <a:t>- 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to subtract and add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127.5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 contrast scaling must be done relative to the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mid-tone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image, rather than absolute zero (black).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exactly what happens if you don't do this, and why the math is designed this way: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Midpoint Anchor (127.5)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an 8-bit digital image, pixel values range from 0 (pure black) to 255 (pure white). The exact mathematical middle of this spectrum is: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\(\frac{255}{2}=127.5\)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adjust contrast, your goal is to make the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 pixels brighter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 pixels darker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do that accurately, the computer needs to know what is considered "already bright" and what is "already dark". 127.5 acts as that balancing point.</a:t>
            </a:r>
          </a:p>
          <a:p>
            <a:br>
              <a:rPr lang="en-AU" dirty="0"/>
            </a:br>
            <a:endParaRPr lang="en-AU" dirty="0"/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Step-by-Step Math Transformation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break down the formula using a contrast multiplier of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2.0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(doubling the contrast) on two different pixels: a dark pixel (100) and a light pixel (200).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\(\text{New\ Value}=(\text{Pixel}-127.5)\times \text{Contrast}+127.5\)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 Pixel (100)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 Pixel (200)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Subtract 127.5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(Shifts 127.5 to become the "zero" point)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\(100 - 127.5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{-27.5}\)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(Negative means it's dark)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\(200 - 127.5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{+72.5}\)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(Positive means it's light)</a:t>
            </a:r>
            <a:endParaRPr lang="en-AU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Multiply by Contrast (2.0)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(Pushes values away from zero)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\(-27.5 \times 2.0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{-55.0}\)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(Becomes even more negative)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\(72.5 \times 2.0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{+145.0}\)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(Becomes even more positive)</a:t>
            </a:r>
            <a:endParaRPr lang="en-AU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Add 127.5 back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(Shifts back to original 0–255 scale)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\(-55.0 + 127.5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{72.5}\)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(Successfully darkened from 100)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\(145.0 + 127.5 =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{272.5}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{255}\) </a:t>
            </a:r>
            <a:b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(Successfully brightened from 200)</a:t>
            </a:r>
            <a:endParaRPr lang="en-AU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this anchor, the dark pixel got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(dropped from 100 to 72.5) and the bright pixel got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(rose from 200 to 255). The middle tones right around 127.5 stay perfectly balanced.</a:t>
            </a:r>
          </a:p>
          <a:p>
            <a:br>
              <a:rPr lang="en-AU" dirty="0"/>
            </a:br>
            <a:endParaRPr lang="en-AU" dirty="0"/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What happens if you skip it? (The Broken Way)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simply multiply the pixels directly without shifting (Pixel * Contrast), your anchor point automatically becomes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(pure black)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double the contrast of our pixels using just multiplication (Pixel * 2.0):</a:t>
            </a:r>
          </a:p>
          <a:p>
            <a:pPr lvl="0"/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dark pixel (100) becomes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(It got </a:t>
            </a: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brighter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the opposite of what low contrast needs).</a:t>
            </a:r>
          </a:p>
          <a:p>
            <a:pPr lvl="0"/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light pixel (200) becomes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(Clips out to 255).</a:t>
            </a:r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the 127.5 shift, increasing contrast would aggressively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brighten the entire image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completely destroy your dark shadows, turning your contrast tool into a messy brightness tool.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76666-3858-843F-44B4-3B83A2966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73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52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74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4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25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96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847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46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517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86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2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0ABA-4290-90CD-CC55-F20491E4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24B89-364B-EE61-91C7-B9F06B42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63DC-9861-DCAD-6ABF-69C738D5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4E29-F2F6-0C59-6484-F3A7E29D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EEB-1E1D-36B5-14CA-0489A122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66E-2238-2945-30ED-0D5D903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6DA5-3118-31B7-4826-91DCF974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4AF0-DB24-1918-D680-D607CC93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8A90F-2980-A2E6-466C-5402C1FC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8EC3-A8B5-7BBB-739B-70BA6D09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189-E67A-DEEB-8B84-7C335EFE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D7FA-A772-AA86-E957-C377B217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6E92-A603-E836-46A2-21459F70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3A2D-7527-2749-6AC2-791551C5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46D8-F5E0-55C9-DFA9-AE038A78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C26-3DD7-E942-7FD3-AD464221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E2B3-6415-0C9F-2B63-AAD8FE7C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849E-962A-A5CF-1EFF-A5D9F6D2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4F206-C4C3-7740-140B-91013CDD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0921-80EB-4B2D-95C6-1C999B36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45F9-5E9B-8C6E-6D1D-0A82EC8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5D9A-3AD0-657C-C3CB-A50C2397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96E7-6FDA-8F23-1869-AFDF16E7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602A-B874-4D33-8037-C166D9D3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8C1A-755F-F467-FB5F-2740E9A8A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68491-33EA-3F5E-3142-9D822916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0A4D-B479-3C8E-68BA-F49180D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6669-6B95-0CBE-1D95-890C54EE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83EE-4D9B-D81A-FD71-5D6A16D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E9B-AD06-B997-1AE7-3073AFF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26203-6C54-59B6-ADFE-EA8A474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622D-800D-BD21-04BE-E0E9D2C3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FC2C-3FA0-9A58-0F7D-02622CA3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2467D-6BE5-9E50-E767-5B64065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D547-4603-D852-B1B3-A5C380C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6508D-341E-E5BD-C22D-E2BF3A6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1ED0-75A3-6E0F-3006-4E70B9C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13C3-01A6-E614-D555-D3BC4C59D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72D1-C96F-3382-A48C-F0612B2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0C82-959E-DF3F-38A5-159F3E4E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9977-4322-D261-2170-1A0B6CD7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5F3-686B-5E91-86E8-81B85A12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422-F15A-4C2C-3C8A-BB5AFE6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D814-F5EA-2E89-F8F7-F91682556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475-4926-2118-0A8D-7E5E64E2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74AE-202B-63F1-CC92-B6A0B149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5DEF-4986-D816-B5EC-52508C74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0EB8-9FF8-3665-DFC3-2A23C436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349C-55F4-8DD2-B5B3-F25C326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1ACD-3ECA-19BE-9063-F5AAB3BE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6CB2-8338-345D-B066-B1D7BFD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A996-1CE2-090B-003F-5B7EB52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362C-DC52-130E-3EDD-CFC6E248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7662E-7958-3ADE-A998-F33C75EF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6EE86-C6DB-34C8-839F-4C05EA0D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12CF-5E36-6937-CC03-FD4DAFC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91FE-5CDC-76E7-1D6A-CFFC7D5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1ADC-D743-398A-851E-E742E36C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8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2BC51-9F87-6890-45C0-643E6F5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06F5-F306-E89C-5151-AA5BF69A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B21F-4F09-4E1F-433A-CF40F62B9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09DE-CA0F-77A5-6135-84F8389D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56ADA-A62D-616A-836C-0D9BA5F7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zahidbd/lecture7-nb1-croping-samplin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zahidbd/lecture7-nb2-br-c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vl-umass.github.io/intro-cv-spring-2025/assets/notes/imageprocessing.pd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code/zahidbd/lecture7-nb3-histogram" TargetMode="External"/><Relationship Id="rId4" Type="http://schemas.openxmlformats.org/officeDocument/2006/relationships/hyperlink" Target="https://www.kaggle.com/code/zahidbd/lecture7-nb1-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241-48AD-583C-9840-CDD40301C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2094C-5F63-31E5-6117-5B637982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6</a:t>
            </a:r>
          </a:p>
          <a:p>
            <a:r>
              <a:rPr lang="en-US" dirty="0"/>
              <a:t>Lecture 7 (01/09/2026)</a:t>
            </a:r>
          </a:p>
          <a:p>
            <a:r>
              <a:rPr lang="en-US" dirty="0"/>
              <a:t>0714 02 CSE 4239</a:t>
            </a:r>
          </a:p>
        </p:txBody>
      </p:sp>
    </p:spTree>
    <p:extLst>
      <p:ext uri="{BB962C8B-B14F-4D97-AF65-F5344CB8AC3E}">
        <p14:creationId xmlns:p14="http://schemas.microsoft.com/office/powerpoint/2010/main" val="306047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1300-BC3B-4BBC-04C5-74ABF59D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image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073A8-B27C-5C12-B7AA-A769AD08A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Raw image data acquired by </a:t>
            </a:r>
            <a:r>
              <a:rPr lang="en-AU" b="1" dirty="0"/>
              <a:t>imaging devices</a:t>
            </a:r>
            <a:r>
              <a:rPr lang="en-AU" dirty="0"/>
              <a:t> is rarely clean, well-formatted, or directly usable by higher-level recognition models.</a:t>
            </a:r>
          </a:p>
          <a:p>
            <a:r>
              <a:rPr lang="en-AU" dirty="0"/>
              <a:t>Need basic image operations and filtering (from the DIP course) to prepare, refine, and extract structural information from visual data.</a:t>
            </a:r>
          </a:p>
          <a:p>
            <a:r>
              <a:rPr lang="en-AU" b="1" dirty="0"/>
              <a:t>Point Operations (e.g., Histogram Equalization):</a:t>
            </a:r>
            <a:r>
              <a:rPr lang="en-AU" dirty="0"/>
              <a:t> Corrects exposure, enhances contrast, and standardizes luminance across dataset samples.</a:t>
            </a:r>
            <a:endParaRPr lang="en-AU" b="1" dirty="0"/>
          </a:p>
          <a:p>
            <a:pPr lvl="0"/>
            <a:r>
              <a:rPr lang="en-AU" b="1" dirty="0"/>
              <a:t>Filtering (e.g., Gaussian, Median Filters):</a:t>
            </a:r>
            <a:r>
              <a:rPr lang="en-AU" dirty="0"/>
              <a:t> Removes high-frequency noise or speckles while preserving underlying structures.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5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DB4A-F690-5DD6-CDF5-0A6FB3C2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39560" cy="1325563"/>
          </a:xfrm>
        </p:spPr>
        <p:txBody>
          <a:bodyPr/>
          <a:lstStyle/>
          <a:p>
            <a:r>
              <a:rPr lang="en-US" b="1" dirty="0"/>
              <a:t>Image cropping and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EB9A-1D78-293A-8085-720FE17FF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9560" cy="1325563"/>
          </a:xfrm>
        </p:spPr>
        <p:txBody>
          <a:bodyPr/>
          <a:lstStyle/>
          <a:p>
            <a:r>
              <a:rPr lang="en-AU" dirty="0"/>
              <a:t>To remove unwanted area or to select area of interest in an image.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80AA7-3561-040A-0876-6D7CB7079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240" y="365125"/>
            <a:ext cx="4119880" cy="6179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7F499-A982-C2CD-4CBE-CC1B78F40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697" y="2871263"/>
            <a:ext cx="5397500" cy="319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9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E25DA-A70D-452E-2A73-9D916F54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C81A-614A-45C5-3270-EF40E160F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39560" cy="1325563"/>
          </a:xfrm>
        </p:spPr>
        <p:txBody>
          <a:bodyPr/>
          <a:lstStyle/>
          <a:p>
            <a:r>
              <a:rPr lang="en-US" b="1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A66B7-8535-6297-54B6-E658ACAF2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639560" cy="612245"/>
          </a:xfrm>
        </p:spPr>
        <p:txBody>
          <a:bodyPr/>
          <a:lstStyle/>
          <a:p>
            <a:r>
              <a:rPr lang="en-AU" dirty="0"/>
              <a:t>Applied to reduce image size.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D51BC-F1D3-36D7-5A93-F44343663FC1}"/>
              </a:ext>
            </a:extLst>
          </p:cNvPr>
          <p:cNvSpPr txBox="1"/>
          <p:nvPr/>
        </p:nvSpPr>
        <p:spPr>
          <a:xfrm>
            <a:off x="838200" y="5740400"/>
            <a:ext cx="918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3"/>
              </a:rPr>
              <a:t>https://www.kaggle.com/code/zahidbd/lecture7-nb1-croping-sampling/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6FB15C-99CC-FC56-AFFE-D5C78103E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9" y="2302933"/>
            <a:ext cx="10328861" cy="304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4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ED38-F281-B26A-F461-52724E2B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 Point operators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2824-8EAA-17A2-2FCC-F00EB5E2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AU" sz="3200" dirty="0"/>
              <a:t>Each output pixel’s value depends on only the corresponding input pixel value. </a:t>
            </a:r>
          </a:p>
          <a:p>
            <a:r>
              <a:rPr lang="en-AU" sz="3200" dirty="0"/>
              <a:t>Examples of such operators: </a:t>
            </a:r>
          </a:p>
          <a:p>
            <a:pPr lvl="1"/>
            <a:r>
              <a:rPr lang="en-AU" sz="2800" b="1" dirty="0"/>
              <a:t>Brightness and contrast adjustments </a:t>
            </a:r>
          </a:p>
          <a:p>
            <a:pPr lvl="1"/>
            <a:r>
              <a:rPr lang="en-AU" sz="2800" dirty="0"/>
              <a:t>Colour correction and transformations. </a:t>
            </a:r>
          </a:p>
        </p:txBody>
      </p:sp>
    </p:spTree>
    <p:extLst>
      <p:ext uri="{BB962C8B-B14F-4D97-AF65-F5344CB8AC3E}">
        <p14:creationId xmlns:p14="http://schemas.microsoft.com/office/powerpoint/2010/main" val="89465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B77B-0CF9-7792-D211-2F517433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What Are Brightness and Contrast?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BC265-8347-E75B-769C-F69BBFE68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33571" cy="4459061"/>
          </a:xfrm>
        </p:spPr>
        <p:txBody>
          <a:bodyPr/>
          <a:lstStyle/>
          <a:p>
            <a:pPr lvl="0"/>
            <a:r>
              <a:rPr lang="en-AU" b="1" dirty="0"/>
              <a:t>Brightness</a:t>
            </a:r>
            <a:r>
              <a:rPr lang="en-AU" dirty="0"/>
              <a:t> - the overall lightness or darkness of an image.</a:t>
            </a:r>
          </a:p>
          <a:p>
            <a:pPr lvl="1"/>
            <a:r>
              <a:rPr lang="en-AU" dirty="0"/>
              <a:t>Determined by the </a:t>
            </a:r>
            <a:r>
              <a:rPr lang="en-AU" b="1" dirty="0"/>
              <a:t>pixel intensity?</a:t>
            </a:r>
            <a:endParaRPr lang="en-AU" dirty="0"/>
          </a:p>
          <a:p>
            <a:pPr lvl="0"/>
            <a:r>
              <a:rPr lang="en-AU" b="1" dirty="0"/>
              <a:t>Contrast</a:t>
            </a:r>
            <a:r>
              <a:rPr lang="en-AU" dirty="0"/>
              <a:t> - the difference in intensity between pixels compared to a reference value (e.g., the mean pixel intensity). </a:t>
            </a:r>
          </a:p>
          <a:p>
            <a:pPr lvl="1"/>
            <a:r>
              <a:rPr lang="en-AU" dirty="0"/>
              <a:t>Measures how "sharp" or "distinct" the variations in the image are.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835278-044B-AB0D-B951-BB5DD436BD30}"/>
                  </a:ext>
                </a:extLst>
              </p:cNvPr>
              <p:cNvSpPr txBox="1"/>
              <p:nvPr/>
            </p:nvSpPr>
            <p:spPr>
              <a:xfrm>
                <a:off x="7141028" y="1825625"/>
                <a:ext cx="31578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835278-044B-AB0D-B951-BB5DD436B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28" y="1825625"/>
                <a:ext cx="3157852" cy="430887"/>
              </a:xfrm>
              <a:prstGeom prst="rect">
                <a:avLst/>
              </a:prstGeom>
              <a:blipFill>
                <a:blip r:embed="rId3"/>
                <a:stretch>
                  <a:fillRect l="-2410" r="-2410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2EFDCA-24CB-1056-D433-914DB4AC1B1E}"/>
                  </a:ext>
                </a:extLst>
              </p:cNvPr>
              <p:cNvSpPr txBox="1"/>
              <p:nvPr/>
            </p:nvSpPr>
            <p:spPr>
              <a:xfrm>
                <a:off x="7141028" y="2425586"/>
                <a:ext cx="4844301" cy="36933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endParaRPr lang="en-AU" sz="2400" b="1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source image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AU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output image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AU" sz="2400" dirty="0"/>
                  <a:t>acts as a multiplier (gain) that scales the pixel values to control </a:t>
                </a:r>
                <a:r>
                  <a:rPr lang="en-AU" sz="2400" b="1" dirty="0"/>
                  <a:t>contrast</a:t>
                </a:r>
                <a:r>
                  <a:rPr lang="en-AU" sz="2400" dirty="0"/>
                  <a:t>.</a:t>
                </a: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AU" sz="2400" dirty="0"/>
                  <a:t>acts as an adder (bias) that shifts the values up or down to control </a:t>
                </a:r>
                <a:r>
                  <a:rPr lang="en-AU" sz="2400" b="1" dirty="0"/>
                  <a:t>brightness</a:t>
                </a:r>
                <a:r>
                  <a:rPr lang="en-AU" sz="2400" dirty="0"/>
                  <a:t>. 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2EFDCA-24CB-1056-D433-914DB4AC1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28" y="2425586"/>
                <a:ext cx="4844301" cy="3693319"/>
              </a:xfrm>
              <a:prstGeom prst="rect">
                <a:avLst/>
              </a:prstGeom>
              <a:blipFill>
                <a:blip r:embed="rId4"/>
                <a:stretch>
                  <a:fillRect l="-3665" t="-2405" r="-1571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76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5EF2-421B-E87E-5A96-90166BF5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20"/>
            <a:ext cx="10515600" cy="1325563"/>
          </a:xfrm>
        </p:spPr>
        <p:txBody>
          <a:bodyPr/>
          <a:lstStyle/>
          <a:p>
            <a:r>
              <a:rPr lang="en-US" b="1" dirty="0"/>
              <a:t>Brightness and contrast measures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86412-9280-6D06-A559-839FE1E2C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7983"/>
                <a:ext cx="10515600" cy="4758980"/>
              </a:xfrm>
            </p:spPr>
            <p:txBody>
              <a:bodyPr/>
              <a:lstStyle/>
              <a:p>
                <a:r>
                  <a:rPr lang="en-AU" sz="2400" b="1" dirty="0"/>
                  <a:t>Brightness: </a:t>
                </a:r>
                <a:r>
                  <a:rPr lang="en-AU" sz="2400" dirty="0"/>
                  <a:t>Average light intensity across all pixels in the image.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𝐵𝑟𝑖𝑔ℎ𝑡𝑛𝑒𝑠𝑠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2400" dirty="0"/>
                  <a:t> </a:t>
                </a:r>
              </a:p>
              <a:p>
                <a:pPr marL="0" indent="0">
                  <a:buNone/>
                </a:pPr>
                <a:r>
                  <a:rPr lang="en-AU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/>
                        </m:ctrlPr>
                      </m:sSubPr>
                      <m:e>
                        <m:r>
                          <a:rPr lang="en-AU" sz="2400" i="1"/>
                          <m:t>𝐼</m:t>
                        </m:r>
                      </m:e>
                      <m:sub>
                        <m:r>
                          <a:rPr lang="en-AU" sz="2400" i="1"/>
                          <m:t>𝑖</m:t>
                        </m:r>
                      </m:sub>
                    </m:sSub>
                  </m:oMath>
                </a14:m>
                <a:r>
                  <a:rPr lang="en-AU" sz="2400" dirty="0"/>
                  <a:t>is the intensity of pixel </a:t>
                </a:r>
                <a14:m>
                  <m:oMath xmlns:m="http://schemas.openxmlformats.org/officeDocument/2006/math">
                    <m:r>
                      <a:rPr lang="en-AU" sz="2400" i="1"/>
                      <m:t>𝑖</m:t>
                    </m:r>
                  </m:oMath>
                </a14:m>
                <a:r>
                  <a:rPr lang="en-AU" sz="2400" dirty="0"/>
                  <a:t> and </a:t>
                </a:r>
                <a14:m>
                  <m:oMath xmlns:m="http://schemas.openxmlformats.org/officeDocument/2006/math">
                    <m:r>
                      <a:rPr lang="en-AU" sz="2400" i="1"/>
                      <m:t>𝑁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is total number of pixels.</a:t>
                </a:r>
              </a:p>
              <a:p>
                <a:r>
                  <a:rPr lang="en-AU" sz="2400" b="1" dirty="0"/>
                  <a:t>For </a:t>
                </a:r>
                <a:r>
                  <a:rPr lang="en-AU" sz="2400" b="1" dirty="0" err="1"/>
                  <a:t>color</a:t>
                </a:r>
                <a:r>
                  <a:rPr lang="en-AU" sz="2400" b="1" dirty="0"/>
                  <a:t> images</a:t>
                </a:r>
                <a:r>
                  <a:rPr lang="en-AU" sz="2400" dirty="0"/>
                  <a:t>: Convert to grayscale first or compute mean across all channels</a:t>
                </a:r>
              </a:p>
              <a:p>
                <a:r>
                  <a:rPr lang="en-AU" sz="2400" b="1" dirty="0"/>
                  <a:t>Contrast: </a:t>
                </a:r>
                <a:r>
                  <a:rPr lang="en-AU" sz="2400" dirty="0"/>
                  <a:t>Contrast quantifies the spread of pixel intensities. </a:t>
                </a:r>
              </a:p>
              <a:p>
                <a:pPr marL="0" indent="0">
                  <a:buNone/>
                </a:pPr>
                <a:endParaRPr lang="en-AU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86412-9280-6D06-A559-839FE1E2C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7983"/>
                <a:ext cx="10515600" cy="4758980"/>
              </a:xfrm>
              <a:blipFill>
                <a:blip r:embed="rId3"/>
                <a:stretch>
                  <a:fillRect l="-965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B2952AA-85D6-A853-0ADF-4DA9CC3A0F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6644814"/>
                  </p:ext>
                </p:extLst>
              </p:nvPr>
            </p:nvGraphicFramePr>
            <p:xfrm>
              <a:off x="1088886" y="4007422"/>
              <a:ext cx="9749183" cy="21695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8209">
                      <a:extLst>
                        <a:ext uri="{9D8B030D-6E8A-4147-A177-3AD203B41FA5}">
                          <a16:colId xmlns:a16="http://schemas.microsoft.com/office/drawing/2014/main" val="3462864680"/>
                        </a:ext>
                      </a:extLst>
                    </a:gridCol>
                    <a:gridCol w="2981739">
                      <a:extLst>
                        <a:ext uri="{9D8B030D-6E8A-4147-A177-3AD203B41FA5}">
                          <a16:colId xmlns:a16="http://schemas.microsoft.com/office/drawing/2014/main" val="1794734244"/>
                        </a:ext>
                      </a:extLst>
                    </a:gridCol>
                    <a:gridCol w="4479235">
                      <a:extLst>
                        <a:ext uri="{9D8B030D-6E8A-4147-A177-3AD203B41FA5}">
                          <a16:colId xmlns:a16="http://schemas.microsoft.com/office/drawing/2014/main" val="10911488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Measure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Formula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Interpretation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969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Standard Deviation (or RMS)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AU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AU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AU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AU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AU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AU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AU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  <m:r>
                                              <a:rPr lang="en-AU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AU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Higher </a:t>
                          </a:r>
                          <a14:m>
                            <m:oMath xmlns:m="http://schemas.openxmlformats.org/officeDocument/2006/math">
                              <m:r>
                                <a:rPr lang="en-AU" sz="1800" i="1" kern="120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AU" dirty="0"/>
                            <a:t> → greater spread of intensities → higher contrast.</a:t>
                          </a:r>
                        </a:p>
                        <a:p>
                          <a:r>
                            <a:rPr lang="en-AU" dirty="0"/>
                            <a:t>Widely used in vision science 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092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Dynamic Range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AU" b="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Contrast</m:t>
                                </m:r>
                                <m:r>
                                  <a:rPr lang="en-AU" b="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AU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AU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AU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sub>
                                </m:sSub>
                                <m:r>
                                  <a:rPr lang="en-AU" i="1" dirty="0">
                                    <a:latin typeface="Cambria Math" panose="02040503050406030204" pitchFamily="18" charset="0"/>
                                  </a:rPr>
                                  <m:t>​−</m:t>
                                </m:r>
                                <m:sSub>
                                  <m:sSubPr>
                                    <m:ctrlPr>
                                      <a:rPr lang="en-AU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AU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AU" i="1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AU" dirty="0"/>
                            <a:t>Difference between brightest and darkest pixels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010382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B2952AA-85D6-A853-0ADF-4DA9CC3A0F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6644814"/>
                  </p:ext>
                </p:extLst>
              </p:nvPr>
            </p:nvGraphicFramePr>
            <p:xfrm>
              <a:off x="1088886" y="4007422"/>
              <a:ext cx="9749183" cy="21695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8209">
                      <a:extLst>
                        <a:ext uri="{9D8B030D-6E8A-4147-A177-3AD203B41FA5}">
                          <a16:colId xmlns:a16="http://schemas.microsoft.com/office/drawing/2014/main" val="3462864680"/>
                        </a:ext>
                      </a:extLst>
                    </a:gridCol>
                    <a:gridCol w="2981739">
                      <a:extLst>
                        <a:ext uri="{9D8B030D-6E8A-4147-A177-3AD203B41FA5}">
                          <a16:colId xmlns:a16="http://schemas.microsoft.com/office/drawing/2014/main" val="1794734244"/>
                        </a:ext>
                      </a:extLst>
                    </a:gridCol>
                    <a:gridCol w="4479235">
                      <a:extLst>
                        <a:ext uri="{9D8B030D-6E8A-4147-A177-3AD203B41FA5}">
                          <a16:colId xmlns:a16="http://schemas.microsoft.com/office/drawing/2014/main" val="10911488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Measure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Formula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Interpretation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969848"/>
                      </a:ext>
                    </a:extLst>
                  </a:tr>
                  <a:tr h="1158621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Standard Deviation (or RMS)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6695" t="-56522" r="-150424" b="-1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8130" t="-56522" r="-567" b="-1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209264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Dynamic Range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6695" t="-282353" r="-150424" b="-86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AU" dirty="0"/>
                            <a:t>Difference between brightest and darkest pixels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010382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461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AA58-ACC5-1F72-174C-EA471C96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Problem with Direct RGB Manipulation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DBA067-E93F-990F-4941-C96CD664B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AU" b="1" dirty="0"/>
                  <a:t>Saturation Loss:</a:t>
                </a:r>
                <a:r>
                  <a:rPr lang="en-AU" dirty="0"/>
                  <a:t> Dark or richly saturated </a:t>
                </a:r>
                <a:r>
                  <a:rPr lang="en-AU" dirty="0" err="1"/>
                  <a:t>colors</a:t>
                </a:r>
                <a:r>
                  <a:rPr lang="en-AU" dirty="0"/>
                  <a:t> quickly appear washed out or chalky.</a:t>
                </a:r>
              </a:p>
              <a:p>
                <a:pPr lvl="0"/>
                <a:r>
                  <a:rPr lang="en-AU" b="1" dirty="0"/>
                  <a:t>Hue Shifts:</a:t>
                </a:r>
                <a:r>
                  <a:rPr lang="en-AU" dirty="0"/>
                  <a:t> Because RGB values are bounded between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r>
                  <a:rPr lang="en-AU" dirty="0"/>
                  <a:t> (or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lang="en-AU" dirty="0"/>
                  <a:t>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r>
                  <a:rPr lang="en-AU" dirty="0"/>
                  <a:t>), brighter channels clip (hit maximum value) before darker channels. </a:t>
                </a:r>
              </a:p>
              <a:p>
                <a:pPr lvl="1"/>
                <a:r>
                  <a:rPr lang="en-AU" dirty="0"/>
                  <a:t>For instance, if red is already high, adding a constant clips red while green and blue continue to rise, shifting the perceived </a:t>
                </a:r>
                <a:r>
                  <a:rPr lang="en-AU" dirty="0" err="1"/>
                  <a:t>color</a:t>
                </a:r>
                <a:r>
                  <a:rPr lang="en-AU" dirty="0"/>
                  <a:t> balance (hue).</a:t>
                </a:r>
              </a:p>
              <a:p>
                <a:pPr lvl="0"/>
                <a:r>
                  <a:rPr lang="en-AU" b="1" dirty="0"/>
                  <a:t>Human Perception Change:</a:t>
                </a:r>
                <a:r>
                  <a:rPr lang="en-AU" dirty="0"/>
                  <a:t> Human perception (non-linear) of brightness (luminance) is not equal across all </a:t>
                </a:r>
                <a:r>
                  <a:rPr lang="en-AU" dirty="0" err="1"/>
                  <a:t>colors</a:t>
                </a:r>
                <a:r>
                  <a:rPr lang="en-AU" dirty="0"/>
                  <a:t>; humans are far more sensitive to green than to blue or red.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DBA067-E93F-990F-4941-C96CD664B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484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25A4-CE12-E9C4-9276-25FBFE95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E2D6-0961-536D-9367-E4044672B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53134" cy="1325563"/>
          </a:xfrm>
        </p:spPr>
        <p:txBody>
          <a:bodyPr>
            <a:normAutofit/>
          </a:bodyPr>
          <a:lstStyle/>
          <a:p>
            <a:r>
              <a:rPr lang="en-AU" b="1" dirty="0"/>
              <a:t>Decoupling Luminance &amp; Chrominance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B44A14-F8A2-FC65-3B42-C5890798A0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7315"/>
                <a:ext cx="8525933" cy="4351338"/>
              </a:xfrm>
            </p:spPr>
            <p:txBody>
              <a:bodyPr/>
              <a:lstStyle/>
              <a:p>
                <a:r>
                  <a:rPr lang="en-AU" b="1" dirty="0"/>
                  <a:t>Chromaticity Coordinates: </a:t>
                </a:r>
                <a:r>
                  <a:rPr lang="en-AU" dirty="0"/>
                  <a:t>Normalizes </a:t>
                </a:r>
                <a:r>
                  <a:rPr lang="en-AU" dirty="0" err="1"/>
                  <a:t>color</a:t>
                </a:r>
                <a:r>
                  <a:rPr lang="en-AU" dirty="0"/>
                  <a:t> relative to total light intensity, isolating </a:t>
                </a:r>
                <a:r>
                  <a:rPr lang="en-AU" dirty="0" err="1"/>
                  <a:t>color</a:t>
                </a:r>
                <a:r>
                  <a:rPr lang="en-AU" dirty="0"/>
                  <a:t> identity from overall brightness: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B44A14-F8A2-FC65-3B42-C5890798A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7315"/>
                <a:ext cx="8525933" cy="4351338"/>
              </a:xfrm>
              <a:blipFill>
                <a:blip r:embed="rId3"/>
                <a:stretch>
                  <a:fillRect l="-133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14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9BFA-66C5-6828-FA3A-E52C170C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7E14-9A82-84EB-644C-904A89D9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45000" cy="1633008"/>
          </a:xfrm>
        </p:spPr>
        <p:txBody>
          <a:bodyPr>
            <a:normAutofit/>
          </a:bodyPr>
          <a:lstStyle/>
          <a:p>
            <a:r>
              <a:rPr lang="en-AU" b="1" dirty="0"/>
              <a:t>Perceptual </a:t>
            </a:r>
            <a:r>
              <a:rPr lang="en-AU" b="1" dirty="0" err="1"/>
              <a:t>Color</a:t>
            </a:r>
            <a:r>
              <a:rPr lang="en-AU" b="1" dirty="0"/>
              <a:t> Spaces 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210D20-21B2-8D8F-1E1F-58C10F06C4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02933"/>
                <a:ext cx="4715933" cy="3874030"/>
              </a:xfrm>
            </p:spPr>
            <p:txBody>
              <a:bodyPr/>
              <a:lstStyle/>
              <a:p>
                <a:pPr lvl="0"/>
                <a:r>
                  <a:rPr lang="en-AU" dirty="0"/>
                  <a:t>In HSV, brightness is isolated in a single channel (Value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dirty="0"/>
                  <a:t>or Lightness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dirty="0"/>
                  <a:t>). </a:t>
                </a:r>
              </a:p>
              <a:p>
                <a:r>
                  <a:rPr lang="en-AU" dirty="0"/>
                  <a:t>Brightening an image simply means scaling this single channel while holding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AU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dirty="0"/>
                  <a:t> constant.</a:t>
                </a:r>
              </a:p>
              <a:p>
                <a:pPr lvl="0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210D20-21B2-8D8F-1E1F-58C10F06C4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02933"/>
                <a:ext cx="4715933" cy="3874030"/>
              </a:xfrm>
              <a:blipFill>
                <a:blip r:embed="rId3"/>
                <a:stretch>
                  <a:fillRect l="-2419" t="-2614" r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84F08C1-5A08-B54A-9CA3-A1E8A8101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8" y="0"/>
            <a:ext cx="59293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8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795C-AC9B-097E-98EB-F7918C66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contrast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5D36-6570-9828-17A9-1C63DCBE8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Anonymice Powerline" panose="02060609030202000504" pitchFamily="49" charset="0"/>
                <a:ea typeface="Anonymice Powerline" panose="02060609030202000504" pitchFamily="49" charset="0"/>
              </a:rPr>
              <a:t>img_float</a:t>
            </a:r>
            <a:r>
              <a:rPr lang="en-US" dirty="0">
                <a:latin typeface="Anonymice Powerline" panose="02060609030202000504" pitchFamily="49" charset="0"/>
                <a:ea typeface="Anonymice Powerline" panose="02060609030202000504" pitchFamily="49" charset="0"/>
              </a:rPr>
              <a:t> = (</a:t>
            </a:r>
            <a:r>
              <a:rPr lang="en-US" dirty="0" err="1">
                <a:latin typeface="Anonymice Powerline" panose="02060609030202000504" pitchFamily="49" charset="0"/>
                <a:ea typeface="Anonymice Powerline" panose="02060609030202000504" pitchFamily="49" charset="0"/>
              </a:rPr>
              <a:t>img_float</a:t>
            </a:r>
            <a:r>
              <a:rPr lang="en-US" dirty="0">
                <a:latin typeface="Anonymice Powerline" panose="02060609030202000504" pitchFamily="49" charset="0"/>
                <a:ea typeface="Anonymice Powerline" panose="02060609030202000504" pitchFamily="49" charset="0"/>
              </a:rPr>
              <a:t> - 127.5) * contrast + 127.5</a:t>
            </a:r>
          </a:p>
          <a:p>
            <a:r>
              <a:rPr lang="en-US" dirty="0"/>
              <a:t>Without offsetting the pivot point to mid-gray, gain multiplication acts purely as a gain scaling around zero, shifting brightness out of control.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3357E-789D-7322-FE92-3439A18DF4B3}"/>
              </a:ext>
            </a:extLst>
          </p:cNvPr>
          <p:cNvSpPr txBox="1"/>
          <p:nvPr/>
        </p:nvSpPr>
        <p:spPr>
          <a:xfrm>
            <a:off x="558800" y="3429000"/>
            <a:ext cx="5401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>
                    <a:lumMod val="50000"/>
                  </a:schemeClr>
                </a:solidFill>
                <a:latin typeface="Poppins"/>
              </a:rPr>
              <a:t>The Broken Method (Pixel × Contrast)</a:t>
            </a:r>
          </a:p>
          <a:p>
            <a:r>
              <a:rPr lang="en-US" sz="2000" dirty="0"/>
              <a:t>If we multiply directly without shifting (Pixel × 2.0), the mathematical anchor point automatically defaults to 0 (pure black) instead of mid-tone gray.</a:t>
            </a:r>
          </a:p>
          <a:p>
            <a:r>
              <a:rPr lang="en-US" sz="2000" b="1" dirty="0"/>
              <a:t>• Dark Pixel (100) becomes 200 (brighter instead of darker!).</a:t>
            </a:r>
            <a:r>
              <a:rPr lang="en-US" sz="2000" dirty="0"/>
              <a:t>
 • </a:t>
            </a:r>
            <a:r>
              <a:rPr lang="en-US" sz="2000" b="1" dirty="0"/>
              <a:t>Light Pixel (200) becomes 400 (clips aggressively to 255).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20CD1-354F-1F82-C418-9E2016318293}"/>
              </a:ext>
            </a:extLst>
          </p:cNvPr>
          <p:cNvSpPr txBox="1"/>
          <p:nvPr/>
        </p:nvSpPr>
        <p:spPr>
          <a:xfrm>
            <a:off x="6383869" y="3429000"/>
            <a:ext cx="4969932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>
                    <a:lumMod val="50000"/>
                  </a:schemeClr>
                </a:solidFill>
                <a:latin typeface="Poppins"/>
              </a:rPr>
              <a:t>Visual Consequences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Without the 127.5 shift, increasing contrast aggressively brightens the entire image across all pixel tones.</a:t>
            </a:r>
          </a:p>
          <a:p>
            <a:pPr marL="285750" indent="-285750">
              <a:lnSpc>
                <a:spcPts val="1687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It destroys dark shadow areas and transforms your contrast tool into an unwanted, unbalanced brightness boost.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101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5542-C327-A871-4A58-8530D32A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1540-01BC-B444-52DA-725FBD72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contrast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68B39-6711-82D2-4A62-C9C97757C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443"/>
            <a:ext cx="10515600" cy="6127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Anonymice Powerline" panose="02060609030202000504" pitchFamily="49" charset="0"/>
                <a:ea typeface="Anonymice Powerline" panose="02060609030202000504" pitchFamily="49" charset="0"/>
              </a:rPr>
              <a:t>img_float</a:t>
            </a:r>
            <a:r>
              <a:rPr lang="en-US" dirty="0">
                <a:latin typeface="Anonymice Powerline" panose="02060609030202000504" pitchFamily="49" charset="0"/>
                <a:ea typeface="Anonymice Powerline" panose="02060609030202000504" pitchFamily="49" charset="0"/>
              </a:rPr>
              <a:t> = (</a:t>
            </a:r>
            <a:r>
              <a:rPr lang="en-US" dirty="0" err="1">
                <a:latin typeface="Anonymice Powerline" panose="02060609030202000504" pitchFamily="49" charset="0"/>
                <a:ea typeface="Anonymice Powerline" panose="02060609030202000504" pitchFamily="49" charset="0"/>
              </a:rPr>
              <a:t>img_float</a:t>
            </a:r>
            <a:r>
              <a:rPr lang="en-US" dirty="0">
                <a:latin typeface="Anonymice Powerline" panose="02060609030202000504" pitchFamily="49" charset="0"/>
                <a:ea typeface="Anonymice Powerline" panose="02060609030202000504" pitchFamily="49" charset="0"/>
              </a:rPr>
              <a:t> - 127.5) * contrast + 127.5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7B6BB9-2BE9-BCD1-1DBA-935581AAB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09114"/>
              </p:ext>
            </p:extLst>
          </p:nvPr>
        </p:nvGraphicFramePr>
        <p:xfrm>
          <a:off x="611187" y="2399507"/>
          <a:ext cx="11239498" cy="26952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7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4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152">
                <a:tc>
                  <a:txBody>
                    <a:bodyPr/>
                    <a:lstStyle/>
                    <a:p>
                      <a:pPr algn="l"/>
                      <a:r>
                        <a:rPr sz="20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Transformation Step</a:t>
                      </a:r>
                      <a:endParaRPr sz="2000" b="1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Dark Pixel (100)</a:t>
                      </a:r>
                      <a:endParaRPr sz="2000" b="1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Light Pixel (200)</a:t>
                      </a:r>
                      <a:endParaRPr sz="2000" b="1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Result &amp; Effect</a:t>
                      </a:r>
                      <a:endParaRPr sz="2000" b="1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52">
                <a:tc>
                  <a:txBody>
                    <a:bodyPr/>
                    <a:lstStyle/>
                    <a:p>
                      <a:pPr algn="l"/>
                      <a:r>
                        <a:rPr sz="2000" b="1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1. Initial Value</a:t>
                      </a:r>
                      <a:endParaRPr sz="2000" b="1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100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200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Original pixel intensities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52">
                <a:tc>
                  <a:txBody>
                    <a:bodyPr/>
                    <a:lstStyle/>
                    <a:p>
                      <a:pPr algn="l"/>
                      <a:r>
                        <a:rPr sz="2000" b="1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2. Subtract 127.5</a:t>
                      </a:r>
                      <a:endParaRPr sz="2000" b="1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-27.5 (Below mid-tone)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+72.5 (Above mid-tone)</a:t>
                      </a:r>
                      <a:endParaRPr sz="2000" b="0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Establishes direction from center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52">
                <a:tc>
                  <a:txBody>
                    <a:bodyPr/>
                    <a:lstStyle/>
                    <a:p>
                      <a:pPr algn="l"/>
                      <a:r>
                        <a:rPr sz="2000" b="1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3. Multiply by 2.0</a:t>
                      </a:r>
                      <a:endParaRPr sz="2000" b="1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-55.0 (Pushed lower)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+145.0 (Pushed higher)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Scales distance from mid-tone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154">
                <a:tc>
                  <a:txBody>
                    <a:bodyPr/>
                    <a:lstStyle/>
                    <a:p>
                      <a:pPr algn="l"/>
                      <a:r>
                        <a:rPr sz="2000" b="1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4. Add 127.5 Back</a:t>
                      </a:r>
                      <a:endParaRPr sz="2000" b="1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72.5 (Darkened)</a:t>
                      </a:r>
                      <a:endParaRPr sz="2000" b="0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255.0 (Brightened/Clipped)</a:t>
                      </a:r>
                      <a:endParaRPr sz="2000" b="0" i="0" u="none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u="none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Restores 0–255 image spectrum</a:t>
                      </a:r>
                      <a:endParaRPr sz="2000" b="0" i="0" u="none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ato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CDAADB-9BA3-4283-D7CE-BFCD9614E93C}"/>
              </a:ext>
            </a:extLst>
          </p:cNvPr>
          <p:cNvSpPr txBox="1"/>
          <p:nvPr/>
        </p:nvSpPr>
        <p:spPr>
          <a:xfrm>
            <a:off x="611187" y="5672667"/>
            <a:ext cx="8734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3"/>
              </a:rPr>
              <a:t>https://www.kaggle.com/code/zahidbd/lecture7-nb2-br-cr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7734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DD3B-569A-4D33-8DB2-4D8F4094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Contrast stretching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2E623-BE06-CB6F-EB0E-F6D85C1A0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46600" cy="4351338"/>
              </a:xfrm>
            </p:spPr>
            <p:txBody>
              <a:bodyPr/>
              <a:lstStyle/>
              <a:p>
                <a:r>
                  <a:rPr lang="en-AU" dirty="0"/>
                  <a:t>Contrast stretching scales and shifts the brightness values to occupy the full range of values.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pPr mar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are the minimum and maximum values in the image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2E623-BE06-CB6F-EB0E-F6D85C1A0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46600" cy="4351338"/>
              </a:xfrm>
              <a:blipFill>
                <a:blip r:embed="rId3"/>
                <a:stretch>
                  <a:fillRect l="-279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B066A0C-940F-0451-59B5-04A78C977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77166"/>
            <a:ext cx="4371737" cy="757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3E44A0-7746-96A5-62A6-81566981F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0" y="1690688"/>
            <a:ext cx="6255683" cy="41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38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6816-24DC-4666-7160-4CAE29ED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Logarithmic mapping 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DDF7E-0D8F-D819-909C-67AE6440D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255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In some cases, the intensity values in an image may be compressed in a way that makes it difficult to distinguish details in darker regions. </a:t>
                </a:r>
              </a:p>
              <a:p>
                <a:r>
                  <a:rPr lang="en-AU" dirty="0"/>
                  <a:t>Logarithmic mapping is a technique that enhances contrast by </a:t>
                </a:r>
                <a:r>
                  <a:rPr lang="en-AU" b="1" dirty="0"/>
                  <a:t>compressing high-intensity values while expanding lower-intensity values</a:t>
                </a:r>
                <a:r>
                  <a:rPr lang="en-AU" dirty="0"/>
                  <a:t>. </a:t>
                </a:r>
              </a:p>
              <a:p>
                <a:r>
                  <a:rPr lang="en-AU" dirty="0"/>
                  <a:t>The transformation is given by: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:r>
                  <a:rPr lang="en-AU" dirty="0"/>
                  <a:t>where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dirty="0"/>
                  <a:t> is a scaling constant that ensures the output intensity values remain within the desired range.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DDF7E-0D8F-D819-909C-67AE6440D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2558"/>
                <a:ext cx="10515600" cy="4351338"/>
              </a:xfrm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235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A9F3-85AA-AB5C-1D1D-BFFC7519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Gamma correction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A6C7B4-7C17-F95D-BB13-AA159AE6A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AU" sz="3200" dirty="0"/>
                  <a:t>Particularly useful for compensating for the non-linear response of display devices.</a:t>
                </a:r>
              </a:p>
              <a:p>
                <a:r>
                  <a:rPr lang="en-US" sz="3200" dirty="0"/>
                  <a:t>Defined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en-AU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AU" sz="28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2800" dirty="0"/>
                  <a:t> is a normalization constant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sz="28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AU" sz="2800" dirty="0"/>
                  <a:t>: is the gamma value.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&lt;1 </m:t>
                    </m:r>
                  </m:oMath>
                </a14:m>
                <a:r>
                  <a:rPr lang="en-AU" sz="2400" dirty="0"/>
                  <a:t>the transformation brightens the image by enhancing lower intensity values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&gt;1</m:t>
                    </m:r>
                  </m:oMath>
                </a14:m>
                <a:r>
                  <a:rPr lang="en-AU" sz="2400" dirty="0"/>
                  <a:t> darkens the image by suppressing lower intensity values. </a:t>
                </a:r>
              </a:p>
              <a:p>
                <a:r>
                  <a:rPr lang="en-AU" sz="3200" dirty="0"/>
                  <a:t>Typical values for gamma range from 0.5 to 2.5, depending on the desired effect.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A6C7B4-7C17-F95D-BB13-AA159AE6A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3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806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3D0E-682B-6F4F-2462-576D7EAC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histogram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20A0D-2F66-D3A9-FBC1-91B082008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A histogram represents tabulated frequencies, typically by using bars in a graphical diagram.</a:t>
                </a:r>
              </a:p>
              <a:p>
                <a:r>
                  <a:rPr lang="en-AU" dirty="0"/>
                  <a:t>Histograms of an image with </a:t>
                </a:r>
                <a:r>
                  <a:rPr lang="en-AU" dirty="0" err="1"/>
                  <a:t>gray</a:t>
                </a:r>
                <a:r>
                  <a:rPr lang="en-AU" dirty="0"/>
                  <a:t> levels in the range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AU" dirty="0"/>
                  <a:t> is a discrete function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i="1" dirty="0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AU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dirty="0"/>
                  <a:t> is kth </a:t>
                </a:r>
                <a:r>
                  <a:rPr lang="en-AU" dirty="0" err="1"/>
                  <a:t>gray</a:t>
                </a:r>
                <a:r>
                  <a:rPr lang="en-AU" dirty="0"/>
                  <a:t> level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dirty="0"/>
                  <a:t> is the number of pixels in the image having </a:t>
                </a:r>
                <a:r>
                  <a:rPr lang="en-AU" dirty="0" err="1"/>
                  <a:t>gray</a:t>
                </a:r>
                <a:r>
                  <a:rPr lang="en-AU" dirty="0"/>
                  <a:t>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AU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20A0D-2F66-D3A9-FBC1-91B082008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142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F14B-7137-5992-4F1C-9A6F9C5D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histogram examples: bright image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559AB7-80B5-8955-13E6-8A5604D7D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25675" y="1908973"/>
            <a:ext cx="7707087" cy="434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62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DF252-AD64-1889-C713-A033D757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histogram examples: dark image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1F3515A-D0D0-759E-BBCD-A3AD4B27B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998" y="1653344"/>
            <a:ext cx="8590746" cy="48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74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273F-03CD-9907-C4D8-C6D8262B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histogram examples: low contrast image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30635AA-B2D1-923E-B117-FFCC4B561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3297" y="1653344"/>
            <a:ext cx="8590746" cy="48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6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E58B-A1BA-71D4-2D42-5549D066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histogram examples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2CC527-F383-FCB7-5ECC-1D21FFD0D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8172"/>
            <a:ext cx="8505533" cy="47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70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7B64-46FF-CEAC-E3FB-0B78B929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Image histogram stretching and equalization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68DF-9CF4-B9EB-B53F-5540A34B4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Histogram provides a powerful tool to inspect distribution of intensities.</a:t>
            </a:r>
          </a:p>
          <a:p>
            <a:r>
              <a:rPr lang="en-AU" dirty="0"/>
              <a:t>Histogram equalization involves transforming the intensity values so that the distribution of intensities are better spread (output values are distributed evenly between 0 and 255).</a:t>
            </a:r>
          </a:p>
          <a:p>
            <a:r>
              <a:rPr lang="en-AU" dirty="0"/>
              <a:t>Histogram stretching is a simpler technique that aims to expand the existing range of pixel values in an image.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960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A10E-1D54-8341-3BB4-3F96860A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E3BC4-E9FD-BE75-48C0-B55ED14D0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914" y="1027905"/>
            <a:ext cx="11255468" cy="43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00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18CD-A2CB-FF2F-5C30-6A586112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Image histogram stretching : Results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6B4006-029A-375A-4C0F-839784197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376" y="1390327"/>
            <a:ext cx="6429254" cy="528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7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1F2B-E8FD-21EB-D021-97DF1AF6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Observations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E07F-2DE1-0EC2-873F-D33833204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shape of the original histogram is retained.</a:t>
            </a:r>
          </a:p>
          <a:p>
            <a:r>
              <a:rPr lang="en-AU" dirty="0"/>
              <a:t>It’s a simple and computationally inexpensive method.</a:t>
            </a:r>
          </a:p>
          <a:p>
            <a:r>
              <a:rPr lang="en-AU" dirty="0"/>
              <a:t>It is useful when you have prior knowledge about the minimum and maximum values in an image.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99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5E3B-0057-44E4-34C9-A51D3238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Image histogram equalization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AD3B5-20D5-127E-2B1E-46C4ED659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Purpose</a:t>
            </a:r>
            <a:r>
              <a:rPr lang="en-AU" dirty="0"/>
              <a:t>: to spread out the intensity values across the entire range to make the image more visually appealing and informative.</a:t>
            </a:r>
          </a:p>
          <a:p>
            <a:r>
              <a:rPr lang="en-AU" b="1" dirty="0"/>
              <a:t>Method</a:t>
            </a:r>
            <a:r>
              <a:rPr lang="en-AU" dirty="0"/>
              <a:t>: involves computing a cumulative distribution function (CDF) of the image’s histogram which is then used to map the original intensity values to new values. The resulting histogram is usually flat (i.e., uniform distribution).</a:t>
            </a:r>
          </a:p>
          <a:p>
            <a:r>
              <a:rPr lang="en-AU" b="1" dirty="0"/>
              <a:t>Advantages</a:t>
            </a:r>
            <a:r>
              <a:rPr lang="en-AU" dirty="0"/>
              <a:t>: effective in enhancing images with low contrast</a:t>
            </a:r>
          </a:p>
          <a:p>
            <a:r>
              <a:rPr lang="en-AU" b="1" dirty="0"/>
              <a:t>Considerations: </a:t>
            </a:r>
            <a:r>
              <a:rPr lang="en-AU" dirty="0"/>
              <a:t>histogram equalization (computationally complex) can sometimes lead to an overemphasis on noise if the image has a significant amount of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20B7-2D77-1DA2-A251-6BA5BD11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Image histogram equalization : Results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05200E-F66C-BDA0-D8D6-22122B9DA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65" y="1442834"/>
            <a:ext cx="6647887" cy="541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21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5C8D-1DB8-02A9-1878-7575CCAE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Comparing result of histogram stretching and equalization</a:t>
            </a:r>
            <a:endParaRPr lang="en-US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5B66E94-17E1-34AB-AD9B-BF87E1320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896" y="2039929"/>
            <a:ext cx="8956207" cy="445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43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1407A2-74EF-2195-3057-814EEE90C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7994" y="1104074"/>
            <a:ext cx="9352244" cy="464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03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DD74-5FB5-6546-02EF-0AE1B066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408-0329-138A-87FD-E29997D49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https://cvl-umass.github.io/intro-cv-spring-2025/assets/notes/imageprocessing.pdf</a:t>
            </a:r>
            <a:endParaRPr lang="en-US" dirty="0"/>
          </a:p>
          <a:p>
            <a:r>
              <a:rPr lang="en-US" dirty="0" err="1"/>
              <a:t>Szeliski</a:t>
            </a:r>
            <a:r>
              <a:rPr lang="en-US" dirty="0"/>
              <a:t> book – Chap 3: Image processing</a:t>
            </a:r>
          </a:p>
          <a:p>
            <a:r>
              <a:rPr lang="en-US" dirty="0">
                <a:hlinkClick r:id="rId4"/>
              </a:rPr>
              <a:t>https://www.kaggle.com/code/zahidbd/lecture7-nb1-croping-sampling</a:t>
            </a:r>
          </a:p>
          <a:p>
            <a:r>
              <a:rPr lang="en-US" dirty="0">
                <a:hlinkClick r:id="rId4"/>
              </a:rPr>
              <a:t>https://www.kaggle.com/code/zahidbd/lecture7-nb2-br-cr</a:t>
            </a:r>
          </a:p>
          <a:p>
            <a:r>
              <a:rPr lang="en-US" dirty="0">
                <a:hlinkClick r:id="rId5"/>
              </a:rPr>
              <a:t>https://www.kaggle.com/code/zahidbd/lecture7-nb3-histogram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16887</TotalTime>
  <Words>3957</Words>
  <Application>Microsoft Macintosh PowerPoint</Application>
  <PresentationFormat>Widescreen</PresentationFormat>
  <Paragraphs>291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Anonymice Powerline</vt:lpstr>
      <vt:lpstr>Arial</vt:lpstr>
      <vt:lpstr>Calibri</vt:lpstr>
      <vt:lpstr>Calibri Light</vt:lpstr>
      <vt:lpstr>Cambria Math</vt:lpstr>
      <vt:lpstr>Lato</vt:lpstr>
      <vt:lpstr>Poppins</vt:lpstr>
      <vt:lpstr>Poppins SemiBold</vt:lpstr>
      <vt:lpstr>Office Theme</vt:lpstr>
      <vt:lpstr>COMPUTER VISION</vt:lpstr>
      <vt:lpstr>Basic image operations</vt:lpstr>
      <vt:lpstr>Image cropping and sampling</vt:lpstr>
      <vt:lpstr>Sampling</vt:lpstr>
      <vt:lpstr> Point operators</vt:lpstr>
      <vt:lpstr>What Are Brightness and Contrast?</vt:lpstr>
      <vt:lpstr>Brightness and contrast measures</vt:lpstr>
      <vt:lpstr>Problem with Direct RGB Manipulation</vt:lpstr>
      <vt:lpstr>Decoupling Luminance &amp; Chrominance</vt:lpstr>
      <vt:lpstr>Perceptual Color Spaces </vt:lpstr>
      <vt:lpstr>Changing contrast</vt:lpstr>
      <vt:lpstr>Changing contrast</vt:lpstr>
      <vt:lpstr>Contrast stretching</vt:lpstr>
      <vt:lpstr>Logarithmic mapping </vt:lpstr>
      <vt:lpstr>Gamma correction</vt:lpstr>
      <vt:lpstr>Image histogram</vt:lpstr>
      <vt:lpstr>Image histogram examples: bright image</vt:lpstr>
      <vt:lpstr>Image histogram examples: dark image</vt:lpstr>
      <vt:lpstr>Image histogram examples: low contrast image</vt:lpstr>
      <vt:lpstr>Image histogram examples</vt:lpstr>
      <vt:lpstr>Image histogram stretching and equalization</vt:lpstr>
      <vt:lpstr>PowerPoint Presentation</vt:lpstr>
      <vt:lpstr>Image histogram stretching : Results</vt:lpstr>
      <vt:lpstr>Observations</vt:lpstr>
      <vt:lpstr>Image histogram equalization</vt:lpstr>
      <vt:lpstr>Image histogram equalization : Results</vt:lpstr>
      <vt:lpstr>Comparing result of histogram stretching and equalization</vt:lpstr>
      <vt:lpstr>PowerPoint Presentation</vt:lpstr>
      <vt:lpstr>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Zahidul Islam</dc:creator>
  <cp:lastModifiedBy>Md Zahidul Islam</cp:lastModifiedBy>
  <cp:revision>485</cp:revision>
  <dcterms:created xsi:type="dcterms:W3CDTF">2026-08-04T00:11:14Z</dcterms:created>
  <dcterms:modified xsi:type="dcterms:W3CDTF">2026-09-01T11:11:09Z</dcterms:modified>
</cp:coreProperties>
</file>