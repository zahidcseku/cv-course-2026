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6" r:id="rId1"/>
  </p:sldMasterIdLst>
  <p:notesMasterIdLst>
    <p:notesMasterId r:id="rId25"/>
  </p:notesMasterIdLst>
  <p:sldIdLst>
    <p:sldId id="256" r:id="rId2"/>
    <p:sldId id="267" r:id="rId3"/>
    <p:sldId id="269" r:id="rId4"/>
    <p:sldId id="270" r:id="rId5"/>
    <p:sldId id="271" r:id="rId6"/>
    <p:sldId id="272" r:id="rId7"/>
    <p:sldId id="273" r:id="rId8"/>
    <p:sldId id="274" r:id="rId9"/>
    <p:sldId id="285" r:id="rId10"/>
    <p:sldId id="279" r:id="rId11"/>
    <p:sldId id="280" r:id="rId12"/>
    <p:sldId id="281" r:id="rId13"/>
    <p:sldId id="282" r:id="rId14"/>
    <p:sldId id="275" r:id="rId15"/>
    <p:sldId id="276" r:id="rId16"/>
    <p:sldId id="283" r:id="rId17"/>
    <p:sldId id="284" r:id="rId18"/>
    <p:sldId id="277" r:id="rId19"/>
    <p:sldId id="278" r:id="rId20"/>
    <p:sldId id="286" r:id="rId21"/>
    <p:sldId id="287" r:id="rId22"/>
    <p:sldId id="288" r:id="rId23"/>
    <p:sldId id="26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6"/>
    <p:restoredTop sz="80724"/>
  </p:normalViewPr>
  <p:slideViewPr>
    <p:cSldViewPr snapToGrid="0">
      <p:cViewPr>
        <p:scale>
          <a:sx n="83" d="100"/>
          <a:sy n="83" d="100"/>
        </p:scale>
        <p:origin x="496" y="-4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69E75-2F2A-4340-80BD-3C270EF90E93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5E430-97AE-C04C-BB4B-47DC21A04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9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91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34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43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537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06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661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340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07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7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1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27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10ABA-4290-90CD-CC55-F20491E40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24B89-364B-EE61-91C7-B9F06B42C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F63DC-9861-DCAD-6ABF-69C738D52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14E29-F2F6-0C59-6484-F3A7E29D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CAEEB-1E1D-36B5-14CA-0489A1229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20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F66E-2238-2945-30ED-0D5D903A9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16DA5-3118-31B7-4826-91DCF9749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64AF0-DB24-1918-D680-D607CC93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8A90F-2980-A2E6-466C-5402C1FC4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68EC3-A8B5-7BBB-739B-70BA6D09F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85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7C189-E67A-DEEB-8B84-7C335EFE0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ED7FA-A772-AA86-E957-C377B2176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76E92-A603-E836-46A2-21459F703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73A2D-7527-2749-6AC2-791551C54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646D8-F5E0-55C9-DFA9-AE038A78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2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4EC26-3DD7-E942-7FD3-AD4642215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AE2B3-6415-0C9F-2B63-AAD8FE7C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4849E-962A-A5CF-1EFF-A5D9F6D2D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4F206-C4C3-7740-140B-91013CDD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50921-80EB-4B2D-95C6-1C999B360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F45F9-5E9B-8C6E-6D1D-0A82EC8F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694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95D9A-3AD0-657C-C3CB-A50C23979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496E7-6FDA-8F23-1869-AFDF16E7D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1602A-B874-4D33-8037-C166D9D32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8C1A-755F-F467-FB5F-2740E9A8A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968491-33EA-3F5E-3142-9D822916C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F0A4D-B479-3C8E-68BA-F49180D7D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EA6669-6B95-0CBE-1D95-890C54EE8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4083EE-4D9B-D81A-FD71-5D6A16DDF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77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E6E9B-AD06-B997-1AE7-3073AFFCB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726203-6C54-59B6-ADFE-EA8A4741E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E622D-800D-BD21-04BE-E0E9D2C3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3FC2C-3FA0-9A58-0F7D-02622CA35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367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F2467D-6BE5-9E50-E767-5B64065B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5DD547-4603-D852-B1B3-A5C380C67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6508D-341E-E5BD-C22D-E2BF3A6A6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79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61ED0-75A3-6E0F-3006-4E70B9C79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213C3-01A6-E614-D555-D3BC4C59D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C72D1-C96F-3382-A48C-F0612B299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90C82-959E-DF3F-38A5-159F3E4EE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69977-4322-D261-2170-1A0B6CD76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B5F3-686B-5E91-86E8-81B85A122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304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0422-F15A-4C2C-3C8A-BB5AFE652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3BD814-F5EA-2E89-F8F7-F91682556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45475-4926-2118-0A8D-7E5E64E20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E74AE-202B-63F1-CC92-B6A0B149A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85DEF-4986-D816-B5EC-52508C747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C0EB8-9FF8-3665-DFC3-2A23C436C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349C-55F4-8DD2-B5B3-F25C3269E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61ACD-3ECA-19BE-9063-F5AAB3BE8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46CB2-8338-345D-B066-B1D7BFD27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EA996-1CE2-090B-003F-5B7EB5205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D362C-DC52-130E-3EDD-CFC6E2487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6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A7662E-7958-3ADE-A998-F33C75EF6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26EE86-C6DB-34C8-839F-4C05EA0D8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B12CF-5E36-6937-CC03-FD4DAFCC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791FE-5CDC-76E7-1D6A-CFFC7D502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81ADC-D743-398A-851E-E742E36C1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783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2BC51-9F87-6890-45C0-643E6F552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906F5-F306-E89C-5151-AA5BF69AA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6B21F-4F09-4E1F-433A-CF40F62B9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909DE-CA0F-77A5-6135-84F8389D9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56ADA-A62D-616A-836C-0D9BA5F7E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hyperlink" Target="https://www.kaggle.com/code/zahidbd/lecture8-nb1-masking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zahidbd/lecture8-nb1-maski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code/zahidbd/lecture8-nb2-filte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9241-48AD-583C-9840-CDD40301C0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COMPUTER 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2094C-5F63-31E5-6117-5B63798264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6</a:t>
            </a:r>
          </a:p>
          <a:p>
            <a:r>
              <a:rPr lang="en-US" dirty="0"/>
              <a:t>Lecture 8 (03/09/2026)</a:t>
            </a:r>
          </a:p>
          <a:p>
            <a:r>
              <a:rPr lang="en-US" dirty="0"/>
              <a:t>0714 02 CSE 4239</a:t>
            </a:r>
          </a:p>
        </p:txBody>
      </p:sp>
    </p:spTree>
    <p:extLst>
      <p:ext uri="{BB962C8B-B14F-4D97-AF65-F5344CB8AC3E}">
        <p14:creationId xmlns:p14="http://schemas.microsoft.com/office/powerpoint/2010/main" val="3060475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C4629-FF7A-049E-9CAD-31783EF39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Matting and </a:t>
            </a:r>
            <a:r>
              <a:rPr lang="en-AU" b="1" dirty="0"/>
              <a:t>Compositing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CE39D-8FAF-BF47-4B4E-4FCF268E9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14855"/>
          </a:xfrm>
        </p:spPr>
        <p:txBody>
          <a:bodyPr/>
          <a:lstStyle/>
          <a:p>
            <a:r>
              <a:rPr lang="en-AU" dirty="0"/>
              <a:t>The process </a:t>
            </a:r>
            <a:r>
              <a:rPr lang="en-AU" b="1" dirty="0"/>
              <a:t>of extracting the object from the original image</a:t>
            </a:r>
            <a:r>
              <a:rPr lang="en-AU" dirty="0"/>
              <a:t> is often called matting</a:t>
            </a:r>
          </a:p>
          <a:p>
            <a:r>
              <a:rPr lang="en-AU" dirty="0"/>
              <a:t> The process of </a:t>
            </a:r>
            <a:r>
              <a:rPr lang="en-AU" b="1" dirty="0"/>
              <a:t>inserting an extracted object into another image </a:t>
            </a:r>
            <a:r>
              <a:rPr lang="en-AU" dirty="0"/>
              <a:t>(without visible artifacts) is called compositing.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CEF312-386E-218B-6A42-29403F798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446" y="3633022"/>
            <a:ext cx="8700575" cy="297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9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1B8B512-C351-4A24-81BF-69A14C0A493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The </a:t>
                </a:r>
                <a14:m>
                  <m:oMath xmlns:m="http://schemas.openxmlformats.org/officeDocument/2006/math">
                    <m:r>
                      <a:rPr lang="en-AU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channel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1B8B512-C351-4A24-81BF-69A14C0A49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B7F75-3322-39F2-0CB6-66D2261B6A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4644" y="1825625"/>
                <a:ext cx="6167510" cy="4351338"/>
              </a:xfrm>
            </p:spPr>
            <p:txBody>
              <a:bodyPr>
                <a:normAutofit/>
              </a:bodyPr>
              <a:lstStyle/>
              <a:p>
                <a:r>
                  <a:rPr lang="en-AU" dirty="0"/>
                  <a:t>Intermediate representation - for the foreground object between matting and compositing is called an alpha-matted </a:t>
                </a:r>
                <a:r>
                  <a:rPr lang="en-AU" dirty="0" err="1"/>
                  <a:t>color</a:t>
                </a:r>
                <a:r>
                  <a:rPr lang="en-AU" dirty="0"/>
                  <a:t> image. </a:t>
                </a:r>
              </a:p>
              <a:p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AU" dirty="0"/>
                  <a:t> channel describes the relative amount of opacity (opacity is the opposite of the transparency). </a:t>
                </a:r>
              </a:p>
              <a:p>
                <a:pPr lvl="1"/>
                <a:r>
                  <a:rPr lang="en-AU" dirty="0"/>
                  <a:t>pixels within the object are fully opaque (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r>
                  <a:rPr lang="en-AU" dirty="0"/>
                  <a:t>) </a:t>
                </a:r>
              </a:p>
              <a:p>
                <a:pPr lvl="1"/>
                <a:r>
                  <a:rPr lang="en-AU" dirty="0"/>
                  <a:t>pixels outside the object are transparent (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 =0</m:t>
                    </m:r>
                  </m:oMath>
                </a14:m>
                <a:r>
                  <a:rPr lang="en-AU" dirty="0"/>
                  <a:t>)</a:t>
                </a:r>
              </a:p>
              <a:p>
                <a:endParaRPr lang="en-US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B7F75-3322-39F2-0CB6-66D2261B6A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4644" y="1825625"/>
                <a:ext cx="6167510" cy="4351338"/>
              </a:xfrm>
              <a:blipFill>
                <a:blip r:embed="rId3"/>
                <a:stretch>
                  <a:fillRect l="-1643" t="-2326" b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94E9E40-B5C1-C243-E92D-FD9710B8EAD5}"/>
              </a:ext>
            </a:extLst>
          </p:cNvPr>
          <p:cNvSpPr txBox="1"/>
          <p:nvPr/>
        </p:nvSpPr>
        <p:spPr>
          <a:xfrm>
            <a:off x="6836899" y="1865729"/>
            <a:ext cx="3857146" cy="92333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img</a:t>
            </a:r>
            <a:r>
              <a:rPr lang="en-US" dirty="0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 = cv2.imread(</a:t>
            </a:r>
            <a:r>
              <a:rPr lang="en-US" dirty="0" err="1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img_loc</a:t>
            </a:r>
            <a:r>
              <a:rPr lang="en-US" dirty="0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, -1)</a:t>
            </a:r>
          </a:p>
          <a:p>
            <a:r>
              <a:rPr lang="en-US" dirty="0" err="1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img.shape</a:t>
            </a:r>
            <a:endParaRPr lang="en-US" dirty="0">
              <a:solidFill>
                <a:schemeClr val="bg1"/>
              </a:solidFill>
              <a:latin typeface="Anonymice Powerline" panose="02060609030202000504" pitchFamily="49" charset="0"/>
              <a:ea typeface="Anonymice Powerline" panose="02060609030202000504" pitchFamily="49" charset="0"/>
            </a:endParaRPr>
          </a:p>
          <a:p>
            <a:r>
              <a:rPr lang="en-AU" dirty="0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(800, 800, 4)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A87180-2FC1-6CF6-4295-FAF118676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151" y="2964100"/>
            <a:ext cx="5354913" cy="255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387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DFF2B-B498-25F8-5EEC-17669273D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Compositing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417AA2-3875-30B2-E035-86175F27B1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9126" y="1690688"/>
            <a:ext cx="10616391" cy="362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364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66608-43C8-B939-BBFF-06512018A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Take a deeper look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C8BDCC-65CD-234C-02C8-00030439E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2807" y="735941"/>
            <a:ext cx="2184400" cy="1993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269055-EB32-3AB2-3982-A0AA31C1A3AF}"/>
              </a:ext>
            </a:extLst>
          </p:cNvPr>
          <p:cNvSpPr txBox="1"/>
          <p:nvPr/>
        </p:nvSpPr>
        <p:spPr>
          <a:xfrm>
            <a:off x="1026942" y="1372970"/>
            <a:ext cx="7821636" cy="553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500" b="1" dirty="0" err="1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bgr_sub_img</a:t>
            </a:r>
            <a:r>
              <a:rPr lang="en-US" sz="1500" b="1" dirty="0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 = </a:t>
            </a:r>
            <a:r>
              <a:rPr lang="en-US" sz="1500" b="1" dirty="0" err="1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img_bgr</a:t>
            </a:r>
            <a:r>
              <a:rPr lang="en-US" sz="1500" b="1" dirty="0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[</a:t>
            </a:r>
            <a:r>
              <a:rPr lang="en-US" sz="1500" b="1" dirty="0" err="1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r_start:r_start+span,c_start:c_start+sapn</a:t>
            </a:r>
            <a:r>
              <a:rPr lang="en-US" sz="1500" b="1" dirty="0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,:]</a:t>
            </a:r>
          </a:p>
          <a:p>
            <a:r>
              <a:rPr lang="en-US" sz="1500" b="1" dirty="0" err="1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alpha_sub_img</a:t>
            </a:r>
            <a:r>
              <a:rPr lang="en-US" sz="1500" b="1" dirty="0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 = </a:t>
            </a:r>
            <a:r>
              <a:rPr lang="en-US" sz="1500" b="1" dirty="0" err="1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img_alpha</a:t>
            </a:r>
            <a:r>
              <a:rPr lang="en-US" sz="1500" b="1" dirty="0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[</a:t>
            </a:r>
            <a:r>
              <a:rPr lang="en-US" sz="1500" b="1" dirty="0" err="1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r_start:r_start+span,c_start:c_start+sapn</a:t>
            </a:r>
            <a:r>
              <a:rPr lang="en-US" sz="1500" b="1" dirty="0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,:]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FFA0AF-6B20-25FB-1574-1C5827524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15" y="2170821"/>
            <a:ext cx="7772400" cy="368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765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9C46A-F93D-1AD9-3CC3-6EDB4344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1D50-D400-82BF-8B70-CDA152C08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Take a deeper look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601086-556A-1A6A-F705-A9312F6BC9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2807" y="735941"/>
            <a:ext cx="2184400" cy="1993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8255CC-8D07-9714-30BC-D655471B1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93" y="1439245"/>
            <a:ext cx="5582117" cy="2923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BAE1E1-6237-9693-54E9-BB9CA2610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2837" y="3503341"/>
            <a:ext cx="6016088" cy="31507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AB2601-2943-C0C2-53C7-4A797C317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317" y="414302"/>
            <a:ext cx="2147097" cy="20498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99D0DB-0D09-9FDC-BFDE-911C0661ED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6740" y="4749658"/>
            <a:ext cx="2184400" cy="20855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C7C104B-B9B9-324F-4243-F842E8392B7F}"/>
              </a:ext>
            </a:extLst>
          </p:cNvPr>
          <p:cNvCxnSpPr>
            <a:stCxn id="11" idx="1"/>
          </p:cNvCxnSpPr>
          <p:nvPr/>
        </p:nvCxnSpPr>
        <p:spPr>
          <a:xfrm flipH="1">
            <a:off x="5852160" y="1439245"/>
            <a:ext cx="568157" cy="867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AE7FFA-A8B5-431A-4EE1-FBD318D9C039}"/>
              </a:ext>
            </a:extLst>
          </p:cNvPr>
          <p:cNvCxnSpPr>
            <a:cxnSpLocks/>
            <a:stCxn id="13" idx="3"/>
            <a:endCxn id="9" idx="1"/>
          </p:cNvCxnSpPr>
          <p:nvPr/>
        </p:nvCxnSpPr>
        <p:spPr>
          <a:xfrm flipV="1">
            <a:off x="4941140" y="5078741"/>
            <a:ext cx="1051697" cy="713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469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9A797-A18B-25AE-C646-71CE38C24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Create composition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D6A3FA-E048-5C01-BB13-AD7ECED8F8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9040"/>
          <a:stretch>
            <a:fillRect/>
          </a:stretch>
        </p:blipFill>
        <p:spPr>
          <a:xfrm>
            <a:off x="8844488" y="1287194"/>
            <a:ext cx="3125880" cy="49403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095BF6-4FDD-D575-D6BA-3C502DD8C446}"/>
              </a:ext>
            </a:extLst>
          </p:cNvPr>
          <p:cNvSpPr txBox="1"/>
          <p:nvPr/>
        </p:nvSpPr>
        <p:spPr>
          <a:xfrm>
            <a:off x="3049172" y="3824626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482B4-A3D6-4E77-DF65-45697C149566}"/>
              </a:ext>
            </a:extLst>
          </p:cNvPr>
          <p:cNvSpPr txBox="1"/>
          <p:nvPr/>
        </p:nvSpPr>
        <p:spPr>
          <a:xfrm>
            <a:off x="748012" y="1409615"/>
            <a:ext cx="7157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Notebook: </a:t>
            </a:r>
            <a:r>
              <a:rPr lang="en-US" dirty="0">
                <a:hlinkClick r:id="rId4"/>
              </a:rPr>
              <a:t>https://www.kaggle.com/code/zahidbd/lecture8-nb1-masking/</a:t>
            </a:r>
            <a:endParaRPr lang="en-US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638E39-6AB3-27B0-600E-8041D65291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421" y="3590959"/>
            <a:ext cx="7772400" cy="26365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2E35CF4-AB63-E6FE-097E-58E856877C88}"/>
              </a:ext>
            </a:extLst>
          </p:cNvPr>
          <p:cNvSpPr txBox="1"/>
          <p:nvPr/>
        </p:nvSpPr>
        <p:spPr>
          <a:xfrm>
            <a:off x="748012" y="2135975"/>
            <a:ext cx="3978733" cy="120032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img_scene_bgr</a:t>
            </a:r>
            <a:r>
              <a:rPr lang="en-US" b="1" dirty="0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[</a:t>
            </a:r>
          </a:p>
          <a:p>
            <a:r>
              <a:rPr lang="en-US" b="1" dirty="0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    </a:t>
            </a:r>
            <a:r>
              <a:rPr lang="en-US" b="1" dirty="0" err="1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y_offset:y_offset+h</a:t>
            </a:r>
            <a:r>
              <a:rPr lang="en-US" b="1" dirty="0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, </a:t>
            </a:r>
          </a:p>
          <a:p>
            <a:r>
              <a:rPr lang="en-US" b="1" dirty="0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    </a:t>
            </a:r>
            <a:r>
              <a:rPr lang="en-US" b="1" dirty="0" err="1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x_offset:x_offset+w</a:t>
            </a:r>
            <a:endParaRPr lang="en-US" b="1" dirty="0">
              <a:solidFill>
                <a:schemeClr val="bg1"/>
              </a:solidFill>
              <a:latin typeface="Anonymice Powerline" panose="02060609030202000504" pitchFamily="49" charset="0"/>
              <a:ea typeface="Anonymice Powerline" panose="02060609030202000504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] = </a:t>
            </a:r>
            <a:r>
              <a:rPr lang="en-US" b="1" dirty="0" err="1">
                <a:solidFill>
                  <a:schemeClr val="bg1"/>
                </a:solidFill>
                <a:latin typeface="Anonymice Powerline" panose="02060609030202000504" pitchFamily="49" charset="0"/>
                <a:ea typeface="Anonymice Powerline" panose="02060609030202000504" pitchFamily="49" charset="0"/>
              </a:rPr>
              <a:t>img_bgr</a:t>
            </a:r>
            <a:endParaRPr lang="en-US" b="1" dirty="0">
              <a:solidFill>
                <a:schemeClr val="bg1"/>
              </a:solidFill>
              <a:latin typeface="Anonymice Powerline" panose="02060609030202000504" pitchFamily="49" charset="0"/>
              <a:ea typeface="Anonymice Powerline" panose="020606090302020005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579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B6A85-185B-1AFC-93CC-4C4077102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AU" b="1" dirty="0"/>
              <a:t>The over operator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2F9B24C3-3123-DD14-1E82-1F1A641214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42357" y="722505"/>
                <a:ext cx="5492262" cy="218366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AU" b="0" dirty="0"/>
              </a:p>
              <a:p>
                <a:pPr lvl="1"/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AU" dirty="0">
                    <a:latin typeface="Cambria Math" panose="02040503050406030204" pitchFamily="18" charset="0"/>
                  </a:rPr>
                  <a:t>: the output image</a:t>
                </a:r>
                <a:endParaRPr lang="en-AU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∈[0,…,1]</m:t>
                    </m:r>
                  </m:oMath>
                </a14:m>
                <a:r>
                  <a:rPr lang="en-AU" dirty="0"/>
                  <a:t>: the alpha channel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AU" dirty="0"/>
                  <a:t> the background image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: the foreground image</a:t>
                </a: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2F9B24C3-3123-DD14-1E82-1F1A641214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42357" y="722505"/>
                <a:ext cx="5492262" cy="2183667"/>
              </a:xfrm>
              <a:blipFill>
                <a:blip r:embed="rId3"/>
                <a:stretch>
                  <a:fillRect l="-1843" t="-4070" b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CD7F36B-68A8-9D13-E606-A1F789449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420936"/>
            <a:ext cx="12070080" cy="2810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02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8F749-5742-D8C5-E462-D2674CD59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 operator demo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161D1-F64B-D4FB-6E26-FC6C276A5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21153"/>
            <a:ext cx="10315127" cy="249917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C5DDBB-4241-F8D6-D351-9B72D2CFA637}"/>
                  </a:ext>
                </a:extLst>
              </p:cNvPr>
              <p:cNvSpPr txBox="1"/>
              <p:nvPr/>
            </p:nvSpPr>
            <p:spPr>
              <a:xfrm>
                <a:off x="5575516" y="766296"/>
                <a:ext cx="60985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AU" sz="2800" b="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C5DDBB-4241-F8D6-D351-9B72D2CFA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516" y="766296"/>
                <a:ext cx="609858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3CA1559-8E9F-606B-630B-3EC701F75666}"/>
              </a:ext>
            </a:extLst>
          </p:cNvPr>
          <p:cNvSpPr txBox="1"/>
          <p:nvPr/>
        </p:nvSpPr>
        <p:spPr>
          <a:xfrm>
            <a:off x="1952786" y="3970851"/>
            <a:ext cx="351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886F50-FDA5-1CB4-6760-42530D2F4F13}"/>
              </a:ext>
            </a:extLst>
          </p:cNvPr>
          <p:cNvSpPr txBox="1"/>
          <p:nvPr/>
        </p:nvSpPr>
        <p:spPr>
          <a:xfrm>
            <a:off x="4538421" y="4001847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364E07-2A0F-0F8B-DF66-09782E83BF22}"/>
                  </a:ext>
                </a:extLst>
              </p:cNvPr>
              <p:cNvSpPr txBox="1"/>
              <p:nvPr/>
            </p:nvSpPr>
            <p:spPr>
              <a:xfrm>
                <a:off x="7098408" y="3925476"/>
                <a:ext cx="492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sz="28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364E07-2A0F-0F8B-DF66-09782E83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408" y="3925476"/>
                <a:ext cx="49212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70D05B1-8D8C-B7D1-85E4-0F3E394CB9BC}"/>
              </a:ext>
            </a:extLst>
          </p:cNvPr>
          <p:cNvSpPr txBox="1"/>
          <p:nvPr/>
        </p:nvSpPr>
        <p:spPr>
          <a:xfrm>
            <a:off x="9733571" y="3987250"/>
            <a:ext cx="3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E433B3-D2A8-2471-73D4-4BED064A38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8598" y="4463433"/>
            <a:ext cx="2095500" cy="1282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7021C7-B2C5-5B3F-EA9B-AC29FF8490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5516" y="4463433"/>
            <a:ext cx="3746500" cy="12827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504093D-441A-2D48-7965-1053986F18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577" y="4523251"/>
            <a:ext cx="1650882" cy="13180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C9D2FE3-91E3-C875-632B-1C8C14E1F2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8987" y="4448014"/>
            <a:ext cx="2159000" cy="13208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486771B-69DE-E1FE-E73D-FB9C2E55D7DA}"/>
                  </a:ext>
                </a:extLst>
              </p:cNvPr>
              <p:cNvSpPr txBox="1"/>
              <p:nvPr/>
            </p:nvSpPr>
            <p:spPr>
              <a:xfrm>
                <a:off x="1739541" y="5819907"/>
                <a:ext cx="85124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=12;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1,0</m:t>
                          </m:r>
                        </m:e>
                      </m:d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=117;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1,0</m:t>
                          </m:r>
                        </m:e>
                      </m:d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=0.6549⇒</m:t>
                      </m:r>
                      <m:d>
                        <m:dPr>
                          <m:ctrlPr>
                            <a:rPr lang="en-AU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=0.3451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486771B-69DE-E1FE-E73D-FB9C2E55D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541" y="5819907"/>
                <a:ext cx="851244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7EC70A4-42CF-A117-AB02-141CF25D3A12}"/>
                  </a:ext>
                </a:extLst>
              </p:cNvPr>
              <p:cNvSpPr txBox="1"/>
              <p:nvPr/>
            </p:nvSpPr>
            <p:spPr>
              <a:xfrm>
                <a:off x="1816018" y="6271738"/>
                <a:ext cx="85124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, 0</m:t>
                          </m:r>
                        </m:e>
                      </m:d>
                      <m:r>
                        <a:rPr lang="en-AU" i="1">
                          <a:latin typeface="Cambria Math" panose="02040503050406030204" pitchFamily="18" charset="0"/>
                        </a:rPr>
                        <m:t>=0.3451∗0.6549∗117=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80.76⇒80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7EC70A4-42CF-A117-AB02-141CF25D3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018" y="6271738"/>
                <a:ext cx="851244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3417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A7E9-176F-6E2C-E489-2349D433E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Filtering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CC83A-E9E9-DEFD-4AB6-AB9A8BCA5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Filtering is a technique for modifying or enhancing an image. Used to:</a:t>
            </a:r>
          </a:p>
          <a:p>
            <a:pPr lvl="1"/>
            <a:r>
              <a:rPr lang="en-AU" dirty="0"/>
              <a:t>emphasize features i.e. smoothing, sharpening, and edge enhancement etc. or</a:t>
            </a:r>
          </a:p>
          <a:p>
            <a:pPr lvl="1"/>
            <a:r>
              <a:rPr lang="en-AU" dirty="0"/>
              <a:t>remove features from an image i.e. noise removal</a:t>
            </a:r>
          </a:p>
          <a:p>
            <a:r>
              <a:rPr lang="en-AU" dirty="0"/>
              <a:t>Filtering is a </a:t>
            </a:r>
            <a:r>
              <a:rPr lang="en-AU" i="1" dirty="0" err="1"/>
              <a:t>neighborhood</a:t>
            </a:r>
            <a:r>
              <a:rPr lang="en-AU" i="1" dirty="0"/>
              <a:t> operation</a:t>
            </a:r>
            <a:r>
              <a:rPr lang="en-AU" dirty="0"/>
              <a:t>, in which the value of any given pixel in the output image is determined by applying some algorithm to the values of the pixels in the </a:t>
            </a:r>
            <a:r>
              <a:rPr lang="en-AU" dirty="0" err="1"/>
              <a:t>neighborhood</a:t>
            </a:r>
            <a:r>
              <a:rPr lang="en-AU" dirty="0"/>
              <a:t> of the corresponding input pixel.</a:t>
            </a:r>
          </a:p>
          <a:p>
            <a:r>
              <a:rPr lang="en-AU" dirty="0"/>
              <a:t>A pixel’s </a:t>
            </a:r>
            <a:r>
              <a:rPr lang="en-AU" dirty="0" err="1"/>
              <a:t>neighborhood</a:t>
            </a:r>
            <a:r>
              <a:rPr lang="en-AU" dirty="0"/>
              <a:t> is a collection of pixels surrounding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915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E87C8-0146-7FDB-2DED-A09B63630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0AEA9-8764-507F-0BAB-E12EB4F69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sz="3200" b="1" dirty="0"/>
              <a:t>Spatial domain filtering</a:t>
            </a:r>
            <a:r>
              <a:rPr lang="en-AU" sz="3200" dirty="0"/>
              <a:t> refers to performing image processing operations directly on the </a:t>
            </a:r>
            <a:r>
              <a:rPr lang="en-AU" sz="3200" b="1" dirty="0"/>
              <a:t>pixels</a:t>
            </a:r>
            <a:r>
              <a:rPr lang="en-AU" sz="3200" dirty="0"/>
              <a:t> of an image.</a:t>
            </a:r>
          </a:p>
          <a:p>
            <a:pPr lvl="1"/>
            <a:r>
              <a:rPr lang="en-AU" sz="2800" dirty="0"/>
              <a:t>We alter a pixel's value based on its current value and the values of its immediate </a:t>
            </a:r>
            <a:r>
              <a:rPr lang="en-AU" sz="2800" dirty="0" err="1"/>
              <a:t>neighboring</a:t>
            </a:r>
            <a:r>
              <a:rPr lang="en-AU" sz="2800" dirty="0"/>
              <a:t> pixels.</a:t>
            </a:r>
          </a:p>
          <a:p>
            <a:pPr lvl="1"/>
            <a:r>
              <a:rPr lang="en-AU" sz="2800" dirty="0"/>
              <a:t>Mainly two types:</a:t>
            </a:r>
          </a:p>
          <a:p>
            <a:pPr lvl="2"/>
            <a:r>
              <a:rPr lang="en-AU" sz="2400" dirty="0"/>
              <a:t>Linear filtering</a:t>
            </a:r>
          </a:p>
          <a:p>
            <a:pPr lvl="2"/>
            <a:r>
              <a:rPr lang="en-AU" sz="2400" dirty="0"/>
              <a:t>Non-linear filtering </a:t>
            </a:r>
          </a:p>
          <a:p>
            <a:r>
              <a:rPr lang="en-AU" sz="3200" b="1" dirty="0"/>
              <a:t>Frequency domain filtering</a:t>
            </a:r>
            <a:r>
              <a:rPr lang="en-AU" sz="3200" dirty="0"/>
              <a:t> - an image is first converted into sine and cosine waves (using a Fourier Transform) and then changes are applied.</a:t>
            </a:r>
          </a:p>
        </p:txBody>
      </p:sp>
    </p:spTree>
    <p:extLst>
      <p:ext uri="{BB962C8B-B14F-4D97-AF65-F5344CB8AC3E}">
        <p14:creationId xmlns:p14="http://schemas.microsoft.com/office/powerpoint/2010/main" val="2277478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0A5D3-420A-8F11-4D86-A05379AF5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Moving average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8A0CA-1A33-8165-86C8-45E9B8AF7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Replace each pixel with an average of all value of pixels in its </a:t>
            </a:r>
            <a:r>
              <a:rPr lang="en-AU" dirty="0" err="1"/>
              <a:t>neighborhood</a:t>
            </a:r>
            <a:r>
              <a:rPr lang="en-AU" dirty="0"/>
              <a:t> - Moving average.</a:t>
            </a:r>
          </a:p>
          <a:p>
            <a:r>
              <a:rPr lang="en-AU" dirty="0"/>
              <a:t>Smoothed version means average version (replacing high or low values with mean).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E23192-1B03-FC06-5325-C02C992DF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417" y="3721100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63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96411-83A3-BDF3-A059-326D5D41E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Correlation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13C7EE-34D3-5DA5-1156-432C9A3075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AU" dirty="0"/>
                  <a:t>Mathematics of the above method that we discussed previously is called “Correlation or Correlation Filtering” with uniform weights.</a:t>
                </a:r>
              </a:p>
              <a:p>
                <a:r>
                  <a:rPr lang="en-AU" dirty="0"/>
                  <a:t>Averaging window size is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(2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+ 1) ×(2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+ 1)</m:t>
                    </m:r>
                  </m:oMath>
                </a14:m>
                <a:r>
                  <a:rPr lang="en-AU" dirty="0"/>
                  <a:t>. If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AU" dirty="0"/>
                  <a:t>, its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3 ×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AU" dirty="0"/>
                  <a:t> matrix. If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= 3</m:t>
                    </m:r>
                  </m:oMath>
                </a14:m>
                <a:r>
                  <a:rPr lang="en-AU" dirty="0"/>
                  <a:t>, its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7 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AU" dirty="0"/>
                  <a:t> matrix.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AU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AU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en-AU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m:rPr>
                              <m:brk m:alnAt="23"/>
                            </m:rP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m:rPr>
                                  <m:brk m:alnAt="23"/>
                                </m:rP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AU" dirty="0"/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AU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brk m:alnAt="23"/>
                          </m:rPr>
                          <a:rPr lang="en-AU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AU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brk m:alnAt="23"/>
                          </m:rPr>
                          <a:rPr lang="en-AU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AU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AU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m:rPr>
                                <m:brk m:alnAt="23"/>
                              </m:rPr>
                              <a:rPr lang="en-AU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AU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AU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AU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r>
                              <a:rPr lang="en-AU" i="1" dirty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AU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AU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AU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AU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AU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AU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AU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AU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AU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nary>
                      </m:e>
                    </m:nary>
                  </m:oMath>
                </a14:m>
                <a:r>
                  <a:rPr lang="en-AU" dirty="0"/>
                  <a:t>:  </a:t>
                </a:r>
                <a:r>
                  <a:rPr lang="en-AU" dirty="0" err="1"/>
                  <a:t>neighborhood</a:t>
                </a:r>
                <a:r>
                  <a:rPr lang="en-AU" dirty="0"/>
                  <a:t> around image pixel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AU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AU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AU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AU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AU" i="1" dirty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r>
                              <a:rPr lang="en-AU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AU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: these terms corresponds to uniform weights for each pixel. For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= 1</m:t>
                    </m:r>
                  </m:oMath>
                </a14:m>
                <a:r>
                  <a:rPr lang="en-AU" dirty="0"/>
                  <a:t>,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3×3</m:t>
                    </m:r>
                  </m:oMath>
                </a14:m>
                <a:r>
                  <a:rPr lang="en-AU" dirty="0"/>
                  <a:t> averaging window matrix, this weight will be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AU" dirty="0"/>
                  <a:t>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13C7EE-34D3-5DA5-1156-432C9A3075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2805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E56B5-ED20-447D-4551-301AA3755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889"/>
            <a:ext cx="10515600" cy="1325563"/>
          </a:xfrm>
        </p:spPr>
        <p:txBody>
          <a:bodyPr/>
          <a:lstStyle/>
          <a:p>
            <a:r>
              <a:rPr lang="en-AU" b="1" dirty="0"/>
              <a:t>Linear filtering non-uniform weights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431DA-25BF-C05B-6543-531AE8394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068"/>
            <a:ext cx="11049000" cy="4351338"/>
          </a:xfrm>
        </p:spPr>
        <p:txBody>
          <a:bodyPr/>
          <a:lstStyle/>
          <a:p>
            <a:r>
              <a:rPr lang="en-AU" b="1" dirty="0" err="1"/>
              <a:t>Neighborhood</a:t>
            </a:r>
            <a:r>
              <a:rPr lang="en-AU" dirty="0"/>
              <a:t> operator or </a:t>
            </a:r>
            <a:r>
              <a:rPr lang="en-AU" b="1" dirty="0"/>
              <a:t>local</a:t>
            </a:r>
            <a:r>
              <a:rPr lang="en-AU" dirty="0"/>
              <a:t> operator:</a:t>
            </a:r>
          </a:p>
          <a:p>
            <a:pPr lvl="1"/>
            <a:r>
              <a:rPr lang="en-AU" dirty="0"/>
              <a:t>uses a collection of pixel values in the vicinity of a given pixel to determine its final output value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117561-FCFB-3043-8D05-54236A0774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745"/>
          <a:stretch>
            <a:fillRect/>
          </a:stretch>
        </p:blipFill>
        <p:spPr>
          <a:xfrm>
            <a:off x="2209800" y="2827631"/>
            <a:ext cx="7772400" cy="265876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DD1E65-F86D-40D8-70B2-1E4A195BFF58}"/>
                  </a:ext>
                </a:extLst>
              </p:cNvPr>
              <p:cNvSpPr txBox="1"/>
              <p:nvPr/>
            </p:nvSpPr>
            <p:spPr>
              <a:xfrm>
                <a:off x="3124200" y="5486400"/>
                <a:ext cx="6182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DD1E65-F86D-40D8-70B2-1E4A195BF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5486400"/>
                <a:ext cx="618246" cy="276999"/>
              </a:xfrm>
              <a:prstGeom prst="rect">
                <a:avLst/>
              </a:prstGeom>
              <a:blipFill>
                <a:blip r:embed="rId4"/>
                <a:stretch>
                  <a:fillRect l="-10204" t="-4545" r="-12245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E346D7-DF62-5592-0406-C292DE6720E2}"/>
                  </a:ext>
                </a:extLst>
              </p:cNvPr>
              <p:cNvSpPr txBox="1"/>
              <p:nvPr/>
            </p:nvSpPr>
            <p:spPr>
              <a:xfrm>
                <a:off x="6053577" y="4626429"/>
                <a:ext cx="6431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E346D7-DF62-5592-0406-C292DE672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577" y="4626429"/>
                <a:ext cx="643188" cy="276999"/>
              </a:xfrm>
              <a:prstGeom prst="rect">
                <a:avLst/>
              </a:prstGeom>
              <a:blipFill>
                <a:blip r:embed="rId5"/>
                <a:stretch>
                  <a:fillRect l="-7692" t="-4545" r="-11538" b="-4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0B47E0-1315-EA4B-8464-9D0A50AC7E68}"/>
                  </a:ext>
                </a:extLst>
              </p:cNvPr>
              <p:cNvSpPr txBox="1"/>
              <p:nvPr/>
            </p:nvSpPr>
            <p:spPr>
              <a:xfrm>
                <a:off x="8611720" y="5078933"/>
                <a:ext cx="6431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0B47E0-1315-EA4B-8464-9D0A50AC7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1720" y="5078933"/>
                <a:ext cx="643188" cy="276999"/>
              </a:xfrm>
              <a:prstGeom prst="rect">
                <a:avLst/>
              </a:prstGeom>
              <a:blipFill>
                <a:blip r:embed="rId6"/>
                <a:stretch>
                  <a:fillRect l="-7843" r="-11765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794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FB24-C014-F096-BF66-E5E472E2A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Uses of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20B75-4151-89AF-BBF1-7A09E4925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3621258" cy="2122269"/>
          </a:xfrm>
        </p:spPr>
        <p:txBody>
          <a:bodyPr/>
          <a:lstStyle/>
          <a:p>
            <a:r>
              <a:rPr lang="en-AU" dirty="0"/>
              <a:t>Filter images to add </a:t>
            </a:r>
          </a:p>
          <a:p>
            <a:pPr lvl="1"/>
            <a:r>
              <a:rPr lang="en-AU" dirty="0"/>
              <a:t>soft blur </a:t>
            </a:r>
          </a:p>
          <a:p>
            <a:pPr lvl="1"/>
            <a:r>
              <a:rPr lang="en-AU" dirty="0"/>
              <a:t>sharpen details</a:t>
            </a:r>
          </a:p>
          <a:p>
            <a:pPr lvl="1"/>
            <a:r>
              <a:rPr lang="en-AU" dirty="0"/>
              <a:t>accentuate edges</a:t>
            </a:r>
          </a:p>
          <a:p>
            <a:pPr lvl="1"/>
            <a:r>
              <a:rPr lang="en-AU" dirty="0"/>
              <a:t>remove noise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0D8F31-3564-0269-404A-0BBBA1B3058D}"/>
                  </a:ext>
                </a:extLst>
              </p:cNvPr>
              <p:cNvSpPr txBox="1"/>
              <p:nvPr/>
            </p:nvSpPr>
            <p:spPr>
              <a:xfrm>
                <a:off x="5286913" y="2306252"/>
                <a:ext cx="579492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000" b="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000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0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AU" sz="2000" b="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/>
                  <a:t> is called a mask or kernel and </a:t>
                </a:r>
              </a:p>
              <a:p>
                <a:r>
                  <a:rPr lang="en-US" sz="2000" dirty="0"/>
                  <a:t>              the values </a:t>
                </a:r>
                <a14:m>
                  <m:oMath xmlns:m="http://schemas.openxmlformats.org/officeDocument/2006/math">
                    <m:r>
                      <a:rPr lang="en-AU" sz="2000" b="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000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0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are called filter coefficients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0D8F31-3564-0269-404A-0BBBA1B30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913" y="2306252"/>
                <a:ext cx="5794920" cy="707886"/>
              </a:xfrm>
              <a:prstGeom prst="rect">
                <a:avLst/>
              </a:prstGeom>
              <a:blipFill>
                <a:blip r:embed="rId3"/>
                <a:stretch>
                  <a:fillRect t="-3509" r="-219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3CAF09-624A-5B45-1E6D-3CDC7F01F084}"/>
                  </a:ext>
                </a:extLst>
              </p:cNvPr>
              <p:cNvSpPr txBox="1"/>
              <p:nvPr/>
            </p:nvSpPr>
            <p:spPr>
              <a:xfrm>
                <a:off x="5738403" y="3349644"/>
                <a:ext cx="153272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3CAF09-624A-5B45-1E6D-3CDC7F01F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403" y="3349644"/>
                <a:ext cx="1532727" cy="369332"/>
              </a:xfrm>
              <a:prstGeom prst="rect">
                <a:avLst/>
              </a:prstGeom>
              <a:blipFill>
                <a:blip r:embed="rId4"/>
                <a:stretch>
                  <a:fillRect l="-4098" r="-327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4F66BCE-A9FD-F0D7-5A7C-0CA4DBC8DB3C}"/>
                  </a:ext>
                </a:extLst>
              </p:cNvPr>
              <p:cNvSpPr txBox="1"/>
              <p:nvPr/>
            </p:nvSpPr>
            <p:spPr>
              <a:xfrm>
                <a:off x="5644885" y="3717061"/>
                <a:ext cx="47618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</m:t>
                    </m:r>
                  </m:oMath>
                </a14:m>
                <a:r>
                  <a:rPr lang="en-US" sz="2400" dirty="0"/>
                  <a:t>: is called the correlation operator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4F66BCE-A9FD-F0D7-5A7C-0CA4DBC8D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885" y="3717061"/>
                <a:ext cx="4761859" cy="461665"/>
              </a:xfrm>
              <a:prstGeom prst="rect">
                <a:avLst/>
              </a:prstGeom>
              <a:blipFill>
                <a:blip r:embed="rId5"/>
                <a:stretch>
                  <a:fillRect l="-798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0ACEE8-9C6E-CCB1-47F5-F7B5B829AA10}"/>
                  </a:ext>
                </a:extLst>
              </p:cNvPr>
              <p:cNvSpPr txBox="1"/>
              <p:nvPr/>
            </p:nvSpPr>
            <p:spPr>
              <a:xfrm>
                <a:off x="1624203" y="5404306"/>
                <a:ext cx="13955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0ACEE8-9C6E-CCB1-47F5-F7B5B829A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203" y="5404306"/>
                <a:ext cx="1395575" cy="369332"/>
              </a:xfrm>
              <a:prstGeom prst="rect">
                <a:avLst/>
              </a:prstGeom>
              <a:blipFill>
                <a:blip r:embed="rId6"/>
                <a:stretch>
                  <a:fillRect l="-4505" r="-360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3B814F-8C94-2A5F-6A94-A36604980351}"/>
                  </a:ext>
                </a:extLst>
              </p:cNvPr>
              <p:cNvSpPr txBox="1"/>
              <p:nvPr/>
            </p:nvSpPr>
            <p:spPr>
              <a:xfrm>
                <a:off x="1700433" y="5820846"/>
                <a:ext cx="55180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2400" dirty="0"/>
                  <a:t>: is called the convolution operator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3B814F-8C94-2A5F-6A94-A36604980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433" y="5820846"/>
                <a:ext cx="5518052" cy="461665"/>
              </a:xfrm>
              <a:prstGeom prst="rect">
                <a:avLst/>
              </a:prstGeom>
              <a:blipFill>
                <a:blip r:embed="rId7"/>
                <a:stretch>
                  <a:fillRect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2B2D23E-A19E-B2E1-DB89-951F2B0AAEE5}"/>
                  </a:ext>
                </a:extLst>
              </p:cNvPr>
              <p:cNvSpPr txBox="1"/>
              <p:nvPr/>
            </p:nvSpPr>
            <p:spPr>
              <a:xfrm>
                <a:off x="5738403" y="1410398"/>
                <a:ext cx="3998146" cy="784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begChr m:val="["/>
                          <m:endChr m:val="]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m:rPr>
                              <m:brk m:alnAt="23"/>
                            </m:rPr>
                            <a:rPr lang="en-AU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A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m:rPr>
                                  <m:brk m:alnAt="23"/>
                                </m:r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brk m:alnAt="23"/>
                                </m:r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2B2D23E-A19E-B2E1-DB89-951F2B0AA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403" y="1410398"/>
                <a:ext cx="3998146" cy="784510"/>
              </a:xfrm>
              <a:prstGeom prst="rect">
                <a:avLst/>
              </a:prstGeom>
              <a:blipFill>
                <a:blip r:embed="rId8"/>
                <a:stretch>
                  <a:fillRect l="-633" t="-109524" r="-1582" b="-17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FC1BCA-C87B-CED4-61C6-AFFECBB7E8E6}"/>
                  </a:ext>
                </a:extLst>
              </p:cNvPr>
              <p:cNvSpPr txBox="1"/>
              <p:nvPr/>
            </p:nvSpPr>
            <p:spPr>
              <a:xfrm>
                <a:off x="1448286" y="4472142"/>
                <a:ext cx="4049442" cy="784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begChr m:val="["/>
                          <m:endChr m:val="]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m:rPr>
                              <m:brk m:alnAt="23"/>
                            </m:rPr>
                            <a:rPr lang="en-AU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A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m:rPr>
                                  <m:brk m:alnAt="23"/>
                                </m:r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brk m:alnAt="23"/>
                                </m:r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FC1BCA-C87B-CED4-61C6-AFFECBB7E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286" y="4472142"/>
                <a:ext cx="4049442" cy="784510"/>
              </a:xfrm>
              <a:prstGeom prst="rect">
                <a:avLst/>
              </a:prstGeom>
              <a:blipFill>
                <a:blip r:embed="rId9"/>
                <a:stretch>
                  <a:fillRect l="-940" t="-112903" r="-1567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7824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D1AE9-33E1-97A4-4895-0ACC02B4F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Correlation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A163AE-0814-9D51-8523-E7F220549A6C}"/>
                  </a:ext>
                </a:extLst>
              </p:cNvPr>
              <p:cNvSpPr txBox="1"/>
              <p:nvPr/>
            </p:nvSpPr>
            <p:spPr>
              <a:xfrm>
                <a:off x="2391228" y="1804480"/>
                <a:ext cx="4049442" cy="784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begChr m:val="["/>
                          <m:endChr m:val="]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m:rPr>
                              <m:brk m:alnAt="23"/>
                            </m:rPr>
                            <a:rPr lang="en-AU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AU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AU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AU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m:rPr>
                                  <m:brk m:alnAt="23"/>
                                </m:rPr>
                                <a:rPr lang="en-AU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AU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brk m:alnAt="23"/>
                                </m:rPr>
                                <a:rPr lang="en-A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A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AU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AU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A163AE-0814-9D51-8523-E7F220549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228" y="1804480"/>
                <a:ext cx="4049442" cy="784510"/>
              </a:xfrm>
              <a:prstGeom prst="rect">
                <a:avLst/>
              </a:prstGeom>
              <a:blipFill>
                <a:blip r:embed="rId3"/>
                <a:stretch>
                  <a:fillRect l="-938" t="-111111" r="-1563" b="-169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E2E89A9C-5A11-EF1A-B1EE-B25DFF1C7F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7665338"/>
                  </p:ext>
                </p:extLst>
              </p:nvPr>
            </p:nvGraphicFramePr>
            <p:xfrm>
              <a:off x="714829" y="2751840"/>
              <a:ext cx="1676399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1796237484"/>
                        </a:ext>
                      </a:extLst>
                    </a:gridCol>
                    <a:gridCol w="555172">
                      <a:extLst>
                        <a:ext uri="{9D8B030D-6E8A-4147-A177-3AD203B41FA5}">
                          <a16:colId xmlns:a16="http://schemas.microsoft.com/office/drawing/2014/main" val="2501498876"/>
                        </a:ext>
                      </a:extLst>
                    </a:gridCol>
                    <a:gridCol w="587827">
                      <a:extLst>
                        <a:ext uri="{9D8B030D-6E8A-4147-A177-3AD203B41FA5}">
                          <a16:colId xmlns:a16="http://schemas.microsoft.com/office/drawing/2014/main" val="1565162801"/>
                        </a:ext>
                      </a:extLst>
                    </a:gridCol>
                  </a:tblGrid>
                  <a:tr h="3708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Image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874519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79759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513669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71123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E2E89A9C-5A11-EF1A-B1EE-B25DFF1C7F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7665338"/>
                  </p:ext>
                </p:extLst>
              </p:nvPr>
            </p:nvGraphicFramePr>
            <p:xfrm>
              <a:off x="714829" y="2751840"/>
              <a:ext cx="1676399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1796237484"/>
                        </a:ext>
                      </a:extLst>
                    </a:gridCol>
                    <a:gridCol w="555172">
                      <a:extLst>
                        <a:ext uri="{9D8B030D-6E8A-4147-A177-3AD203B41FA5}">
                          <a16:colId xmlns:a16="http://schemas.microsoft.com/office/drawing/2014/main" val="2501498876"/>
                        </a:ext>
                      </a:extLst>
                    </a:gridCol>
                    <a:gridCol w="587827">
                      <a:extLst>
                        <a:ext uri="{9D8B030D-6E8A-4147-A177-3AD203B41FA5}">
                          <a16:colId xmlns:a16="http://schemas.microsoft.com/office/drawing/2014/main" val="1565162801"/>
                        </a:ext>
                      </a:extLst>
                    </a:gridCol>
                  </a:tblGrid>
                  <a:tr h="3708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Image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874519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81" t="-110345" r="-219048" b="-2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7727" t="-110345" r="-109091" b="-2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5106" t="-110345" r="-2128" b="-2172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9759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2381" t="-203333" r="-219048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97727" t="-203333" r="-109091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185106" t="-203333" r="-2128" b="-1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3669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381" t="-313793" r="-219048" b="-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7727" t="-313793" r="-109091" b="-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85106" t="-313793" r="-2128" b="-137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71123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9CEE98C2-E56F-0BDD-1D79-14C23DC9CA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8745120"/>
                  </p:ext>
                </p:extLst>
              </p:nvPr>
            </p:nvGraphicFramePr>
            <p:xfrm>
              <a:off x="2927346" y="2751840"/>
              <a:ext cx="1676399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1796237484"/>
                        </a:ext>
                      </a:extLst>
                    </a:gridCol>
                    <a:gridCol w="555172">
                      <a:extLst>
                        <a:ext uri="{9D8B030D-6E8A-4147-A177-3AD203B41FA5}">
                          <a16:colId xmlns:a16="http://schemas.microsoft.com/office/drawing/2014/main" val="2501498876"/>
                        </a:ext>
                      </a:extLst>
                    </a:gridCol>
                    <a:gridCol w="587827">
                      <a:extLst>
                        <a:ext uri="{9D8B030D-6E8A-4147-A177-3AD203B41FA5}">
                          <a16:colId xmlns:a16="http://schemas.microsoft.com/office/drawing/2014/main" val="1565162801"/>
                        </a:ext>
                      </a:extLst>
                    </a:gridCol>
                  </a:tblGrid>
                  <a:tr h="3708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Kernel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874519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79759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513669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71123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9CEE98C2-E56F-0BDD-1D79-14C23DC9CA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8745120"/>
                  </p:ext>
                </p:extLst>
              </p:nvPr>
            </p:nvGraphicFramePr>
            <p:xfrm>
              <a:off x="2927346" y="2751840"/>
              <a:ext cx="1676399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1796237484"/>
                        </a:ext>
                      </a:extLst>
                    </a:gridCol>
                    <a:gridCol w="555172">
                      <a:extLst>
                        <a:ext uri="{9D8B030D-6E8A-4147-A177-3AD203B41FA5}">
                          <a16:colId xmlns:a16="http://schemas.microsoft.com/office/drawing/2014/main" val="2501498876"/>
                        </a:ext>
                      </a:extLst>
                    </a:gridCol>
                    <a:gridCol w="587827">
                      <a:extLst>
                        <a:ext uri="{9D8B030D-6E8A-4147-A177-3AD203B41FA5}">
                          <a16:colId xmlns:a16="http://schemas.microsoft.com/office/drawing/2014/main" val="1565162801"/>
                        </a:ext>
                      </a:extLst>
                    </a:gridCol>
                  </a:tblGrid>
                  <a:tr h="3708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Kernel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874519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81" t="-110345" r="-219048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7727" t="-110345" r="-109091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5106" t="-110345" r="-2128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9759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5"/>
                          <a:stretch>
                            <a:fillRect l="-2381" t="-203333" r="-21904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5"/>
                          <a:stretch>
                            <a:fillRect l="-97727" t="-203333" r="-109091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5"/>
                          <a:stretch>
                            <a:fillRect l="-185106" t="-203333" r="-212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3669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381" t="-313793" r="-219048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97727" t="-313793" r="-109091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85106" t="-313793" r="-2128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71123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451EC20-4889-55A4-3386-EBFE505B1ADA}"/>
                  </a:ext>
                </a:extLst>
              </p:cNvPr>
              <p:cNvSpPr txBox="1"/>
              <p:nvPr/>
            </p:nvSpPr>
            <p:spPr>
              <a:xfrm>
                <a:off x="2525486" y="3548745"/>
                <a:ext cx="2821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451EC20-4889-55A4-3386-EBFE505B1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486" y="3548745"/>
                <a:ext cx="282129" cy="276999"/>
              </a:xfrm>
              <a:prstGeom prst="rect">
                <a:avLst/>
              </a:prstGeom>
              <a:blipFill>
                <a:blip r:embed="rId6"/>
                <a:stretch>
                  <a:fillRect l="-20833" r="-20833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EAC703E-FABF-C576-941B-C3BCD94B2138}"/>
                  </a:ext>
                </a:extLst>
              </p:cNvPr>
              <p:cNvSpPr txBox="1"/>
              <p:nvPr/>
            </p:nvSpPr>
            <p:spPr>
              <a:xfrm>
                <a:off x="5519057" y="3133246"/>
                <a:ext cx="3030766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m:rPr>
                          <m:aln/>
                        </m:rP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aln/>
                        </m:rP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en-AU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+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EAC703E-FABF-C576-941B-C3BCD94B2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057" y="3133246"/>
                <a:ext cx="3030766" cy="830997"/>
              </a:xfrm>
              <a:prstGeom prst="rect">
                <a:avLst/>
              </a:prstGeom>
              <a:blipFill>
                <a:blip r:embed="rId7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0646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BE053-8103-2DF3-D61A-7EC791FE9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C4516-2E25-EC8D-DBB3-395CBD7A6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31081"/>
          </a:xfrm>
        </p:spPr>
        <p:txBody>
          <a:bodyPr/>
          <a:lstStyle/>
          <a:p>
            <a:r>
              <a:rPr lang="en-AU" dirty="0"/>
              <a:t>Convolution is very similar to correlation, the only difference is flipped kernel.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EE40F38-5374-E638-1EE6-AC8E310CF2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4098450"/>
                  </p:ext>
                </p:extLst>
              </p:nvPr>
            </p:nvGraphicFramePr>
            <p:xfrm>
              <a:off x="5385551" y="4891543"/>
              <a:ext cx="1676399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1796237484"/>
                        </a:ext>
                      </a:extLst>
                    </a:gridCol>
                    <a:gridCol w="555172">
                      <a:extLst>
                        <a:ext uri="{9D8B030D-6E8A-4147-A177-3AD203B41FA5}">
                          <a16:colId xmlns:a16="http://schemas.microsoft.com/office/drawing/2014/main" val="2501498876"/>
                        </a:ext>
                      </a:extLst>
                    </a:gridCol>
                    <a:gridCol w="587827">
                      <a:extLst>
                        <a:ext uri="{9D8B030D-6E8A-4147-A177-3AD203B41FA5}">
                          <a16:colId xmlns:a16="http://schemas.microsoft.com/office/drawing/2014/main" val="15651628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79759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513669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71123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EE40F38-5374-E638-1EE6-AC8E310CF2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4098450"/>
                  </p:ext>
                </p:extLst>
              </p:nvPr>
            </p:nvGraphicFramePr>
            <p:xfrm>
              <a:off x="5385551" y="4891543"/>
              <a:ext cx="1676399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1796237484"/>
                        </a:ext>
                      </a:extLst>
                    </a:gridCol>
                    <a:gridCol w="555172">
                      <a:extLst>
                        <a:ext uri="{9D8B030D-6E8A-4147-A177-3AD203B41FA5}">
                          <a16:colId xmlns:a16="http://schemas.microsoft.com/office/drawing/2014/main" val="2501498876"/>
                        </a:ext>
                      </a:extLst>
                    </a:gridCol>
                    <a:gridCol w="587827">
                      <a:extLst>
                        <a:ext uri="{9D8B030D-6E8A-4147-A177-3AD203B41FA5}">
                          <a16:colId xmlns:a16="http://schemas.microsoft.com/office/drawing/2014/main" val="15651628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81" t="-3448" r="-219048" b="-220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7727" t="-3448" r="-109091" b="-220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5106" t="-3448" r="-2128" b="-2206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9759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2381" t="-100000" r="-219048" b="-1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97727" t="-100000" r="-109091" b="-1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185106" t="-100000" r="-2128" b="-1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3669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81" t="-206897" r="-219048" b="-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7727" t="-206897" r="-109091" b="-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5106" t="-206897" r="-2128" b="-172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71123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A7CFF2A2-CFB8-A479-4022-8E0F4827BD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003532"/>
                  </p:ext>
                </p:extLst>
              </p:nvPr>
            </p:nvGraphicFramePr>
            <p:xfrm>
              <a:off x="5385551" y="3034331"/>
              <a:ext cx="1676399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1796237484"/>
                        </a:ext>
                      </a:extLst>
                    </a:gridCol>
                    <a:gridCol w="555172">
                      <a:extLst>
                        <a:ext uri="{9D8B030D-6E8A-4147-A177-3AD203B41FA5}">
                          <a16:colId xmlns:a16="http://schemas.microsoft.com/office/drawing/2014/main" val="2501498876"/>
                        </a:ext>
                      </a:extLst>
                    </a:gridCol>
                    <a:gridCol w="587827">
                      <a:extLst>
                        <a:ext uri="{9D8B030D-6E8A-4147-A177-3AD203B41FA5}">
                          <a16:colId xmlns:a16="http://schemas.microsoft.com/office/drawing/2014/main" val="15651628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79759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513669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71123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A7CFF2A2-CFB8-A479-4022-8E0F4827BD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003532"/>
                  </p:ext>
                </p:extLst>
              </p:nvPr>
            </p:nvGraphicFramePr>
            <p:xfrm>
              <a:off x="5385551" y="3034331"/>
              <a:ext cx="1676399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1796237484"/>
                        </a:ext>
                      </a:extLst>
                    </a:gridCol>
                    <a:gridCol w="555172">
                      <a:extLst>
                        <a:ext uri="{9D8B030D-6E8A-4147-A177-3AD203B41FA5}">
                          <a16:colId xmlns:a16="http://schemas.microsoft.com/office/drawing/2014/main" val="2501498876"/>
                        </a:ext>
                      </a:extLst>
                    </a:gridCol>
                    <a:gridCol w="587827">
                      <a:extLst>
                        <a:ext uri="{9D8B030D-6E8A-4147-A177-3AD203B41FA5}">
                          <a16:colId xmlns:a16="http://schemas.microsoft.com/office/drawing/2014/main" val="15651628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81" r="-21904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7727" r="-10909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5106" r="-212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9759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2381" t="-103448" r="-219048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97727" t="-103448" r="-109091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85106" t="-103448" r="-2128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3669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381" t="-196667" r="-219048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7727" t="-196667" r="-109091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5106" t="-196667" r="-2128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71123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B2C87BF-FE01-427C-60CA-F2E4A73F2A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5344582"/>
                  </p:ext>
                </p:extLst>
              </p:nvPr>
            </p:nvGraphicFramePr>
            <p:xfrm>
              <a:off x="8219460" y="3034331"/>
              <a:ext cx="1676399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1796237484"/>
                        </a:ext>
                      </a:extLst>
                    </a:gridCol>
                    <a:gridCol w="555172">
                      <a:extLst>
                        <a:ext uri="{9D8B030D-6E8A-4147-A177-3AD203B41FA5}">
                          <a16:colId xmlns:a16="http://schemas.microsoft.com/office/drawing/2014/main" val="2501498876"/>
                        </a:ext>
                      </a:extLst>
                    </a:gridCol>
                    <a:gridCol w="587827">
                      <a:extLst>
                        <a:ext uri="{9D8B030D-6E8A-4147-A177-3AD203B41FA5}">
                          <a16:colId xmlns:a16="http://schemas.microsoft.com/office/drawing/2014/main" val="15651628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79759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513669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71123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B2C87BF-FE01-427C-60CA-F2E4A73F2A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5344582"/>
                  </p:ext>
                </p:extLst>
              </p:nvPr>
            </p:nvGraphicFramePr>
            <p:xfrm>
              <a:off x="8219460" y="3034331"/>
              <a:ext cx="1676399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1796237484"/>
                        </a:ext>
                      </a:extLst>
                    </a:gridCol>
                    <a:gridCol w="555172">
                      <a:extLst>
                        <a:ext uri="{9D8B030D-6E8A-4147-A177-3AD203B41FA5}">
                          <a16:colId xmlns:a16="http://schemas.microsoft.com/office/drawing/2014/main" val="2501498876"/>
                        </a:ext>
                      </a:extLst>
                    </a:gridCol>
                    <a:gridCol w="587827">
                      <a:extLst>
                        <a:ext uri="{9D8B030D-6E8A-4147-A177-3AD203B41FA5}">
                          <a16:colId xmlns:a16="http://schemas.microsoft.com/office/drawing/2014/main" val="15651628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81" r="-21904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7727" r="-10909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5106" r="-212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9759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2381" t="-103448" r="-219048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97727" t="-103448" r="-109091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185106" t="-103448" r="-2128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3669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381" t="-196667" r="-219048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7727" t="-196667" r="-109091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85106" t="-196667" r="-2128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71123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ight Arrow 12">
            <a:extLst>
              <a:ext uri="{FF2B5EF4-FFF2-40B4-BE49-F238E27FC236}">
                <a16:creationId xmlns:a16="http://schemas.microsoft.com/office/drawing/2014/main" id="{B52CD848-360A-8AB4-4D55-CC37D887DBCC}"/>
              </a:ext>
            </a:extLst>
          </p:cNvPr>
          <p:cNvSpPr/>
          <p:nvPr/>
        </p:nvSpPr>
        <p:spPr>
          <a:xfrm>
            <a:off x="7061950" y="3590591"/>
            <a:ext cx="1105657" cy="45719"/>
          </a:xfrm>
          <a:prstGeom prst="rightArrow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B72AB75-221D-4151-9696-C815039A0586}"/>
                  </a:ext>
                </a:extLst>
              </p:cNvPr>
              <p:cNvSpPr txBox="1"/>
              <p:nvPr/>
            </p:nvSpPr>
            <p:spPr>
              <a:xfrm>
                <a:off x="7335908" y="3244334"/>
                <a:ext cx="6817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-flip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B72AB75-221D-4151-9696-C815039A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908" y="3244334"/>
                <a:ext cx="681725" cy="369332"/>
              </a:xfrm>
              <a:prstGeom prst="rect">
                <a:avLst/>
              </a:prstGeom>
              <a:blipFill>
                <a:blip r:embed="rId5"/>
                <a:stretch>
                  <a:fillRect t="-6667" r="-727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4485780A-DB5F-41A8-0CA8-6CAE8D4421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5902192"/>
                  </p:ext>
                </p:extLst>
              </p:nvPr>
            </p:nvGraphicFramePr>
            <p:xfrm>
              <a:off x="8203286" y="4891543"/>
              <a:ext cx="1676399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1796237484"/>
                        </a:ext>
                      </a:extLst>
                    </a:gridCol>
                    <a:gridCol w="555172">
                      <a:extLst>
                        <a:ext uri="{9D8B030D-6E8A-4147-A177-3AD203B41FA5}">
                          <a16:colId xmlns:a16="http://schemas.microsoft.com/office/drawing/2014/main" val="2501498876"/>
                        </a:ext>
                      </a:extLst>
                    </a:gridCol>
                    <a:gridCol w="587827">
                      <a:extLst>
                        <a:ext uri="{9D8B030D-6E8A-4147-A177-3AD203B41FA5}">
                          <a16:colId xmlns:a16="http://schemas.microsoft.com/office/drawing/2014/main" val="15651628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79759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513669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71123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4485780A-DB5F-41A8-0CA8-6CAE8D4421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5902192"/>
                  </p:ext>
                </p:extLst>
              </p:nvPr>
            </p:nvGraphicFramePr>
            <p:xfrm>
              <a:off x="8203286" y="4891543"/>
              <a:ext cx="1676399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1796237484"/>
                        </a:ext>
                      </a:extLst>
                    </a:gridCol>
                    <a:gridCol w="555172">
                      <a:extLst>
                        <a:ext uri="{9D8B030D-6E8A-4147-A177-3AD203B41FA5}">
                          <a16:colId xmlns:a16="http://schemas.microsoft.com/office/drawing/2014/main" val="2501498876"/>
                        </a:ext>
                      </a:extLst>
                    </a:gridCol>
                    <a:gridCol w="587827">
                      <a:extLst>
                        <a:ext uri="{9D8B030D-6E8A-4147-A177-3AD203B41FA5}">
                          <a16:colId xmlns:a16="http://schemas.microsoft.com/office/drawing/2014/main" val="15651628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3448" r="-221429" b="-2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5455" t="-3448" r="-111364" b="-2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82979" t="-3448" r="-4255" b="-2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9759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6"/>
                          <a:stretch>
                            <a:fillRect t="-100000" r="-221429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6"/>
                          <a:stretch>
                            <a:fillRect l="-95455" t="-100000" r="-111364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6"/>
                          <a:stretch>
                            <a:fillRect l="-182979" t="-100000" r="-4255" b="-1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3669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t="-206897" r="-221429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95455" t="-206897" r="-111364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82979" t="-206897" r="-4255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71123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Right Arrow 15">
            <a:extLst>
              <a:ext uri="{FF2B5EF4-FFF2-40B4-BE49-F238E27FC236}">
                <a16:creationId xmlns:a16="http://schemas.microsoft.com/office/drawing/2014/main" id="{4D3E0AE8-2BF6-0652-1DFA-DA816D25F6FB}"/>
              </a:ext>
            </a:extLst>
          </p:cNvPr>
          <p:cNvSpPr/>
          <p:nvPr/>
        </p:nvSpPr>
        <p:spPr>
          <a:xfrm rot="5400000">
            <a:off x="8722104" y="4454917"/>
            <a:ext cx="625390" cy="45719"/>
          </a:xfrm>
          <a:prstGeom prst="rightArrow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55F8786-58B3-8D01-6EB3-85CC05D0F53C}"/>
                  </a:ext>
                </a:extLst>
              </p:cNvPr>
              <p:cNvSpPr txBox="1"/>
              <p:nvPr/>
            </p:nvSpPr>
            <p:spPr>
              <a:xfrm>
                <a:off x="9065795" y="4281654"/>
                <a:ext cx="6851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-flip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55F8786-58B3-8D01-6EB3-85CC05D0F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5795" y="4281654"/>
                <a:ext cx="685124" cy="369332"/>
              </a:xfrm>
              <a:prstGeom prst="rect">
                <a:avLst/>
              </a:prstGeom>
              <a:blipFill>
                <a:blip r:embed="rId7"/>
                <a:stretch>
                  <a:fillRect t="-3226" r="-7273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3C4AB4-C368-72F8-BF79-F6749B77F122}"/>
                  </a:ext>
                </a:extLst>
              </p:cNvPr>
              <p:cNvSpPr txBox="1"/>
              <p:nvPr/>
            </p:nvSpPr>
            <p:spPr>
              <a:xfrm>
                <a:off x="7176848" y="5263137"/>
                <a:ext cx="85628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3C4AB4-C368-72F8-BF79-F6749B77F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848" y="5263137"/>
                <a:ext cx="8562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01F447C-CE65-77C4-052E-A31C809D901A}"/>
                  </a:ext>
                </a:extLst>
              </p:cNvPr>
              <p:cNvSpPr txBox="1"/>
              <p:nvPr/>
            </p:nvSpPr>
            <p:spPr>
              <a:xfrm>
                <a:off x="1011602" y="3867141"/>
                <a:ext cx="336047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  <m:oMath>
                      <m:r>
                        <a:rPr lang="en-AU" sz="2000" b="0" i="0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m:rPr>
                          <m:aln/>
                        </m:rP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br>
                  <a:rPr lang="en-AU" sz="2000" b="0" dirty="0"/>
                </a:br>
                <a:r>
                  <a:rPr lang="en-AU" sz="2000" b="0" dirty="0"/>
                  <a:t>              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sSub>
                      <m:sSub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sSub>
                      <m:sSub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sSub>
                      <m:sSub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01F447C-CE65-77C4-052E-A31C809D9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602" y="3867141"/>
                <a:ext cx="3360470" cy="1015663"/>
              </a:xfrm>
              <a:prstGeom prst="rect">
                <a:avLst/>
              </a:prstGeom>
              <a:blipFill>
                <a:blip r:embed="rId9"/>
                <a:stretch>
                  <a:fillRect b="-4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663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6" grpId="0" animBg="1"/>
      <p:bldP spid="17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1518-8654-308B-BDCB-83BB1D30A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Correlation vs convolution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B13C21B-8DA8-D51C-7EA2-B818D5C59BF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52445588"/>
                  </p:ext>
                </p:extLst>
              </p:nvPr>
            </p:nvGraphicFramePr>
            <p:xfrm>
              <a:off x="838200" y="1825625"/>
              <a:ext cx="10515597" cy="3408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6858">
                      <a:extLst>
                        <a:ext uri="{9D8B030D-6E8A-4147-A177-3AD203B41FA5}">
                          <a16:colId xmlns:a16="http://schemas.microsoft.com/office/drawing/2014/main" val="3040059052"/>
                        </a:ext>
                      </a:extLst>
                    </a:gridCol>
                    <a:gridCol w="3629465">
                      <a:extLst>
                        <a:ext uri="{9D8B030D-6E8A-4147-A177-3AD203B41FA5}">
                          <a16:colId xmlns:a16="http://schemas.microsoft.com/office/drawing/2014/main" val="1479998805"/>
                        </a:ext>
                      </a:extLst>
                    </a:gridCol>
                    <a:gridCol w="4179274">
                      <a:extLst>
                        <a:ext uri="{9D8B030D-6E8A-4147-A177-3AD203B41FA5}">
                          <a16:colId xmlns:a16="http://schemas.microsoft.com/office/drawing/2014/main" val="234988018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Feature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/>
                            <a:t>Correlation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⊗</m:t>
                              </m:r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ℎ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Convolution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ℎ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5890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Kernel Orientation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Used exactly as-is. No flipping.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Flipped </a:t>
                          </a:r>
                          <a:r>
                            <a:rPr lang="en-AU" sz="1800" b="1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horizontally and vertically</a:t>
                          </a:r>
                          <a:r>
                            <a:rPr lang="en-AU" dirty="0"/>
                            <a:t> (180 degree) rotation) before processing. 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964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Primary Use Case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b="1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Template matching</a:t>
                          </a:r>
                          <a:r>
                            <a:rPr lang="en-AU" dirty="0"/>
                            <a:t> (finding where a small sub-image matches a larger image).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b="1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Signal processing</a:t>
                          </a:r>
                          <a:r>
                            <a:rPr lang="en-AU" dirty="0"/>
                            <a:t>, edge detection, and feature extraction.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5650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Commutative Property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b="1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</a:t>
                          </a:r>
                          <a:r>
                            <a:rPr lang="en-AU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⊗</m:t>
                              </m:r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⊗</m:t>
                              </m:r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AU" dirty="0"/>
                            <a:t>). Order matters.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b="1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Yes</a:t>
                          </a:r>
                          <a:r>
                            <a:rPr lang="en-AU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AU" dirty="0"/>
                            <a:t>). Order does not matter.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5767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Symmetric Kernels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Identical result to convolution.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Identical result to correlation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1082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Associative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∗(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ℎ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)=(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6083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Distributive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∗(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ℎ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)=</m:t>
                                </m:r>
                                <m:d>
                                  <m:d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d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+(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ℎ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∗(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ℎ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)=</m:t>
                                </m:r>
                                <m:d>
                                  <m:dPr>
                                    <m:ctrlP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d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+(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ℎ</m:t>
                                </m:r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14992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B13C21B-8DA8-D51C-7EA2-B818D5C59BF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52445588"/>
                  </p:ext>
                </p:extLst>
              </p:nvPr>
            </p:nvGraphicFramePr>
            <p:xfrm>
              <a:off x="838200" y="1825625"/>
              <a:ext cx="10515597" cy="3408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6858">
                      <a:extLst>
                        <a:ext uri="{9D8B030D-6E8A-4147-A177-3AD203B41FA5}">
                          <a16:colId xmlns:a16="http://schemas.microsoft.com/office/drawing/2014/main" val="3040059052"/>
                        </a:ext>
                      </a:extLst>
                    </a:gridCol>
                    <a:gridCol w="3629465">
                      <a:extLst>
                        <a:ext uri="{9D8B030D-6E8A-4147-A177-3AD203B41FA5}">
                          <a16:colId xmlns:a16="http://schemas.microsoft.com/office/drawing/2014/main" val="1479998805"/>
                        </a:ext>
                      </a:extLst>
                    </a:gridCol>
                    <a:gridCol w="4179274">
                      <a:extLst>
                        <a:ext uri="{9D8B030D-6E8A-4147-A177-3AD203B41FA5}">
                          <a16:colId xmlns:a16="http://schemas.microsoft.com/office/drawing/2014/main" val="234988018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Feature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4825" t="-6897" r="-116084" b="-858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1976" t="-6897" r="-912" b="-8586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589099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Kernel Orientation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Used exactly as-is. No flipping.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Flipped </a:t>
                          </a:r>
                          <a:r>
                            <a:rPr lang="en-AU" sz="1800" b="1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horizontally and vertically</a:t>
                          </a:r>
                          <a:r>
                            <a:rPr lang="en-AU" dirty="0"/>
                            <a:t> (180 degree) rotation) before processing. 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964845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Primary Use Case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b="1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Template matching</a:t>
                          </a:r>
                          <a:r>
                            <a:rPr lang="en-AU" dirty="0"/>
                            <a:t> (finding where a small sub-image matches a larger image).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b="1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Signal processing</a:t>
                          </a:r>
                          <a:r>
                            <a:rPr lang="en-AU" dirty="0"/>
                            <a:t>, edge detection, and feature extraction.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5650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Commutative Property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4825" t="-534483" r="-116084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1976" t="-534483" r="-912" b="-3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5767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Symmetric Kernels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Identical result to convolution.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Identical result to correlation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1082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Associative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1976" t="-710000" r="-912" b="-12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6083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Distributive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4825" t="-837931" r="-116084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1976" t="-837931" r="-912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14992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25556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6A6DB-6859-AD04-D846-EC311B35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79388" cy="1325563"/>
          </a:xfrm>
        </p:spPr>
        <p:txBody>
          <a:bodyPr/>
          <a:lstStyle/>
          <a:p>
            <a:r>
              <a:rPr lang="en-US" b="1" dirty="0"/>
              <a:t>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831C7E-F208-1219-9A05-39C29F0C8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03268" y="1690688"/>
            <a:ext cx="4455937" cy="43513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39DA22-A213-28F6-8D2B-BDA37B705818}"/>
                  </a:ext>
                </a:extLst>
              </p:cNvPr>
              <p:cNvSpPr txBox="1"/>
              <p:nvPr/>
            </p:nvSpPr>
            <p:spPr>
              <a:xfrm>
                <a:off x="6457070" y="681037"/>
                <a:ext cx="44793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1, 2, 3</m:t>
                        </m:r>
                      </m:e>
                    </m:d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=[10, 20]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39DA22-A213-28F6-8D2B-BDA37B705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070" y="681037"/>
                <a:ext cx="4479388" cy="461665"/>
              </a:xfrm>
              <a:prstGeom prst="rect">
                <a:avLst/>
              </a:prstGeom>
              <a:blipFill>
                <a:blip r:embed="rId4"/>
                <a:stretch>
                  <a:fillRect l="-1130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149DF0A-45F2-BF0F-5E4C-01DE7302A3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595" y="1690688"/>
            <a:ext cx="4300598" cy="419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6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4D81D-E504-220B-233D-CD901FA13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do we care?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D7346F-DB81-F19F-D088-AD0C599315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Why do we care about convolution even though it is very similar to correlation filter?</a:t>
                </a:r>
              </a:p>
              <a:p>
                <a:r>
                  <a:rPr lang="en-AU" b="1" dirty="0"/>
                  <a:t>Associative property is important to reduce computational complexity.</a:t>
                </a:r>
              </a:p>
              <a:p>
                <a:r>
                  <a:rPr lang="en-AU" dirty="0"/>
                  <a:t>An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image and a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AU" dirty="0"/>
                  <a:t> Kernel will take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multiplications to convolve.</a:t>
                </a:r>
              </a:p>
              <a:p>
                <a:r>
                  <a:rPr lang="en-AU" dirty="0"/>
                  <a:t>To reduce complexity:</a:t>
                </a:r>
              </a:p>
              <a:p>
                <a:pPr lvl="1"/>
                <a:r>
                  <a:rPr lang="en-AU" dirty="0"/>
                  <a:t>decompose a kernel into single row and single column. When this decomposition is possible, complete convolution is achieved by applying the Associative property. </a:t>
                </a:r>
              </a:p>
              <a:p>
                <a:pPr lvl="1"/>
                <a:r>
                  <a:rPr lang="en-AU" dirty="0"/>
                  <a:t>Such decomposed (sub) kernels are called linearly separable kernels.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D7346F-DB81-F19F-D088-AD0C599315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86" t="-2168" b="-1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170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90B83-1288-86B3-9745-F48AA04C3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64A2B-5568-987F-421D-9FAE967F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of separable kernel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AF150E-CB78-A910-F484-5C8F26F3B1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8835"/>
                <a:ext cx="10515600" cy="497404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lphaU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AU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buAutoNum type="alphaUcPeriod"/>
                </a:pPr>
                <a:endParaRPr lang="en-US" dirty="0"/>
              </a:p>
              <a:p>
                <a:pPr marL="514350" indent="-514350">
                  <a:buFont typeface="Arial" panose="020B0604020202020204" pitchFamily="34" charset="0"/>
                  <a:buAutoNum type="alphaU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AU" i="1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buFont typeface="Arial" panose="020B0604020202020204" pitchFamily="34" charset="0"/>
                  <a:buAutoNum type="alphaUcPeriod"/>
                </a:pPr>
                <a:endParaRPr lang="en-US" dirty="0"/>
              </a:p>
              <a:p>
                <a:pPr marL="514350" indent="-514350">
                  <a:buFont typeface="Arial" panose="020B0604020202020204" pitchFamily="34" charset="0"/>
                  <a:buAutoNum type="alphaU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a:rPr lang="en-AU" i="1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buAutoNum type="alphaUcPeriod"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AF150E-CB78-A910-F484-5C8F26F3B1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8835"/>
                <a:ext cx="10515600" cy="4974040"/>
              </a:xfrm>
              <a:blipFill>
                <a:blip r:embed="rId2"/>
                <a:stretch>
                  <a:fillRect l="-844" t="-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9653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0B95D-D197-57F7-A0DB-B9F23E85E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Linearly separable kernel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648FC7-18E4-B9FB-9F4A-BB39D129D0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429001"/>
                <a:ext cx="10515600" cy="2747962"/>
              </a:xfrm>
            </p:spPr>
            <p:txBody>
              <a:bodyPr>
                <a:normAutofit/>
              </a:bodyPr>
              <a:lstStyle/>
              <a:p>
                <a:r>
                  <a:rPr lang="en-AU" dirty="0"/>
                  <a:t>After separating kernel, using associative property we can achieve convolution: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So we do two convolutions but each is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i="1" dirty="0" smtClean="0">
                        <a:latin typeface="Cambria Math" panose="02040503050406030204" pitchFamily="18" charset="0"/>
                      </a:rPr>
                      <m:t>≪</m:t>
                    </m:r>
                    <m:sSup>
                      <m:sSup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AU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(consider big value of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AU" dirty="0"/>
                  <a:t>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648FC7-18E4-B9FB-9F4A-BB39D129D0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429001"/>
                <a:ext cx="10515600" cy="2747962"/>
              </a:xfrm>
              <a:blipFill>
                <a:blip r:embed="rId3"/>
                <a:stretch>
                  <a:fillRect l="-1086" t="-3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08CF2E-AAB0-6E56-0EE1-7D0D0A48104F}"/>
                  </a:ext>
                </a:extLst>
              </p:cNvPr>
              <p:cNvSpPr txBox="1"/>
              <p:nvPr/>
            </p:nvSpPr>
            <p:spPr>
              <a:xfrm>
                <a:off x="3046709" y="1392567"/>
                <a:ext cx="6098582" cy="1228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AU" sz="2800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AU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08CF2E-AAB0-6E56-0EE1-7D0D0A481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709" y="1392567"/>
                <a:ext cx="6098582" cy="1228926"/>
              </a:xfrm>
              <a:prstGeom prst="rect">
                <a:avLst/>
              </a:prstGeom>
              <a:blipFill>
                <a:blip r:embed="rId4"/>
                <a:stretch>
                  <a:fillRect b="-5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929E20-D98A-670F-1DA5-E39CAD6540D7}"/>
                  </a:ext>
                </a:extLst>
              </p:cNvPr>
              <p:cNvSpPr txBox="1"/>
              <p:nvPr/>
            </p:nvSpPr>
            <p:spPr>
              <a:xfrm>
                <a:off x="4639157" y="2739873"/>
                <a:ext cx="4044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929E20-D98A-670F-1DA5-E39CAD654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157" y="2739873"/>
                <a:ext cx="40440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7924C0-4816-F7D9-527D-49A322668389}"/>
                  </a:ext>
                </a:extLst>
              </p:cNvPr>
              <p:cNvSpPr txBox="1"/>
              <p:nvPr/>
            </p:nvSpPr>
            <p:spPr>
              <a:xfrm>
                <a:off x="5421821" y="2694127"/>
                <a:ext cx="4044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7924C0-4816-F7D9-527D-49A322668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821" y="2694127"/>
                <a:ext cx="40440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CF355D-988D-17F1-DF8A-2A85AC9FF67B}"/>
                  </a:ext>
                </a:extLst>
              </p:cNvPr>
              <p:cNvSpPr txBox="1"/>
              <p:nvPr/>
            </p:nvSpPr>
            <p:spPr>
              <a:xfrm>
                <a:off x="3732506" y="2725123"/>
                <a:ext cx="4044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CF355D-988D-17F1-DF8A-2A85AC9FF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506" y="2725123"/>
                <a:ext cx="404406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5261D9-90FB-88B4-2BC3-EF58C0EC2773}"/>
                  </a:ext>
                </a:extLst>
              </p:cNvPr>
              <p:cNvSpPr txBox="1"/>
              <p:nvPr/>
            </p:nvSpPr>
            <p:spPr>
              <a:xfrm>
                <a:off x="6449880" y="2737289"/>
                <a:ext cx="482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5261D9-90FB-88B4-2BC3-EF58C0EC2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880" y="2737289"/>
                <a:ext cx="482824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640B91-7658-E631-C8A2-247EDA7FBDEA}"/>
                  </a:ext>
                </a:extLst>
              </p:cNvPr>
              <p:cNvSpPr txBox="1"/>
              <p:nvPr/>
            </p:nvSpPr>
            <p:spPr>
              <a:xfrm>
                <a:off x="7749157" y="2719208"/>
                <a:ext cx="482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640B91-7658-E631-C8A2-247EDA7FB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9157" y="2719208"/>
                <a:ext cx="482824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5110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EDD74-5FB5-6546-02EF-0AE1B066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6D408-0329-138A-87FD-E29997D49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Szeliski</a:t>
            </a:r>
            <a:r>
              <a:rPr lang="en-US" dirty="0"/>
              <a:t> book – Chap 3: Image processing</a:t>
            </a:r>
          </a:p>
          <a:p>
            <a:r>
              <a:rPr lang="en-US" dirty="0"/>
              <a:t>Notebooks:</a:t>
            </a:r>
          </a:p>
          <a:p>
            <a:pPr lvl="1"/>
            <a:r>
              <a:rPr lang="en-US" dirty="0">
                <a:hlinkClick r:id="rId3"/>
              </a:rPr>
              <a:t>https://www.kaggle.com/code/zahidbd/lecture8-nb1-masking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https://www.kaggle.com/code/zahidbd/lecture8-nb2-filtering</a:t>
            </a: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063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19817</TotalTime>
  <Words>1310</Words>
  <Application>Microsoft Macintosh PowerPoint</Application>
  <PresentationFormat>Widescreen</PresentationFormat>
  <Paragraphs>215</Paragraphs>
  <Slides>23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Anonymice Powerline</vt:lpstr>
      <vt:lpstr>Arial</vt:lpstr>
      <vt:lpstr>Calibri</vt:lpstr>
      <vt:lpstr>Calibri Light</vt:lpstr>
      <vt:lpstr>Cambria Math</vt:lpstr>
      <vt:lpstr>Office Theme</vt:lpstr>
      <vt:lpstr>COMPUTER VISION</vt:lpstr>
      <vt:lpstr>Matting and Compositing</vt:lpstr>
      <vt:lpstr>The α channel</vt:lpstr>
      <vt:lpstr>Compositing</vt:lpstr>
      <vt:lpstr>Take a deeper look</vt:lpstr>
      <vt:lpstr>Take a deeper look</vt:lpstr>
      <vt:lpstr>Create composition</vt:lpstr>
      <vt:lpstr>The over operator</vt:lpstr>
      <vt:lpstr>Over operator demo</vt:lpstr>
      <vt:lpstr>Filtering</vt:lpstr>
      <vt:lpstr>Types of filtering</vt:lpstr>
      <vt:lpstr>Moving average filtering</vt:lpstr>
      <vt:lpstr>Correlation filtering</vt:lpstr>
      <vt:lpstr>Linear filtering non-uniform weights</vt:lpstr>
      <vt:lpstr>Uses of filtering</vt:lpstr>
      <vt:lpstr>Correlation</vt:lpstr>
      <vt:lpstr>Convolution</vt:lpstr>
      <vt:lpstr>Correlation vs convolution</vt:lpstr>
      <vt:lpstr>Example</vt:lpstr>
      <vt:lpstr>Why do we care?</vt:lpstr>
      <vt:lpstr>Example of separable kernel</vt:lpstr>
      <vt:lpstr>Linearly separable kernel</vt:lpstr>
      <vt:lpstr>Readings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Zahidul Islam</dc:creator>
  <cp:lastModifiedBy>Md Zahidul Islam</cp:lastModifiedBy>
  <cp:revision>587</cp:revision>
  <dcterms:created xsi:type="dcterms:W3CDTF">2026-08-04T00:11:14Z</dcterms:created>
  <dcterms:modified xsi:type="dcterms:W3CDTF">2026-09-03T18:14:27Z</dcterms:modified>
</cp:coreProperties>
</file>