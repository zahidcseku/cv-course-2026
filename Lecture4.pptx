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6" r:id="rId1"/>
  </p:sldMasterIdLst>
  <p:notesMasterIdLst>
    <p:notesMasterId r:id="rId21"/>
  </p:notesMasterIdLst>
  <p:sldIdLst>
    <p:sldId id="256" r:id="rId2"/>
    <p:sldId id="299" r:id="rId3"/>
    <p:sldId id="300" r:id="rId4"/>
    <p:sldId id="298" r:id="rId5"/>
    <p:sldId id="303" r:id="rId6"/>
    <p:sldId id="304" r:id="rId7"/>
    <p:sldId id="305" r:id="rId8"/>
    <p:sldId id="306" r:id="rId9"/>
    <p:sldId id="307" r:id="rId10"/>
    <p:sldId id="308" r:id="rId11"/>
    <p:sldId id="309" r:id="rId12"/>
    <p:sldId id="302" r:id="rId13"/>
    <p:sldId id="310" r:id="rId14"/>
    <p:sldId id="311" r:id="rId15"/>
    <p:sldId id="312" r:id="rId16"/>
    <p:sldId id="313" r:id="rId17"/>
    <p:sldId id="314" r:id="rId18"/>
    <p:sldId id="315" r:id="rId19"/>
    <p:sldId id="29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68046"/>
  </p:normalViewPr>
  <p:slideViewPr>
    <p:cSldViewPr snapToGrid="0">
      <p:cViewPr varScale="1">
        <p:scale>
          <a:sx n="80" d="100"/>
          <a:sy n="80" d="100"/>
        </p:scale>
        <p:origin x="280" y="192"/>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F69E75-2F2A-4340-80BD-3C270EF90E93}" type="datetimeFigureOut">
              <a:rPr lang="en-US" smtClean="0"/>
              <a:t>8/13/26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5E430-97AE-C04C-BB4B-47DC21A043A5}" type="slidenum">
              <a:rPr lang="en-US" smtClean="0"/>
              <a:t>‹#›</a:t>
            </a:fld>
            <a:endParaRPr lang="en-US"/>
          </a:p>
        </p:txBody>
      </p:sp>
    </p:spTree>
    <p:extLst>
      <p:ext uri="{BB962C8B-B14F-4D97-AF65-F5344CB8AC3E}">
        <p14:creationId xmlns:p14="http://schemas.microsoft.com/office/powerpoint/2010/main" val="1091297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a:t>
            </a:fld>
            <a:endParaRPr lang="en-US"/>
          </a:p>
        </p:txBody>
      </p:sp>
    </p:spTree>
    <p:extLst>
      <p:ext uri="{BB962C8B-B14F-4D97-AF65-F5344CB8AC3E}">
        <p14:creationId xmlns:p14="http://schemas.microsoft.com/office/powerpoint/2010/main" val="3360149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F3308-6C7C-40C2-D1C1-24220A8B8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2E2C9-DBA8-47B3-AD11-EE9FA76C9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6C827-3030-4792-74B5-F327727F49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7BF0C8-1582-206F-1B7B-89B9FD0A5EB6}"/>
              </a:ext>
            </a:extLst>
          </p:cNvPr>
          <p:cNvSpPr>
            <a:spLocks noGrp="1"/>
          </p:cNvSpPr>
          <p:nvPr>
            <p:ph type="sldNum" sz="quarter" idx="5"/>
          </p:nvPr>
        </p:nvSpPr>
        <p:spPr/>
        <p:txBody>
          <a:bodyPr/>
          <a:lstStyle/>
          <a:p>
            <a:fld id="{21A5E430-97AE-C04C-BB4B-47DC21A043A5}" type="slidenum">
              <a:rPr lang="en-US" smtClean="0"/>
              <a:t>3</a:t>
            </a:fld>
            <a:endParaRPr lang="en-US"/>
          </a:p>
        </p:txBody>
      </p:sp>
    </p:spTree>
    <p:extLst>
      <p:ext uri="{BB962C8B-B14F-4D97-AF65-F5344CB8AC3E}">
        <p14:creationId xmlns:p14="http://schemas.microsoft.com/office/powerpoint/2010/main" val="94903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5</a:t>
            </a:fld>
            <a:endParaRPr lang="en-US"/>
          </a:p>
        </p:txBody>
      </p:sp>
    </p:spTree>
    <p:extLst>
      <p:ext uri="{BB962C8B-B14F-4D97-AF65-F5344CB8AC3E}">
        <p14:creationId xmlns:p14="http://schemas.microsoft.com/office/powerpoint/2010/main" val="899813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lvl="0" indent="-285750">
              <a:buFont typeface="Arial" panose="020B0604020202020204" pitchFamily="34" charset="0"/>
              <a:buChar char="•"/>
            </a:pPr>
            <a:r>
              <a:rPr lang="en-AU" dirty="0"/>
              <a:t>The RGB channels are highly correlated if I tell you the pixel value in the red Channel you've got a pretty good idea of what the what the value in the green and the blue channel and you don't want to be doing compression on highly correlated channels because it means if you introduce an imperfection in one channel and it's going to magnify the imperfection and so by converting to luminance and chrominance channels, we de couple the channels a bit. </a:t>
            </a:r>
          </a:p>
        </p:txBody>
      </p:sp>
      <p:sp>
        <p:nvSpPr>
          <p:cNvPr id="4" name="Slide Number Placeholder 3"/>
          <p:cNvSpPr>
            <a:spLocks noGrp="1"/>
          </p:cNvSpPr>
          <p:nvPr>
            <p:ph type="sldNum" sz="quarter" idx="5"/>
          </p:nvPr>
        </p:nvSpPr>
        <p:spPr/>
        <p:txBody>
          <a:bodyPr/>
          <a:lstStyle/>
          <a:p>
            <a:fld id="{21A5E430-97AE-C04C-BB4B-47DC21A043A5}" type="slidenum">
              <a:rPr lang="en-US" smtClean="0"/>
              <a:t>6</a:t>
            </a:fld>
            <a:endParaRPr lang="en-US"/>
          </a:p>
        </p:txBody>
      </p:sp>
    </p:spTree>
    <p:extLst>
      <p:ext uri="{BB962C8B-B14F-4D97-AF65-F5344CB8AC3E}">
        <p14:creationId xmlns:p14="http://schemas.microsoft.com/office/powerpoint/2010/main" val="2979710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 heart of JPEG - the discrete cosine transformation (DCT-II). DCT is a variant of the Fourier transform. What the DCT does is it converts the luminance Channel or the chroma Channel (each Channel separately now) into a frequency representation in terms of the discrete cosine transform. </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8</a:t>
            </a:fld>
            <a:endParaRPr lang="en-US"/>
          </a:p>
        </p:txBody>
      </p:sp>
    </p:spTree>
    <p:extLst>
      <p:ext uri="{BB962C8B-B14F-4D97-AF65-F5344CB8AC3E}">
        <p14:creationId xmlns:p14="http://schemas.microsoft.com/office/powerpoint/2010/main" val="4139386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the basis image of an 8x8 DCT matrix, with a size of 64x64. By observing the image, we can notice that the horizontal (</a:t>
            </a:r>
            <a:r>
              <a:rPr lang="en-AU" b="1" dirty="0"/>
              <a:t>row</a:t>
            </a:r>
            <a:r>
              <a:rPr lang="en-AU" dirty="0"/>
              <a:t>) frequencies increase from left to right, while the vertical (columns) frequencies increase from top to bottom.</a:t>
            </a:r>
            <a:br>
              <a:rPr lang="en-AU" dirty="0"/>
            </a:br>
            <a:r>
              <a:rPr lang="en-AU" dirty="0"/>
              <a:t>The constant basis function in the top left corner is commonly referred to as the DC (Direct Current) basis function, and the corresponding DCT coefficient is known as the DC coefficient.</a:t>
            </a:r>
          </a:p>
          <a:p>
            <a:r>
              <a:rPr lang="en-AU" dirty="0"/>
              <a:t>Any image can be composed by overlaying 64 cosine transformations from this reference image. Since we have set the size of the DCT matrix to be 8x8, we need to divide the image into several small 8x8 squares, referred to as </a:t>
            </a:r>
            <a:r>
              <a:rPr lang="en-AU" i="1" dirty="0"/>
              <a:t>blocks</a:t>
            </a:r>
            <a:r>
              <a:rPr lang="en-AU" dirty="0"/>
              <a:t>. The image is processed in units of blocks. Below, we will demonstrate 8 sets of DCT matrices along with their corresponding blocks.</a:t>
            </a:r>
          </a:p>
          <a:p>
            <a:endParaRPr lang="en-US" dirty="0"/>
          </a:p>
          <a:p>
            <a:r>
              <a:rPr lang="en-AU" dirty="0"/>
              <a:t>Organization of Frequencies</a:t>
            </a:r>
          </a:p>
          <a:p>
            <a:pPr lvl="0"/>
            <a:r>
              <a:rPr lang="en-AU" b="1" dirty="0"/>
              <a:t>DC Coefficient (Top-Left):</a:t>
            </a:r>
            <a:r>
              <a:rPr lang="en-AU" dirty="0"/>
              <a:t> Represents the average brightness or intensity of the entire 8×8 block. </a:t>
            </a:r>
          </a:p>
          <a:p>
            <a:pPr lvl="0"/>
            <a:r>
              <a:rPr lang="en-AU" b="1" dirty="0"/>
              <a:t>AC Coefficients (Rest of the Grid):</a:t>
            </a:r>
            <a:r>
              <a:rPr lang="en-AU" dirty="0"/>
              <a:t> Move outward toward the bottom-right, representing progressively higher spatial frequencies (sharp edges, fine textures, rapid brightness changes). </a:t>
            </a:r>
          </a:p>
          <a:p>
            <a:pPr lvl="0"/>
            <a:r>
              <a:rPr lang="en-AU" b="1" dirty="0"/>
              <a:t>Energy Compaction:</a:t>
            </a:r>
            <a:r>
              <a:rPr lang="en-AU" dirty="0"/>
              <a:t> Most of the image block's visual energy packs tightly into the low-frequency coefficients located near the top-left corner. </a:t>
            </a:r>
          </a:p>
        </p:txBody>
      </p:sp>
      <p:sp>
        <p:nvSpPr>
          <p:cNvPr id="4" name="Slide Number Placeholder 3"/>
          <p:cNvSpPr>
            <a:spLocks noGrp="1"/>
          </p:cNvSpPr>
          <p:nvPr>
            <p:ph type="sldNum" sz="quarter" idx="5"/>
          </p:nvPr>
        </p:nvSpPr>
        <p:spPr/>
        <p:txBody>
          <a:bodyPr/>
          <a:lstStyle/>
          <a:p>
            <a:fld id="{21A5E430-97AE-C04C-BB4B-47DC21A043A5}" type="slidenum">
              <a:rPr lang="en-US" smtClean="0"/>
              <a:t>9</a:t>
            </a:fld>
            <a:endParaRPr lang="en-US"/>
          </a:p>
        </p:txBody>
      </p:sp>
    </p:spTree>
    <p:extLst>
      <p:ext uri="{BB962C8B-B14F-4D97-AF65-F5344CB8AC3E}">
        <p14:creationId xmlns:p14="http://schemas.microsoft.com/office/powerpoint/2010/main" val="185482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10</a:t>
            </a:fld>
            <a:endParaRPr lang="en-US"/>
          </a:p>
        </p:txBody>
      </p:sp>
    </p:spTree>
    <p:extLst>
      <p:ext uri="{BB962C8B-B14F-4D97-AF65-F5344CB8AC3E}">
        <p14:creationId xmlns:p14="http://schemas.microsoft.com/office/powerpoint/2010/main" val="23838199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11</a:t>
            </a:fld>
            <a:endParaRPr lang="en-US"/>
          </a:p>
        </p:txBody>
      </p:sp>
    </p:spTree>
    <p:extLst>
      <p:ext uri="{BB962C8B-B14F-4D97-AF65-F5344CB8AC3E}">
        <p14:creationId xmlns:p14="http://schemas.microsoft.com/office/powerpoint/2010/main" val="682078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lvl="0" indent="-514350">
              <a:buFont typeface="+mj-lt"/>
              <a:buAutoNum type="arabicPeriod"/>
            </a:pPr>
            <a:r>
              <a:rPr lang="en-AU" dirty="0"/>
              <a:t>first of all we see that blocking artifact why well because I've partitioned the image into eight by eight blocks and each block doesn't know about its </a:t>
            </a:r>
            <a:r>
              <a:rPr lang="en-AU" dirty="0" err="1"/>
              <a:t>neighbor</a:t>
            </a:r>
            <a:r>
              <a:rPr lang="en-AU" dirty="0"/>
              <a:t> so it's doing a DCT it's doing the quantization and then you move on to the next one and it does the same thing and it creates an edge between them an artificial Edge which was not of course in the original scene and that could be really problematic for a lot of reasons.</a:t>
            </a:r>
          </a:p>
          <a:p>
            <a:pPr marL="514350" lvl="0" indent="-514350">
              <a:buFont typeface="+mj-lt"/>
              <a:buAutoNum type="arabicPeriod"/>
            </a:pPr>
            <a:r>
              <a:rPr lang="en-AU" dirty="0"/>
              <a:t>We sometimes just see these big blurry patches because we quantized all of the high frequencies variations in the image and all that's left is this blurry patch</a:t>
            </a:r>
          </a:p>
          <a:p>
            <a:pPr marL="514350" lvl="0" indent="-514350">
              <a:buFont typeface="+mj-lt"/>
              <a:buAutoNum type="arabicPeriod"/>
            </a:pPr>
            <a:r>
              <a:rPr lang="en-AU" dirty="0"/>
              <a:t>We see some interesting and weird </a:t>
            </a:r>
            <a:r>
              <a:rPr lang="en-AU" dirty="0" err="1"/>
              <a:t>color</a:t>
            </a:r>
            <a:r>
              <a:rPr lang="en-AU" dirty="0"/>
              <a:t> aberrations. </a:t>
            </a:r>
            <a:r>
              <a:rPr lang="en-AU" b="1" dirty="0"/>
              <a:t>Why?</a:t>
            </a:r>
            <a:r>
              <a:rPr lang="en-AU" dirty="0"/>
              <a:t> well two things </a:t>
            </a:r>
          </a:p>
          <a:p>
            <a:pPr marL="914400" lvl="1" indent="-457200">
              <a:buFont typeface="+mj-lt"/>
              <a:buAutoNum type="arabicPeriod"/>
            </a:pPr>
            <a:r>
              <a:rPr lang="en-AU" dirty="0"/>
              <a:t>one is the chroma Channel may have been sub-sampled </a:t>
            </a:r>
          </a:p>
          <a:p>
            <a:pPr marL="914400" lvl="1" indent="-457200">
              <a:buFont typeface="+mj-lt"/>
              <a:buAutoNum type="arabicPeriod"/>
            </a:pPr>
            <a:r>
              <a:rPr lang="en-AU" dirty="0"/>
              <a:t>the chroma Channel tends to get quantized by a higher amount than the luminance Channel. Because the human visual system cares less about </a:t>
            </a:r>
            <a:r>
              <a:rPr lang="en-AU" dirty="0" err="1"/>
              <a:t>color</a:t>
            </a:r>
            <a:r>
              <a:rPr lang="en-AU" dirty="0"/>
              <a:t> than it does about intensity or luminance</a:t>
            </a:r>
          </a:p>
          <a:p>
            <a:pPr marL="514350" lvl="0" indent="-514350">
              <a:buFont typeface="+mj-lt"/>
              <a:buAutoNum type="arabicPeriod"/>
            </a:pPr>
            <a:r>
              <a:rPr lang="en-AU" dirty="0"/>
              <a:t>Along what should be a straight edge you get these jaggies because again of that blocking artifact is different along each Edge and so straight lines end up getting a little jaggy and all of these are highly highly undesirable. </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16</a:t>
            </a:fld>
            <a:endParaRPr lang="en-US"/>
          </a:p>
        </p:txBody>
      </p:sp>
    </p:spTree>
    <p:extLst>
      <p:ext uri="{BB962C8B-B14F-4D97-AF65-F5344CB8AC3E}">
        <p14:creationId xmlns:p14="http://schemas.microsoft.com/office/powerpoint/2010/main" val="2140529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19</a:t>
            </a:fld>
            <a:endParaRPr lang="en-US"/>
          </a:p>
        </p:txBody>
      </p:sp>
    </p:spTree>
    <p:extLst>
      <p:ext uri="{BB962C8B-B14F-4D97-AF65-F5344CB8AC3E}">
        <p14:creationId xmlns:p14="http://schemas.microsoft.com/office/powerpoint/2010/main" val="3086017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10ABA-4290-90CD-CC55-F20491E4001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7F24B89-364B-EE61-91C7-B9F06B42CD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EBF63DC-9861-DCAD-6ABF-69C738D52412}"/>
              </a:ext>
            </a:extLst>
          </p:cNvPr>
          <p:cNvSpPr>
            <a:spLocks noGrp="1"/>
          </p:cNvSpPr>
          <p:nvPr>
            <p:ph type="dt" sz="half" idx="10"/>
          </p:nvPr>
        </p:nvSpPr>
        <p:spPr/>
        <p:txBody>
          <a:bodyPr/>
          <a:lstStyle/>
          <a:p>
            <a:fld id="{B61BEF0D-F0BB-DE4B-95CE-6DB70DBA9567}" type="datetimeFigureOut">
              <a:rPr lang="en-US" smtClean="0"/>
              <a:pPr/>
              <a:t>8/13/26</a:t>
            </a:fld>
            <a:endParaRPr lang="en-US" dirty="0"/>
          </a:p>
        </p:txBody>
      </p:sp>
      <p:sp>
        <p:nvSpPr>
          <p:cNvPr id="5" name="Footer Placeholder 4">
            <a:extLst>
              <a:ext uri="{FF2B5EF4-FFF2-40B4-BE49-F238E27FC236}">
                <a16:creationId xmlns:a16="http://schemas.microsoft.com/office/drawing/2014/main" id="{12614E29-F2F6-0C59-6484-F3A7E29D6B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BCAEEB-1E1D-36B5-14CA-0489A122989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3520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F66E-2238-2945-30ED-0D5D903A9A7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216DA5-3118-31B7-4826-91DCF97495C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6A64AF0-DB24-1918-D680-D607CC937796}"/>
              </a:ext>
            </a:extLst>
          </p:cNvPr>
          <p:cNvSpPr>
            <a:spLocks noGrp="1"/>
          </p:cNvSpPr>
          <p:nvPr>
            <p:ph type="dt" sz="half" idx="10"/>
          </p:nvPr>
        </p:nvSpPr>
        <p:spPr/>
        <p:txBody>
          <a:bodyPr/>
          <a:lstStyle/>
          <a:p>
            <a:fld id="{B61BEF0D-F0BB-DE4B-95CE-6DB70DBA9567}" type="datetimeFigureOut">
              <a:rPr lang="en-US" smtClean="0"/>
              <a:pPr/>
              <a:t>8/13/26</a:t>
            </a:fld>
            <a:endParaRPr lang="en-US" dirty="0"/>
          </a:p>
        </p:txBody>
      </p:sp>
      <p:sp>
        <p:nvSpPr>
          <p:cNvPr id="5" name="Footer Placeholder 4">
            <a:extLst>
              <a:ext uri="{FF2B5EF4-FFF2-40B4-BE49-F238E27FC236}">
                <a16:creationId xmlns:a16="http://schemas.microsoft.com/office/drawing/2014/main" id="{0268A90F-2980-A2E6-466C-5402C1FC4D9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868EC3-A8B5-7BBB-739B-70BA6D09F96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7852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C189-E67A-DEEB-8B84-7C335EFE0C4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24ED7FA-A772-AA86-E957-C377B21763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C76E92-A603-E836-46A2-21459F70329C}"/>
              </a:ext>
            </a:extLst>
          </p:cNvPr>
          <p:cNvSpPr>
            <a:spLocks noGrp="1"/>
          </p:cNvSpPr>
          <p:nvPr>
            <p:ph type="dt" sz="half" idx="10"/>
          </p:nvPr>
        </p:nvSpPr>
        <p:spPr/>
        <p:txBody>
          <a:bodyPr/>
          <a:lstStyle/>
          <a:p>
            <a:fld id="{B61BEF0D-F0BB-DE4B-95CE-6DB70DBA9567}" type="datetimeFigureOut">
              <a:rPr lang="en-US" smtClean="0"/>
              <a:pPr/>
              <a:t>8/13/26</a:t>
            </a:fld>
            <a:endParaRPr lang="en-US" dirty="0"/>
          </a:p>
        </p:txBody>
      </p:sp>
      <p:sp>
        <p:nvSpPr>
          <p:cNvPr id="5" name="Footer Placeholder 4">
            <a:extLst>
              <a:ext uri="{FF2B5EF4-FFF2-40B4-BE49-F238E27FC236}">
                <a16:creationId xmlns:a16="http://schemas.microsoft.com/office/drawing/2014/main" id="{D2E73A2D-7527-2749-6AC2-791551C544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2646D8-F5E0-55C9-DFA9-AE038A78394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42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EC26-3DD7-E942-7FD3-AD4642215FD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C8AE2B3-6415-0C9F-2B63-AAD8FE7CB5D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DD4849E-962A-A5CF-1EFF-A5D9F6D2D63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8A4F206-C4C3-7740-140B-91013CDDE4E5}"/>
              </a:ext>
            </a:extLst>
          </p:cNvPr>
          <p:cNvSpPr>
            <a:spLocks noGrp="1"/>
          </p:cNvSpPr>
          <p:nvPr>
            <p:ph type="dt" sz="half" idx="10"/>
          </p:nvPr>
        </p:nvSpPr>
        <p:spPr/>
        <p:txBody>
          <a:bodyPr/>
          <a:lstStyle/>
          <a:p>
            <a:fld id="{B61BEF0D-F0BB-DE4B-95CE-6DB70DBA9567}" type="datetimeFigureOut">
              <a:rPr lang="en-US" smtClean="0"/>
              <a:pPr/>
              <a:t>8/13/26</a:t>
            </a:fld>
            <a:endParaRPr lang="en-US" dirty="0"/>
          </a:p>
        </p:txBody>
      </p:sp>
      <p:sp>
        <p:nvSpPr>
          <p:cNvPr id="6" name="Footer Placeholder 5">
            <a:extLst>
              <a:ext uri="{FF2B5EF4-FFF2-40B4-BE49-F238E27FC236}">
                <a16:creationId xmlns:a16="http://schemas.microsoft.com/office/drawing/2014/main" id="{AF950921-80EB-4B2D-95C6-1C999B36057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3CF45F9-5E9B-8C6E-6D1D-0A82EC8FE6F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7694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5D9A-3AD0-657C-C3CB-A50C2397909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B9496E7-6FDA-8F23-1869-AFDF16E7DF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661602A-B874-4D33-8037-C166D9D32A8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6538C1A-755F-F467-FB5F-2740E9A8A6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9968491-33EA-3F5E-3142-9D822916CDB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E6F0A4D-B479-3C8E-68BA-F49180D7D4A7}"/>
              </a:ext>
            </a:extLst>
          </p:cNvPr>
          <p:cNvSpPr>
            <a:spLocks noGrp="1"/>
          </p:cNvSpPr>
          <p:nvPr>
            <p:ph type="dt" sz="half" idx="10"/>
          </p:nvPr>
        </p:nvSpPr>
        <p:spPr/>
        <p:txBody>
          <a:bodyPr/>
          <a:lstStyle/>
          <a:p>
            <a:fld id="{B61BEF0D-F0BB-DE4B-95CE-6DB70DBA9567}" type="datetimeFigureOut">
              <a:rPr lang="en-US" smtClean="0"/>
              <a:pPr/>
              <a:t>8/13/26</a:t>
            </a:fld>
            <a:endParaRPr lang="en-US" dirty="0"/>
          </a:p>
        </p:txBody>
      </p:sp>
      <p:sp>
        <p:nvSpPr>
          <p:cNvPr id="8" name="Footer Placeholder 7">
            <a:extLst>
              <a:ext uri="{FF2B5EF4-FFF2-40B4-BE49-F238E27FC236}">
                <a16:creationId xmlns:a16="http://schemas.microsoft.com/office/drawing/2014/main" id="{EFEA6669-6B95-0CBE-1D95-890C54EE827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44083EE-4D9B-D81A-FD71-5D6A16DDF1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60772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E6E9B-AD06-B997-1AE7-3073AFFCB84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7726203-6C54-59B6-ADFE-EA8A4741EDA9}"/>
              </a:ext>
            </a:extLst>
          </p:cNvPr>
          <p:cNvSpPr>
            <a:spLocks noGrp="1"/>
          </p:cNvSpPr>
          <p:nvPr>
            <p:ph type="dt" sz="half" idx="10"/>
          </p:nvPr>
        </p:nvSpPr>
        <p:spPr/>
        <p:txBody>
          <a:bodyPr/>
          <a:lstStyle/>
          <a:p>
            <a:fld id="{B61BEF0D-F0BB-DE4B-95CE-6DB70DBA9567}" type="datetimeFigureOut">
              <a:rPr lang="en-US" smtClean="0"/>
              <a:pPr/>
              <a:t>8/13/26</a:t>
            </a:fld>
            <a:endParaRPr lang="en-US" dirty="0"/>
          </a:p>
        </p:txBody>
      </p:sp>
      <p:sp>
        <p:nvSpPr>
          <p:cNvPr id="4" name="Footer Placeholder 3">
            <a:extLst>
              <a:ext uri="{FF2B5EF4-FFF2-40B4-BE49-F238E27FC236}">
                <a16:creationId xmlns:a16="http://schemas.microsoft.com/office/drawing/2014/main" id="{B0FE622D-800D-BD21-04BE-E0E9D2C3969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B3FC2C-3FA0-9A58-0F7D-02622CA35CF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0367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F2467D-6BE5-9E50-E767-5B64065B9B61}"/>
              </a:ext>
            </a:extLst>
          </p:cNvPr>
          <p:cNvSpPr>
            <a:spLocks noGrp="1"/>
          </p:cNvSpPr>
          <p:nvPr>
            <p:ph type="dt" sz="half" idx="10"/>
          </p:nvPr>
        </p:nvSpPr>
        <p:spPr/>
        <p:txBody>
          <a:bodyPr/>
          <a:lstStyle/>
          <a:p>
            <a:fld id="{B61BEF0D-F0BB-DE4B-95CE-6DB70DBA9567}" type="datetimeFigureOut">
              <a:rPr lang="en-US" smtClean="0"/>
              <a:pPr/>
              <a:t>8/13/26</a:t>
            </a:fld>
            <a:endParaRPr lang="en-US" dirty="0"/>
          </a:p>
        </p:txBody>
      </p:sp>
      <p:sp>
        <p:nvSpPr>
          <p:cNvPr id="3" name="Footer Placeholder 2">
            <a:extLst>
              <a:ext uri="{FF2B5EF4-FFF2-40B4-BE49-F238E27FC236}">
                <a16:creationId xmlns:a16="http://schemas.microsoft.com/office/drawing/2014/main" id="{2D5DD547-4603-D852-B1B3-A5C380C6748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BA6508D-341E-E5BD-C22D-E2BF3A6A6B6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879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61ED0-75A3-6E0F-3006-4E70B9C79DC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61213C3-01A6-E614-D555-D3BC4C59D2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C1C72D1-C96F-3382-A48C-F0612B299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DC90C82-959E-DF3F-38A5-159F3E4EE801}"/>
              </a:ext>
            </a:extLst>
          </p:cNvPr>
          <p:cNvSpPr>
            <a:spLocks noGrp="1"/>
          </p:cNvSpPr>
          <p:nvPr>
            <p:ph type="dt" sz="half" idx="10"/>
          </p:nvPr>
        </p:nvSpPr>
        <p:spPr/>
        <p:txBody>
          <a:bodyPr/>
          <a:lstStyle/>
          <a:p>
            <a:fld id="{B61BEF0D-F0BB-DE4B-95CE-6DB70DBA9567}" type="datetimeFigureOut">
              <a:rPr lang="en-US" smtClean="0"/>
              <a:pPr/>
              <a:t>8/13/26</a:t>
            </a:fld>
            <a:endParaRPr lang="en-US" dirty="0"/>
          </a:p>
        </p:txBody>
      </p:sp>
      <p:sp>
        <p:nvSpPr>
          <p:cNvPr id="6" name="Footer Placeholder 5">
            <a:extLst>
              <a:ext uri="{FF2B5EF4-FFF2-40B4-BE49-F238E27FC236}">
                <a16:creationId xmlns:a16="http://schemas.microsoft.com/office/drawing/2014/main" id="{57569977-4322-D261-2170-1A0B6CD763D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3E4B5F3-686B-5E91-86E8-81B85A12262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06304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0422-F15A-4C2C-3C8A-BB5AFE652DB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63BD814-F5EA-2E89-F8F7-F916825568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345475-4926-2118-0A8D-7E5E64E20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1CE74AE-202B-63F1-CC92-B6A0B149A619}"/>
              </a:ext>
            </a:extLst>
          </p:cNvPr>
          <p:cNvSpPr>
            <a:spLocks noGrp="1"/>
          </p:cNvSpPr>
          <p:nvPr>
            <p:ph type="dt" sz="half" idx="10"/>
          </p:nvPr>
        </p:nvSpPr>
        <p:spPr/>
        <p:txBody>
          <a:bodyPr/>
          <a:lstStyle/>
          <a:p>
            <a:fld id="{B61BEF0D-F0BB-DE4B-95CE-6DB70DBA9567}" type="datetimeFigureOut">
              <a:rPr lang="en-US" smtClean="0"/>
              <a:pPr/>
              <a:t>8/13/26</a:t>
            </a:fld>
            <a:endParaRPr lang="en-US" dirty="0"/>
          </a:p>
        </p:txBody>
      </p:sp>
      <p:sp>
        <p:nvSpPr>
          <p:cNvPr id="6" name="Footer Placeholder 5">
            <a:extLst>
              <a:ext uri="{FF2B5EF4-FFF2-40B4-BE49-F238E27FC236}">
                <a16:creationId xmlns:a16="http://schemas.microsoft.com/office/drawing/2014/main" id="{D0385DEF-4986-D816-B5EC-52508C7475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0C0EB8-9FF8-3665-DFC3-2A23C436C1B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42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4349C-55F4-8DD2-B5B3-F25C3269E19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961ACD-3ECA-19BE-9063-F5AAB3BE801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7746CB2-8338-345D-B066-B1D7BFD27E92}"/>
              </a:ext>
            </a:extLst>
          </p:cNvPr>
          <p:cNvSpPr>
            <a:spLocks noGrp="1"/>
          </p:cNvSpPr>
          <p:nvPr>
            <p:ph type="dt" sz="half" idx="10"/>
          </p:nvPr>
        </p:nvSpPr>
        <p:spPr/>
        <p:txBody>
          <a:bodyPr/>
          <a:lstStyle/>
          <a:p>
            <a:fld id="{B61BEF0D-F0BB-DE4B-95CE-6DB70DBA9567}" type="datetimeFigureOut">
              <a:rPr lang="en-US" smtClean="0"/>
              <a:pPr/>
              <a:t>8/13/26</a:t>
            </a:fld>
            <a:endParaRPr lang="en-US" dirty="0"/>
          </a:p>
        </p:txBody>
      </p:sp>
      <p:sp>
        <p:nvSpPr>
          <p:cNvPr id="5" name="Footer Placeholder 4">
            <a:extLst>
              <a:ext uri="{FF2B5EF4-FFF2-40B4-BE49-F238E27FC236}">
                <a16:creationId xmlns:a16="http://schemas.microsoft.com/office/drawing/2014/main" id="{68CEA996-1CE2-090B-003F-5B7EB52059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1D362C-DC52-130E-3EDD-CFC6E248755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568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A7662E-7958-3ADE-A998-F33C75EF65A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826EE86-C6DB-34C8-839F-4C05EA0D8B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AB12CF-5E36-6937-CC03-FD4DAFCCF839}"/>
              </a:ext>
            </a:extLst>
          </p:cNvPr>
          <p:cNvSpPr>
            <a:spLocks noGrp="1"/>
          </p:cNvSpPr>
          <p:nvPr>
            <p:ph type="dt" sz="half" idx="10"/>
          </p:nvPr>
        </p:nvSpPr>
        <p:spPr/>
        <p:txBody>
          <a:bodyPr/>
          <a:lstStyle/>
          <a:p>
            <a:fld id="{B61BEF0D-F0BB-DE4B-95CE-6DB70DBA9567}" type="datetimeFigureOut">
              <a:rPr lang="en-US" smtClean="0"/>
              <a:pPr/>
              <a:t>8/13/26</a:t>
            </a:fld>
            <a:endParaRPr lang="en-US" dirty="0"/>
          </a:p>
        </p:txBody>
      </p:sp>
      <p:sp>
        <p:nvSpPr>
          <p:cNvPr id="5" name="Footer Placeholder 4">
            <a:extLst>
              <a:ext uri="{FF2B5EF4-FFF2-40B4-BE49-F238E27FC236}">
                <a16:creationId xmlns:a16="http://schemas.microsoft.com/office/drawing/2014/main" id="{B3A791FE-5CDC-76E7-1D6A-CFFC7D5024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B481ADC-D743-398A-851E-E742E36C1CD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178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32BC51-9F87-6890-45C0-643E6F552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F1906F5-F306-E89C-5151-AA5BF69AA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A6B21F-4F09-4E1F-433A-CF40F62B9D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8/13/26</a:t>
            </a:fld>
            <a:endParaRPr lang="en-US" dirty="0"/>
          </a:p>
        </p:txBody>
      </p:sp>
      <p:sp>
        <p:nvSpPr>
          <p:cNvPr id="5" name="Footer Placeholder 4">
            <a:extLst>
              <a:ext uri="{FF2B5EF4-FFF2-40B4-BE49-F238E27FC236}">
                <a16:creationId xmlns:a16="http://schemas.microsoft.com/office/drawing/2014/main" id="{392909DE-CA0F-77A5-6135-84F8389D9B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2256ADA-A62D-616A-836C-0D9BA5F7E5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3103942"/>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code/zahidbd/lecture3-nb-2"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code/zahidbd/lecture3-nb-2"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Um4OU7Jr3Sw&amp;list=PLhwIOYE-ldwL6h-peJADfNm8bbO3GlKEy&amp;index=15"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www.kaggle.com/code/zahidbd/lecture4-nb-1" TargetMode="External"/><Relationship Id="rId4" Type="http://schemas.openxmlformats.org/officeDocument/2006/relationships/hyperlink" Target="https://www.csfieldguide.org.nz/en/chapters/coding-compression/image-compression-using-jpe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9241-48AD-583C-9840-CDD40301C01C}"/>
              </a:ext>
            </a:extLst>
          </p:cNvPr>
          <p:cNvSpPr>
            <a:spLocks noGrp="1"/>
          </p:cNvSpPr>
          <p:nvPr>
            <p:ph type="ctrTitle"/>
          </p:nvPr>
        </p:nvSpPr>
        <p:spPr/>
        <p:txBody>
          <a:bodyPr/>
          <a:lstStyle/>
          <a:p>
            <a:r>
              <a:rPr lang="en-US" dirty="0"/>
              <a:t>COMPUTER VISION</a:t>
            </a:r>
          </a:p>
        </p:txBody>
      </p:sp>
      <p:sp>
        <p:nvSpPr>
          <p:cNvPr id="3" name="Subtitle 2">
            <a:extLst>
              <a:ext uri="{FF2B5EF4-FFF2-40B4-BE49-F238E27FC236}">
                <a16:creationId xmlns:a16="http://schemas.microsoft.com/office/drawing/2014/main" id="{B1F2094C-5F63-31E5-6117-5B63798264D5}"/>
              </a:ext>
            </a:extLst>
          </p:cNvPr>
          <p:cNvSpPr>
            <a:spLocks noGrp="1"/>
          </p:cNvSpPr>
          <p:nvPr>
            <p:ph type="subTitle" idx="1"/>
          </p:nvPr>
        </p:nvSpPr>
        <p:spPr/>
        <p:txBody>
          <a:bodyPr/>
          <a:lstStyle/>
          <a:p>
            <a:r>
              <a:rPr lang="en-US" b="1" dirty="0"/>
              <a:t>Week 3</a:t>
            </a:r>
          </a:p>
          <a:p>
            <a:r>
              <a:rPr lang="en-US" dirty="0"/>
              <a:t>Lecture 4 (13/08/2026)</a:t>
            </a:r>
          </a:p>
          <a:p>
            <a:r>
              <a:rPr lang="en-US" dirty="0"/>
              <a:t>0714 02 CSE 4239</a:t>
            </a:r>
          </a:p>
        </p:txBody>
      </p:sp>
    </p:spTree>
    <p:extLst>
      <p:ext uri="{BB962C8B-B14F-4D97-AF65-F5344CB8AC3E}">
        <p14:creationId xmlns:p14="http://schemas.microsoft.com/office/powerpoint/2010/main" val="3060475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5A0E5-C15A-EBB7-85F0-7E9D278E2CF5}"/>
              </a:ext>
            </a:extLst>
          </p:cNvPr>
          <p:cNvSpPr>
            <a:spLocks noGrp="1"/>
          </p:cNvSpPr>
          <p:nvPr>
            <p:ph type="title"/>
          </p:nvPr>
        </p:nvSpPr>
        <p:spPr/>
        <p:txBody>
          <a:bodyPr/>
          <a:lstStyle/>
          <a:p>
            <a:r>
              <a:rPr lang="en-US" b="1" dirty="0"/>
              <a:t>Practical</a:t>
            </a:r>
          </a:p>
        </p:txBody>
      </p:sp>
      <p:sp>
        <p:nvSpPr>
          <p:cNvPr id="3" name="Content Placeholder 2">
            <a:extLst>
              <a:ext uri="{FF2B5EF4-FFF2-40B4-BE49-F238E27FC236}">
                <a16:creationId xmlns:a16="http://schemas.microsoft.com/office/drawing/2014/main" id="{B9CDC995-A266-F013-9771-5A42DAD58F88}"/>
              </a:ext>
            </a:extLst>
          </p:cNvPr>
          <p:cNvSpPr>
            <a:spLocks noGrp="1"/>
          </p:cNvSpPr>
          <p:nvPr>
            <p:ph idx="1"/>
          </p:nvPr>
        </p:nvSpPr>
        <p:spPr>
          <a:xfrm>
            <a:off x="3581400" y="894555"/>
            <a:ext cx="6477001" cy="495301"/>
          </a:xfrm>
        </p:spPr>
        <p:txBody>
          <a:bodyPr/>
          <a:lstStyle/>
          <a:p>
            <a:r>
              <a:rPr lang="en-US" sz="1800" dirty="0">
                <a:hlinkClick r:id="rId3"/>
              </a:rPr>
              <a:t>https://www.kaggle.com/code/zahidbd/lecture3-nb-2</a:t>
            </a:r>
            <a:endParaRPr lang="en-US" sz="1800" dirty="0"/>
          </a:p>
        </p:txBody>
      </p:sp>
      <p:pic>
        <p:nvPicPr>
          <p:cNvPr id="6" name="Picture 5">
            <a:extLst>
              <a:ext uri="{FF2B5EF4-FFF2-40B4-BE49-F238E27FC236}">
                <a16:creationId xmlns:a16="http://schemas.microsoft.com/office/drawing/2014/main" id="{C4D638CC-74D0-2320-70C0-941E9381B928}"/>
              </a:ext>
            </a:extLst>
          </p:cNvPr>
          <p:cNvPicPr>
            <a:picLocks noChangeAspect="1"/>
          </p:cNvPicPr>
          <p:nvPr/>
        </p:nvPicPr>
        <p:blipFill>
          <a:blip r:embed="rId4"/>
          <a:stretch>
            <a:fillRect/>
          </a:stretch>
        </p:blipFill>
        <p:spPr>
          <a:xfrm>
            <a:off x="341313" y="2453481"/>
            <a:ext cx="3409295" cy="3509964"/>
          </a:xfrm>
          <a:prstGeom prst="rect">
            <a:avLst/>
          </a:prstGeom>
        </p:spPr>
      </p:pic>
      <p:sp>
        <p:nvSpPr>
          <p:cNvPr id="7" name="TextBox 6">
            <a:extLst>
              <a:ext uri="{FF2B5EF4-FFF2-40B4-BE49-F238E27FC236}">
                <a16:creationId xmlns:a16="http://schemas.microsoft.com/office/drawing/2014/main" id="{F385AFC4-F44B-E590-1C8C-47F3E28F7847}"/>
              </a:ext>
            </a:extLst>
          </p:cNvPr>
          <p:cNvSpPr txBox="1"/>
          <p:nvPr/>
        </p:nvSpPr>
        <p:spPr>
          <a:xfrm>
            <a:off x="555224" y="1964012"/>
            <a:ext cx="3223959" cy="369332"/>
          </a:xfrm>
          <a:prstGeom prst="rect">
            <a:avLst/>
          </a:prstGeom>
          <a:noFill/>
        </p:spPr>
        <p:txBody>
          <a:bodyPr wrap="none" rtlCol="0">
            <a:spAutoFit/>
          </a:bodyPr>
          <a:lstStyle/>
          <a:p>
            <a:r>
              <a:rPr lang="en-US" dirty="0" err="1">
                <a:latin typeface="Anonymice Powerline" panose="02060609030202000504" pitchFamily="49" charset="0"/>
                <a:ea typeface="Anonymice Powerline" panose="02060609030202000504" pitchFamily="49" charset="0"/>
              </a:rPr>
              <a:t>ax.imshow</a:t>
            </a:r>
            <a:r>
              <a:rPr lang="en-US" dirty="0">
                <a:latin typeface="Anonymice Powerline" panose="02060609030202000504" pitchFamily="49" charset="0"/>
                <a:ea typeface="Anonymice Powerline" panose="02060609030202000504" pitchFamily="49" charset="0"/>
              </a:rPr>
              <a:t>(</a:t>
            </a:r>
            <a:r>
              <a:rPr lang="en-US" dirty="0" err="1">
                <a:latin typeface="Anonymice Powerline" panose="02060609030202000504" pitchFamily="49" charset="0"/>
                <a:ea typeface="Anonymice Powerline" panose="02060609030202000504" pitchFamily="49" charset="0"/>
              </a:rPr>
              <a:t>zoomed_region</a:t>
            </a:r>
            <a:r>
              <a:rPr lang="en-US" dirty="0">
                <a:latin typeface="Anonymice Powerline" panose="02060609030202000504" pitchFamily="49" charset="0"/>
                <a:ea typeface="Anonymice Powerline" panose="02060609030202000504" pitchFamily="49" charset="0"/>
              </a:rPr>
              <a:t>)</a:t>
            </a:r>
          </a:p>
        </p:txBody>
      </p:sp>
      <p:sp>
        <p:nvSpPr>
          <p:cNvPr id="8" name="TextBox 7">
            <a:extLst>
              <a:ext uri="{FF2B5EF4-FFF2-40B4-BE49-F238E27FC236}">
                <a16:creationId xmlns:a16="http://schemas.microsoft.com/office/drawing/2014/main" id="{7971178B-763E-88B6-8AF3-45CDFC3CE41B}"/>
              </a:ext>
            </a:extLst>
          </p:cNvPr>
          <p:cNvSpPr txBox="1"/>
          <p:nvPr/>
        </p:nvSpPr>
        <p:spPr>
          <a:xfrm>
            <a:off x="4336401" y="1812302"/>
            <a:ext cx="3113338" cy="646331"/>
          </a:xfrm>
          <a:prstGeom prst="rect">
            <a:avLst/>
          </a:prstGeom>
          <a:noFill/>
        </p:spPr>
        <p:txBody>
          <a:bodyPr wrap="square" rtlCol="0">
            <a:spAutoFit/>
          </a:bodyPr>
          <a:lstStyle/>
          <a:p>
            <a:r>
              <a:rPr lang="en-US" dirty="0" err="1">
                <a:latin typeface="Anonymice Powerline" panose="02060609030202000504" pitchFamily="49" charset="0"/>
                <a:ea typeface="Anonymice Powerline" panose="02060609030202000504" pitchFamily="49" charset="0"/>
              </a:rPr>
              <a:t>ax.imshow</a:t>
            </a:r>
            <a:r>
              <a:rPr lang="en-US" dirty="0">
                <a:latin typeface="Anonymice Powerline" panose="02060609030202000504" pitchFamily="49" charset="0"/>
                <a:ea typeface="Anonymice Powerline" panose="02060609030202000504" pitchFamily="49" charset="0"/>
              </a:rPr>
              <a:t>(</a:t>
            </a:r>
            <a:r>
              <a:rPr lang="en-US" dirty="0" err="1">
                <a:latin typeface="Anonymice Powerline" panose="02060609030202000504" pitchFamily="49" charset="0"/>
                <a:ea typeface="Anonymice Powerline" panose="02060609030202000504" pitchFamily="49" charset="0"/>
              </a:rPr>
              <a:t>zoomed_region</a:t>
            </a:r>
            <a:r>
              <a:rPr lang="en-US" dirty="0">
                <a:latin typeface="Anonymice Powerline" panose="02060609030202000504" pitchFamily="49" charset="0"/>
                <a:ea typeface="Anonymice Powerline" panose="02060609030202000504" pitchFamily="49" charset="0"/>
              </a:rPr>
              <a:t>[..., 0], </a:t>
            </a:r>
            <a:r>
              <a:rPr lang="en-US" dirty="0" err="1">
                <a:latin typeface="Anonymice Powerline" panose="02060609030202000504" pitchFamily="49" charset="0"/>
                <a:ea typeface="Anonymice Powerline" panose="02060609030202000504" pitchFamily="49" charset="0"/>
              </a:rPr>
              <a:t>cmap</a:t>
            </a:r>
            <a:r>
              <a:rPr lang="en-US" dirty="0">
                <a:latin typeface="Anonymice Powerline" panose="02060609030202000504" pitchFamily="49" charset="0"/>
                <a:ea typeface="Anonymice Powerline" panose="02060609030202000504" pitchFamily="49" charset="0"/>
              </a:rPr>
              <a:t>="Reds");</a:t>
            </a:r>
          </a:p>
        </p:txBody>
      </p:sp>
      <p:pic>
        <p:nvPicPr>
          <p:cNvPr id="10" name="Picture 9">
            <a:extLst>
              <a:ext uri="{FF2B5EF4-FFF2-40B4-BE49-F238E27FC236}">
                <a16:creationId xmlns:a16="http://schemas.microsoft.com/office/drawing/2014/main" id="{26D14502-6E81-9D32-B1E2-381F6D2FDA5C}"/>
              </a:ext>
            </a:extLst>
          </p:cNvPr>
          <p:cNvPicPr>
            <a:picLocks noChangeAspect="1"/>
          </p:cNvPicPr>
          <p:nvPr/>
        </p:nvPicPr>
        <p:blipFill>
          <a:blip r:embed="rId5"/>
          <a:stretch>
            <a:fillRect/>
          </a:stretch>
        </p:blipFill>
        <p:spPr>
          <a:xfrm>
            <a:off x="4038604" y="2426550"/>
            <a:ext cx="3409295" cy="3509963"/>
          </a:xfrm>
          <a:prstGeom prst="rect">
            <a:avLst/>
          </a:prstGeom>
        </p:spPr>
      </p:pic>
      <p:sp>
        <p:nvSpPr>
          <p:cNvPr id="11" name="TextBox 10">
            <a:extLst>
              <a:ext uri="{FF2B5EF4-FFF2-40B4-BE49-F238E27FC236}">
                <a16:creationId xmlns:a16="http://schemas.microsoft.com/office/drawing/2014/main" id="{92003A35-0ABD-1523-601A-E0ED5FB0CC20}"/>
              </a:ext>
            </a:extLst>
          </p:cNvPr>
          <p:cNvSpPr txBox="1"/>
          <p:nvPr/>
        </p:nvSpPr>
        <p:spPr>
          <a:xfrm>
            <a:off x="7987156" y="1747784"/>
            <a:ext cx="3113338" cy="646331"/>
          </a:xfrm>
          <a:prstGeom prst="rect">
            <a:avLst/>
          </a:prstGeom>
          <a:noFill/>
        </p:spPr>
        <p:txBody>
          <a:bodyPr wrap="square" rtlCol="0">
            <a:spAutoFit/>
          </a:bodyPr>
          <a:lstStyle/>
          <a:p>
            <a:r>
              <a:rPr lang="en-US" dirty="0" err="1">
                <a:latin typeface="Anonymice Powerline" panose="02060609030202000504" pitchFamily="49" charset="0"/>
                <a:ea typeface="Anonymice Powerline" panose="02060609030202000504" pitchFamily="49" charset="0"/>
              </a:rPr>
              <a:t>ax.imshow</a:t>
            </a:r>
            <a:r>
              <a:rPr lang="en-US" dirty="0">
                <a:latin typeface="Anonymice Powerline" panose="02060609030202000504" pitchFamily="49" charset="0"/>
                <a:ea typeface="Anonymice Powerline" panose="02060609030202000504" pitchFamily="49" charset="0"/>
              </a:rPr>
              <a:t>(</a:t>
            </a:r>
            <a:r>
              <a:rPr lang="en-US" dirty="0" err="1">
                <a:latin typeface="Anonymice Powerline" panose="02060609030202000504" pitchFamily="49" charset="0"/>
                <a:ea typeface="Anonymice Powerline" panose="02060609030202000504" pitchFamily="49" charset="0"/>
              </a:rPr>
              <a:t>zoomed_region</a:t>
            </a:r>
            <a:r>
              <a:rPr lang="en-US" dirty="0">
                <a:latin typeface="Anonymice Powerline" panose="02060609030202000504" pitchFamily="49" charset="0"/>
                <a:ea typeface="Anonymice Powerline" panose="02060609030202000504" pitchFamily="49" charset="0"/>
              </a:rPr>
              <a:t>[..., 1], </a:t>
            </a:r>
            <a:r>
              <a:rPr lang="en-US" dirty="0" err="1">
                <a:latin typeface="Anonymice Powerline" panose="02060609030202000504" pitchFamily="49" charset="0"/>
                <a:ea typeface="Anonymice Powerline" panose="02060609030202000504" pitchFamily="49" charset="0"/>
              </a:rPr>
              <a:t>cmap</a:t>
            </a:r>
            <a:r>
              <a:rPr lang="en-US" dirty="0">
                <a:latin typeface="Anonymice Powerline" panose="02060609030202000504" pitchFamily="49" charset="0"/>
                <a:ea typeface="Anonymice Powerline" panose="02060609030202000504" pitchFamily="49" charset="0"/>
              </a:rPr>
              <a:t>="Reds");</a:t>
            </a:r>
          </a:p>
        </p:txBody>
      </p:sp>
      <p:pic>
        <p:nvPicPr>
          <p:cNvPr id="13" name="Picture 12">
            <a:extLst>
              <a:ext uri="{FF2B5EF4-FFF2-40B4-BE49-F238E27FC236}">
                <a16:creationId xmlns:a16="http://schemas.microsoft.com/office/drawing/2014/main" id="{67D6FE5B-4C27-DD4B-8F06-0856BD2EE41F}"/>
              </a:ext>
            </a:extLst>
          </p:cNvPr>
          <p:cNvPicPr>
            <a:picLocks noChangeAspect="1"/>
          </p:cNvPicPr>
          <p:nvPr/>
        </p:nvPicPr>
        <p:blipFill>
          <a:blip r:embed="rId6"/>
          <a:stretch>
            <a:fillRect/>
          </a:stretch>
        </p:blipFill>
        <p:spPr>
          <a:xfrm>
            <a:off x="7731814" y="2372905"/>
            <a:ext cx="3409295" cy="3509963"/>
          </a:xfrm>
          <a:prstGeom prst="rect">
            <a:avLst/>
          </a:prstGeom>
        </p:spPr>
      </p:pic>
    </p:spTree>
    <p:extLst>
      <p:ext uri="{BB962C8B-B14F-4D97-AF65-F5344CB8AC3E}">
        <p14:creationId xmlns:p14="http://schemas.microsoft.com/office/powerpoint/2010/main" val="790773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98294-F0B1-2641-4834-0AB482DD5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1FEE6-6CFB-E0C8-E00E-C625532FFEE3}"/>
              </a:ext>
            </a:extLst>
          </p:cNvPr>
          <p:cNvSpPr>
            <a:spLocks noGrp="1"/>
          </p:cNvSpPr>
          <p:nvPr>
            <p:ph type="title"/>
          </p:nvPr>
        </p:nvSpPr>
        <p:spPr/>
        <p:txBody>
          <a:bodyPr/>
          <a:lstStyle/>
          <a:p>
            <a:r>
              <a:rPr lang="en-US" b="1" dirty="0"/>
              <a:t>Practical</a:t>
            </a:r>
          </a:p>
        </p:txBody>
      </p:sp>
      <p:sp>
        <p:nvSpPr>
          <p:cNvPr id="3" name="Content Placeholder 2">
            <a:extLst>
              <a:ext uri="{FF2B5EF4-FFF2-40B4-BE49-F238E27FC236}">
                <a16:creationId xmlns:a16="http://schemas.microsoft.com/office/drawing/2014/main" id="{AA63F545-CDD5-0BAE-27FD-0ABFDFD19FD5}"/>
              </a:ext>
            </a:extLst>
          </p:cNvPr>
          <p:cNvSpPr>
            <a:spLocks noGrp="1"/>
          </p:cNvSpPr>
          <p:nvPr>
            <p:ph idx="1"/>
          </p:nvPr>
        </p:nvSpPr>
        <p:spPr>
          <a:xfrm>
            <a:off x="3581400" y="894555"/>
            <a:ext cx="6477001" cy="495301"/>
          </a:xfrm>
        </p:spPr>
        <p:txBody>
          <a:bodyPr/>
          <a:lstStyle/>
          <a:p>
            <a:r>
              <a:rPr lang="en-US" sz="1800" dirty="0">
                <a:hlinkClick r:id="rId3"/>
              </a:rPr>
              <a:t>https://www.kaggle.com/code/zahidbd/lecture3-nb-2</a:t>
            </a:r>
            <a:endParaRPr lang="en-US" sz="1800" dirty="0"/>
          </a:p>
        </p:txBody>
      </p:sp>
      <p:pic>
        <p:nvPicPr>
          <p:cNvPr id="6" name="Picture 5">
            <a:extLst>
              <a:ext uri="{FF2B5EF4-FFF2-40B4-BE49-F238E27FC236}">
                <a16:creationId xmlns:a16="http://schemas.microsoft.com/office/drawing/2014/main" id="{D6F892C1-9F23-8F92-8FA0-1761114405D6}"/>
              </a:ext>
            </a:extLst>
          </p:cNvPr>
          <p:cNvPicPr>
            <a:picLocks noChangeAspect="1"/>
          </p:cNvPicPr>
          <p:nvPr/>
        </p:nvPicPr>
        <p:blipFill>
          <a:blip r:embed="rId4"/>
          <a:stretch>
            <a:fillRect/>
          </a:stretch>
        </p:blipFill>
        <p:spPr>
          <a:xfrm>
            <a:off x="341313" y="2453481"/>
            <a:ext cx="3409295" cy="3509964"/>
          </a:xfrm>
          <a:prstGeom prst="rect">
            <a:avLst/>
          </a:prstGeom>
        </p:spPr>
      </p:pic>
      <p:sp>
        <p:nvSpPr>
          <p:cNvPr id="7" name="TextBox 6">
            <a:extLst>
              <a:ext uri="{FF2B5EF4-FFF2-40B4-BE49-F238E27FC236}">
                <a16:creationId xmlns:a16="http://schemas.microsoft.com/office/drawing/2014/main" id="{ED9986D9-F28C-CAC2-16C6-25AFA9BA21FB}"/>
              </a:ext>
            </a:extLst>
          </p:cNvPr>
          <p:cNvSpPr txBox="1"/>
          <p:nvPr/>
        </p:nvSpPr>
        <p:spPr>
          <a:xfrm>
            <a:off x="555224" y="1964012"/>
            <a:ext cx="3223959" cy="369332"/>
          </a:xfrm>
          <a:prstGeom prst="rect">
            <a:avLst/>
          </a:prstGeom>
          <a:noFill/>
        </p:spPr>
        <p:txBody>
          <a:bodyPr wrap="none" rtlCol="0">
            <a:spAutoFit/>
          </a:bodyPr>
          <a:lstStyle/>
          <a:p>
            <a:r>
              <a:rPr lang="en-US" dirty="0" err="1">
                <a:latin typeface="Anonymice Powerline" panose="02060609030202000504" pitchFamily="49" charset="0"/>
                <a:ea typeface="Anonymice Powerline" panose="02060609030202000504" pitchFamily="49" charset="0"/>
              </a:rPr>
              <a:t>ax.imshow</a:t>
            </a:r>
            <a:r>
              <a:rPr lang="en-US" dirty="0">
                <a:latin typeface="Anonymice Powerline" panose="02060609030202000504" pitchFamily="49" charset="0"/>
                <a:ea typeface="Anonymice Powerline" panose="02060609030202000504" pitchFamily="49" charset="0"/>
              </a:rPr>
              <a:t>(</a:t>
            </a:r>
            <a:r>
              <a:rPr lang="en-US" dirty="0" err="1">
                <a:latin typeface="Anonymice Powerline" panose="02060609030202000504" pitchFamily="49" charset="0"/>
                <a:ea typeface="Anonymice Powerline" panose="02060609030202000504" pitchFamily="49" charset="0"/>
              </a:rPr>
              <a:t>zoomed_region</a:t>
            </a:r>
            <a:r>
              <a:rPr lang="en-US" dirty="0">
                <a:latin typeface="Anonymice Powerline" panose="02060609030202000504" pitchFamily="49" charset="0"/>
                <a:ea typeface="Anonymice Powerline" panose="02060609030202000504" pitchFamily="49" charset="0"/>
              </a:rPr>
              <a:t>)</a:t>
            </a:r>
          </a:p>
        </p:txBody>
      </p:sp>
      <p:sp>
        <p:nvSpPr>
          <p:cNvPr id="8" name="TextBox 7">
            <a:extLst>
              <a:ext uri="{FF2B5EF4-FFF2-40B4-BE49-F238E27FC236}">
                <a16:creationId xmlns:a16="http://schemas.microsoft.com/office/drawing/2014/main" id="{6BD2DC7A-12F4-4F40-09D5-E655678703DE}"/>
              </a:ext>
            </a:extLst>
          </p:cNvPr>
          <p:cNvSpPr txBox="1"/>
          <p:nvPr/>
        </p:nvSpPr>
        <p:spPr>
          <a:xfrm>
            <a:off x="4379265" y="1798014"/>
            <a:ext cx="3113338" cy="646331"/>
          </a:xfrm>
          <a:prstGeom prst="rect">
            <a:avLst/>
          </a:prstGeom>
          <a:noFill/>
        </p:spPr>
        <p:txBody>
          <a:bodyPr wrap="square" rtlCol="0">
            <a:spAutoFit/>
          </a:bodyPr>
          <a:lstStyle/>
          <a:p>
            <a:r>
              <a:rPr lang="en-US" dirty="0" err="1">
                <a:latin typeface="Anonymice Powerline" panose="02060609030202000504" pitchFamily="49" charset="0"/>
                <a:ea typeface="Anonymice Powerline" panose="02060609030202000504" pitchFamily="49" charset="0"/>
              </a:rPr>
              <a:t>ax.imshow</a:t>
            </a:r>
            <a:r>
              <a:rPr lang="en-US" dirty="0">
                <a:latin typeface="Anonymice Powerline" panose="02060609030202000504" pitchFamily="49" charset="0"/>
                <a:ea typeface="Anonymice Powerline" panose="02060609030202000504" pitchFamily="49" charset="0"/>
              </a:rPr>
              <a:t>(</a:t>
            </a:r>
            <a:r>
              <a:rPr lang="en-US" dirty="0" err="1">
                <a:latin typeface="Anonymice Powerline" panose="02060609030202000504" pitchFamily="49" charset="0"/>
                <a:ea typeface="Anonymice Powerline" panose="02060609030202000504" pitchFamily="49" charset="0"/>
              </a:rPr>
              <a:t>zoomed_region</a:t>
            </a:r>
            <a:r>
              <a:rPr lang="en-US" dirty="0">
                <a:latin typeface="Anonymice Powerline" panose="02060609030202000504" pitchFamily="49" charset="0"/>
                <a:ea typeface="Anonymice Powerline" panose="02060609030202000504" pitchFamily="49" charset="0"/>
              </a:rPr>
              <a:t>[..., 0], </a:t>
            </a:r>
            <a:r>
              <a:rPr lang="en-US" dirty="0" err="1">
                <a:latin typeface="Anonymice Powerline" panose="02060609030202000504" pitchFamily="49" charset="0"/>
                <a:ea typeface="Anonymice Powerline" panose="02060609030202000504" pitchFamily="49" charset="0"/>
              </a:rPr>
              <a:t>cmap</a:t>
            </a:r>
            <a:r>
              <a:rPr lang="en-US" dirty="0">
                <a:latin typeface="Anonymice Powerline" panose="02060609030202000504" pitchFamily="49" charset="0"/>
                <a:ea typeface="Anonymice Powerline" panose="02060609030202000504" pitchFamily="49" charset="0"/>
              </a:rPr>
              <a:t>="Reds");</a:t>
            </a:r>
          </a:p>
        </p:txBody>
      </p:sp>
      <p:pic>
        <p:nvPicPr>
          <p:cNvPr id="10" name="Picture 9">
            <a:extLst>
              <a:ext uri="{FF2B5EF4-FFF2-40B4-BE49-F238E27FC236}">
                <a16:creationId xmlns:a16="http://schemas.microsoft.com/office/drawing/2014/main" id="{05F58FE9-60FE-5A00-D2ED-146B4ECE041D}"/>
              </a:ext>
            </a:extLst>
          </p:cNvPr>
          <p:cNvPicPr>
            <a:picLocks noChangeAspect="1"/>
          </p:cNvPicPr>
          <p:nvPr/>
        </p:nvPicPr>
        <p:blipFill>
          <a:blip r:embed="rId5"/>
          <a:stretch>
            <a:fillRect/>
          </a:stretch>
        </p:blipFill>
        <p:spPr>
          <a:xfrm>
            <a:off x="4124332" y="2426550"/>
            <a:ext cx="3409295" cy="3509963"/>
          </a:xfrm>
          <a:prstGeom prst="rect">
            <a:avLst/>
          </a:prstGeom>
        </p:spPr>
      </p:pic>
      <p:sp>
        <p:nvSpPr>
          <p:cNvPr id="11" name="TextBox 10">
            <a:extLst>
              <a:ext uri="{FF2B5EF4-FFF2-40B4-BE49-F238E27FC236}">
                <a16:creationId xmlns:a16="http://schemas.microsoft.com/office/drawing/2014/main" id="{6DE6BE31-7D4C-3DAC-5AA7-7FF132EAA238}"/>
              </a:ext>
            </a:extLst>
          </p:cNvPr>
          <p:cNvSpPr txBox="1"/>
          <p:nvPr/>
        </p:nvSpPr>
        <p:spPr>
          <a:xfrm>
            <a:off x="7987155" y="1747784"/>
            <a:ext cx="3366645" cy="646331"/>
          </a:xfrm>
          <a:prstGeom prst="rect">
            <a:avLst/>
          </a:prstGeom>
          <a:noFill/>
        </p:spPr>
        <p:txBody>
          <a:bodyPr wrap="square" rtlCol="0">
            <a:spAutoFit/>
          </a:bodyPr>
          <a:lstStyle/>
          <a:p>
            <a:r>
              <a:rPr lang="en-US" dirty="0" err="1">
                <a:latin typeface="Anonymice Powerline" panose="02060609030202000504" pitchFamily="49" charset="0"/>
                <a:ea typeface="Anonymice Powerline" panose="02060609030202000504" pitchFamily="49" charset="0"/>
              </a:rPr>
              <a:t>ax.imshow</a:t>
            </a:r>
            <a:r>
              <a:rPr lang="en-US" dirty="0">
                <a:latin typeface="Anonymice Powerline" panose="02060609030202000504" pitchFamily="49" charset="0"/>
                <a:ea typeface="Anonymice Powerline" panose="02060609030202000504" pitchFamily="49" charset="0"/>
              </a:rPr>
              <a:t>(</a:t>
            </a:r>
            <a:r>
              <a:rPr lang="en-US" dirty="0" err="1">
                <a:latin typeface="Anonymice Powerline" panose="02060609030202000504" pitchFamily="49" charset="0"/>
                <a:ea typeface="Anonymice Powerline" panose="02060609030202000504" pitchFamily="49" charset="0"/>
              </a:rPr>
              <a:t>zoomed_region</a:t>
            </a:r>
            <a:r>
              <a:rPr lang="en-US" dirty="0">
                <a:latin typeface="Anonymice Powerline" panose="02060609030202000504" pitchFamily="49" charset="0"/>
                <a:ea typeface="Anonymice Powerline" panose="02060609030202000504" pitchFamily="49" charset="0"/>
              </a:rPr>
              <a:t>[..., 1], </a:t>
            </a:r>
            <a:r>
              <a:rPr lang="en-US" dirty="0" err="1">
                <a:latin typeface="Anonymice Powerline" panose="02060609030202000504" pitchFamily="49" charset="0"/>
                <a:ea typeface="Anonymice Powerline" panose="02060609030202000504" pitchFamily="49" charset="0"/>
              </a:rPr>
              <a:t>cmap</a:t>
            </a:r>
            <a:r>
              <a:rPr lang="en-US" dirty="0">
                <a:latin typeface="Anonymice Powerline" panose="02060609030202000504" pitchFamily="49" charset="0"/>
                <a:ea typeface="Anonymice Powerline" panose="02060609030202000504" pitchFamily="49" charset="0"/>
              </a:rPr>
              <a:t>="Greens");</a:t>
            </a:r>
          </a:p>
        </p:txBody>
      </p:sp>
      <p:pic>
        <p:nvPicPr>
          <p:cNvPr id="5" name="Picture 4">
            <a:extLst>
              <a:ext uri="{FF2B5EF4-FFF2-40B4-BE49-F238E27FC236}">
                <a16:creationId xmlns:a16="http://schemas.microsoft.com/office/drawing/2014/main" id="{50CDAFD5-6C7A-0C46-8421-FECC701E2A42}"/>
              </a:ext>
            </a:extLst>
          </p:cNvPr>
          <p:cNvPicPr>
            <a:picLocks noChangeAspect="1"/>
          </p:cNvPicPr>
          <p:nvPr/>
        </p:nvPicPr>
        <p:blipFill>
          <a:blip r:embed="rId6"/>
          <a:stretch>
            <a:fillRect/>
          </a:stretch>
        </p:blipFill>
        <p:spPr>
          <a:xfrm>
            <a:off x="7766145" y="2362085"/>
            <a:ext cx="3409295" cy="3509964"/>
          </a:xfrm>
          <a:prstGeom prst="rect">
            <a:avLst/>
          </a:prstGeom>
        </p:spPr>
      </p:pic>
    </p:spTree>
    <p:extLst>
      <p:ext uri="{BB962C8B-B14F-4D97-AF65-F5344CB8AC3E}">
        <p14:creationId xmlns:p14="http://schemas.microsoft.com/office/powerpoint/2010/main" val="4275105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02A9D-0D5E-4F2D-CA5C-85B9958A5DCA}"/>
              </a:ext>
            </a:extLst>
          </p:cNvPr>
          <p:cNvSpPr>
            <a:spLocks noGrp="1"/>
          </p:cNvSpPr>
          <p:nvPr>
            <p:ph type="title"/>
          </p:nvPr>
        </p:nvSpPr>
        <p:spPr/>
        <p:txBody>
          <a:bodyPr/>
          <a:lstStyle/>
          <a:p>
            <a:r>
              <a:rPr lang="en-US" b="1" dirty="0"/>
              <a:t>Image storage</a:t>
            </a:r>
          </a:p>
        </p:txBody>
      </p:sp>
      <p:sp>
        <p:nvSpPr>
          <p:cNvPr id="3" name="Content Placeholder 2">
            <a:extLst>
              <a:ext uri="{FF2B5EF4-FFF2-40B4-BE49-F238E27FC236}">
                <a16:creationId xmlns:a16="http://schemas.microsoft.com/office/drawing/2014/main" id="{23CDE2B0-3D6A-A6AA-C9D0-01E40800EDBD}"/>
              </a:ext>
            </a:extLst>
          </p:cNvPr>
          <p:cNvSpPr>
            <a:spLocks noGrp="1"/>
          </p:cNvSpPr>
          <p:nvPr>
            <p:ph idx="1"/>
          </p:nvPr>
        </p:nvSpPr>
        <p:spPr/>
        <p:txBody>
          <a:bodyPr/>
          <a:lstStyle/>
          <a:p>
            <a:r>
              <a:rPr lang="en-US" dirty="0"/>
              <a:t>Less concerning now – due to the innovation of cheap storage technologies. </a:t>
            </a:r>
          </a:p>
          <a:p>
            <a:r>
              <a:rPr lang="en-US" dirty="0"/>
              <a:t>Most cameras now produce JPEG images by default. </a:t>
            </a:r>
          </a:p>
        </p:txBody>
      </p:sp>
    </p:spTree>
    <p:extLst>
      <p:ext uri="{BB962C8B-B14F-4D97-AF65-F5344CB8AC3E}">
        <p14:creationId xmlns:p14="http://schemas.microsoft.com/office/powerpoint/2010/main" val="3570924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8EF99-E042-07B0-48C3-2E491AE8B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6D546-2A7C-C80F-D3E3-82DF24F557EE}"/>
              </a:ext>
            </a:extLst>
          </p:cNvPr>
          <p:cNvSpPr>
            <a:spLocks noGrp="1"/>
          </p:cNvSpPr>
          <p:nvPr>
            <p:ph type="title"/>
          </p:nvPr>
        </p:nvSpPr>
        <p:spPr/>
        <p:txBody>
          <a:bodyPr/>
          <a:lstStyle/>
          <a:p>
            <a:r>
              <a:rPr lang="en-US" b="1" dirty="0"/>
              <a:t>Going from RAW images to JPEG</a:t>
            </a:r>
          </a:p>
        </p:txBody>
      </p:sp>
      <p:grpSp>
        <p:nvGrpSpPr>
          <p:cNvPr id="9" name="Group 8">
            <a:extLst>
              <a:ext uri="{FF2B5EF4-FFF2-40B4-BE49-F238E27FC236}">
                <a16:creationId xmlns:a16="http://schemas.microsoft.com/office/drawing/2014/main" id="{65ACBE15-166C-906E-7B8F-6218270E8E07}"/>
              </a:ext>
            </a:extLst>
          </p:cNvPr>
          <p:cNvGrpSpPr/>
          <p:nvPr/>
        </p:nvGrpSpPr>
        <p:grpSpPr>
          <a:xfrm>
            <a:off x="3543300" y="1846262"/>
            <a:ext cx="7600950" cy="4268787"/>
            <a:chOff x="2428875" y="1874837"/>
            <a:chExt cx="7600950" cy="4268787"/>
          </a:xfrm>
        </p:grpSpPr>
        <p:pic>
          <p:nvPicPr>
            <p:cNvPr id="6" name="Picture 5">
              <a:extLst>
                <a:ext uri="{FF2B5EF4-FFF2-40B4-BE49-F238E27FC236}">
                  <a16:creationId xmlns:a16="http://schemas.microsoft.com/office/drawing/2014/main" id="{E6170A00-F4A8-F627-9DC1-5CE7E83F5EEE}"/>
                </a:ext>
              </a:extLst>
            </p:cNvPr>
            <p:cNvPicPr>
              <a:picLocks noChangeAspect="1"/>
            </p:cNvPicPr>
            <p:nvPr/>
          </p:nvPicPr>
          <p:blipFill>
            <a:blip r:embed="rId3"/>
            <a:stretch>
              <a:fillRect/>
            </a:stretch>
          </p:blipFill>
          <p:spPr>
            <a:xfrm>
              <a:off x="2428875" y="1874837"/>
              <a:ext cx="7105190" cy="4268787"/>
            </a:xfrm>
            <a:prstGeom prst="rect">
              <a:avLst/>
            </a:prstGeom>
          </p:spPr>
        </p:pic>
        <p:sp>
          <p:nvSpPr>
            <p:cNvPr id="7" name="Rectangle 6">
              <a:extLst>
                <a:ext uri="{FF2B5EF4-FFF2-40B4-BE49-F238E27FC236}">
                  <a16:creationId xmlns:a16="http://schemas.microsoft.com/office/drawing/2014/main" id="{17BB9756-890D-370A-9EA5-5121967B56D6}"/>
                </a:ext>
              </a:extLst>
            </p:cNvPr>
            <p:cNvSpPr/>
            <p:nvPr/>
          </p:nvSpPr>
          <p:spPr>
            <a:xfrm>
              <a:off x="4843463" y="1874837"/>
              <a:ext cx="4690602" cy="22685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7817CF1-EE70-912D-FD66-08BA081AAA4A}"/>
                </a:ext>
              </a:extLst>
            </p:cNvPr>
            <p:cNvSpPr/>
            <p:nvPr/>
          </p:nvSpPr>
          <p:spPr>
            <a:xfrm>
              <a:off x="7188764" y="3429000"/>
              <a:ext cx="2841061"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93675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D334B-6AF9-1E5E-D525-A52B0CC89281}"/>
              </a:ext>
            </a:extLst>
          </p:cNvPr>
          <p:cNvSpPr>
            <a:spLocks noGrp="1"/>
          </p:cNvSpPr>
          <p:nvPr>
            <p:ph type="title"/>
          </p:nvPr>
        </p:nvSpPr>
        <p:spPr>
          <a:xfrm>
            <a:off x="838200" y="171704"/>
            <a:ext cx="10515600" cy="1325563"/>
          </a:xfrm>
        </p:spPr>
        <p:txBody>
          <a:bodyPr/>
          <a:lstStyle/>
          <a:p>
            <a:r>
              <a:rPr lang="en-US" b="1" dirty="0"/>
              <a:t>Step 1: transform</a:t>
            </a:r>
          </a:p>
        </p:txBody>
      </p:sp>
      <p:sp>
        <p:nvSpPr>
          <p:cNvPr id="3" name="Content Placeholder 2">
            <a:extLst>
              <a:ext uri="{FF2B5EF4-FFF2-40B4-BE49-F238E27FC236}">
                <a16:creationId xmlns:a16="http://schemas.microsoft.com/office/drawing/2014/main" id="{49E8397F-BB08-BD9B-D6F2-0D98A4645EB4}"/>
              </a:ext>
            </a:extLst>
          </p:cNvPr>
          <p:cNvSpPr>
            <a:spLocks noGrp="1"/>
          </p:cNvSpPr>
          <p:nvPr>
            <p:ph idx="1"/>
          </p:nvPr>
        </p:nvSpPr>
        <p:spPr>
          <a:xfrm>
            <a:off x="570314" y="1371337"/>
            <a:ext cx="7622381" cy="1943363"/>
          </a:xfrm>
        </p:spPr>
        <p:txBody>
          <a:bodyPr>
            <a:normAutofit lnSpcReduction="10000"/>
          </a:bodyPr>
          <a:lstStyle/>
          <a:p>
            <a:r>
              <a:rPr lang="en-AU" dirty="0"/>
              <a:t>First, we transform the image into luminance (Y) chrominance(</a:t>
            </a:r>
            <a:r>
              <a:rPr lang="en-AU" dirty="0" err="1"/>
              <a:t>CbCr</a:t>
            </a:r>
            <a:r>
              <a:rPr lang="en-AU" dirty="0"/>
              <a:t>) </a:t>
            </a:r>
            <a:r>
              <a:rPr lang="en-AU" dirty="0" err="1"/>
              <a:t>YCbCr</a:t>
            </a:r>
            <a:r>
              <a:rPr lang="en-AU" dirty="0"/>
              <a:t> image.</a:t>
            </a:r>
          </a:p>
          <a:p>
            <a:pPr lvl="1"/>
            <a:r>
              <a:rPr lang="en-AU" dirty="0"/>
              <a:t>Y: Luminance (Brightness)</a:t>
            </a:r>
          </a:p>
          <a:p>
            <a:pPr lvl="1"/>
            <a:r>
              <a:rPr lang="en-AU" dirty="0" err="1"/>
              <a:t>Cb</a:t>
            </a:r>
            <a:r>
              <a:rPr lang="en-AU" dirty="0"/>
              <a:t>: Chrominance (Blue </a:t>
            </a:r>
            <a:r>
              <a:rPr lang="en-AU" dirty="0" err="1"/>
              <a:t>color</a:t>
            </a:r>
            <a:r>
              <a:rPr lang="en-AU" dirty="0"/>
              <a:t> difference)</a:t>
            </a:r>
          </a:p>
          <a:p>
            <a:pPr lvl="1"/>
            <a:r>
              <a:rPr lang="en-AU" dirty="0"/>
              <a:t>Cr: Chrominance (Red </a:t>
            </a:r>
            <a:r>
              <a:rPr lang="en-AU" dirty="0" err="1"/>
              <a:t>color</a:t>
            </a:r>
            <a:r>
              <a:rPr lang="en-AU" dirty="0"/>
              <a:t> difference)</a:t>
            </a:r>
          </a:p>
          <a:p>
            <a:endParaRPr lang="en-AU" dirty="0"/>
          </a:p>
        </p:txBody>
      </p:sp>
      <p:pic>
        <p:nvPicPr>
          <p:cNvPr id="4" name="Picture 3">
            <a:extLst>
              <a:ext uri="{FF2B5EF4-FFF2-40B4-BE49-F238E27FC236}">
                <a16:creationId xmlns:a16="http://schemas.microsoft.com/office/drawing/2014/main" id="{1C2E3D9D-2A4F-5831-6918-BA3567FABC9C}"/>
              </a:ext>
            </a:extLst>
          </p:cNvPr>
          <p:cNvPicPr>
            <a:picLocks noChangeAspect="1"/>
          </p:cNvPicPr>
          <p:nvPr/>
        </p:nvPicPr>
        <p:blipFill>
          <a:blip r:embed="rId3"/>
          <a:stretch>
            <a:fillRect/>
          </a:stretch>
        </p:blipFill>
        <p:spPr>
          <a:xfrm>
            <a:off x="9491662" y="365125"/>
            <a:ext cx="2047875" cy="1525013"/>
          </a:xfrm>
          <a:prstGeom prst="rect">
            <a:avLst/>
          </a:prstGeom>
        </p:spPr>
      </p:pic>
      <p:pic>
        <p:nvPicPr>
          <p:cNvPr id="6" name="Picture 5">
            <a:extLst>
              <a:ext uri="{FF2B5EF4-FFF2-40B4-BE49-F238E27FC236}">
                <a16:creationId xmlns:a16="http://schemas.microsoft.com/office/drawing/2014/main" id="{1B4B8879-892D-9E87-498C-FCF41157CE1C}"/>
              </a:ext>
            </a:extLst>
          </p:cNvPr>
          <p:cNvPicPr>
            <a:picLocks noChangeAspect="1"/>
          </p:cNvPicPr>
          <p:nvPr/>
        </p:nvPicPr>
        <p:blipFill>
          <a:blip r:embed="rId4"/>
          <a:stretch>
            <a:fillRect/>
          </a:stretch>
        </p:blipFill>
        <p:spPr>
          <a:xfrm>
            <a:off x="9491662" y="2183876"/>
            <a:ext cx="2047875" cy="4502420"/>
          </a:xfrm>
          <a:prstGeom prst="rect">
            <a:avLst/>
          </a:prstGeom>
        </p:spPr>
      </p:pic>
      <p:sp>
        <p:nvSpPr>
          <p:cNvPr id="7" name="TextBox 6">
            <a:extLst>
              <a:ext uri="{FF2B5EF4-FFF2-40B4-BE49-F238E27FC236}">
                <a16:creationId xmlns:a16="http://schemas.microsoft.com/office/drawing/2014/main" id="{AD290994-7E90-7BA6-83F9-E9B5F3CFF087}"/>
              </a:ext>
            </a:extLst>
          </p:cNvPr>
          <p:cNvSpPr txBox="1"/>
          <p:nvPr/>
        </p:nvSpPr>
        <p:spPr>
          <a:xfrm>
            <a:off x="584596" y="3429000"/>
            <a:ext cx="8573691" cy="2862322"/>
          </a:xfrm>
          <a:prstGeom prst="rect">
            <a:avLst/>
          </a:prstGeom>
          <a:noFill/>
        </p:spPr>
        <p:txBody>
          <a:bodyPr wrap="square" rtlCol="0">
            <a:spAutoFit/>
          </a:bodyPr>
          <a:lstStyle/>
          <a:p>
            <a:pPr marL="285750" lvl="0" indent="-285750">
              <a:buFont typeface="Arial" panose="020B0604020202020204" pitchFamily="34" charset="0"/>
              <a:buChar char="•"/>
            </a:pPr>
            <a:r>
              <a:rPr lang="en-AU" sz="2000" dirty="0"/>
              <a:t>The RGB channels are highly correlated. We don't want to compress on highly correlated channels – if we introduce an imperfection in one channel and it's going to magnify the imperfection</a:t>
            </a:r>
          </a:p>
          <a:p>
            <a:pPr marL="285750" lvl="0" indent="-285750">
              <a:buFont typeface="Arial" panose="020B0604020202020204" pitchFamily="34" charset="0"/>
              <a:buChar char="•"/>
            </a:pPr>
            <a:r>
              <a:rPr lang="en-AU" sz="2000" dirty="0"/>
              <a:t>By converting to luminance and chrominance channels, we de couple the channels a bit. </a:t>
            </a:r>
          </a:p>
          <a:p>
            <a:pPr marL="285750" lvl="0" indent="-285750">
              <a:buFont typeface="Arial" panose="020B0604020202020204" pitchFamily="34" charset="0"/>
              <a:buChar char="•"/>
            </a:pPr>
            <a:endParaRPr lang="en-AU" sz="2000" dirty="0"/>
          </a:p>
          <a:p>
            <a:pPr marL="285750" lvl="0" indent="-285750">
              <a:buFont typeface="Arial" panose="020B0604020202020204" pitchFamily="34" charset="0"/>
              <a:buChar char="•"/>
            </a:pPr>
            <a:r>
              <a:rPr lang="en-AU" sz="2000" dirty="0"/>
              <a:t>Human eyes are very sensitive to brightness (Y), but not very sensitive to exact </a:t>
            </a:r>
            <a:r>
              <a:rPr lang="en-AU" sz="2000" dirty="0" err="1"/>
              <a:t>color</a:t>
            </a:r>
            <a:r>
              <a:rPr lang="en-AU" sz="2000" dirty="0"/>
              <a:t> details (</a:t>
            </a:r>
            <a:r>
              <a:rPr lang="en-AU" sz="2000" dirty="0" err="1"/>
              <a:t>Cb</a:t>
            </a:r>
            <a:r>
              <a:rPr lang="en-AU" sz="2000" dirty="0"/>
              <a:t> and Cr). Separating them allows us to compress the </a:t>
            </a:r>
            <a:r>
              <a:rPr lang="en-AU" sz="2000" dirty="0" err="1"/>
              <a:t>color</a:t>
            </a:r>
            <a:r>
              <a:rPr lang="en-AU" sz="2000" dirty="0"/>
              <a:t> data more aggressively.</a:t>
            </a:r>
          </a:p>
        </p:txBody>
      </p:sp>
    </p:spTree>
    <p:extLst>
      <p:ext uri="{BB962C8B-B14F-4D97-AF65-F5344CB8AC3E}">
        <p14:creationId xmlns:p14="http://schemas.microsoft.com/office/powerpoint/2010/main" val="2104116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019FB-8216-AB68-59CA-969F678C5852}"/>
              </a:ext>
            </a:extLst>
          </p:cNvPr>
          <p:cNvSpPr>
            <a:spLocks noGrp="1"/>
          </p:cNvSpPr>
          <p:nvPr>
            <p:ph type="title"/>
          </p:nvPr>
        </p:nvSpPr>
        <p:spPr/>
        <p:txBody>
          <a:bodyPr/>
          <a:lstStyle/>
          <a:p>
            <a:r>
              <a:rPr lang="en-US" b="1" dirty="0"/>
              <a:t>Step 2: Down sampling</a:t>
            </a:r>
          </a:p>
        </p:txBody>
      </p:sp>
      <p:sp>
        <p:nvSpPr>
          <p:cNvPr id="3" name="Content Placeholder 2">
            <a:extLst>
              <a:ext uri="{FF2B5EF4-FFF2-40B4-BE49-F238E27FC236}">
                <a16:creationId xmlns:a16="http://schemas.microsoft.com/office/drawing/2014/main" id="{A420274F-2F90-4F50-8314-293EA34CB97C}"/>
              </a:ext>
            </a:extLst>
          </p:cNvPr>
          <p:cNvSpPr>
            <a:spLocks noGrp="1"/>
          </p:cNvSpPr>
          <p:nvPr>
            <p:ph idx="1"/>
          </p:nvPr>
        </p:nvSpPr>
        <p:spPr>
          <a:xfrm>
            <a:off x="838199" y="1825625"/>
            <a:ext cx="10977563" cy="4667250"/>
          </a:xfrm>
        </p:spPr>
        <p:txBody>
          <a:bodyPr>
            <a:normAutofit/>
          </a:bodyPr>
          <a:lstStyle/>
          <a:p>
            <a:r>
              <a:rPr lang="en-AU" dirty="0"/>
              <a:t>Optionally down sample the </a:t>
            </a:r>
            <a:r>
              <a:rPr lang="en-AU" dirty="0" err="1"/>
              <a:t>Cb</a:t>
            </a:r>
            <a:r>
              <a:rPr lang="en-AU" dirty="0"/>
              <a:t> and Cr channels. This step exploits human vision weaknesses.</a:t>
            </a:r>
          </a:p>
          <a:p>
            <a:pPr lvl="0"/>
            <a:r>
              <a:rPr lang="en-AU" dirty="0"/>
              <a:t>We keep all the Luminance (Y) data.</a:t>
            </a:r>
          </a:p>
          <a:p>
            <a:pPr lvl="0"/>
            <a:r>
              <a:rPr lang="en-AU" dirty="0"/>
              <a:t>We throw away a lot of the Chrominance (</a:t>
            </a:r>
            <a:r>
              <a:rPr lang="en-AU" dirty="0" err="1"/>
              <a:t>Cb</a:t>
            </a:r>
            <a:r>
              <a:rPr lang="en-AU" dirty="0"/>
              <a:t>, Cr) data.</a:t>
            </a:r>
          </a:p>
          <a:p>
            <a:pPr lvl="0"/>
            <a:r>
              <a:rPr lang="en-AU" dirty="0"/>
              <a:t>Result: Instantly cuts the data size in with almost zero visible difference.</a:t>
            </a:r>
          </a:p>
          <a:p>
            <a:r>
              <a:rPr lang="en-AU" dirty="0"/>
              <a:t>These changes may not matter to our visual system, but they may matter for the CV systems. </a:t>
            </a:r>
          </a:p>
          <a:p>
            <a:r>
              <a:rPr lang="en-AU" dirty="0"/>
              <a:t>However, JPEG was not made for CV, it was meant for human viz system. </a:t>
            </a:r>
          </a:p>
          <a:p>
            <a:endParaRPr lang="en-US" dirty="0"/>
          </a:p>
        </p:txBody>
      </p:sp>
    </p:spTree>
    <p:extLst>
      <p:ext uri="{BB962C8B-B14F-4D97-AF65-F5344CB8AC3E}">
        <p14:creationId xmlns:p14="http://schemas.microsoft.com/office/powerpoint/2010/main" val="4181336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E5D05-A889-75B9-942B-207C97A99D89}"/>
              </a:ext>
            </a:extLst>
          </p:cNvPr>
          <p:cNvSpPr>
            <a:spLocks noGrp="1"/>
          </p:cNvSpPr>
          <p:nvPr>
            <p:ph type="title"/>
          </p:nvPr>
        </p:nvSpPr>
        <p:spPr/>
        <p:txBody>
          <a:bodyPr/>
          <a:lstStyle/>
          <a:p>
            <a:r>
              <a:rPr lang="en-US" b="1" dirty="0"/>
              <a:t>Step 3: DCT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EF20CC-FB8E-8752-FFAB-5EC0D6AE4468}"/>
                  </a:ext>
                </a:extLst>
              </p:cNvPr>
              <p:cNvSpPr>
                <a:spLocks noGrp="1"/>
              </p:cNvSpPr>
              <p:nvPr>
                <p:ph idx="1"/>
              </p:nvPr>
            </p:nvSpPr>
            <p:spPr/>
            <p:txBody>
              <a:bodyPr>
                <a:normAutofit fontScale="92500" lnSpcReduction="10000"/>
              </a:bodyPr>
              <a:lstStyle/>
              <a:p>
                <a:r>
                  <a:rPr lang="en-AU" dirty="0"/>
                  <a:t>Partition the image into non-overlapping </a:t>
                </a:r>
                <a14:m>
                  <m:oMath xmlns:m="http://schemas.openxmlformats.org/officeDocument/2006/math">
                    <m:r>
                      <a:rPr lang="en-AU" i="1" dirty="0" smtClean="0">
                        <a:latin typeface="Cambria Math" panose="02040503050406030204" pitchFamily="18" charset="0"/>
                      </a:rPr>
                      <m:t>8×</m:t>
                    </m:r>
                    <m:r>
                      <a:rPr lang="en-AU" i="1" dirty="0" smtClean="0">
                        <a:latin typeface="Cambria Math" panose="02040503050406030204" pitchFamily="18" charset="0"/>
                      </a:rPr>
                      <m:t>8 </m:t>
                    </m:r>
                  </m:oMath>
                </a14:m>
                <a:r>
                  <a:rPr lang="en-AU" dirty="0"/>
                  <a:t>pixel blocks. (the blocking artifacts are coming from these)</a:t>
                </a:r>
              </a:p>
              <a:p>
                <a:pPr lvl="0"/>
                <a:r>
                  <a:rPr lang="en-AU" dirty="0"/>
                  <a:t>The image is broken down into tiny 8x8 blocks of pixels.</a:t>
                </a:r>
              </a:p>
              <a:p>
                <a:r>
                  <a:rPr lang="en-AU" dirty="0"/>
                  <a:t>The DCT mathematically converts the pixels from </a:t>
                </a:r>
                <a:r>
                  <a:rPr lang="en-AU" i="1" dirty="0"/>
                  <a:t>spatial data</a:t>
                </a:r>
                <a:r>
                  <a:rPr lang="en-AU" dirty="0"/>
                  <a:t> (</a:t>
                </a:r>
                <a:r>
                  <a:rPr lang="en-AU" dirty="0" err="1"/>
                  <a:t>colors</a:t>
                </a:r>
                <a:r>
                  <a:rPr lang="en-AU" dirty="0"/>
                  <a:t> in a grid) into </a:t>
                </a:r>
                <a:r>
                  <a:rPr lang="en-AU" i="1" dirty="0"/>
                  <a:t>frequency data</a:t>
                </a:r>
                <a:r>
                  <a:rPr lang="en-AU" dirty="0"/>
                  <a:t> (waves). In a luminance or a chroma channel. </a:t>
                </a:r>
              </a:p>
              <a:p>
                <a:pPr lvl="0"/>
                <a:r>
                  <a:rPr lang="en-AU" dirty="0"/>
                  <a:t>Low frequencies: Gradual, smooth changes in the image (like a clear blue sky).</a:t>
                </a:r>
              </a:p>
              <a:p>
                <a:pPr lvl="0"/>
                <a:r>
                  <a:rPr lang="en-AU" dirty="0"/>
                  <a:t>High frequencies: Sharp, rapid changes (like edges, textures, or fine details).</a:t>
                </a:r>
              </a:p>
              <a:p>
                <a:pPr lvl="0"/>
                <a:r>
                  <a:rPr lang="en-AU" i="1" dirty="0"/>
                  <a:t>Note: This step is completely lossless; it just changes how the data is represented.</a:t>
                </a:r>
                <a:endParaRPr lang="en-AU" dirty="0"/>
              </a:p>
              <a:p>
                <a:endParaRPr lang="en-US" dirty="0"/>
              </a:p>
            </p:txBody>
          </p:sp>
        </mc:Choice>
        <mc:Fallback xmlns="">
          <p:sp>
            <p:nvSpPr>
              <p:cNvPr id="3" name="Content Placeholder 2">
                <a:extLst>
                  <a:ext uri="{FF2B5EF4-FFF2-40B4-BE49-F238E27FC236}">
                    <a16:creationId xmlns:a16="http://schemas.microsoft.com/office/drawing/2014/main" id="{80EF20CC-FB8E-8752-FFAB-5EC0D6AE4468}"/>
                  </a:ext>
                </a:extLst>
              </p:cNvPr>
              <p:cNvSpPr>
                <a:spLocks noGrp="1" noRot="1" noChangeAspect="1" noMove="1" noResize="1" noEditPoints="1" noAdjustHandles="1" noChangeArrowheads="1" noChangeShapeType="1" noTextEdit="1"/>
              </p:cNvSpPr>
              <p:nvPr>
                <p:ph idx="1"/>
              </p:nvPr>
            </p:nvSpPr>
            <p:spPr>
              <a:blipFill>
                <a:blip r:embed="rId3"/>
                <a:stretch>
                  <a:fillRect l="-965" t="-2616" b="-581"/>
                </a:stretch>
              </a:blipFill>
            </p:spPr>
            <p:txBody>
              <a:bodyPr/>
              <a:lstStyle/>
              <a:p>
                <a:r>
                  <a:rPr lang="en-US">
                    <a:noFill/>
                  </a:rPr>
                  <a:t> </a:t>
                </a:r>
              </a:p>
            </p:txBody>
          </p:sp>
        </mc:Fallback>
      </mc:AlternateContent>
    </p:spTree>
    <p:extLst>
      <p:ext uri="{BB962C8B-B14F-4D97-AF65-F5344CB8AC3E}">
        <p14:creationId xmlns:p14="http://schemas.microsoft.com/office/powerpoint/2010/main" val="1232311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EB08D-F3DE-5914-DE66-4CB009948F86}"/>
              </a:ext>
            </a:extLst>
          </p:cNvPr>
          <p:cNvSpPr>
            <a:spLocks noGrp="1"/>
          </p:cNvSpPr>
          <p:nvPr>
            <p:ph type="title"/>
          </p:nvPr>
        </p:nvSpPr>
        <p:spPr>
          <a:xfrm>
            <a:off x="303796" y="50800"/>
            <a:ext cx="6850062" cy="1325563"/>
          </a:xfrm>
        </p:spPr>
        <p:txBody>
          <a:bodyPr/>
          <a:lstStyle/>
          <a:p>
            <a:r>
              <a:rPr lang="en-US" b="1" dirty="0"/>
              <a:t>Step 3: DCT</a:t>
            </a:r>
            <a:endParaRPr lang="en-US" dirty="0"/>
          </a:p>
        </p:txBody>
      </p:sp>
      <p:pic>
        <p:nvPicPr>
          <p:cNvPr id="5" name="Content Placeholder 4">
            <a:extLst>
              <a:ext uri="{FF2B5EF4-FFF2-40B4-BE49-F238E27FC236}">
                <a16:creationId xmlns:a16="http://schemas.microsoft.com/office/drawing/2014/main" id="{4A3E5827-6B85-79EF-028A-F1C286349D4B}"/>
              </a:ext>
            </a:extLst>
          </p:cNvPr>
          <p:cNvPicPr>
            <a:picLocks noGrp="1" noChangeAspect="1"/>
          </p:cNvPicPr>
          <p:nvPr>
            <p:ph idx="1"/>
          </p:nvPr>
        </p:nvPicPr>
        <p:blipFill>
          <a:blip r:embed="rId3"/>
          <a:stretch>
            <a:fillRect/>
          </a:stretch>
        </p:blipFill>
        <p:spPr>
          <a:xfrm>
            <a:off x="7945437" y="2692400"/>
            <a:ext cx="3987800" cy="3987800"/>
          </a:xfrm>
          <a:prstGeom prst="rect">
            <a:avLst/>
          </a:prstGeom>
        </p:spPr>
      </p:pic>
      <p:pic>
        <p:nvPicPr>
          <p:cNvPr id="8" name="Picture 7">
            <a:extLst>
              <a:ext uri="{FF2B5EF4-FFF2-40B4-BE49-F238E27FC236}">
                <a16:creationId xmlns:a16="http://schemas.microsoft.com/office/drawing/2014/main" id="{84CB3D49-2F1E-1F9D-75E0-0E68FEE8A31C}"/>
              </a:ext>
            </a:extLst>
          </p:cNvPr>
          <p:cNvPicPr>
            <a:picLocks noChangeAspect="1"/>
          </p:cNvPicPr>
          <p:nvPr/>
        </p:nvPicPr>
        <p:blipFill>
          <a:blip r:embed="rId4"/>
          <a:stretch>
            <a:fillRect/>
          </a:stretch>
        </p:blipFill>
        <p:spPr>
          <a:xfrm>
            <a:off x="456990" y="1376363"/>
            <a:ext cx="5651923" cy="1778001"/>
          </a:xfrm>
          <a:prstGeom prst="rect">
            <a:avLst/>
          </a:prstGeom>
        </p:spPr>
      </p:pic>
      <p:pic>
        <p:nvPicPr>
          <p:cNvPr id="9" name="Picture 8">
            <a:extLst>
              <a:ext uri="{FF2B5EF4-FFF2-40B4-BE49-F238E27FC236}">
                <a16:creationId xmlns:a16="http://schemas.microsoft.com/office/drawing/2014/main" id="{168C989F-5E44-4CE7-0495-A48F584D180D}"/>
              </a:ext>
            </a:extLst>
          </p:cNvPr>
          <p:cNvPicPr>
            <a:picLocks noChangeAspect="1"/>
          </p:cNvPicPr>
          <p:nvPr/>
        </p:nvPicPr>
        <p:blipFill>
          <a:blip r:embed="rId5"/>
          <a:stretch>
            <a:fillRect/>
          </a:stretch>
        </p:blipFill>
        <p:spPr>
          <a:xfrm>
            <a:off x="8909049" y="177800"/>
            <a:ext cx="2060575" cy="2200275"/>
          </a:xfrm>
          <a:prstGeom prst="rect">
            <a:avLst/>
          </a:prstGeom>
        </p:spPr>
      </p:pic>
      <p:sp>
        <p:nvSpPr>
          <p:cNvPr id="10" name="TextBox 9">
            <a:extLst>
              <a:ext uri="{FF2B5EF4-FFF2-40B4-BE49-F238E27FC236}">
                <a16:creationId xmlns:a16="http://schemas.microsoft.com/office/drawing/2014/main" id="{F939E48C-46E1-4DEB-9ECE-E52605B2909E}"/>
              </a:ext>
            </a:extLst>
          </p:cNvPr>
          <p:cNvSpPr txBox="1"/>
          <p:nvPr/>
        </p:nvSpPr>
        <p:spPr>
          <a:xfrm>
            <a:off x="456990" y="3154364"/>
            <a:ext cx="6543675" cy="1938992"/>
          </a:xfrm>
          <a:prstGeom prst="rect">
            <a:avLst/>
          </a:prstGeom>
          <a:noFill/>
        </p:spPr>
        <p:txBody>
          <a:bodyPr wrap="square" rtlCol="0">
            <a:spAutoFit/>
          </a:bodyPr>
          <a:lstStyle/>
          <a:p>
            <a:pPr marL="285750" lvl="0" indent="-285750">
              <a:buFont typeface="Arial" panose="020B0604020202020204" pitchFamily="34" charset="0"/>
              <a:buChar char="•"/>
            </a:pPr>
            <a:r>
              <a:rPr lang="en-AU" sz="2400" dirty="0"/>
              <a:t>Every 8x8 block of your image is made up of a combination of these 64 patterns.</a:t>
            </a:r>
          </a:p>
          <a:p>
            <a:pPr marL="285750" lvl="0" indent="-285750">
              <a:buFont typeface="Arial" panose="020B0604020202020204" pitchFamily="34" charset="0"/>
              <a:buChar char="•"/>
            </a:pPr>
            <a:r>
              <a:rPr lang="en-AU" sz="2400" dirty="0"/>
              <a:t>Top-left corner = Low frequency (flat or smooth).</a:t>
            </a:r>
          </a:p>
          <a:p>
            <a:pPr marL="285750" lvl="0" indent="-285750">
              <a:buFont typeface="Arial" panose="020B0604020202020204" pitchFamily="34" charset="0"/>
              <a:buChar char="•"/>
            </a:pPr>
            <a:r>
              <a:rPr lang="en-AU" sz="2400" dirty="0"/>
              <a:t>Bottom-right corner = High frequency (highly detailed).</a:t>
            </a:r>
          </a:p>
        </p:txBody>
      </p:sp>
      <p:sp>
        <p:nvSpPr>
          <p:cNvPr id="12" name="TextBox 11">
            <a:extLst>
              <a:ext uri="{FF2B5EF4-FFF2-40B4-BE49-F238E27FC236}">
                <a16:creationId xmlns:a16="http://schemas.microsoft.com/office/drawing/2014/main" id="{FDAA5706-ADE6-580D-F662-F86E1E94FD1C}"/>
              </a:ext>
            </a:extLst>
          </p:cNvPr>
          <p:cNvSpPr txBox="1"/>
          <p:nvPr/>
        </p:nvSpPr>
        <p:spPr>
          <a:xfrm>
            <a:off x="701373" y="5048984"/>
            <a:ext cx="7090382" cy="1631216"/>
          </a:xfrm>
          <a:prstGeom prst="rect">
            <a:avLst/>
          </a:prstGeom>
          <a:noFill/>
        </p:spPr>
        <p:txBody>
          <a:bodyPr wrap="square">
            <a:spAutoFit/>
          </a:bodyPr>
          <a:lstStyle/>
          <a:p>
            <a:pPr>
              <a:buNone/>
            </a:pPr>
            <a:r>
              <a:rPr lang="en-AU" sz="2000" dirty="0">
                <a:solidFill>
                  <a:srgbClr val="FF0000"/>
                </a:solidFill>
              </a:rPr>
              <a:t>The human visual system is more sensitive to these low frequencies than we the high frequencies. </a:t>
            </a:r>
          </a:p>
          <a:p>
            <a:pPr>
              <a:buNone/>
            </a:pPr>
            <a:r>
              <a:rPr lang="en-AU" sz="2000" dirty="0">
                <a:solidFill>
                  <a:srgbClr val="FF0000"/>
                </a:solidFill>
              </a:rPr>
              <a:t>Consequence: we can throw more away information corresponding to the high frequency values then to the low frequency values. </a:t>
            </a:r>
          </a:p>
        </p:txBody>
      </p:sp>
    </p:spTree>
    <p:extLst>
      <p:ext uri="{BB962C8B-B14F-4D97-AF65-F5344CB8AC3E}">
        <p14:creationId xmlns:p14="http://schemas.microsoft.com/office/powerpoint/2010/main" val="3967683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AD212-77A9-A2FE-C55E-2542F64DD329}"/>
              </a:ext>
            </a:extLst>
          </p:cNvPr>
          <p:cNvSpPr>
            <a:spLocks noGrp="1"/>
          </p:cNvSpPr>
          <p:nvPr>
            <p:ph type="title"/>
          </p:nvPr>
        </p:nvSpPr>
        <p:spPr/>
        <p:txBody>
          <a:bodyPr/>
          <a:lstStyle/>
          <a:p>
            <a:r>
              <a:rPr lang="en-US" b="1" dirty="0"/>
              <a:t>Problem</a:t>
            </a:r>
            <a:endParaRPr lang="en-US" dirty="0"/>
          </a:p>
        </p:txBody>
      </p:sp>
      <p:sp>
        <p:nvSpPr>
          <p:cNvPr id="3" name="Content Placeholder 2">
            <a:extLst>
              <a:ext uri="{FF2B5EF4-FFF2-40B4-BE49-F238E27FC236}">
                <a16:creationId xmlns:a16="http://schemas.microsoft.com/office/drawing/2014/main" id="{68375658-13B4-BC2D-B9DA-88C598F614D8}"/>
              </a:ext>
            </a:extLst>
          </p:cNvPr>
          <p:cNvSpPr>
            <a:spLocks noGrp="1"/>
          </p:cNvSpPr>
          <p:nvPr>
            <p:ph idx="1"/>
          </p:nvPr>
        </p:nvSpPr>
        <p:spPr/>
        <p:txBody>
          <a:bodyPr/>
          <a:lstStyle/>
          <a:p>
            <a:r>
              <a:rPr lang="en-AU" dirty="0"/>
              <a:t>We've gone from RGB to luminance Chrominance (step 1). </a:t>
            </a:r>
          </a:p>
          <a:p>
            <a:pPr lvl="1"/>
            <a:r>
              <a:rPr lang="en-AU" dirty="0"/>
              <a:t>Integer to integer conversion</a:t>
            </a:r>
          </a:p>
          <a:p>
            <a:r>
              <a:rPr lang="en-AU" dirty="0"/>
              <a:t>In step 3, we've gone from integer values now to floating point values</a:t>
            </a:r>
          </a:p>
          <a:p>
            <a:pPr lvl="1"/>
            <a:r>
              <a:rPr lang="en-AU" dirty="0"/>
              <a:t>from a compression perspective it is a very bad idea.</a:t>
            </a:r>
          </a:p>
          <a:p>
            <a:r>
              <a:rPr lang="en-AU" dirty="0"/>
              <a:t>Where we are going to get me savings so the DCT does nothing to save you memory but this step the quantization does. </a:t>
            </a:r>
          </a:p>
          <a:p>
            <a:endParaRPr lang="en-US" dirty="0"/>
          </a:p>
        </p:txBody>
      </p:sp>
    </p:spTree>
    <p:extLst>
      <p:ext uri="{BB962C8B-B14F-4D97-AF65-F5344CB8AC3E}">
        <p14:creationId xmlns:p14="http://schemas.microsoft.com/office/powerpoint/2010/main" val="2479481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8EB0A-EB84-3ECF-CC9E-0C2FEB040B59}"/>
              </a:ext>
            </a:extLst>
          </p:cNvPr>
          <p:cNvSpPr>
            <a:spLocks noGrp="1"/>
          </p:cNvSpPr>
          <p:nvPr>
            <p:ph type="title"/>
          </p:nvPr>
        </p:nvSpPr>
        <p:spPr>
          <a:xfrm>
            <a:off x="838200" y="365125"/>
            <a:ext cx="10515600" cy="777875"/>
          </a:xfrm>
        </p:spPr>
        <p:txBody>
          <a:bodyPr/>
          <a:lstStyle/>
          <a:p>
            <a:r>
              <a:rPr lang="en-US" b="1" dirty="0"/>
              <a:t>Step 4: Quantization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19851C-3ACF-F045-F9C8-10593CB7439A}"/>
                  </a:ext>
                </a:extLst>
              </p:cNvPr>
              <p:cNvSpPr>
                <a:spLocks noGrp="1"/>
              </p:cNvSpPr>
              <p:nvPr>
                <p:ph idx="1"/>
              </p:nvPr>
            </p:nvSpPr>
            <p:spPr>
              <a:xfrm>
                <a:off x="838200" y="1343025"/>
                <a:ext cx="10515600" cy="1885950"/>
              </a:xfrm>
            </p:spPr>
            <p:txBody>
              <a:bodyPr/>
              <a:lstStyle/>
              <a:p>
                <a14:m>
                  <m:oMath xmlns:m="http://schemas.openxmlformats.org/officeDocument/2006/math">
                    <m:sSub>
                      <m:sSubPr>
                        <m:ctrlPr>
                          <a:rPr lang="en-AU" b="0" i="1" smtClean="0">
                            <a:latin typeface="Cambria Math" panose="02040503050406030204" pitchFamily="18" charset="0"/>
                          </a:rPr>
                        </m:ctrlPr>
                      </m:sSubPr>
                      <m:e>
                        <m:acc>
                          <m:accPr>
                            <m:chr m:val="̂"/>
                            <m:ctrlPr>
                              <a:rPr lang="en-AU" b="0" i="1" smtClean="0">
                                <a:latin typeface="Cambria Math" panose="02040503050406030204" pitchFamily="18" charset="0"/>
                              </a:rPr>
                            </m:ctrlPr>
                          </m:accPr>
                          <m:e>
                            <m:r>
                              <a:rPr lang="en-AU" b="0" i="1" smtClean="0">
                                <a:latin typeface="Cambria Math" panose="02040503050406030204" pitchFamily="18" charset="0"/>
                              </a:rPr>
                              <m:t>𝐹</m:t>
                            </m:r>
                          </m:e>
                        </m:acc>
                      </m:e>
                      <m:sub>
                        <m:r>
                          <a:rPr lang="en-AU" b="0" i="1" smtClean="0">
                            <a:latin typeface="Cambria Math" panose="02040503050406030204" pitchFamily="18" charset="0"/>
                          </a:rPr>
                          <m:t>𝑐</m:t>
                        </m:r>
                      </m:sub>
                    </m:sSub>
                    <m:d>
                      <m:dPr>
                        <m:ctrlPr>
                          <a:rPr lang="en-AU" b="0" i="1" smtClean="0">
                            <a:latin typeface="Cambria Math" panose="02040503050406030204" pitchFamily="18" charset="0"/>
                          </a:rPr>
                        </m:ctrlPr>
                      </m:dPr>
                      <m:e>
                        <m:r>
                          <a:rPr lang="en-AU" b="0" i="1" smtClean="0">
                            <a:latin typeface="Cambria Math" panose="02040503050406030204" pitchFamily="18" charset="0"/>
                          </a:rPr>
                          <m:t>𝑢</m:t>
                        </m:r>
                        <m:r>
                          <a:rPr lang="en-AU" b="0" i="1" smtClean="0">
                            <a:latin typeface="Cambria Math" panose="02040503050406030204" pitchFamily="18" charset="0"/>
                          </a:rPr>
                          <m:t>,</m:t>
                        </m:r>
                        <m:r>
                          <a:rPr lang="en-AU" b="0" i="1" smtClean="0">
                            <a:latin typeface="Cambria Math" panose="02040503050406030204" pitchFamily="18" charset="0"/>
                          </a:rPr>
                          <m:t>𝑣</m:t>
                        </m:r>
                      </m:e>
                    </m:d>
                    <m:r>
                      <a:rPr lang="en-AU" b="0" i="1" smtClean="0">
                        <a:latin typeface="Cambria Math" panose="02040503050406030204" pitchFamily="18" charset="0"/>
                      </a:rPr>
                      <m:t>=</m:t>
                    </m:r>
                    <m:d>
                      <m:dPr>
                        <m:begChr m:val="⌊"/>
                        <m:endChr m:val="⌋"/>
                        <m:ctrlPr>
                          <a:rPr lang="en-AU" b="0" i="1" smtClean="0">
                            <a:latin typeface="Cambria Math" panose="02040503050406030204" pitchFamily="18" charset="0"/>
                          </a:rPr>
                        </m:ctrlPr>
                      </m:dPr>
                      <m:e>
                        <m:f>
                          <m:fPr>
                            <m:ctrlPr>
                              <a:rPr lang="en-AU" b="0" i="1" smtClean="0">
                                <a:latin typeface="Cambria Math" panose="02040503050406030204" pitchFamily="18" charset="0"/>
                              </a:rPr>
                            </m:ctrlPr>
                          </m:fPr>
                          <m:num>
                            <m:sSub>
                              <m:sSubPr>
                                <m:ctrlPr>
                                  <a:rPr lang="en-AU" b="0" i="1" smtClean="0">
                                    <a:latin typeface="Cambria Math" panose="02040503050406030204" pitchFamily="18" charset="0"/>
                                  </a:rPr>
                                </m:ctrlPr>
                              </m:sSubPr>
                              <m:e>
                                <m:r>
                                  <a:rPr lang="en-AU" b="0" i="1" smtClean="0">
                                    <a:latin typeface="Cambria Math" panose="02040503050406030204" pitchFamily="18" charset="0"/>
                                  </a:rPr>
                                  <m:t>𝐹</m:t>
                                </m:r>
                              </m:e>
                              <m:sub>
                                <m:r>
                                  <a:rPr lang="en-AU" b="0" i="1" smtClean="0">
                                    <a:latin typeface="Cambria Math" panose="02040503050406030204" pitchFamily="18" charset="0"/>
                                  </a:rPr>
                                  <m:t>𝑐</m:t>
                                </m:r>
                              </m:sub>
                            </m:sSub>
                            <m:r>
                              <a:rPr lang="en-AU" b="0" i="1" smtClean="0">
                                <a:latin typeface="Cambria Math" panose="02040503050406030204" pitchFamily="18" charset="0"/>
                              </a:rPr>
                              <m:t>(</m:t>
                            </m:r>
                            <m:r>
                              <a:rPr lang="en-AU" b="0" i="1" smtClean="0">
                                <a:latin typeface="Cambria Math" panose="02040503050406030204" pitchFamily="18" charset="0"/>
                              </a:rPr>
                              <m:t>𝑢</m:t>
                            </m:r>
                            <m:r>
                              <a:rPr lang="en-AU" b="0" i="1" smtClean="0">
                                <a:latin typeface="Cambria Math" panose="02040503050406030204" pitchFamily="18" charset="0"/>
                              </a:rPr>
                              <m:t>,</m:t>
                            </m:r>
                            <m:r>
                              <a:rPr lang="en-AU" b="0" i="1" smtClean="0">
                                <a:latin typeface="Cambria Math" panose="02040503050406030204" pitchFamily="18" charset="0"/>
                              </a:rPr>
                              <m:t>𝑣</m:t>
                            </m:r>
                            <m:r>
                              <a:rPr lang="en-AU" b="0" i="1" smtClean="0">
                                <a:latin typeface="Cambria Math" panose="02040503050406030204" pitchFamily="18" charset="0"/>
                              </a:rPr>
                              <m:t>)</m:t>
                            </m:r>
                          </m:num>
                          <m:den>
                            <m:sSub>
                              <m:sSubPr>
                                <m:ctrlPr>
                                  <a:rPr lang="en-AU" b="0" i="1" smtClean="0">
                                    <a:latin typeface="Cambria Math" panose="02040503050406030204" pitchFamily="18" charset="0"/>
                                  </a:rPr>
                                </m:ctrlPr>
                              </m:sSubPr>
                              <m:e>
                                <m:r>
                                  <a:rPr lang="en-AU" b="0" i="1" smtClean="0">
                                    <a:latin typeface="Cambria Math" panose="02040503050406030204" pitchFamily="18" charset="0"/>
                                  </a:rPr>
                                  <m:t>𝑞</m:t>
                                </m:r>
                              </m:e>
                              <m:sub>
                                <m:r>
                                  <a:rPr lang="en-AU" b="0" i="1" smtClean="0">
                                    <a:latin typeface="Cambria Math" panose="02040503050406030204" pitchFamily="18" charset="0"/>
                                  </a:rPr>
                                  <m:t>𝑐</m:t>
                                </m:r>
                              </m:sub>
                            </m:sSub>
                            <m:r>
                              <a:rPr lang="en-AU" b="0" i="1" smtClean="0">
                                <a:latin typeface="Cambria Math" panose="02040503050406030204" pitchFamily="18" charset="0"/>
                              </a:rPr>
                              <m:t>(</m:t>
                            </m:r>
                            <m:r>
                              <a:rPr lang="en-AU" b="0" i="1" smtClean="0">
                                <a:latin typeface="Cambria Math" panose="02040503050406030204" pitchFamily="18" charset="0"/>
                              </a:rPr>
                              <m:t>𝑢</m:t>
                            </m:r>
                            <m:r>
                              <a:rPr lang="en-AU" b="0" i="1" smtClean="0">
                                <a:latin typeface="Cambria Math" panose="02040503050406030204" pitchFamily="18" charset="0"/>
                              </a:rPr>
                              <m:t>,</m:t>
                            </m:r>
                            <m:r>
                              <a:rPr lang="en-AU" b="0" i="1" smtClean="0">
                                <a:latin typeface="Cambria Math" panose="02040503050406030204" pitchFamily="18" charset="0"/>
                              </a:rPr>
                              <m:t>𝑣</m:t>
                            </m:r>
                            <m:r>
                              <a:rPr lang="en-AU" b="0" i="1" smtClean="0">
                                <a:latin typeface="Cambria Math" panose="02040503050406030204" pitchFamily="18" charset="0"/>
                              </a:rPr>
                              <m:t>)</m:t>
                            </m:r>
                          </m:den>
                        </m:f>
                      </m:e>
                    </m:d>
                  </m:oMath>
                </a14:m>
                <a:endParaRPr lang="en-US" dirty="0"/>
              </a:p>
              <a:p>
                <a:r>
                  <a:rPr lang="en-AU" dirty="0"/>
                  <a:t>Divide it by </a:t>
                </a:r>
                <a14:m>
                  <m:oMath xmlns:m="http://schemas.openxmlformats.org/officeDocument/2006/math">
                    <m:sSub>
                      <m:sSubPr>
                        <m:ctrlPr>
                          <a:rPr lang="en-AU" i="1" dirty="0" err="1" smtClean="0">
                            <a:latin typeface="Cambria Math" panose="02040503050406030204" pitchFamily="18" charset="0"/>
                          </a:rPr>
                        </m:ctrlPr>
                      </m:sSubPr>
                      <m:e>
                        <m:r>
                          <a:rPr lang="en-AU" i="1" dirty="0" err="1" smtClean="0">
                            <a:latin typeface="Cambria Math" panose="02040503050406030204" pitchFamily="18" charset="0"/>
                          </a:rPr>
                          <m:t>𝑞</m:t>
                        </m:r>
                      </m:e>
                      <m:sub>
                        <m:r>
                          <a:rPr lang="en-AU" i="1" dirty="0" err="1">
                            <a:latin typeface="Cambria Math" panose="02040503050406030204" pitchFamily="18" charset="0"/>
                          </a:rPr>
                          <m:t>𝑐</m:t>
                        </m:r>
                      </m:sub>
                    </m:sSub>
                    <m:r>
                      <a:rPr lang="en-AU" i="1" dirty="0">
                        <a:latin typeface="Cambria Math" panose="02040503050406030204" pitchFamily="18" charset="0"/>
                      </a:rPr>
                      <m:t>(</m:t>
                    </m:r>
                    <m:r>
                      <a:rPr lang="en-AU" i="1" dirty="0" err="1">
                        <a:latin typeface="Cambria Math" panose="02040503050406030204" pitchFamily="18" charset="0"/>
                      </a:rPr>
                      <m:t>𝑢</m:t>
                    </m:r>
                    <m:r>
                      <a:rPr lang="en-AU" i="1" dirty="0" err="1">
                        <a:latin typeface="Cambria Math" panose="02040503050406030204" pitchFamily="18" charset="0"/>
                      </a:rPr>
                      <m:t>,</m:t>
                    </m:r>
                    <m:r>
                      <a:rPr lang="en-AU" i="1" dirty="0" err="1">
                        <a:latin typeface="Cambria Math" panose="02040503050406030204" pitchFamily="18" charset="0"/>
                      </a:rPr>
                      <m:t>𝑣</m:t>
                    </m:r>
                    <m:r>
                      <a:rPr lang="en-AU" i="1" dirty="0" smtClean="0">
                        <a:latin typeface="Cambria Math" panose="02040503050406030204" pitchFamily="18" charset="0"/>
                      </a:rPr>
                      <m:t>)</m:t>
                    </m:r>
                  </m:oMath>
                </a14:m>
                <a:r>
                  <a:rPr lang="en-AU" dirty="0"/>
                  <a:t>  and then take the floor around it. </a:t>
                </a:r>
              </a:p>
              <a:p>
                <a:r>
                  <a:rPr lang="en-AU" dirty="0"/>
                  <a:t>We get the real compression in this quantization step.</a:t>
                </a:r>
              </a:p>
              <a:p>
                <a:endParaRPr lang="en-US" dirty="0"/>
              </a:p>
            </p:txBody>
          </p:sp>
        </mc:Choice>
        <mc:Fallback xmlns="">
          <p:sp>
            <p:nvSpPr>
              <p:cNvPr id="3" name="Content Placeholder 2">
                <a:extLst>
                  <a:ext uri="{FF2B5EF4-FFF2-40B4-BE49-F238E27FC236}">
                    <a16:creationId xmlns:a16="http://schemas.microsoft.com/office/drawing/2014/main" id="{C019851C-3ACF-F045-F9C8-10593CB7439A}"/>
                  </a:ext>
                </a:extLst>
              </p:cNvPr>
              <p:cNvSpPr>
                <a:spLocks noGrp="1" noRot="1" noChangeAspect="1" noMove="1" noResize="1" noEditPoints="1" noAdjustHandles="1" noChangeArrowheads="1" noChangeShapeType="1" noTextEdit="1"/>
              </p:cNvSpPr>
              <p:nvPr>
                <p:ph idx="1"/>
              </p:nvPr>
            </p:nvSpPr>
            <p:spPr>
              <a:xfrm>
                <a:off x="838200" y="1343025"/>
                <a:ext cx="10515600" cy="1885950"/>
              </a:xfrm>
              <a:blipFill>
                <a:blip r:embed="rId3"/>
                <a:stretch>
                  <a:fillRect l="-1086"/>
                </a:stretch>
              </a:blipFill>
            </p:spPr>
            <p:txBody>
              <a:bodyPr/>
              <a:lstStyle/>
              <a:p>
                <a:r>
                  <a:rPr lang="en-US">
                    <a:noFill/>
                  </a:rPr>
                  <a:t> </a:t>
                </a:r>
              </a:p>
            </p:txBody>
          </p:sp>
        </mc:Fallback>
      </mc:AlternateContent>
      <p:pic>
        <p:nvPicPr>
          <p:cNvPr id="6" name="Picture 5" descr="Computation of the quantized DCT coefficients. | Download Scientific Diagram">
            <a:extLst>
              <a:ext uri="{FF2B5EF4-FFF2-40B4-BE49-F238E27FC236}">
                <a16:creationId xmlns:a16="http://schemas.microsoft.com/office/drawing/2014/main" id="{EEC86A2C-4BC4-8112-E661-EA7C45984829}"/>
              </a:ext>
            </a:extLst>
          </p:cNvPr>
          <p:cNvPicPr>
            <a:picLocks noChangeAspect="1"/>
          </p:cNvPicPr>
          <p:nvPr/>
        </p:nvPicPr>
        <p:blipFill>
          <a:blip r:embed="rId4"/>
          <a:stretch>
            <a:fillRect/>
          </a:stretch>
        </p:blipFill>
        <p:spPr>
          <a:xfrm>
            <a:off x="652464" y="3000375"/>
            <a:ext cx="10314980" cy="3298699"/>
          </a:xfrm>
          <a:prstGeom prst="rect">
            <a:avLst/>
          </a:prstGeom>
        </p:spPr>
      </p:pic>
    </p:spTree>
    <p:extLst>
      <p:ext uri="{BB962C8B-B14F-4D97-AF65-F5344CB8AC3E}">
        <p14:creationId xmlns:p14="http://schemas.microsoft.com/office/powerpoint/2010/main" val="2085880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2FC03-771E-0A82-E691-8C237DA880F3}"/>
              </a:ext>
            </a:extLst>
          </p:cNvPr>
          <p:cNvSpPr>
            <a:spLocks noGrp="1"/>
          </p:cNvSpPr>
          <p:nvPr>
            <p:ph type="title"/>
          </p:nvPr>
        </p:nvSpPr>
        <p:spPr/>
        <p:txBody>
          <a:bodyPr/>
          <a:lstStyle/>
          <a:p>
            <a:r>
              <a:rPr lang="en-US" b="1" dirty="0"/>
              <a:t>Quantization</a:t>
            </a:r>
          </a:p>
        </p:txBody>
      </p:sp>
      <p:sp>
        <p:nvSpPr>
          <p:cNvPr id="7" name="Content Placeholder 6">
            <a:extLst>
              <a:ext uri="{FF2B5EF4-FFF2-40B4-BE49-F238E27FC236}">
                <a16:creationId xmlns:a16="http://schemas.microsoft.com/office/drawing/2014/main" id="{3D9BA019-B8F6-1DE2-2439-A8217698C88D}"/>
              </a:ext>
            </a:extLst>
          </p:cNvPr>
          <p:cNvSpPr>
            <a:spLocks noGrp="1"/>
          </p:cNvSpPr>
          <p:nvPr>
            <p:ph idx="1"/>
          </p:nvPr>
        </p:nvSpPr>
        <p:spPr>
          <a:xfrm>
            <a:off x="838200" y="1825625"/>
            <a:ext cx="9648825" cy="4351338"/>
          </a:xfrm>
        </p:spPr>
        <p:txBody>
          <a:bodyPr/>
          <a:lstStyle/>
          <a:p>
            <a:r>
              <a:rPr lang="en-AU" dirty="0"/>
              <a:t>Notice we have a lot of 0 and that's because – we a quantize by dividing a big number in the high frequency channel. </a:t>
            </a:r>
          </a:p>
          <a:p>
            <a:r>
              <a:rPr lang="en-AU" dirty="0"/>
              <a:t>If we divide by 10 for example and then take the floor everything between 0, and 1, 9 is going to be 0. </a:t>
            </a:r>
          </a:p>
          <a:p>
            <a:r>
              <a:rPr lang="en-AU" dirty="0"/>
              <a:t>Up top are low frequencies - notice that we don't really want to quantize so much because we really care about these values. </a:t>
            </a:r>
          </a:p>
          <a:p>
            <a:endParaRPr lang="en-US" dirty="0"/>
          </a:p>
        </p:txBody>
      </p:sp>
    </p:spTree>
    <p:extLst>
      <p:ext uri="{BB962C8B-B14F-4D97-AF65-F5344CB8AC3E}">
        <p14:creationId xmlns:p14="http://schemas.microsoft.com/office/powerpoint/2010/main" val="3938643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C3F2F-DDBC-F747-9243-581207EB8F1B}"/>
              </a:ext>
            </a:extLst>
          </p:cNvPr>
          <p:cNvSpPr>
            <a:spLocks noGrp="1"/>
          </p:cNvSpPr>
          <p:nvPr>
            <p:ph type="title"/>
          </p:nvPr>
        </p:nvSpPr>
        <p:spPr/>
        <p:txBody>
          <a:bodyPr/>
          <a:lstStyle/>
          <a:p>
            <a:r>
              <a:rPr lang="en-US" b="1" dirty="0"/>
              <a:t>Step 5: Encoding</a:t>
            </a:r>
            <a:endParaRPr lang="en-US" dirty="0"/>
          </a:p>
        </p:txBody>
      </p:sp>
      <p:sp>
        <p:nvSpPr>
          <p:cNvPr id="3" name="Content Placeholder 2">
            <a:extLst>
              <a:ext uri="{FF2B5EF4-FFF2-40B4-BE49-F238E27FC236}">
                <a16:creationId xmlns:a16="http://schemas.microsoft.com/office/drawing/2014/main" id="{692439E5-A657-74D8-B8E4-9850C597B889}"/>
              </a:ext>
            </a:extLst>
          </p:cNvPr>
          <p:cNvSpPr>
            <a:spLocks noGrp="1"/>
          </p:cNvSpPr>
          <p:nvPr>
            <p:ph idx="1"/>
          </p:nvPr>
        </p:nvSpPr>
        <p:spPr/>
        <p:txBody>
          <a:bodyPr/>
          <a:lstStyle/>
          <a:p>
            <a:r>
              <a:rPr lang="en-AU" dirty="0"/>
              <a:t>Encoding zeros is really cheap using entropy encoding.</a:t>
            </a:r>
          </a:p>
          <a:p>
            <a:r>
              <a:rPr lang="en-AU" dirty="0"/>
              <a:t>Entropy encoding or Huffman encoding or run life encoding where highly common values get represented with very few bits and less common values get represented more.</a:t>
            </a:r>
          </a:p>
          <a:p>
            <a:r>
              <a:rPr lang="en-AU" dirty="0"/>
              <a:t>Standard entropy encoding - all of those zeros are going to be very efficient to encode and that's where the savings is now obviously on the unpacking so what's stored in a JPEG.</a:t>
            </a:r>
          </a:p>
          <a:p>
            <a:endParaRPr lang="en-US" dirty="0"/>
          </a:p>
        </p:txBody>
      </p:sp>
    </p:spTree>
    <p:extLst>
      <p:ext uri="{BB962C8B-B14F-4D97-AF65-F5344CB8AC3E}">
        <p14:creationId xmlns:p14="http://schemas.microsoft.com/office/powerpoint/2010/main" val="1670424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B234EF6-B03F-D470-A9C5-FB8A9A511341}"/>
              </a:ext>
            </a:extLst>
          </p:cNvPr>
          <p:cNvPicPr>
            <a:picLocks noGrp="1" noChangeAspect="1"/>
          </p:cNvPicPr>
          <p:nvPr>
            <p:ph idx="1"/>
          </p:nvPr>
        </p:nvPicPr>
        <p:blipFill>
          <a:blip r:embed="rId2"/>
          <a:stretch>
            <a:fillRect/>
          </a:stretch>
        </p:blipFill>
        <p:spPr>
          <a:xfrm>
            <a:off x="1164431" y="256481"/>
            <a:ext cx="9863138" cy="6236394"/>
          </a:xfrm>
          <a:prstGeom prst="rect">
            <a:avLst/>
          </a:prstGeom>
        </p:spPr>
      </p:pic>
    </p:spTree>
    <p:extLst>
      <p:ext uri="{BB962C8B-B14F-4D97-AF65-F5344CB8AC3E}">
        <p14:creationId xmlns:p14="http://schemas.microsoft.com/office/powerpoint/2010/main" val="1767905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8A86D8-0DE5-55AD-FDDA-39203139696F}"/>
              </a:ext>
            </a:extLst>
          </p:cNvPr>
          <p:cNvPicPr>
            <a:picLocks noChangeAspect="1"/>
          </p:cNvPicPr>
          <p:nvPr/>
        </p:nvPicPr>
        <p:blipFill>
          <a:blip r:embed="rId2"/>
          <a:stretch>
            <a:fillRect/>
          </a:stretch>
        </p:blipFill>
        <p:spPr>
          <a:xfrm>
            <a:off x="838200" y="286669"/>
            <a:ext cx="5239848" cy="3971006"/>
          </a:xfrm>
          <a:prstGeom prst="rect">
            <a:avLst/>
          </a:prstGeom>
        </p:spPr>
      </p:pic>
      <p:pic>
        <p:nvPicPr>
          <p:cNvPr id="5" name="Picture 4">
            <a:extLst>
              <a:ext uri="{FF2B5EF4-FFF2-40B4-BE49-F238E27FC236}">
                <a16:creationId xmlns:a16="http://schemas.microsoft.com/office/drawing/2014/main" id="{4F737943-ED20-E40F-4EC4-5B1B2DE3CD23}"/>
              </a:ext>
            </a:extLst>
          </p:cNvPr>
          <p:cNvPicPr>
            <a:picLocks noChangeAspect="1"/>
          </p:cNvPicPr>
          <p:nvPr/>
        </p:nvPicPr>
        <p:blipFill>
          <a:blip r:embed="rId3"/>
          <a:stretch>
            <a:fillRect/>
          </a:stretch>
        </p:blipFill>
        <p:spPr>
          <a:xfrm>
            <a:off x="6277984" y="2050760"/>
            <a:ext cx="5239848" cy="3971006"/>
          </a:xfrm>
          <a:prstGeom prst="rect">
            <a:avLst/>
          </a:prstGeom>
        </p:spPr>
      </p:pic>
    </p:spTree>
    <p:extLst>
      <p:ext uri="{BB962C8B-B14F-4D97-AF65-F5344CB8AC3E}">
        <p14:creationId xmlns:p14="http://schemas.microsoft.com/office/powerpoint/2010/main" val="1100812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06762-5E85-755A-148F-701C7AACE44B}"/>
              </a:ext>
            </a:extLst>
          </p:cNvPr>
          <p:cNvSpPr>
            <a:spLocks noGrp="1"/>
          </p:cNvSpPr>
          <p:nvPr>
            <p:ph type="title"/>
          </p:nvPr>
        </p:nvSpPr>
        <p:spPr/>
        <p:txBody>
          <a:bodyPr/>
          <a:lstStyle/>
          <a:p>
            <a:r>
              <a:rPr lang="en-US" b="1" dirty="0"/>
              <a:t>Compression artifacts</a:t>
            </a:r>
          </a:p>
        </p:txBody>
      </p:sp>
      <p:sp>
        <p:nvSpPr>
          <p:cNvPr id="3" name="Content Placeholder 2">
            <a:extLst>
              <a:ext uri="{FF2B5EF4-FFF2-40B4-BE49-F238E27FC236}">
                <a16:creationId xmlns:a16="http://schemas.microsoft.com/office/drawing/2014/main" id="{6E1BA0EA-54CC-0900-FD40-75FA843704C5}"/>
              </a:ext>
            </a:extLst>
          </p:cNvPr>
          <p:cNvSpPr>
            <a:spLocks noGrp="1"/>
          </p:cNvSpPr>
          <p:nvPr>
            <p:ph idx="1"/>
          </p:nvPr>
        </p:nvSpPr>
        <p:spPr>
          <a:xfrm>
            <a:off x="838200" y="1366224"/>
            <a:ext cx="6062664" cy="5126651"/>
          </a:xfrm>
        </p:spPr>
        <p:txBody>
          <a:bodyPr>
            <a:noAutofit/>
          </a:bodyPr>
          <a:lstStyle/>
          <a:p>
            <a:pPr marL="276225" lvl="0" indent="-276225">
              <a:buFont typeface="+mj-lt"/>
              <a:buAutoNum type="arabicPeriod"/>
            </a:pPr>
            <a:r>
              <a:rPr lang="en-AU" sz="2400" b="1" dirty="0"/>
              <a:t>Blocking artifact</a:t>
            </a:r>
            <a:r>
              <a:rPr lang="en-AU" sz="2400" dirty="0"/>
              <a:t>: because of the partitions</a:t>
            </a:r>
          </a:p>
          <a:p>
            <a:pPr marL="276225" lvl="0" indent="-276225">
              <a:buFont typeface="+mj-lt"/>
              <a:buAutoNum type="arabicPeriod"/>
            </a:pPr>
            <a:r>
              <a:rPr lang="en-AU" sz="2400" b="1" dirty="0"/>
              <a:t>big blurry patches</a:t>
            </a:r>
            <a:r>
              <a:rPr lang="en-AU" sz="2400" dirty="0"/>
              <a:t>: because of quantized all of the high frequency variations</a:t>
            </a:r>
          </a:p>
          <a:p>
            <a:pPr marL="276225" lvl="0" indent="-276225">
              <a:buFont typeface="+mj-lt"/>
              <a:buAutoNum type="arabicPeriod"/>
            </a:pPr>
            <a:r>
              <a:rPr lang="en-AU" sz="2400" dirty="0" err="1"/>
              <a:t>Color</a:t>
            </a:r>
            <a:r>
              <a:rPr lang="en-AU" sz="2400" dirty="0"/>
              <a:t> aberrations. </a:t>
            </a:r>
          </a:p>
          <a:p>
            <a:pPr marL="495300" lvl="1" indent="-261938">
              <a:buFont typeface="+mj-lt"/>
              <a:buAutoNum type="alphaLcParenR"/>
            </a:pPr>
            <a:r>
              <a:rPr lang="en-AU" dirty="0"/>
              <a:t>one is the chroma Channel may have been sub-sampled </a:t>
            </a:r>
          </a:p>
          <a:p>
            <a:pPr marL="495300" lvl="1" indent="-261938">
              <a:buFont typeface="+mj-lt"/>
              <a:buAutoNum type="alphaLcParenR"/>
            </a:pPr>
            <a:r>
              <a:rPr lang="en-AU" dirty="0"/>
              <a:t>the chroma Channel tends to get quantized by a higher amount than the luminance Channel. The human visual system cares less about </a:t>
            </a:r>
            <a:r>
              <a:rPr lang="en-AU" dirty="0" err="1"/>
              <a:t>color</a:t>
            </a:r>
            <a:r>
              <a:rPr lang="en-AU" dirty="0"/>
              <a:t> than it does about intensity or luminance</a:t>
            </a:r>
          </a:p>
          <a:p>
            <a:pPr marL="276225" lvl="0" indent="-276225">
              <a:buFont typeface="+mj-lt"/>
              <a:buAutoNum type="arabicPeriod"/>
            </a:pPr>
            <a:r>
              <a:rPr lang="en-AU" sz="2400" dirty="0"/>
              <a:t>Along the straight edge we get jaggies because - again the blocking artifact. It is different along each Edge. </a:t>
            </a:r>
          </a:p>
        </p:txBody>
      </p:sp>
      <p:pic>
        <p:nvPicPr>
          <p:cNvPr id="4" name="Picture 3">
            <a:extLst>
              <a:ext uri="{FF2B5EF4-FFF2-40B4-BE49-F238E27FC236}">
                <a16:creationId xmlns:a16="http://schemas.microsoft.com/office/drawing/2014/main" id="{7007E93B-3EA1-21BE-46F2-6A5A8908331E}"/>
              </a:ext>
            </a:extLst>
          </p:cNvPr>
          <p:cNvPicPr>
            <a:picLocks noChangeAspect="1"/>
          </p:cNvPicPr>
          <p:nvPr/>
        </p:nvPicPr>
        <p:blipFill>
          <a:blip r:embed="rId3"/>
          <a:stretch>
            <a:fillRect/>
          </a:stretch>
        </p:blipFill>
        <p:spPr>
          <a:xfrm>
            <a:off x="6900863" y="207672"/>
            <a:ext cx="5088456" cy="3856274"/>
          </a:xfrm>
          <a:prstGeom prst="rect">
            <a:avLst/>
          </a:prstGeom>
        </p:spPr>
      </p:pic>
    </p:spTree>
    <p:extLst>
      <p:ext uri="{BB962C8B-B14F-4D97-AF65-F5344CB8AC3E}">
        <p14:creationId xmlns:p14="http://schemas.microsoft.com/office/powerpoint/2010/main" val="682921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B4712-EE45-0F76-7C7A-BF84660A9FE0}"/>
              </a:ext>
            </a:extLst>
          </p:cNvPr>
          <p:cNvSpPr>
            <a:spLocks noGrp="1"/>
          </p:cNvSpPr>
          <p:nvPr>
            <p:ph type="title"/>
          </p:nvPr>
        </p:nvSpPr>
        <p:spPr>
          <a:xfrm>
            <a:off x="838200" y="2766218"/>
            <a:ext cx="10515600" cy="1325563"/>
          </a:xfrm>
        </p:spPr>
        <p:txBody>
          <a:bodyPr>
            <a:normAutofit/>
          </a:bodyPr>
          <a:lstStyle/>
          <a:p>
            <a:pPr algn="ctr"/>
            <a:r>
              <a:rPr lang="en-US" sz="8800" b="1" dirty="0"/>
              <a:t>Image processing</a:t>
            </a:r>
          </a:p>
        </p:txBody>
      </p:sp>
    </p:spTree>
    <p:extLst>
      <p:ext uri="{BB962C8B-B14F-4D97-AF65-F5344CB8AC3E}">
        <p14:creationId xmlns:p14="http://schemas.microsoft.com/office/powerpoint/2010/main" val="408170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74573-C1D6-0930-892C-C9D752282727}"/>
              </a:ext>
            </a:extLst>
          </p:cNvPr>
          <p:cNvSpPr>
            <a:spLocks noGrp="1"/>
          </p:cNvSpPr>
          <p:nvPr>
            <p:ph type="title"/>
          </p:nvPr>
        </p:nvSpPr>
        <p:spPr/>
        <p:txBody>
          <a:bodyPr/>
          <a:lstStyle/>
          <a:p>
            <a:r>
              <a:rPr lang="en-AU" b="1" dirty="0"/>
              <a:t>Point operators</a:t>
            </a:r>
          </a:p>
        </p:txBody>
      </p:sp>
      <p:sp>
        <p:nvSpPr>
          <p:cNvPr id="3" name="Content Placeholder 2">
            <a:extLst>
              <a:ext uri="{FF2B5EF4-FFF2-40B4-BE49-F238E27FC236}">
                <a16:creationId xmlns:a16="http://schemas.microsoft.com/office/drawing/2014/main" id="{934158B3-1F16-0B9B-EFD8-C58AC4DD877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41574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B81C9-0A22-0157-1144-28B1BA73A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1A941-137C-2013-A61A-F652AA8FE645}"/>
              </a:ext>
            </a:extLst>
          </p:cNvPr>
          <p:cNvSpPr>
            <a:spLocks noGrp="1"/>
          </p:cNvSpPr>
          <p:nvPr>
            <p:ph type="title"/>
          </p:nvPr>
        </p:nvSpPr>
        <p:spPr/>
        <p:txBody>
          <a:bodyPr/>
          <a:lstStyle/>
          <a:p>
            <a:r>
              <a:rPr lang="en-US" dirty="0"/>
              <a:t>Reading</a:t>
            </a:r>
          </a:p>
        </p:txBody>
      </p:sp>
      <p:sp>
        <p:nvSpPr>
          <p:cNvPr id="3" name="Content Placeholder 2">
            <a:extLst>
              <a:ext uri="{FF2B5EF4-FFF2-40B4-BE49-F238E27FC236}">
                <a16:creationId xmlns:a16="http://schemas.microsoft.com/office/drawing/2014/main" id="{8FC2AC0B-64AA-4C68-C86C-F1FC2414AB11}"/>
              </a:ext>
            </a:extLst>
          </p:cNvPr>
          <p:cNvSpPr>
            <a:spLocks noGrp="1"/>
          </p:cNvSpPr>
          <p:nvPr>
            <p:ph idx="1"/>
          </p:nvPr>
        </p:nvSpPr>
        <p:spPr>
          <a:xfrm>
            <a:off x="838200" y="1300766"/>
            <a:ext cx="10515600" cy="5303234"/>
          </a:xfrm>
        </p:spPr>
        <p:txBody>
          <a:bodyPr>
            <a:normAutofit/>
          </a:bodyPr>
          <a:lstStyle/>
          <a:p>
            <a:r>
              <a:rPr lang="en-AU" sz="2000" dirty="0">
                <a:hlinkClick r:id="rId3"/>
              </a:rPr>
              <a:t>https://www.youtube.com/watch?v=Um4OU7Jr3Sw&amp;list=PLhwIOYE-ldwL6h-peJADfNm8bbO3GlKEy&amp;index=15</a:t>
            </a:r>
            <a:endParaRPr lang="en-AU" sz="2000" dirty="0"/>
          </a:p>
          <a:p>
            <a:r>
              <a:rPr lang="en-AU" sz="2000" dirty="0">
                <a:hlinkClick r:id="rId4"/>
              </a:rPr>
              <a:t>https://www.csfieldguide.org.nz/en/chapters/coding-compression/image-compression-using-jpeg/</a:t>
            </a:r>
            <a:endParaRPr lang="en-AU" sz="2000" dirty="0"/>
          </a:p>
          <a:p>
            <a:r>
              <a:rPr lang="en-AU" sz="2000" dirty="0">
                <a:hlinkClick r:id="rId5"/>
              </a:rPr>
              <a:t>https://www.kaggle.com/code/zahidbd/lecture4-nb-1</a:t>
            </a:r>
            <a:endParaRPr lang="en-AU" sz="2000" dirty="0"/>
          </a:p>
          <a:p>
            <a:endParaRPr lang="en-AU" sz="2000" dirty="0"/>
          </a:p>
          <a:p>
            <a:endParaRPr lang="en-AU" sz="2000" dirty="0"/>
          </a:p>
        </p:txBody>
      </p:sp>
    </p:spTree>
    <p:extLst>
      <p:ext uri="{BB962C8B-B14F-4D97-AF65-F5344CB8AC3E}">
        <p14:creationId xmlns:p14="http://schemas.microsoft.com/office/powerpoint/2010/main" val="4132124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7216</TotalTime>
  <Words>1535</Words>
  <Application>Microsoft Macintosh PowerPoint</Application>
  <PresentationFormat>Widescreen</PresentationFormat>
  <Paragraphs>103</Paragraphs>
  <Slides>19</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Anonymice Powerline</vt:lpstr>
      <vt:lpstr>Arial</vt:lpstr>
      <vt:lpstr>Calibri</vt:lpstr>
      <vt:lpstr>Calibri Light</vt:lpstr>
      <vt:lpstr>Cambria Math</vt:lpstr>
      <vt:lpstr>Office Theme</vt:lpstr>
      <vt:lpstr>COMPUTER VISION</vt:lpstr>
      <vt:lpstr>Practical</vt:lpstr>
      <vt:lpstr>Practical</vt:lpstr>
      <vt:lpstr>Image storage</vt:lpstr>
      <vt:lpstr>Going from RAW images to JPEG</vt:lpstr>
      <vt:lpstr>Step 1: transform</vt:lpstr>
      <vt:lpstr>Step 2: Down sampling</vt:lpstr>
      <vt:lpstr>Step 3: DCT</vt:lpstr>
      <vt:lpstr>Step 3: DCT</vt:lpstr>
      <vt:lpstr>Problem</vt:lpstr>
      <vt:lpstr>Step 4: Quantization</vt:lpstr>
      <vt:lpstr>Quantization</vt:lpstr>
      <vt:lpstr>Step 5: Encoding</vt:lpstr>
      <vt:lpstr>PowerPoint Presentation</vt:lpstr>
      <vt:lpstr>PowerPoint Presentation</vt:lpstr>
      <vt:lpstr>Compression artifacts</vt:lpstr>
      <vt:lpstr>Image processing</vt:lpstr>
      <vt:lpstr>Point operators</vt:lpstr>
      <vt:lpstr>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Zahidul Islam</dc:creator>
  <cp:lastModifiedBy>Md Zahidul Islam</cp:lastModifiedBy>
  <cp:revision>289</cp:revision>
  <dcterms:created xsi:type="dcterms:W3CDTF">2026-08-04T00:11:14Z</dcterms:created>
  <dcterms:modified xsi:type="dcterms:W3CDTF">2026-08-13T06:27:53Z</dcterms:modified>
</cp:coreProperties>
</file>