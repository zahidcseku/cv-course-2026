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ink/ink1.xml" ContentType="application/inkml+xml"/>
  <Override PartName="/ppt/notesSlides/notesSlide11.xml" ContentType="application/vnd.openxmlformats-officedocument.presentationml.notesSlide+xml"/>
  <Override PartName="/ppt/notesSlides/notesSlide1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autoCompressPictures="0">
  <p:sldMasterIdLst>
    <p:sldMasterId id="2147483846" r:id="rId1"/>
  </p:sldMasterIdLst>
  <p:notesMasterIdLst>
    <p:notesMasterId r:id="rId23"/>
  </p:notesMasterIdLst>
  <p:sldIdLst>
    <p:sldId id="256" r:id="rId2"/>
    <p:sldId id="302" r:id="rId3"/>
    <p:sldId id="298" r:id="rId4"/>
    <p:sldId id="303" r:id="rId5"/>
    <p:sldId id="309" r:id="rId6"/>
    <p:sldId id="308" r:id="rId7"/>
    <p:sldId id="310" r:id="rId8"/>
    <p:sldId id="311" r:id="rId9"/>
    <p:sldId id="313" r:id="rId10"/>
    <p:sldId id="312" r:id="rId11"/>
    <p:sldId id="299" r:id="rId12"/>
    <p:sldId id="300" r:id="rId13"/>
    <p:sldId id="304" r:id="rId14"/>
    <p:sldId id="305" r:id="rId15"/>
    <p:sldId id="315" r:id="rId16"/>
    <p:sldId id="316" r:id="rId17"/>
    <p:sldId id="318" r:id="rId18"/>
    <p:sldId id="317" r:id="rId19"/>
    <p:sldId id="301" r:id="rId20"/>
    <p:sldId id="314" r:id="rId21"/>
    <p:sldId id="297" r:id="rId22"/>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26142"/>
    <p:restoredTop sz="80149"/>
  </p:normalViewPr>
  <p:slideViewPr>
    <p:cSldViewPr snapToGrid="0">
      <p:cViewPr varScale="1">
        <p:scale>
          <a:sx n="72" d="100"/>
          <a:sy n="72" d="100"/>
        </p:scale>
        <p:origin x="224" y="520"/>
      </p:cViewPr>
      <p:guideLst/>
    </p:cSldViewPr>
  </p:slideViewPr>
  <p:notesTextViewPr>
    <p:cViewPr>
      <p:scale>
        <a:sx n="150" d="100"/>
        <a:sy n="150" d="100"/>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theme" Target="theme/theme1.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presProps" Target="pres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notesMaster" Target="notesMasters/notesMaster1.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tableStyles" Target="tableStyles.xml"/></Relationships>
</file>

<file path=ppt/ink/ink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8-26T06:31:00.756"/>
    </inkml:context>
    <inkml:brush xml:id="br0">
      <inkml:brushProperty name="width" value="0.035" units="cm"/>
      <inkml:brushProperty name="height" value="0.035" units="cm"/>
    </inkml:brush>
  </inkml:definitions>
  <inkml:trace contextRef="#ctx0" brushRef="#br0">1 0 24575,'0'0'0</inkml:trace>
</inkml:ink>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21F69E75-2F2A-4340-80BD-3C270EF90E93}" type="datetimeFigureOut">
              <a:rPr lang="en-US" smtClean="0"/>
              <a:t>8/24/26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21A5E430-97AE-C04C-BB4B-47DC21A043A5}" type="slidenum">
              <a:rPr lang="en-US" smtClean="0"/>
              <a:t>‹#›</a:t>
            </a:fld>
            <a:endParaRPr lang="en-US"/>
          </a:p>
        </p:txBody>
      </p:sp>
    </p:spTree>
    <p:extLst>
      <p:ext uri="{BB962C8B-B14F-4D97-AF65-F5344CB8AC3E}">
        <p14:creationId xmlns:p14="http://schemas.microsoft.com/office/powerpoint/2010/main" val="109129762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21A5E430-97AE-C04C-BB4B-47DC21A043A5}" type="slidenum">
              <a:rPr lang="en-US" smtClean="0"/>
              <a:t>1</a:t>
            </a:fld>
            <a:endParaRPr lang="en-US"/>
          </a:p>
        </p:txBody>
      </p:sp>
    </p:spTree>
    <p:extLst>
      <p:ext uri="{BB962C8B-B14F-4D97-AF65-F5344CB8AC3E}">
        <p14:creationId xmlns:p14="http://schemas.microsoft.com/office/powerpoint/2010/main" val="2822391297"/>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061B5A2-0CD2-3E7C-F03B-CD10003DD87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7655386-3CD4-EC30-1E22-2B4B9695CB83}"/>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B146C1B9-A913-C72D-6B29-7BE66BA30572}"/>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D56D5F6B-F802-7E74-AD28-AF56D1B609B3}"/>
              </a:ext>
            </a:extLst>
          </p:cNvPr>
          <p:cNvSpPr>
            <a:spLocks noGrp="1"/>
          </p:cNvSpPr>
          <p:nvPr>
            <p:ph type="sldNum" sz="quarter" idx="5"/>
          </p:nvPr>
        </p:nvSpPr>
        <p:spPr/>
        <p:txBody>
          <a:bodyPr/>
          <a:lstStyle/>
          <a:p>
            <a:fld id="{21A5E430-97AE-C04C-BB4B-47DC21A043A5}" type="slidenum">
              <a:rPr lang="en-US" smtClean="0"/>
              <a:t>3</a:t>
            </a:fld>
            <a:endParaRPr lang="en-US"/>
          </a:p>
        </p:txBody>
      </p:sp>
    </p:spTree>
    <p:extLst>
      <p:ext uri="{BB962C8B-B14F-4D97-AF65-F5344CB8AC3E}">
        <p14:creationId xmlns:p14="http://schemas.microsoft.com/office/powerpoint/2010/main" val="210233140"/>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mc:AlternateContent xmlns:mc="http://schemas.openxmlformats.org/markup-compatibility/2006">
        <mc:Choice xmlns:a14="http://schemas.microsoft.com/office/drawing/2010/main" Requires="a14">
          <p:sp>
            <p:nvSpPr>
              <p:cNvPr id="3" name="Notes Placeholder 2"/>
              <p:cNvSpPr>
                <a:spLocks noGrp="1"/>
              </p:cNvSpPr>
              <p:nvPr>
                <p:ph type="body" idx="1"/>
              </p:nvPr>
            </p:nvSpPr>
            <p:spPr/>
            <p:txBody>
              <a:bodyPr/>
              <a:lstStyle/>
              <a:p>
                <a:r>
                  <a:rPr lang="en-AU" sz="1200" b="0" i="0" kern="1200" dirty="0">
                    <a:solidFill>
                      <a:schemeClr val="tx1"/>
                    </a:solidFill>
                    <a:effectLst/>
                    <a:latin typeface="+mn-lt"/>
                    <a:ea typeface="+mn-ea"/>
                    <a:cs typeface="+mn-cs"/>
                  </a:rPr>
                  <a:t>configure the function's </a:t>
                </a:r>
                <a:r>
                  <a:rPr lang="en-AU" sz="1200" b="0" i="0" kern="1200" dirty="0" err="1">
                    <a:solidFill>
                      <a:schemeClr val="tx1"/>
                    </a:solidFill>
                    <a:effectLst/>
                    <a:latin typeface="+mn-lt"/>
                    <a:ea typeface="+mn-ea"/>
                    <a:cs typeface="+mn-cs"/>
                  </a:rPr>
                  <a:t>behavior</a:t>
                </a:r>
                <a:r>
                  <a:rPr lang="en-AU" sz="1200" b="0" i="0" kern="1200" dirty="0">
                    <a:solidFill>
                      <a:schemeClr val="tx1"/>
                    </a:solidFill>
                    <a:effectLst/>
                    <a:latin typeface="+mn-lt"/>
                    <a:ea typeface="+mn-ea"/>
                    <a:cs typeface="+mn-cs"/>
                  </a:rPr>
                  <a:t> means:</a:t>
                </a:r>
              </a:p>
              <a:p>
                <a:r>
                  <a:rPr lang="en-AU" dirty="0"/>
                  <a:t>- the parameters determine the </a:t>
                </a:r>
                <a:r>
                  <a:rPr lang="en-AU" b="1" dirty="0"/>
                  <a:t>exact rule</a:t>
                </a:r>
                <a:r>
                  <a:rPr lang="en-AU" dirty="0"/>
                  <a:t> that transforms the input into an output.</a:t>
                </a:r>
              </a:p>
              <a:p>
                <a:endParaRPr lang="en-AU" dirty="0"/>
              </a:p>
              <a:p>
                <a:r>
                  <a:rPr lang="en-AU" dirty="0"/>
                  <a:t>Think of the model architecture (like a neural network or linear equation) as an empty machine, while the parameters are the settings, dials, and internal rules that dictate what that machine actually does when you feed it data.</a:t>
                </a:r>
              </a:p>
              <a:p>
                <a:endParaRPr lang="en-US" dirty="0"/>
              </a:p>
              <a:p>
                <a:r>
                  <a:rPr lang="en-AU" dirty="0"/>
                  <a:t>While the model </a:t>
                </a:r>
                <a14:m>
                  <m:oMath xmlns:m="http://schemas.openxmlformats.org/officeDocument/2006/math">
                    <m:sSub>
                      <m:sSubPr>
                        <m:ctrlPr>
                          <a:rPr lang="en-US" sz="1200" i="1" kern="1200">
                            <a:solidFill>
                              <a:schemeClr val="tx1"/>
                            </a:solidFill>
                            <a:latin typeface="+mn-lt"/>
                            <a:ea typeface="+mn-ea"/>
                            <a:cs typeface="+mn-cs"/>
                          </a:rPr>
                        </m:ctrlPr>
                      </m:sSubPr>
                      <m:e>
                        <m:r>
                          <a:rPr lang="en-US" sz="1200" i="1" kern="1200">
                            <a:solidFill>
                              <a:schemeClr val="tx1"/>
                            </a:solidFill>
                            <a:latin typeface="+mn-lt"/>
                            <a:ea typeface="+mn-ea"/>
                            <a:cs typeface="+mn-cs"/>
                          </a:rPr>
                          <m:t>𝑓</m:t>
                        </m:r>
                      </m:e>
                      <m:sub>
                        <m:r>
                          <a:rPr lang="en-US" sz="1200" i="1" kern="1200">
                            <a:solidFill>
                              <a:schemeClr val="tx1"/>
                            </a:solidFill>
                            <a:latin typeface="+mn-lt"/>
                            <a:ea typeface="+mn-ea"/>
                            <a:cs typeface="+mn-cs"/>
                          </a:rPr>
                          <m:t>𝜃</m:t>
                        </m:r>
                      </m:sub>
                    </m:sSub>
                    <m:d>
                      <m:dPr>
                        <m:ctrlPr>
                          <a:rPr lang="en-US" sz="1200" i="1" kern="1200">
                            <a:solidFill>
                              <a:schemeClr val="tx1"/>
                            </a:solidFill>
                            <a:latin typeface="+mn-lt"/>
                            <a:ea typeface="+mn-ea"/>
                            <a:cs typeface="+mn-cs"/>
                          </a:rPr>
                        </m:ctrlPr>
                      </m:dPr>
                      <m:e>
                        <m:r>
                          <a:rPr lang="en-US" sz="1200" i="1" kern="1200">
                            <a:solidFill>
                              <a:schemeClr val="tx1"/>
                            </a:solidFill>
                            <a:latin typeface="+mn-lt"/>
                            <a:ea typeface="+mn-ea"/>
                            <a:cs typeface="+mn-cs"/>
                          </a:rPr>
                          <m:t>𝑥</m:t>
                        </m:r>
                      </m:e>
                    </m:d>
                  </m:oMath>
                </a14:m>
                <a:r>
                  <a:rPr lang="en-AU" dirty="0"/>
                  <a:t>is a function of inputs </a:t>
                </a:r>
                <a14:m>
                  <m:oMath xmlns:m="http://schemas.openxmlformats.org/officeDocument/2006/math">
                    <m:r>
                      <a:rPr lang="en-US" sz="1200" i="1" kern="1200" smtClean="0">
                        <a:solidFill>
                          <a:schemeClr val="tx1"/>
                        </a:solidFill>
                        <a:latin typeface="+mn-lt"/>
                        <a:ea typeface="+mn-ea"/>
                        <a:cs typeface="+mn-cs"/>
                      </a:rPr>
                      <m:t>𝑥</m:t>
                    </m:r>
                  </m:oMath>
                </a14:m>
                <a:r>
                  <a:rPr lang="en-AU" dirty="0"/>
                  <a:t>parameterized by </a:t>
                </a:r>
                <a14:m>
                  <m:oMath xmlns:m="http://schemas.openxmlformats.org/officeDocument/2006/math">
                    <m:r>
                      <a:rPr lang="en-US" sz="1200" i="1" kern="1200" smtClean="0">
                        <a:solidFill>
                          <a:schemeClr val="tx1"/>
                        </a:solidFill>
                        <a:latin typeface="+mn-lt"/>
                        <a:ea typeface="+mn-ea"/>
                        <a:cs typeface="+mn-cs"/>
                      </a:rPr>
                      <m:t>𝜃</m:t>
                    </m:r>
                  </m:oMath>
                </a14:m>
                <a:r>
                  <a:rPr lang="en-AU" dirty="0"/>
                  <a:t>, the loss function flips this roles: during optimization, the loss is framed primarily as a </a:t>
                </a:r>
                <a:r>
                  <a:rPr lang="en-AU" sz="1200" b="1" kern="1200" dirty="0">
                    <a:solidFill>
                      <a:schemeClr val="tx1"/>
                    </a:solidFill>
                    <a:effectLst/>
                    <a:latin typeface="+mn-lt"/>
                    <a:ea typeface="+mn-ea"/>
                    <a:cs typeface="+mn-cs"/>
                  </a:rPr>
                  <a:t>function of the parameters </a:t>
                </a:r>
                <a14:m>
                  <m:oMath xmlns:m="http://schemas.openxmlformats.org/officeDocument/2006/math">
                    <m:r>
                      <a:rPr lang="en-US" sz="1200" i="1" kern="1200" smtClean="0">
                        <a:solidFill>
                          <a:schemeClr val="tx1"/>
                        </a:solidFill>
                        <a:latin typeface="+mn-lt"/>
                        <a:ea typeface="+mn-ea"/>
                        <a:cs typeface="+mn-cs"/>
                      </a:rPr>
                      <m:t>𝜃</m:t>
                    </m:r>
                  </m:oMath>
                </a14:m>
                <a:r>
                  <a:rPr lang="en-AU" dirty="0"/>
                  <a:t>, parameterized by the fixed training dataset </a:t>
                </a:r>
                <a14:m>
                  <m:oMath xmlns:m="http://schemas.openxmlformats.org/officeDocument/2006/math">
                    <m:d>
                      <m:dPr>
                        <m:ctrlPr>
                          <a:rPr lang="en-US" sz="1200" i="1" kern="1200">
                            <a:solidFill>
                              <a:schemeClr val="tx1"/>
                            </a:solidFill>
                            <a:latin typeface="+mn-lt"/>
                            <a:ea typeface="+mn-ea"/>
                            <a:cs typeface="+mn-cs"/>
                          </a:rPr>
                        </m:ctrlPr>
                      </m:dPr>
                      <m:e>
                        <m:r>
                          <a:rPr lang="en-US" sz="1200" i="1" kern="1200">
                            <a:solidFill>
                              <a:schemeClr val="tx1"/>
                            </a:solidFill>
                            <a:latin typeface="+mn-lt"/>
                            <a:ea typeface="+mn-ea"/>
                            <a:cs typeface="+mn-cs"/>
                          </a:rPr>
                          <m:t>𝑋</m:t>
                        </m:r>
                        <m:r>
                          <a:rPr lang="en-US" sz="1200" i="0" kern="1200">
                            <a:solidFill>
                              <a:schemeClr val="tx1"/>
                            </a:solidFill>
                            <a:latin typeface="+mn-lt"/>
                            <a:ea typeface="+mn-ea"/>
                            <a:cs typeface="+mn-cs"/>
                          </a:rPr>
                          <m:t>,</m:t>
                        </m:r>
                        <m:r>
                          <a:rPr lang="en-US" sz="1200" i="1" kern="1200">
                            <a:solidFill>
                              <a:schemeClr val="tx1"/>
                            </a:solidFill>
                            <a:latin typeface="+mn-lt"/>
                            <a:ea typeface="+mn-ea"/>
                            <a:cs typeface="+mn-cs"/>
                          </a:rPr>
                          <m:t>𝑦</m:t>
                        </m:r>
                      </m:e>
                    </m:d>
                  </m:oMath>
                </a14:m>
                <a:r>
                  <a:rPr lang="en-AU" dirty="0"/>
                  <a:t>.</a:t>
                </a:r>
                <a:endParaRPr lang="en-US" dirty="0"/>
              </a:p>
            </p:txBody>
          </p:sp>
        </mc:Choice>
        <mc:Fallback>
          <p:sp>
            <p:nvSpPr>
              <p:cNvPr id="3" name="Notes Placeholder 2"/>
              <p:cNvSpPr>
                <a:spLocks noGrp="1"/>
              </p:cNvSpPr>
              <p:nvPr>
                <p:ph type="body" idx="1"/>
              </p:nvPr>
            </p:nvSpPr>
            <p:spPr/>
            <p:txBody>
              <a:bodyPr/>
              <a:lstStyle/>
              <a:p>
                <a:r>
                  <a:rPr lang="en-AU" sz="1200" b="0" i="0" kern="1200" dirty="0">
                    <a:solidFill>
                      <a:schemeClr val="tx1"/>
                    </a:solidFill>
                    <a:effectLst/>
                    <a:latin typeface="+mn-lt"/>
                    <a:ea typeface="+mn-ea"/>
                    <a:cs typeface="+mn-cs"/>
                  </a:rPr>
                  <a:t>configure the function's </a:t>
                </a:r>
                <a:r>
                  <a:rPr lang="en-AU" sz="1200" b="0" i="0" kern="1200" dirty="0" err="1">
                    <a:solidFill>
                      <a:schemeClr val="tx1"/>
                    </a:solidFill>
                    <a:effectLst/>
                    <a:latin typeface="+mn-lt"/>
                    <a:ea typeface="+mn-ea"/>
                    <a:cs typeface="+mn-cs"/>
                  </a:rPr>
                  <a:t>behavior</a:t>
                </a:r>
                <a:r>
                  <a:rPr lang="en-AU" sz="1200" b="0" i="0" kern="1200" dirty="0">
                    <a:solidFill>
                      <a:schemeClr val="tx1"/>
                    </a:solidFill>
                    <a:effectLst/>
                    <a:latin typeface="+mn-lt"/>
                    <a:ea typeface="+mn-ea"/>
                    <a:cs typeface="+mn-cs"/>
                  </a:rPr>
                  <a:t> means:</a:t>
                </a:r>
              </a:p>
              <a:p>
                <a:r>
                  <a:rPr lang="en-AU" dirty="0"/>
                  <a:t>- the parameters determine the </a:t>
                </a:r>
                <a:r>
                  <a:rPr lang="en-AU" b="1" dirty="0"/>
                  <a:t>exact rule</a:t>
                </a:r>
                <a:r>
                  <a:rPr lang="en-AU" dirty="0"/>
                  <a:t> that transforms the input into an output.</a:t>
                </a:r>
              </a:p>
              <a:p>
                <a:endParaRPr lang="en-AU" dirty="0"/>
              </a:p>
              <a:p>
                <a:r>
                  <a:rPr lang="en-AU" dirty="0"/>
                  <a:t>Think of the model architecture (like a neural network or linear equation) as an empty machine, while the parameters are the settings, dials, and internal rules that dictate what that machine actually does when you feed it data.</a:t>
                </a:r>
              </a:p>
              <a:p>
                <a:endParaRPr lang="en-US" dirty="0"/>
              </a:p>
              <a:p>
                <a:r>
                  <a:rPr lang="en-AU" dirty="0"/>
                  <a:t>While the model </a:t>
                </a:r>
                <a:r>
                  <a:rPr lang="en-US" sz="1200" i="0" kern="1200">
                    <a:solidFill>
                      <a:schemeClr val="tx1"/>
                    </a:solidFill>
                    <a:latin typeface="+mn-lt"/>
                    <a:ea typeface="+mn-ea"/>
                    <a:cs typeface="+mn-cs"/>
                  </a:rPr>
                  <a:t>𝑓_𝜃 (𝑥)</a:t>
                </a:r>
                <a:r>
                  <a:rPr lang="en-AU" dirty="0"/>
                  <a:t>is a function of inputs </a:t>
                </a:r>
                <a:r>
                  <a:rPr lang="en-US" sz="1200" i="0" kern="1200">
                    <a:solidFill>
                      <a:schemeClr val="tx1"/>
                    </a:solidFill>
                    <a:latin typeface="+mn-lt"/>
                    <a:ea typeface="+mn-ea"/>
                    <a:cs typeface="+mn-cs"/>
                  </a:rPr>
                  <a:t>𝑥</a:t>
                </a:r>
                <a:r>
                  <a:rPr lang="en-AU" dirty="0"/>
                  <a:t>parameterized by </a:t>
                </a:r>
                <a:r>
                  <a:rPr lang="en-US" sz="1200" i="0" kern="1200">
                    <a:solidFill>
                      <a:schemeClr val="tx1"/>
                    </a:solidFill>
                    <a:latin typeface="+mn-lt"/>
                    <a:ea typeface="+mn-ea"/>
                    <a:cs typeface="+mn-cs"/>
                  </a:rPr>
                  <a:t>𝜃</a:t>
                </a:r>
                <a:r>
                  <a:rPr lang="en-AU" dirty="0"/>
                  <a:t>, the loss function flips this roles: during optimization, the loss is framed primarily as a </a:t>
                </a:r>
                <a:r>
                  <a:rPr lang="en-AU" sz="1200" b="1" kern="1200" dirty="0">
                    <a:solidFill>
                      <a:schemeClr val="tx1"/>
                    </a:solidFill>
                    <a:effectLst/>
                    <a:latin typeface="+mn-lt"/>
                    <a:ea typeface="+mn-ea"/>
                    <a:cs typeface="+mn-cs"/>
                  </a:rPr>
                  <a:t>function of the parameters </a:t>
                </a:r>
                <a:r>
                  <a:rPr lang="en-US" sz="1200" i="0" kern="1200">
                    <a:solidFill>
                      <a:schemeClr val="tx1"/>
                    </a:solidFill>
                    <a:latin typeface="+mn-lt"/>
                    <a:ea typeface="+mn-ea"/>
                    <a:cs typeface="+mn-cs"/>
                  </a:rPr>
                  <a:t>𝜃</a:t>
                </a:r>
                <a:r>
                  <a:rPr lang="en-AU" dirty="0"/>
                  <a:t>, parameterized by the fixed training dataset </a:t>
                </a:r>
                <a:r>
                  <a:rPr lang="en-US" sz="1200" i="0" kern="1200">
                    <a:solidFill>
                      <a:schemeClr val="tx1"/>
                    </a:solidFill>
                    <a:latin typeface="+mn-lt"/>
                    <a:ea typeface="+mn-ea"/>
                    <a:cs typeface="+mn-cs"/>
                  </a:rPr>
                  <a:t>(𝑋,𝑦)</a:t>
                </a:r>
                <a:r>
                  <a:rPr lang="en-AU" dirty="0"/>
                  <a:t>.</a:t>
                </a:r>
                <a:endParaRPr lang="en-US" dirty="0"/>
              </a:p>
            </p:txBody>
          </p:sp>
        </mc:Fallback>
      </mc:AlternateContent>
      <p:sp>
        <p:nvSpPr>
          <p:cNvPr id="4" name="Slide Number Placeholder 3"/>
          <p:cNvSpPr>
            <a:spLocks noGrp="1"/>
          </p:cNvSpPr>
          <p:nvPr>
            <p:ph type="sldNum" sz="quarter" idx="5"/>
          </p:nvPr>
        </p:nvSpPr>
        <p:spPr/>
        <p:txBody>
          <a:bodyPr/>
          <a:lstStyle/>
          <a:p>
            <a:fld id="{21A5E430-97AE-C04C-BB4B-47DC21A043A5}" type="slidenum">
              <a:rPr lang="en-US" smtClean="0"/>
              <a:t>4</a:t>
            </a:fld>
            <a:endParaRPr lang="en-US"/>
          </a:p>
        </p:txBody>
      </p:sp>
    </p:spTree>
    <p:extLst>
      <p:ext uri="{BB962C8B-B14F-4D97-AF65-F5344CB8AC3E}">
        <p14:creationId xmlns:p14="http://schemas.microsoft.com/office/powerpoint/2010/main" val="3095705673"/>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21A5E430-97AE-C04C-BB4B-47DC21A043A5}" type="slidenum">
              <a:rPr lang="en-US" smtClean="0"/>
              <a:t>5</a:t>
            </a:fld>
            <a:endParaRPr lang="en-US"/>
          </a:p>
        </p:txBody>
      </p:sp>
    </p:spTree>
    <p:extLst>
      <p:ext uri="{BB962C8B-B14F-4D97-AF65-F5344CB8AC3E}">
        <p14:creationId xmlns:p14="http://schemas.microsoft.com/office/powerpoint/2010/main" val="154381873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21A5E430-97AE-C04C-BB4B-47DC21A043A5}" type="slidenum">
              <a:rPr lang="en-US" smtClean="0"/>
              <a:t>6</a:t>
            </a:fld>
            <a:endParaRPr lang="en-US"/>
          </a:p>
        </p:txBody>
      </p:sp>
    </p:spTree>
    <p:extLst>
      <p:ext uri="{BB962C8B-B14F-4D97-AF65-F5344CB8AC3E}">
        <p14:creationId xmlns:p14="http://schemas.microsoft.com/office/powerpoint/2010/main" val="2628263280"/>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21A5E430-97AE-C04C-BB4B-47DC21A043A5}" type="slidenum">
              <a:rPr lang="en-US" smtClean="0"/>
              <a:t>7</a:t>
            </a:fld>
            <a:endParaRPr lang="en-US"/>
          </a:p>
        </p:txBody>
      </p:sp>
    </p:spTree>
    <p:extLst>
      <p:ext uri="{BB962C8B-B14F-4D97-AF65-F5344CB8AC3E}">
        <p14:creationId xmlns:p14="http://schemas.microsoft.com/office/powerpoint/2010/main" val="1559430333"/>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DA1A729-CEC1-A67A-DEB0-A0F1AC97105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3490ABA-879C-2ABE-3592-499AC1C65B5B}"/>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A35C279B-D609-457E-6586-E7BE0A0A04E2}"/>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570468FE-ADC5-03BA-2392-8F49034696C7}"/>
              </a:ext>
            </a:extLst>
          </p:cNvPr>
          <p:cNvSpPr>
            <a:spLocks noGrp="1"/>
          </p:cNvSpPr>
          <p:nvPr>
            <p:ph type="sldNum" sz="quarter" idx="5"/>
          </p:nvPr>
        </p:nvSpPr>
        <p:spPr/>
        <p:txBody>
          <a:bodyPr/>
          <a:lstStyle/>
          <a:p>
            <a:fld id="{21A5E430-97AE-C04C-BB4B-47DC21A043A5}" type="slidenum">
              <a:rPr lang="en-US" smtClean="0"/>
              <a:t>8</a:t>
            </a:fld>
            <a:endParaRPr lang="en-US"/>
          </a:p>
        </p:txBody>
      </p:sp>
    </p:spTree>
    <p:extLst>
      <p:ext uri="{BB962C8B-B14F-4D97-AF65-F5344CB8AC3E}">
        <p14:creationId xmlns:p14="http://schemas.microsoft.com/office/powerpoint/2010/main" val="2295609608"/>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2C54B33-49AB-59B7-1D49-F06B0244262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FF7E09E-5D29-5F98-F32E-F61A4517A381}"/>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36506D32-676F-FF93-322F-ADD30683FCAB}"/>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F62B9C56-011D-C04C-43DD-B154BDB938C2}"/>
              </a:ext>
            </a:extLst>
          </p:cNvPr>
          <p:cNvSpPr>
            <a:spLocks noGrp="1"/>
          </p:cNvSpPr>
          <p:nvPr>
            <p:ph type="sldNum" sz="quarter" idx="5"/>
          </p:nvPr>
        </p:nvSpPr>
        <p:spPr/>
        <p:txBody>
          <a:bodyPr/>
          <a:lstStyle/>
          <a:p>
            <a:fld id="{21A5E430-97AE-C04C-BB4B-47DC21A043A5}" type="slidenum">
              <a:rPr lang="en-US" smtClean="0"/>
              <a:t>11</a:t>
            </a:fld>
            <a:endParaRPr lang="en-US"/>
          </a:p>
        </p:txBody>
      </p:sp>
    </p:spTree>
    <p:extLst>
      <p:ext uri="{BB962C8B-B14F-4D97-AF65-F5344CB8AC3E}">
        <p14:creationId xmlns:p14="http://schemas.microsoft.com/office/powerpoint/2010/main" val="2597253245"/>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228600" indent="-228600">
              <a:lnSpc>
                <a:spcPct val="115000"/>
              </a:lnSpc>
              <a:spcAft>
                <a:spcPts val="1400"/>
              </a:spcAft>
              <a:buSzPct val="100000"/>
              <a:buChar char="•"/>
            </a:pPr>
            <a:r>
              <a:rPr lang="en-US" sz="1050" dirty="0">
                <a:solidFill>
                  <a:srgbClr val="1B2733"/>
                </a:solidFill>
                <a:latin typeface="Calibri" pitchFamily="34" charset="0"/>
                <a:ea typeface="Calibri" pitchFamily="34" charset="-122"/>
                <a:cs typeface="Calibri" pitchFamily="34" charset="-120"/>
              </a:rPr>
              <a:t>Underfitting zone: both errors high</a:t>
            </a:r>
            <a:endParaRPr lang="en-US" sz="1050" dirty="0"/>
          </a:p>
          <a:p>
            <a:pPr marL="228600" indent="-228600">
              <a:lnSpc>
                <a:spcPct val="115000"/>
              </a:lnSpc>
              <a:spcAft>
                <a:spcPts val="1400"/>
              </a:spcAft>
              <a:buSzPct val="100000"/>
              <a:buChar char="•"/>
            </a:pPr>
            <a:r>
              <a:rPr lang="en-US" sz="1050" dirty="0">
                <a:solidFill>
                  <a:srgbClr val="1B2733"/>
                </a:solidFill>
                <a:latin typeface="Calibri" pitchFamily="34" charset="0"/>
                <a:ea typeface="Calibri" pitchFamily="34" charset="-122"/>
                <a:cs typeface="Calibri" pitchFamily="34" charset="-120"/>
              </a:rPr>
              <a:t>Overfitting zone: gap between train &amp; generalization error widens</a:t>
            </a:r>
            <a:endParaRPr lang="en-US" sz="1050" dirty="0"/>
          </a:p>
          <a:p>
            <a:pPr marL="228600" indent="-228600">
              <a:lnSpc>
                <a:spcPct val="115000"/>
              </a:lnSpc>
              <a:spcAft>
                <a:spcPts val="1400"/>
              </a:spcAft>
              <a:buSzPct val="100000"/>
              <a:buChar char="•"/>
            </a:pPr>
            <a:r>
              <a:rPr lang="en-US" sz="1050" dirty="0">
                <a:solidFill>
                  <a:srgbClr val="1B2733"/>
                </a:solidFill>
                <a:latin typeface="Calibri" pitchFamily="34" charset="0"/>
                <a:ea typeface="Calibri" pitchFamily="34" charset="-122"/>
                <a:cs typeface="Calibri" pitchFamily="34" charset="-120"/>
              </a:rPr>
              <a:t>No Free Lunch theorem: averaged over all possible tasks, no algorithm beats any other — we must pick a capacity fit to the task</a:t>
            </a:r>
            <a:endParaRPr lang="en-US" sz="1050" dirty="0"/>
          </a:p>
        </p:txBody>
      </p:sp>
      <p:sp>
        <p:nvSpPr>
          <p:cNvPr id="4" name="Slide Number Placeholder 3"/>
          <p:cNvSpPr>
            <a:spLocks noGrp="1"/>
          </p:cNvSpPr>
          <p:nvPr>
            <p:ph type="sldNum" sz="quarter" idx="5"/>
          </p:nvPr>
        </p:nvSpPr>
        <p:spPr/>
        <p:txBody>
          <a:bodyPr/>
          <a:lstStyle/>
          <a:p>
            <a:fld id="{21A5E430-97AE-C04C-BB4B-47DC21A043A5}" type="slidenum">
              <a:rPr lang="en-US" smtClean="0"/>
              <a:t>12</a:t>
            </a:fld>
            <a:endParaRPr lang="en-US"/>
          </a:p>
        </p:txBody>
      </p:sp>
    </p:spTree>
    <p:extLst>
      <p:ext uri="{BB962C8B-B14F-4D97-AF65-F5344CB8AC3E}">
        <p14:creationId xmlns:p14="http://schemas.microsoft.com/office/powerpoint/2010/main" val="3942487604"/>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21A5E430-97AE-C04C-BB4B-47DC21A043A5}" type="slidenum">
              <a:rPr lang="en-US" smtClean="0"/>
              <a:t>13</a:t>
            </a:fld>
            <a:endParaRPr lang="en-US"/>
          </a:p>
        </p:txBody>
      </p:sp>
    </p:spTree>
    <p:extLst>
      <p:ext uri="{BB962C8B-B14F-4D97-AF65-F5344CB8AC3E}">
        <p14:creationId xmlns:p14="http://schemas.microsoft.com/office/powerpoint/2010/main" val="193427961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21A5E430-97AE-C04C-BB4B-47DC21A043A5}" type="slidenum">
              <a:rPr lang="en-US" smtClean="0"/>
              <a:t>19</a:t>
            </a:fld>
            <a:endParaRPr lang="en-US"/>
          </a:p>
        </p:txBody>
      </p:sp>
    </p:spTree>
    <p:extLst>
      <p:ext uri="{BB962C8B-B14F-4D97-AF65-F5344CB8AC3E}">
        <p14:creationId xmlns:p14="http://schemas.microsoft.com/office/powerpoint/2010/main" val="2940781256"/>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21A5E430-97AE-C04C-BB4B-47DC21A043A5}" type="slidenum">
              <a:rPr lang="en-US" smtClean="0"/>
              <a:t>21</a:t>
            </a:fld>
            <a:endParaRPr lang="en-US"/>
          </a:p>
        </p:txBody>
      </p:sp>
    </p:spTree>
    <p:extLst>
      <p:ext uri="{BB962C8B-B14F-4D97-AF65-F5344CB8AC3E}">
        <p14:creationId xmlns:p14="http://schemas.microsoft.com/office/powerpoint/2010/main" val="3086017340"/>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0F10ABA-4290-90CD-CC55-F20491E4001E}"/>
              </a:ext>
            </a:extLst>
          </p:cNvPr>
          <p:cNvSpPr>
            <a:spLocks noGrp="1"/>
          </p:cNvSpPr>
          <p:nvPr>
            <p:ph type="ctrTitle"/>
          </p:nvPr>
        </p:nvSpPr>
        <p:spPr>
          <a:xfrm>
            <a:off x="1524000" y="1122363"/>
            <a:ext cx="9144000" cy="2387600"/>
          </a:xfrm>
        </p:spPr>
        <p:txBody>
          <a:bodyPr anchor="b"/>
          <a:lstStyle>
            <a:lvl1pPr algn="ctr">
              <a:defRPr sz="6000"/>
            </a:lvl1pPr>
          </a:lstStyle>
          <a:p>
            <a:r>
              <a:rPr lang="en-GB"/>
              <a:t>Click to edit Master title style</a:t>
            </a:r>
            <a:endParaRPr lang="en-US"/>
          </a:p>
        </p:txBody>
      </p:sp>
      <p:sp>
        <p:nvSpPr>
          <p:cNvPr id="3" name="Subtitle 2">
            <a:extLst>
              <a:ext uri="{FF2B5EF4-FFF2-40B4-BE49-F238E27FC236}">
                <a16:creationId xmlns:a16="http://schemas.microsoft.com/office/drawing/2014/main" id="{67F24B89-364B-EE61-91C7-B9F06B42CD1D}"/>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GB"/>
              <a:t>Click to edit Master subtitle style</a:t>
            </a:r>
            <a:endParaRPr lang="en-US"/>
          </a:p>
        </p:txBody>
      </p:sp>
      <p:sp>
        <p:nvSpPr>
          <p:cNvPr id="4" name="Date Placeholder 3">
            <a:extLst>
              <a:ext uri="{FF2B5EF4-FFF2-40B4-BE49-F238E27FC236}">
                <a16:creationId xmlns:a16="http://schemas.microsoft.com/office/drawing/2014/main" id="{FEBF63DC-9861-DCAD-6ABF-69C738D52412}"/>
              </a:ext>
            </a:extLst>
          </p:cNvPr>
          <p:cNvSpPr>
            <a:spLocks noGrp="1"/>
          </p:cNvSpPr>
          <p:nvPr>
            <p:ph type="dt" sz="half" idx="10"/>
          </p:nvPr>
        </p:nvSpPr>
        <p:spPr/>
        <p:txBody>
          <a:bodyPr/>
          <a:lstStyle/>
          <a:p>
            <a:fld id="{B61BEF0D-F0BB-DE4B-95CE-6DB70DBA9567}" type="datetimeFigureOut">
              <a:rPr lang="en-US" smtClean="0"/>
              <a:pPr/>
              <a:t>8/24/26</a:t>
            </a:fld>
            <a:endParaRPr lang="en-US" dirty="0"/>
          </a:p>
        </p:txBody>
      </p:sp>
      <p:sp>
        <p:nvSpPr>
          <p:cNvPr id="5" name="Footer Placeholder 4">
            <a:extLst>
              <a:ext uri="{FF2B5EF4-FFF2-40B4-BE49-F238E27FC236}">
                <a16:creationId xmlns:a16="http://schemas.microsoft.com/office/drawing/2014/main" id="{12614E29-F2F6-0C59-6484-F3A7E29D6B64}"/>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A7BCAEEB-1E1D-36B5-14CA-0489A1229892}"/>
              </a:ext>
            </a:extLst>
          </p:cNvPr>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192352076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11AF66E-2238-2945-30ED-0D5D903A9A7D}"/>
              </a:ext>
            </a:extLst>
          </p:cNvPr>
          <p:cNvSpPr>
            <a:spLocks noGrp="1"/>
          </p:cNvSpPr>
          <p:nvPr>
            <p:ph type="title"/>
          </p:nvPr>
        </p:nvSpPr>
        <p:spPr/>
        <p:txBody>
          <a:bodyPr/>
          <a:lstStyle/>
          <a:p>
            <a:r>
              <a:rPr lang="en-GB"/>
              <a:t>Click to edit Master title style</a:t>
            </a:r>
            <a:endParaRPr lang="en-US"/>
          </a:p>
        </p:txBody>
      </p:sp>
      <p:sp>
        <p:nvSpPr>
          <p:cNvPr id="3" name="Content Placeholder 2">
            <a:extLst>
              <a:ext uri="{FF2B5EF4-FFF2-40B4-BE49-F238E27FC236}">
                <a16:creationId xmlns:a16="http://schemas.microsoft.com/office/drawing/2014/main" id="{DE216DA5-3118-31B7-4826-91DCF97495CC}"/>
              </a:ext>
            </a:extLst>
          </p:cNvPr>
          <p:cNvSpPr>
            <a:spLocks noGrp="1"/>
          </p:cNvSpPr>
          <p:nvPr>
            <p:ph idx="1"/>
          </p:nvPr>
        </p:nvSpPr>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Date Placeholder 3">
            <a:extLst>
              <a:ext uri="{FF2B5EF4-FFF2-40B4-BE49-F238E27FC236}">
                <a16:creationId xmlns:a16="http://schemas.microsoft.com/office/drawing/2014/main" id="{C6A64AF0-DB24-1918-D680-D607CC937796}"/>
              </a:ext>
            </a:extLst>
          </p:cNvPr>
          <p:cNvSpPr>
            <a:spLocks noGrp="1"/>
          </p:cNvSpPr>
          <p:nvPr>
            <p:ph type="dt" sz="half" idx="10"/>
          </p:nvPr>
        </p:nvSpPr>
        <p:spPr/>
        <p:txBody>
          <a:bodyPr/>
          <a:lstStyle/>
          <a:p>
            <a:fld id="{B61BEF0D-F0BB-DE4B-95CE-6DB70DBA9567}" type="datetimeFigureOut">
              <a:rPr lang="en-US" smtClean="0"/>
              <a:pPr/>
              <a:t>8/24/26</a:t>
            </a:fld>
            <a:endParaRPr lang="en-US" dirty="0"/>
          </a:p>
        </p:txBody>
      </p:sp>
      <p:sp>
        <p:nvSpPr>
          <p:cNvPr id="5" name="Footer Placeholder 4">
            <a:extLst>
              <a:ext uri="{FF2B5EF4-FFF2-40B4-BE49-F238E27FC236}">
                <a16:creationId xmlns:a16="http://schemas.microsoft.com/office/drawing/2014/main" id="{0268A90F-2980-A2E6-466C-5402C1FC4D91}"/>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77868EC3-A8B5-7BBB-739B-70BA6D09F966}"/>
              </a:ext>
            </a:extLst>
          </p:cNvPr>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403785264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DC7C189-E67A-DEEB-8B84-7C335EFE0C44}"/>
              </a:ext>
            </a:extLst>
          </p:cNvPr>
          <p:cNvSpPr>
            <a:spLocks noGrp="1"/>
          </p:cNvSpPr>
          <p:nvPr>
            <p:ph type="title"/>
          </p:nvPr>
        </p:nvSpPr>
        <p:spPr>
          <a:xfrm>
            <a:off x="831850" y="1709738"/>
            <a:ext cx="10515600" cy="2852737"/>
          </a:xfrm>
        </p:spPr>
        <p:txBody>
          <a:bodyPr anchor="b"/>
          <a:lstStyle>
            <a:lvl1pPr>
              <a:defRPr sz="6000"/>
            </a:lvl1pPr>
          </a:lstStyle>
          <a:p>
            <a:r>
              <a:rPr lang="en-GB"/>
              <a:t>Click to edit Master title style</a:t>
            </a:r>
            <a:endParaRPr lang="en-US"/>
          </a:p>
        </p:txBody>
      </p:sp>
      <p:sp>
        <p:nvSpPr>
          <p:cNvPr id="3" name="Text Placeholder 2">
            <a:extLst>
              <a:ext uri="{FF2B5EF4-FFF2-40B4-BE49-F238E27FC236}">
                <a16:creationId xmlns:a16="http://schemas.microsoft.com/office/drawing/2014/main" id="{324ED7FA-A772-AA86-E957-C377B21763E9}"/>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GB"/>
              <a:t>Click to edit Master text styles</a:t>
            </a:r>
          </a:p>
        </p:txBody>
      </p:sp>
      <p:sp>
        <p:nvSpPr>
          <p:cNvPr id="4" name="Date Placeholder 3">
            <a:extLst>
              <a:ext uri="{FF2B5EF4-FFF2-40B4-BE49-F238E27FC236}">
                <a16:creationId xmlns:a16="http://schemas.microsoft.com/office/drawing/2014/main" id="{8FC76E92-A603-E836-46A2-21459F70329C}"/>
              </a:ext>
            </a:extLst>
          </p:cNvPr>
          <p:cNvSpPr>
            <a:spLocks noGrp="1"/>
          </p:cNvSpPr>
          <p:nvPr>
            <p:ph type="dt" sz="half" idx="10"/>
          </p:nvPr>
        </p:nvSpPr>
        <p:spPr/>
        <p:txBody>
          <a:bodyPr/>
          <a:lstStyle/>
          <a:p>
            <a:fld id="{B61BEF0D-F0BB-DE4B-95CE-6DB70DBA9567}" type="datetimeFigureOut">
              <a:rPr lang="en-US" smtClean="0"/>
              <a:pPr/>
              <a:t>8/24/26</a:t>
            </a:fld>
            <a:endParaRPr lang="en-US" dirty="0"/>
          </a:p>
        </p:txBody>
      </p:sp>
      <p:sp>
        <p:nvSpPr>
          <p:cNvPr id="5" name="Footer Placeholder 4">
            <a:extLst>
              <a:ext uri="{FF2B5EF4-FFF2-40B4-BE49-F238E27FC236}">
                <a16:creationId xmlns:a16="http://schemas.microsoft.com/office/drawing/2014/main" id="{D2E73A2D-7527-2749-6AC2-791551C544EF}"/>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4E2646D8-F5E0-55C9-DFA9-AE038A78394F}"/>
              </a:ext>
            </a:extLst>
          </p:cNvPr>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19242315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F34EC26-3DD7-E942-7FD3-AD4642215FD4}"/>
              </a:ext>
            </a:extLst>
          </p:cNvPr>
          <p:cNvSpPr>
            <a:spLocks noGrp="1"/>
          </p:cNvSpPr>
          <p:nvPr>
            <p:ph type="title"/>
          </p:nvPr>
        </p:nvSpPr>
        <p:spPr/>
        <p:txBody>
          <a:bodyPr/>
          <a:lstStyle/>
          <a:p>
            <a:r>
              <a:rPr lang="en-GB"/>
              <a:t>Click to edit Master title style</a:t>
            </a:r>
            <a:endParaRPr lang="en-US"/>
          </a:p>
        </p:txBody>
      </p:sp>
      <p:sp>
        <p:nvSpPr>
          <p:cNvPr id="3" name="Content Placeholder 2">
            <a:extLst>
              <a:ext uri="{FF2B5EF4-FFF2-40B4-BE49-F238E27FC236}">
                <a16:creationId xmlns:a16="http://schemas.microsoft.com/office/drawing/2014/main" id="{5C8AE2B3-6415-0C9F-2B63-AAD8FE7CB5D6}"/>
              </a:ext>
            </a:extLst>
          </p:cNvPr>
          <p:cNvSpPr>
            <a:spLocks noGrp="1"/>
          </p:cNvSpPr>
          <p:nvPr>
            <p:ph sz="half" idx="1"/>
          </p:nvPr>
        </p:nvSpPr>
        <p:spPr>
          <a:xfrm>
            <a:off x="838200" y="1825625"/>
            <a:ext cx="5181600" cy="435133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Content Placeholder 3">
            <a:extLst>
              <a:ext uri="{FF2B5EF4-FFF2-40B4-BE49-F238E27FC236}">
                <a16:creationId xmlns:a16="http://schemas.microsoft.com/office/drawing/2014/main" id="{BDD4849E-962A-A5CF-1EFF-A5D9F6D2D63C}"/>
              </a:ext>
            </a:extLst>
          </p:cNvPr>
          <p:cNvSpPr>
            <a:spLocks noGrp="1"/>
          </p:cNvSpPr>
          <p:nvPr>
            <p:ph sz="half" idx="2"/>
          </p:nvPr>
        </p:nvSpPr>
        <p:spPr>
          <a:xfrm>
            <a:off x="6172200" y="1825625"/>
            <a:ext cx="5181600" cy="435133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5" name="Date Placeholder 4">
            <a:extLst>
              <a:ext uri="{FF2B5EF4-FFF2-40B4-BE49-F238E27FC236}">
                <a16:creationId xmlns:a16="http://schemas.microsoft.com/office/drawing/2014/main" id="{98A4F206-C4C3-7740-140B-91013CDDE4E5}"/>
              </a:ext>
            </a:extLst>
          </p:cNvPr>
          <p:cNvSpPr>
            <a:spLocks noGrp="1"/>
          </p:cNvSpPr>
          <p:nvPr>
            <p:ph type="dt" sz="half" idx="10"/>
          </p:nvPr>
        </p:nvSpPr>
        <p:spPr/>
        <p:txBody>
          <a:bodyPr/>
          <a:lstStyle/>
          <a:p>
            <a:fld id="{B61BEF0D-F0BB-DE4B-95CE-6DB70DBA9567}" type="datetimeFigureOut">
              <a:rPr lang="en-US" smtClean="0"/>
              <a:pPr/>
              <a:t>8/24/26</a:t>
            </a:fld>
            <a:endParaRPr lang="en-US" dirty="0"/>
          </a:p>
        </p:txBody>
      </p:sp>
      <p:sp>
        <p:nvSpPr>
          <p:cNvPr id="6" name="Footer Placeholder 5">
            <a:extLst>
              <a:ext uri="{FF2B5EF4-FFF2-40B4-BE49-F238E27FC236}">
                <a16:creationId xmlns:a16="http://schemas.microsoft.com/office/drawing/2014/main" id="{AF950921-80EB-4B2D-95C6-1C999B360571}"/>
              </a:ext>
            </a:extLst>
          </p:cNvPr>
          <p:cNvSpPr>
            <a:spLocks noGrp="1"/>
          </p:cNvSpPr>
          <p:nvPr>
            <p:ph type="ftr" sz="quarter" idx="11"/>
          </p:nvPr>
        </p:nvSpPr>
        <p:spPr/>
        <p:txBody>
          <a:bodyPr/>
          <a:lstStyle/>
          <a:p>
            <a:endParaRPr lang="en-US" dirty="0"/>
          </a:p>
        </p:txBody>
      </p:sp>
      <p:sp>
        <p:nvSpPr>
          <p:cNvPr id="7" name="Slide Number Placeholder 6">
            <a:extLst>
              <a:ext uri="{FF2B5EF4-FFF2-40B4-BE49-F238E27FC236}">
                <a16:creationId xmlns:a16="http://schemas.microsoft.com/office/drawing/2014/main" id="{F3CF45F9-5E9B-8C6E-6D1D-0A82EC8FE6F3}"/>
              </a:ext>
            </a:extLst>
          </p:cNvPr>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359769416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3595D9A-3AD0-657C-C3CB-A50C23979097}"/>
              </a:ext>
            </a:extLst>
          </p:cNvPr>
          <p:cNvSpPr>
            <a:spLocks noGrp="1"/>
          </p:cNvSpPr>
          <p:nvPr>
            <p:ph type="title"/>
          </p:nvPr>
        </p:nvSpPr>
        <p:spPr>
          <a:xfrm>
            <a:off x="839788" y="365125"/>
            <a:ext cx="10515600" cy="1325563"/>
          </a:xfrm>
        </p:spPr>
        <p:txBody>
          <a:bodyPr/>
          <a:lstStyle/>
          <a:p>
            <a:r>
              <a:rPr lang="en-GB"/>
              <a:t>Click to edit Master title style</a:t>
            </a:r>
            <a:endParaRPr lang="en-US"/>
          </a:p>
        </p:txBody>
      </p:sp>
      <p:sp>
        <p:nvSpPr>
          <p:cNvPr id="3" name="Text Placeholder 2">
            <a:extLst>
              <a:ext uri="{FF2B5EF4-FFF2-40B4-BE49-F238E27FC236}">
                <a16:creationId xmlns:a16="http://schemas.microsoft.com/office/drawing/2014/main" id="{8B9496E7-6FDA-8F23-1869-AFDF16E7DF5E}"/>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4" name="Content Placeholder 3">
            <a:extLst>
              <a:ext uri="{FF2B5EF4-FFF2-40B4-BE49-F238E27FC236}">
                <a16:creationId xmlns:a16="http://schemas.microsoft.com/office/drawing/2014/main" id="{3661602A-B874-4D33-8037-C166D9D32A80}"/>
              </a:ext>
            </a:extLst>
          </p:cNvPr>
          <p:cNvSpPr>
            <a:spLocks noGrp="1"/>
          </p:cNvSpPr>
          <p:nvPr>
            <p:ph sz="half" idx="2"/>
          </p:nvPr>
        </p:nvSpPr>
        <p:spPr>
          <a:xfrm>
            <a:off x="839788" y="2505075"/>
            <a:ext cx="5157787" cy="368458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5" name="Text Placeholder 4">
            <a:extLst>
              <a:ext uri="{FF2B5EF4-FFF2-40B4-BE49-F238E27FC236}">
                <a16:creationId xmlns:a16="http://schemas.microsoft.com/office/drawing/2014/main" id="{06538C1A-755F-F467-FB5F-2740E9A8A6E2}"/>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6" name="Content Placeholder 5">
            <a:extLst>
              <a:ext uri="{FF2B5EF4-FFF2-40B4-BE49-F238E27FC236}">
                <a16:creationId xmlns:a16="http://schemas.microsoft.com/office/drawing/2014/main" id="{29968491-33EA-3F5E-3142-9D822916CDBA}"/>
              </a:ext>
            </a:extLst>
          </p:cNvPr>
          <p:cNvSpPr>
            <a:spLocks noGrp="1"/>
          </p:cNvSpPr>
          <p:nvPr>
            <p:ph sz="quarter" idx="4"/>
          </p:nvPr>
        </p:nvSpPr>
        <p:spPr>
          <a:xfrm>
            <a:off x="6172200" y="2505075"/>
            <a:ext cx="5183188" cy="368458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7" name="Date Placeholder 6">
            <a:extLst>
              <a:ext uri="{FF2B5EF4-FFF2-40B4-BE49-F238E27FC236}">
                <a16:creationId xmlns:a16="http://schemas.microsoft.com/office/drawing/2014/main" id="{8E6F0A4D-B479-3C8E-68BA-F49180D7D4A7}"/>
              </a:ext>
            </a:extLst>
          </p:cNvPr>
          <p:cNvSpPr>
            <a:spLocks noGrp="1"/>
          </p:cNvSpPr>
          <p:nvPr>
            <p:ph type="dt" sz="half" idx="10"/>
          </p:nvPr>
        </p:nvSpPr>
        <p:spPr/>
        <p:txBody>
          <a:bodyPr/>
          <a:lstStyle/>
          <a:p>
            <a:fld id="{B61BEF0D-F0BB-DE4B-95CE-6DB70DBA9567}" type="datetimeFigureOut">
              <a:rPr lang="en-US" smtClean="0"/>
              <a:pPr/>
              <a:t>8/24/26</a:t>
            </a:fld>
            <a:endParaRPr lang="en-US" dirty="0"/>
          </a:p>
        </p:txBody>
      </p:sp>
      <p:sp>
        <p:nvSpPr>
          <p:cNvPr id="8" name="Footer Placeholder 7">
            <a:extLst>
              <a:ext uri="{FF2B5EF4-FFF2-40B4-BE49-F238E27FC236}">
                <a16:creationId xmlns:a16="http://schemas.microsoft.com/office/drawing/2014/main" id="{EFEA6669-6B95-0CBE-1D95-890C54EE827C}"/>
              </a:ext>
            </a:extLst>
          </p:cNvPr>
          <p:cNvSpPr>
            <a:spLocks noGrp="1"/>
          </p:cNvSpPr>
          <p:nvPr>
            <p:ph type="ftr" sz="quarter" idx="11"/>
          </p:nvPr>
        </p:nvSpPr>
        <p:spPr/>
        <p:txBody>
          <a:bodyPr/>
          <a:lstStyle/>
          <a:p>
            <a:endParaRPr lang="en-US" dirty="0"/>
          </a:p>
        </p:txBody>
      </p:sp>
      <p:sp>
        <p:nvSpPr>
          <p:cNvPr id="9" name="Slide Number Placeholder 8">
            <a:extLst>
              <a:ext uri="{FF2B5EF4-FFF2-40B4-BE49-F238E27FC236}">
                <a16:creationId xmlns:a16="http://schemas.microsoft.com/office/drawing/2014/main" id="{F44083EE-4D9B-D81A-FD71-5D6A16DDF182}"/>
              </a:ext>
            </a:extLst>
          </p:cNvPr>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286077294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FEE6E9B-AD06-B997-1AE7-3073AFFCB840}"/>
              </a:ext>
            </a:extLst>
          </p:cNvPr>
          <p:cNvSpPr>
            <a:spLocks noGrp="1"/>
          </p:cNvSpPr>
          <p:nvPr>
            <p:ph type="title"/>
          </p:nvPr>
        </p:nvSpPr>
        <p:spPr/>
        <p:txBody>
          <a:bodyPr/>
          <a:lstStyle/>
          <a:p>
            <a:r>
              <a:rPr lang="en-GB"/>
              <a:t>Click to edit Master title style</a:t>
            </a:r>
            <a:endParaRPr lang="en-US"/>
          </a:p>
        </p:txBody>
      </p:sp>
      <p:sp>
        <p:nvSpPr>
          <p:cNvPr id="3" name="Date Placeholder 2">
            <a:extLst>
              <a:ext uri="{FF2B5EF4-FFF2-40B4-BE49-F238E27FC236}">
                <a16:creationId xmlns:a16="http://schemas.microsoft.com/office/drawing/2014/main" id="{17726203-6C54-59B6-ADFE-EA8A4741EDA9}"/>
              </a:ext>
            </a:extLst>
          </p:cNvPr>
          <p:cNvSpPr>
            <a:spLocks noGrp="1"/>
          </p:cNvSpPr>
          <p:nvPr>
            <p:ph type="dt" sz="half" idx="10"/>
          </p:nvPr>
        </p:nvSpPr>
        <p:spPr/>
        <p:txBody>
          <a:bodyPr/>
          <a:lstStyle/>
          <a:p>
            <a:fld id="{B61BEF0D-F0BB-DE4B-95CE-6DB70DBA9567}" type="datetimeFigureOut">
              <a:rPr lang="en-US" smtClean="0"/>
              <a:pPr/>
              <a:t>8/24/26</a:t>
            </a:fld>
            <a:endParaRPr lang="en-US" dirty="0"/>
          </a:p>
        </p:txBody>
      </p:sp>
      <p:sp>
        <p:nvSpPr>
          <p:cNvPr id="4" name="Footer Placeholder 3">
            <a:extLst>
              <a:ext uri="{FF2B5EF4-FFF2-40B4-BE49-F238E27FC236}">
                <a16:creationId xmlns:a16="http://schemas.microsoft.com/office/drawing/2014/main" id="{B0FE622D-800D-BD21-04BE-E0E9D2C3969F}"/>
              </a:ext>
            </a:extLst>
          </p:cNvPr>
          <p:cNvSpPr>
            <a:spLocks noGrp="1"/>
          </p:cNvSpPr>
          <p:nvPr>
            <p:ph type="ftr" sz="quarter" idx="11"/>
          </p:nvPr>
        </p:nvSpPr>
        <p:spPr/>
        <p:txBody>
          <a:bodyPr/>
          <a:lstStyle/>
          <a:p>
            <a:endParaRPr lang="en-US" dirty="0"/>
          </a:p>
        </p:txBody>
      </p:sp>
      <p:sp>
        <p:nvSpPr>
          <p:cNvPr id="5" name="Slide Number Placeholder 4">
            <a:extLst>
              <a:ext uri="{FF2B5EF4-FFF2-40B4-BE49-F238E27FC236}">
                <a16:creationId xmlns:a16="http://schemas.microsoft.com/office/drawing/2014/main" id="{13B3FC2C-3FA0-9A58-0F7D-02622CA35CF8}"/>
              </a:ext>
            </a:extLst>
          </p:cNvPr>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56036748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F5F2467D-6BE5-9E50-E767-5B64065B9B61}"/>
              </a:ext>
            </a:extLst>
          </p:cNvPr>
          <p:cNvSpPr>
            <a:spLocks noGrp="1"/>
          </p:cNvSpPr>
          <p:nvPr>
            <p:ph type="dt" sz="half" idx="10"/>
          </p:nvPr>
        </p:nvSpPr>
        <p:spPr/>
        <p:txBody>
          <a:bodyPr/>
          <a:lstStyle/>
          <a:p>
            <a:fld id="{B61BEF0D-F0BB-DE4B-95CE-6DB70DBA9567}" type="datetimeFigureOut">
              <a:rPr lang="en-US" smtClean="0"/>
              <a:pPr/>
              <a:t>8/24/26</a:t>
            </a:fld>
            <a:endParaRPr lang="en-US" dirty="0"/>
          </a:p>
        </p:txBody>
      </p:sp>
      <p:sp>
        <p:nvSpPr>
          <p:cNvPr id="3" name="Footer Placeholder 2">
            <a:extLst>
              <a:ext uri="{FF2B5EF4-FFF2-40B4-BE49-F238E27FC236}">
                <a16:creationId xmlns:a16="http://schemas.microsoft.com/office/drawing/2014/main" id="{2D5DD547-4603-D852-B1B3-A5C380C6748C}"/>
              </a:ext>
            </a:extLst>
          </p:cNvPr>
          <p:cNvSpPr>
            <a:spLocks noGrp="1"/>
          </p:cNvSpPr>
          <p:nvPr>
            <p:ph type="ftr" sz="quarter" idx="11"/>
          </p:nvPr>
        </p:nvSpPr>
        <p:spPr/>
        <p:txBody>
          <a:bodyPr/>
          <a:lstStyle/>
          <a:p>
            <a:endParaRPr lang="en-US" dirty="0"/>
          </a:p>
        </p:txBody>
      </p:sp>
      <p:sp>
        <p:nvSpPr>
          <p:cNvPr id="4" name="Slide Number Placeholder 3">
            <a:extLst>
              <a:ext uri="{FF2B5EF4-FFF2-40B4-BE49-F238E27FC236}">
                <a16:creationId xmlns:a16="http://schemas.microsoft.com/office/drawing/2014/main" id="{ABA6508D-341E-E5BD-C22D-E2BF3A6A6B64}"/>
              </a:ext>
            </a:extLst>
          </p:cNvPr>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41387925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D061ED0-75A3-6E0F-3006-4E70B9C79DCA}"/>
              </a:ext>
            </a:extLst>
          </p:cNvPr>
          <p:cNvSpPr>
            <a:spLocks noGrp="1"/>
          </p:cNvSpPr>
          <p:nvPr>
            <p:ph type="title"/>
          </p:nvPr>
        </p:nvSpPr>
        <p:spPr>
          <a:xfrm>
            <a:off x="839788" y="457200"/>
            <a:ext cx="3932237" cy="1600200"/>
          </a:xfrm>
        </p:spPr>
        <p:txBody>
          <a:bodyPr anchor="b"/>
          <a:lstStyle>
            <a:lvl1pPr>
              <a:defRPr sz="3200"/>
            </a:lvl1pPr>
          </a:lstStyle>
          <a:p>
            <a:r>
              <a:rPr lang="en-GB"/>
              <a:t>Click to edit Master title style</a:t>
            </a:r>
            <a:endParaRPr lang="en-US"/>
          </a:p>
        </p:txBody>
      </p:sp>
      <p:sp>
        <p:nvSpPr>
          <p:cNvPr id="3" name="Content Placeholder 2">
            <a:extLst>
              <a:ext uri="{FF2B5EF4-FFF2-40B4-BE49-F238E27FC236}">
                <a16:creationId xmlns:a16="http://schemas.microsoft.com/office/drawing/2014/main" id="{D61213C3-01A6-E614-D555-D3BC4C59D283}"/>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Text Placeholder 3">
            <a:extLst>
              <a:ext uri="{FF2B5EF4-FFF2-40B4-BE49-F238E27FC236}">
                <a16:creationId xmlns:a16="http://schemas.microsoft.com/office/drawing/2014/main" id="{4C1C72D1-C96F-3382-A48C-F0612B299796}"/>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GB"/>
              <a:t>Click to edit Master text styles</a:t>
            </a:r>
          </a:p>
        </p:txBody>
      </p:sp>
      <p:sp>
        <p:nvSpPr>
          <p:cNvPr id="5" name="Date Placeholder 4">
            <a:extLst>
              <a:ext uri="{FF2B5EF4-FFF2-40B4-BE49-F238E27FC236}">
                <a16:creationId xmlns:a16="http://schemas.microsoft.com/office/drawing/2014/main" id="{7DC90C82-959E-DF3F-38A5-159F3E4EE801}"/>
              </a:ext>
            </a:extLst>
          </p:cNvPr>
          <p:cNvSpPr>
            <a:spLocks noGrp="1"/>
          </p:cNvSpPr>
          <p:nvPr>
            <p:ph type="dt" sz="half" idx="10"/>
          </p:nvPr>
        </p:nvSpPr>
        <p:spPr/>
        <p:txBody>
          <a:bodyPr/>
          <a:lstStyle/>
          <a:p>
            <a:fld id="{B61BEF0D-F0BB-DE4B-95CE-6DB70DBA9567}" type="datetimeFigureOut">
              <a:rPr lang="en-US" smtClean="0"/>
              <a:pPr/>
              <a:t>8/24/26</a:t>
            </a:fld>
            <a:endParaRPr lang="en-US" dirty="0"/>
          </a:p>
        </p:txBody>
      </p:sp>
      <p:sp>
        <p:nvSpPr>
          <p:cNvPr id="6" name="Footer Placeholder 5">
            <a:extLst>
              <a:ext uri="{FF2B5EF4-FFF2-40B4-BE49-F238E27FC236}">
                <a16:creationId xmlns:a16="http://schemas.microsoft.com/office/drawing/2014/main" id="{57569977-4322-D261-2170-1A0B6CD763D7}"/>
              </a:ext>
            </a:extLst>
          </p:cNvPr>
          <p:cNvSpPr>
            <a:spLocks noGrp="1"/>
          </p:cNvSpPr>
          <p:nvPr>
            <p:ph type="ftr" sz="quarter" idx="11"/>
          </p:nvPr>
        </p:nvSpPr>
        <p:spPr/>
        <p:txBody>
          <a:bodyPr/>
          <a:lstStyle/>
          <a:p>
            <a:endParaRPr lang="en-US" dirty="0"/>
          </a:p>
        </p:txBody>
      </p:sp>
      <p:sp>
        <p:nvSpPr>
          <p:cNvPr id="7" name="Slide Number Placeholder 6">
            <a:extLst>
              <a:ext uri="{FF2B5EF4-FFF2-40B4-BE49-F238E27FC236}">
                <a16:creationId xmlns:a16="http://schemas.microsoft.com/office/drawing/2014/main" id="{13E4B5F3-686B-5E91-86E8-81B85A12262C}"/>
              </a:ext>
            </a:extLst>
          </p:cNvPr>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350630413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3730422-F15A-4C2C-3C8A-BB5AFE652DB8}"/>
              </a:ext>
            </a:extLst>
          </p:cNvPr>
          <p:cNvSpPr>
            <a:spLocks noGrp="1"/>
          </p:cNvSpPr>
          <p:nvPr>
            <p:ph type="title"/>
          </p:nvPr>
        </p:nvSpPr>
        <p:spPr>
          <a:xfrm>
            <a:off x="839788" y="457200"/>
            <a:ext cx="3932237" cy="1600200"/>
          </a:xfrm>
        </p:spPr>
        <p:txBody>
          <a:bodyPr anchor="b"/>
          <a:lstStyle>
            <a:lvl1pPr>
              <a:defRPr sz="3200"/>
            </a:lvl1pPr>
          </a:lstStyle>
          <a:p>
            <a:r>
              <a:rPr lang="en-GB"/>
              <a:t>Click to edit Master title style</a:t>
            </a:r>
            <a:endParaRPr lang="en-US"/>
          </a:p>
        </p:txBody>
      </p:sp>
      <p:sp>
        <p:nvSpPr>
          <p:cNvPr id="3" name="Picture Placeholder 2">
            <a:extLst>
              <a:ext uri="{FF2B5EF4-FFF2-40B4-BE49-F238E27FC236}">
                <a16:creationId xmlns:a16="http://schemas.microsoft.com/office/drawing/2014/main" id="{B63BD814-F5EA-2E89-F8F7-F916825568F1}"/>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C5345475-4926-2118-0A8D-7E5E64E20287}"/>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GB"/>
              <a:t>Click to edit Master text styles</a:t>
            </a:r>
          </a:p>
        </p:txBody>
      </p:sp>
      <p:sp>
        <p:nvSpPr>
          <p:cNvPr id="5" name="Date Placeholder 4">
            <a:extLst>
              <a:ext uri="{FF2B5EF4-FFF2-40B4-BE49-F238E27FC236}">
                <a16:creationId xmlns:a16="http://schemas.microsoft.com/office/drawing/2014/main" id="{D1CE74AE-202B-63F1-CC92-B6A0B149A619}"/>
              </a:ext>
            </a:extLst>
          </p:cNvPr>
          <p:cNvSpPr>
            <a:spLocks noGrp="1"/>
          </p:cNvSpPr>
          <p:nvPr>
            <p:ph type="dt" sz="half" idx="10"/>
          </p:nvPr>
        </p:nvSpPr>
        <p:spPr/>
        <p:txBody>
          <a:bodyPr/>
          <a:lstStyle/>
          <a:p>
            <a:fld id="{B61BEF0D-F0BB-DE4B-95CE-6DB70DBA9567}" type="datetimeFigureOut">
              <a:rPr lang="en-US" smtClean="0"/>
              <a:pPr/>
              <a:t>8/24/26</a:t>
            </a:fld>
            <a:endParaRPr lang="en-US" dirty="0"/>
          </a:p>
        </p:txBody>
      </p:sp>
      <p:sp>
        <p:nvSpPr>
          <p:cNvPr id="6" name="Footer Placeholder 5">
            <a:extLst>
              <a:ext uri="{FF2B5EF4-FFF2-40B4-BE49-F238E27FC236}">
                <a16:creationId xmlns:a16="http://schemas.microsoft.com/office/drawing/2014/main" id="{D0385DEF-4986-D816-B5EC-52508C7475E6}"/>
              </a:ext>
            </a:extLst>
          </p:cNvPr>
          <p:cNvSpPr>
            <a:spLocks noGrp="1"/>
          </p:cNvSpPr>
          <p:nvPr>
            <p:ph type="ftr" sz="quarter" idx="11"/>
          </p:nvPr>
        </p:nvSpPr>
        <p:spPr/>
        <p:txBody>
          <a:bodyPr/>
          <a:lstStyle/>
          <a:p>
            <a:endParaRPr lang="en-US" dirty="0"/>
          </a:p>
        </p:txBody>
      </p:sp>
      <p:sp>
        <p:nvSpPr>
          <p:cNvPr id="7" name="Slide Number Placeholder 6">
            <a:extLst>
              <a:ext uri="{FF2B5EF4-FFF2-40B4-BE49-F238E27FC236}">
                <a16:creationId xmlns:a16="http://schemas.microsoft.com/office/drawing/2014/main" id="{DC0C0EB8-9FF8-3665-DFC3-2A23C436C1B0}"/>
              </a:ext>
            </a:extLst>
          </p:cNvPr>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2354257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3D4349C-55F4-8DD2-B5B3-F25C3269E19E}"/>
              </a:ext>
            </a:extLst>
          </p:cNvPr>
          <p:cNvSpPr>
            <a:spLocks noGrp="1"/>
          </p:cNvSpPr>
          <p:nvPr>
            <p:ph type="title"/>
          </p:nvPr>
        </p:nvSpPr>
        <p:spPr/>
        <p:txBody>
          <a:bodyPr/>
          <a:lstStyle/>
          <a:p>
            <a:r>
              <a:rPr lang="en-GB"/>
              <a:t>Click to edit Master title style</a:t>
            </a:r>
            <a:endParaRPr lang="en-US"/>
          </a:p>
        </p:txBody>
      </p:sp>
      <p:sp>
        <p:nvSpPr>
          <p:cNvPr id="3" name="Vertical Text Placeholder 2">
            <a:extLst>
              <a:ext uri="{FF2B5EF4-FFF2-40B4-BE49-F238E27FC236}">
                <a16:creationId xmlns:a16="http://schemas.microsoft.com/office/drawing/2014/main" id="{97961ACD-3ECA-19BE-9063-F5AAB3BE8017}"/>
              </a:ext>
            </a:extLst>
          </p:cNvPr>
          <p:cNvSpPr>
            <a:spLocks noGrp="1"/>
          </p:cNvSpPr>
          <p:nvPr>
            <p:ph type="body" orient="vert" idx="1"/>
          </p:nvPr>
        </p:nvSpPr>
        <p:spPr/>
        <p:txBody>
          <a:bodyPr vert="eaVert"/>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Date Placeholder 3">
            <a:extLst>
              <a:ext uri="{FF2B5EF4-FFF2-40B4-BE49-F238E27FC236}">
                <a16:creationId xmlns:a16="http://schemas.microsoft.com/office/drawing/2014/main" id="{17746CB2-8338-345D-B066-B1D7BFD27E92}"/>
              </a:ext>
            </a:extLst>
          </p:cNvPr>
          <p:cNvSpPr>
            <a:spLocks noGrp="1"/>
          </p:cNvSpPr>
          <p:nvPr>
            <p:ph type="dt" sz="half" idx="10"/>
          </p:nvPr>
        </p:nvSpPr>
        <p:spPr/>
        <p:txBody>
          <a:bodyPr/>
          <a:lstStyle/>
          <a:p>
            <a:fld id="{B61BEF0D-F0BB-DE4B-95CE-6DB70DBA9567}" type="datetimeFigureOut">
              <a:rPr lang="en-US" smtClean="0"/>
              <a:pPr/>
              <a:t>8/24/26</a:t>
            </a:fld>
            <a:endParaRPr lang="en-US" dirty="0"/>
          </a:p>
        </p:txBody>
      </p:sp>
      <p:sp>
        <p:nvSpPr>
          <p:cNvPr id="5" name="Footer Placeholder 4">
            <a:extLst>
              <a:ext uri="{FF2B5EF4-FFF2-40B4-BE49-F238E27FC236}">
                <a16:creationId xmlns:a16="http://schemas.microsoft.com/office/drawing/2014/main" id="{68CEA996-1CE2-090B-003F-5B7EB520599D}"/>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351D362C-DC52-130E-3EDD-CFC6E2487556}"/>
              </a:ext>
            </a:extLst>
          </p:cNvPr>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41056839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61A7662E-7958-3ADE-A998-F33C75EF65AB}"/>
              </a:ext>
            </a:extLst>
          </p:cNvPr>
          <p:cNvSpPr>
            <a:spLocks noGrp="1"/>
          </p:cNvSpPr>
          <p:nvPr>
            <p:ph type="title" orient="vert"/>
          </p:nvPr>
        </p:nvSpPr>
        <p:spPr>
          <a:xfrm>
            <a:off x="8724900" y="365125"/>
            <a:ext cx="2628900" cy="5811838"/>
          </a:xfrm>
        </p:spPr>
        <p:txBody>
          <a:bodyPr vert="eaVert"/>
          <a:lstStyle/>
          <a:p>
            <a:r>
              <a:rPr lang="en-GB"/>
              <a:t>Click to edit Master title style</a:t>
            </a:r>
            <a:endParaRPr lang="en-US"/>
          </a:p>
        </p:txBody>
      </p:sp>
      <p:sp>
        <p:nvSpPr>
          <p:cNvPr id="3" name="Vertical Text Placeholder 2">
            <a:extLst>
              <a:ext uri="{FF2B5EF4-FFF2-40B4-BE49-F238E27FC236}">
                <a16:creationId xmlns:a16="http://schemas.microsoft.com/office/drawing/2014/main" id="{3826EE86-C6DB-34C8-839F-4C05EA0D8B21}"/>
              </a:ext>
            </a:extLst>
          </p:cNvPr>
          <p:cNvSpPr>
            <a:spLocks noGrp="1"/>
          </p:cNvSpPr>
          <p:nvPr>
            <p:ph type="body" orient="vert" idx="1"/>
          </p:nvPr>
        </p:nvSpPr>
        <p:spPr>
          <a:xfrm>
            <a:off x="838200" y="365125"/>
            <a:ext cx="7734300" cy="5811838"/>
          </a:xfrm>
        </p:spPr>
        <p:txBody>
          <a:bodyPr vert="eaVert"/>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Date Placeholder 3">
            <a:extLst>
              <a:ext uri="{FF2B5EF4-FFF2-40B4-BE49-F238E27FC236}">
                <a16:creationId xmlns:a16="http://schemas.microsoft.com/office/drawing/2014/main" id="{E8AB12CF-5E36-6937-CC03-FD4DAFCCF839}"/>
              </a:ext>
            </a:extLst>
          </p:cNvPr>
          <p:cNvSpPr>
            <a:spLocks noGrp="1"/>
          </p:cNvSpPr>
          <p:nvPr>
            <p:ph type="dt" sz="half" idx="10"/>
          </p:nvPr>
        </p:nvSpPr>
        <p:spPr/>
        <p:txBody>
          <a:bodyPr/>
          <a:lstStyle/>
          <a:p>
            <a:fld id="{B61BEF0D-F0BB-DE4B-95CE-6DB70DBA9567}" type="datetimeFigureOut">
              <a:rPr lang="en-US" smtClean="0"/>
              <a:pPr/>
              <a:t>8/24/26</a:t>
            </a:fld>
            <a:endParaRPr lang="en-US" dirty="0"/>
          </a:p>
        </p:txBody>
      </p:sp>
      <p:sp>
        <p:nvSpPr>
          <p:cNvPr id="5" name="Footer Placeholder 4">
            <a:extLst>
              <a:ext uri="{FF2B5EF4-FFF2-40B4-BE49-F238E27FC236}">
                <a16:creationId xmlns:a16="http://schemas.microsoft.com/office/drawing/2014/main" id="{B3A791FE-5CDC-76E7-1D6A-CFFC7D502494}"/>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EB481ADC-D743-398A-851E-E742E36C1CD7}"/>
              </a:ext>
            </a:extLst>
          </p:cNvPr>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225178310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3532BC51-9F87-6890-45C0-643E6F552DB1}"/>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GB"/>
              <a:t>Click to edit Master title style</a:t>
            </a:r>
            <a:endParaRPr lang="en-US"/>
          </a:p>
        </p:txBody>
      </p:sp>
      <p:sp>
        <p:nvSpPr>
          <p:cNvPr id="3" name="Text Placeholder 2">
            <a:extLst>
              <a:ext uri="{FF2B5EF4-FFF2-40B4-BE49-F238E27FC236}">
                <a16:creationId xmlns:a16="http://schemas.microsoft.com/office/drawing/2014/main" id="{1F1906F5-F306-E89C-5151-AA5BF69AA123}"/>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Date Placeholder 3">
            <a:extLst>
              <a:ext uri="{FF2B5EF4-FFF2-40B4-BE49-F238E27FC236}">
                <a16:creationId xmlns:a16="http://schemas.microsoft.com/office/drawing/2014/main" id="{F1A6B21F-4F09-4E1F-433A-CF40F62B9DEA}"/>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B61BEF0D-F0BB-DE4B-95CE-6DB70DBA9567}" type="datetimeFigureOut">
              <a:rPr lang="en-US" smtClean="0"/>
              <a:pPr/>
              <a:t>8/24/26</a:t>
            </a:fld>
            <a:endParaRPr lang="en-US" dirty="0"/>
          </a:p>
        </p:txBody>
      </p:sp>
      <p:sp>
        <p:nvSpPr>
          <p:cNvPr id="5" name="Footer Placeholder 4">
            <a:extLst>
              <a:ext uri="{FF2B5EF4-FFF2-40B4-BE49-F238E27FC236}">
                <a16:creationId xmlns:a16="http://schemas.microsoft.com/office/drawing/2014/main" id="{392909DE-CA0F-77A5-6135-84F8389D9BCB}"/>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dirty="0"/>
          </a:p>
        </p:txBody>
      </p:sp>
      <p:sp>
        <p:nvSpPr>
          <p:cNvPr id="6" name="Slide Number Placeholder 5">
            <a:extLst>
              <a:ext uri="{FF2B5EF4-FFF2-40B4-BE49-F238E27FC236}">
                <a16:creationId xmlns:a16="http://schemas.microsoft.com/office/drawing/2014/main" id="{22256ADA-A62D-616A-836C-0D9BA5F7E55D}"/>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923103942"/>
      </p:ext>
    </p:extLst>
  </p:cSld>
  <p:clrMap bg1="lt1" tx1="dk1" bg2="lt2" tx2="dk2" accent1="accent1" accent2="accent2" accent3="accent3" accent4="accent4" accent5="accent5" accent6="accent6" hlink="hlink" folHlink="folHlink"/>
  <p:sldLayoutIdLst>
    <p:sldLayoutId id="2147483847" r:id="rId1"/>
    <p:sldLayoutId id="2147483848" r:id="rId2"/>
    <p:sldLayoutId id="2147483849" r:id="rId3"/>
    <p:sldLayoutId id="2147483850" r:id="rId4"/>
    <p:sldLayoutId id="2147483851" r:id="rId5"/>
    <p:sldLayoutId id="2147483852" r:id="rId6"/>
    <p:sldLayoutId id="2147483853" r:id="rId7"/>
    <p:sldLayoutId id="2147483854" r:id="rId8"/>
    <p:sldLayoutId id="2147483855" r:id="rId9"/>
    <p:sldLayoutId id="2147483856" r:id="rId10"/>
    <p:sldLayoutId id="2147483857"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ext>
  </p:extLst>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xml"/><Relationship Id="rId1" Type="http://schemas.openxmlformats.org/officeDocument/2006/relationships/slideLayout" Target="../slideLayouts/slideLayout2.xml"/><Relationship Id="rId4" Type="http://schemas.openxmlformats.org/officeDocument/2006/relationships/hyperlink" Target="https://www.kaggle.com/code/zahidbd/lecture6-nb1" TargetMode="External"/></Relationships>
</file>

<file path=ppt/slides/_rels/slide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hyperlink" Target="https://www.kaggle.com/code/zahidbd/lecture6-nb1" TargetMode="Externa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image" Target="../media/image13.png"/><Relationship Id="rId1" Type="http://schemas.openxmlformats.org/officeDocument/2006/relationships/slideLayout" Target="../slideLayouts/slideLayout2.xml"/><Relationship Id="rId6" Type="http://schemas.openxmlformats.org/officeDocument/2006/relationships/image" Target="../media/image16.png"/><Relationship Id="rId5" Type="http://schemas.openxmlformats.org/officeDocument/2006/relationships/customXml" Target="../ink/ink1.xml"/><Relationship Id="rId4" Type="http://schemas.openxmlformats.org/officeDocument/2006/relationships/image" Target="../media/image15.png"/></Relationships>
</file>

<file path=ppt/slides/_rels/slide15.xml.rels><?xml version="1.0" encoding="UTF-8" standalone="yes"?>
<Relationships xmlns="http://schemas.openxmlformats.org/package/2006/relationships"><Relationship Id="rId3" Type="http://schemas.openxmlformats.org/officeDocument/2006/relationships/image" Target="../media/image18.jpg"/><Relationship Id="rId2" Type="http://schemas.openxmlformats.org/officeDocument/2006/relationships/image" Target="../media/image17.png"/><Relationship Id="rId1" Type="http://schemas.openxmlformats.org/officeDocument/2006/relationships/slideLayout" Target="../slideLayouts/slideLayout2.xml"/><Relationship Id="rId4" Type="http://schemas.openxmlformats.org/officeDocument/2006/relationships/image" Target="../media/image19.png"/></Relationships>
</file>

<file path=ppt/slides/_rels/slide16.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hyperlink" Target="https://www.kaggle.com/code/zahidbd/lecture6-nb1-2" TargetMode="Externa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hyperlink" Target="https://www.kaggle.com/code/zahidbd/lecture6-nb2" TargetMode="Externa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3" Type="http://schemas.openxmlformats.org/officeDocument/2006/relationships/hyperlink" Target="https://www.deeplearningbook.org/contents/ml.html" TargetMode="External"/><Relationship Id="rId7" Type="http://schemas.openxmlformats.org/officeDocument/2006/relationships/hyperlink" Target="https://www.kaggle.com/code/zahidbd/lecture6-nb2" TargetMode="External"/><Relationship Id="rId2" Type="http://schemas.openxmlformats.org/officeDocument/2006/relationships/notesSlide" Target="../notesSlides/notesSlide12.xml"/><Relationship Id="rId1" Type="http://schemas.openxmlformats.org/officeDocument/2006/relationships/slideLayout" Target="../slideLayouts/slideLayout2.xml"/><Relationship Id="rId6" Type="http://schemas.openxmlformats.org/officeDocument/2006/relationships/hyperlink" Target="https://www.kaggle.com/code/zahidbd/lecture6-nb1-2" TargetMode="External"/><Relationship Id="rId5" Type="http://schemas.openxmlformats.org/officeDocument/2006/relationships/hyperlink" Target="https://www.kaggle.com/code/zahidbd/lecture6-nb1" TargetMode="External"/><Relationship Id="rId4" Type="http://schemas.openxmlformats.org/officeDocument/2006/relationships/hyperlink" Target="https://www.youtube.com/watch?v=bFNz2u0hl9E&amp;list=PLkDaE6sCZn6FNC6YRfRQc_FbeQrF8BwGI&amp;index=13" TargetMode="Externa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B589241-48AD-583C-9840-CDD40301C01C}"/>
              </a:ext>
            </a:extLst>
          </p:cNvPr>
          <p:cNvSpPr>
            <a:spLocks noGrp="1"/>
          </p:cNvSpPr>
          <p:nvPr>
            <p:ph type="ctrTitle"/>
          </p:nvPr>
        </p:nvSpPr>
        <p:spPr/>
        <p:txBody>
          <a:bodyPr/>
          <a:lstStyle/>
          <a:p>
            <a:r>
              <a:rPr lang="en-US" b="1" dirty="0"/>
              <a:t>COMPUTER VISION</a:t>
            </a:r>
          </a:p>
        </p:txBody>
      </p:sp>
      <p:sp>
        <p:nvSpPr>
          <p:cNvPr id="3" name="Subtitle 2">
            <a:extLst>
              <a:ext uri="{FF2B5EF4-FFF2-40B4-BE49-F238E27FC236}">
                <a16:creationId xmlns:a16="http://schemas.microsoft.com/office/drawing/2014/main" id="{B1F2094C-5F63-31E5-6117-5B63798264D5}"/>
              </a:ext>
            </a:extLst>
          </p:cNvPr>
          <p:cNvSpPr>
            <a:spLocks noGrp="1"/>
          </p:cNvSpPr>
          <p:nvPr>
            <p:ph type="subTitle" idx="1"/>
          </p:nvPr>
        </p:nvSpPr>
        <p:spPr/>
        <p:txBody>
          <a:bodyPr/>
          <a:lstStyle/>
          <a:p>
            <a:r>
              <a:rPr lang="en-US" b="1" dirty="0"/>
              <a:t>Week 5</a:t>
            </a:r>
          </a:p>
          <a:p>
            <a:r>
              <a:rPr lang="en-US" dirty="0"/>
              <a:t>Lecture 6 (25/08/2026)</a:t>
            </a:r>
          </a:p>
          <a:p>
            <a:r>
              <a:rPr lang="en-US" dirty="0"/>
              <a:t>0714 02 CSE 4239</a:t>
            </a:r>
          </a:p>
        </p:txBody>
      </p:sp>
    </p:spTree>
    <p:extLst>
      <p:ext uri="{BB962C8B-B14F-4D97-AF65-F5344CB8AC3E}">
        <p14:creationId xmlns:p14="http://schemas.microsoft.com/office/powerpoint/2010/main" val="306047545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EFBC0CA-2621-EC19-7C29-DBADCA2F9AF9}"/>
              </a:ext>
            </a:extLst>
          </p:cNvPr>
          <p:cNvSpPr>
            <a:spLocks noGrp="1"/>
          </p:cNvSpPr>
          <p:nvPr>
            <p:ph type="title"/>
          </p:nvPr>
        </p:nvSpPr>
        <p:spPr/>
        <p:txBody>
          <a:bodyPr/>
          <a:lstStyle/>
          <a:p>
            <a:r>
              <a:rPr lang="en-US" b="1" dirty="0"/>
              <a:t>Steps in Training</a:t>
            </a:r>
          </a:p>
        </p:txBody>
      </p:sp>
      <mc:AlternateContent xmlns:mc="http://schemas.openxmlformats.org/markup-compatibility/2006">
        <mc:Choice xmlns:a14="http://schemas.microsoft.com/office/drawing/2010/main" Requires="a14">
          <p:sp>
            <p:nvSpPr>
              <p:cNvPr id="3" name="Content Placeholder 2">
                <a:extLst>
                  <a:ext uri="{FF2B5EF4-FFF2-40B4-BE49-F238E27FC236}">
                    <a16:creationId xmlns:a16="http://schemas.microsoft.com/office/drawing/2014/main" id="{5646AC1E-E1B0-7749-51F8-E613FE33D6CD}"/>
                  </a:ext>
                </a:extLst>
              </p:cNvPr>
              <p:cNvSpPr>
                <a:spLocks noGrp="1"/>
              </p:cNvSpPr>
              <p:nvPr>
                <p:ph idx="1"/>
              </p:nvPr>
            </p:nvSpPr>
            <p:spPr>
              <a:xfrm>
                <a:off x="838200" y="1825625"/>
                <a:ext cx="10515600" cy="3933491"/>
              </a:xfrm>
            </p:spPr>
            <p:txBody>
              <a:bodyPr>
                <a:normAutofit/>
              </a:bodyPr>
              <a:lstStyle/>
              <a:p>
                <a:pPr marL="514350" indent="-514350">
                  <a:buFont typeface="+mj-lt"/>
                  <a:buAutoNum type="arabicPeriod"/>
                </a:pPr>
                <a:r>
                  <a:rPr lang="en-US" dirty="0"/>
                  <a:t>Forward pass: compute predictions</a:t>
                </a:r>
              </a:p>
              <a:p>
                <a:pPr marL="0" indent="0">
                  <a:buNone/>
                </a:pPr>
                <a14:m>
                  <m:oMathPara xmlns:m="http://schemas.openxmlformats.org/officeDocument/2006/math">
                    <m:oMath>
                      <m:acc>
                        <m:accPr>
                          <m:chr m:val="̂"/>
                          <m:ctrlPr>
                            <a:rPr lang="en-AU" b="0" i="1" smtClean="0">
                              <a:latin typeface="Cambria Math" panose="02040503050406030204" pitchFamily="18" charset="0"/>
                            </a:rPr>
                          </m:ctrlPr>
                        </m:accPr>
                        <m:e>
                          <m:r>
                            <a:rPr lang="en-AU" b="0" i="1" smtClean="0">
                              <a:latin typeface="Cambria Math" panose="02040503050406030204" pitchFamily="18" charset="0"/>
                            </a:rPr>
                            <m:t>𝑦</m:t>
                          </m:r>
                        </m:e>
                      </m:acc>
                      <m:r>
                        <a:rPr lang="en-AU" b="0" i="1" smtClean="0">
                          <a:latin typeface="Cambria Math" panose="02040503050406030204" pitchFamily="18" charset="0"/>
                        </a:rPr>
                        <m:t>=</m:t>
                      </m:r>
                      <m:r>
                        <a:rPr lang="en-AU" b="0" i="1" smtClean="0">
                          <a:latin typeface="Cambria Math" panose="02040503050406030204" pitchFamily="18" charset="0"/>
                        </a:rPr>
                        <m:t>𝑤</m:t>
                      </m:r>
                      <m:r>
                        <a:rPr lang="en-AU" b="0" i="1" smtClean="0">
                          <a:latin typeface="Cambria Math" panose="02040503050406030204" pitchFamily="18" charset="0"/>
                        </a:rPr>
                        <m:t>∗</m:t>
                      </m:r>
                      <m:r>
                        <a:rPr lang="en-AU" b="0" i="1" smtClean="0">
                          <a:latin typeface="Cambria Math" panose="02040503050406030204" pitchFamily="18" charset="0"/>
                        </a:rPr>
                        <m:t>𝑥</m:t>
                      </m:r>
                      <m:r>
                        <a:rPr lang="en-AU" b="0" i="1" smtClean="0">
                          <a:latin typeface="Cambria Math" panose="02040503050406030204" pitchFamily="18" charset="0"/>
                        </a:rPr>
                        <m:t>+</m:t>
                      </m:r>
                      <m:r>
                        <a:rPr lang="en-AU" b="0" i="1" smtClean="0">
                          <a:latin typeface="Cambria Math" panose="02040503050406030204" pitchFamily="18" charset="0"/>
                        </a:rPr>
                        <m:t>𝑏</m:t>
                      </m:r>
                    </m:oMath>
                  </m:oMathPara>
                </a14:m>
                <a:endParaRPr lang="en-US" dirty="0"/>
              </a:p>
              <a:p>
                <a:pPr marL="0" indent="0">
                  <a:buNone/>
                </a:pPr>
                <a:r>
                  <a:rPr lang="en-US" dirty="0"/>
                  <a:t>2. Compute Mean Squared Error (Loss)</a:t>
                </a:r>
              </a:p>
              <a:p>
                <a:pPr marL="0" indent="0">
                  <a:buNone/>
                </a:pPr>
                <a14:m>
                  <m:oMathPara xmlns:m="http://schemas.openxmlformats.org/officeDocument/2006/math">
                    <m:oMath>
                      <m:r>
                        <a:rPr lang="en-AU" b="0" i="1" smtClean="0">
                          <a:latin typeface="Cambria Math" panose="02040503050406030204" pitchFamily="18" charset="0"/>
                        </a:rPr>
                        <m:t>𝑙</m:t>
                      </m:r>
                      <m:d>
                        <m:dPr>
                          <m:ctrlPr>
                            <a:rPr lang="en-AU" i="1">
                              <a:latin typeface="Cambria Math" panose="02040503050406030204" pitchFamily="18" charset="0"/>
                            </a:rPr>
                          </m:ctrlPr>
                        </m:dPr>
                        <m:e>
                          <m:acc>
                            <m:accPr>
                              <m:chr m:val="̂"/>
                              <m:ctrlPr>
                                <a:rPr lang="en-AU" i="1">
                                  <a:latin typeface="Cambria Math" panose="02040503050406030204" pitchFamily="18" charset="0"/>
                                </a:rPr>
                              </m:ctrlPr>
                            </m:accPr>
                            <m:e>
                              <m:r>
                                <a:rPr lang="en-AU" i="1">
                                  <a:latin typeface="Cambria Math" panose="02040503050406030204" pitchFamily="18" charset="0"/>
                                </a:rPr>
                                <m:t>𝑦</m:t>
                              </m:r>
                            </m:e>
                          </m:acc>
                          <m:r>
                            <a:rPr lang="en-AU" b="0" i="1" smtClean="0">
                              <a:latin typeface="Cambria Math" panose="02040503050406030204" pitchFamily="18" charset="0"/>
                            </a:rPr>
                            <m:t>,</m:t>
                          </m:r>
                          <m:r>
                            <a:rPr lang="en-AU" b="0" i="1" smtClean="0">
                              <a:latin typeface="Cambria Math" panose="02040503050406030204" pitchFamily="18" charset="0"/>
                            </a:rPr>
                            <m:t>𝑦</m:t>
                          </m:r>
                        </m:e>
                      </m:d>
                      <m:r>
                        <a:rPr lang="en-AU" i="1">
                          <a:latin typeface="Cambria Math" panose="02040503050406030204" pitchFamily="18" charset="0"/>
                        </a:rPr>
                        <m:t>=</m:t>
                      </m:r>
                      <m:sSup>
                        <m:sSupPr>
                          <m:ctrlPr>
                            <a:rPr lang="en-AU" b="0" i="1" smtClean="0">
                              <a:latin typeface="Cambria Math" panose="02040503050406030204" pitchFamily="18" charset="0"/>
                            </a:rPr>
                          </m:ctrlPr>
                        </m:sSupPr>
                        <m:e>
                          <m:d>
                            <m:dPr>
                              <m:ctrlPr>
                                <a:rPr lang="en-US" b="0" i="1" smtClean="0">
                                  <a:latin typeface="Cambria Math" panose="02040503050406030204" pitchFamily="18" charset="0"/>
                                </a:rPr>
                              </m:ctrlPr>
                            </m:dPr>
                            <m:e>
                              <m:acc>
                                <m:accPr>
                                  <m:chr m:val="̂"/>
                                  <m:ctrlPr>
                                    <a:rPr lang="en-AU" b="0" i="1" smtClean="0">
                                      <a:latin typeface="Cambria Math" panose="02040503050406030204" pitchFamily="18" charset="0"/>
                                    </a:rPr>
                                  </m:ctrlPr>
                                </m:accPr>
                                <m:e>
                                  <m:r>
                                    <a:rPr lang="en-AU" b="0" i="1" smtClean="0">
                                      <a:latin typeface="Cambria Math" panose="02040503050406030204" pitchFamily="18" charset="0"/>
                                    </a:rPr>
                                    <m:t>𝑦</m:t>
                                  </m:r>
                                </m:e>
                              </m:acc>
                              <m:r>
                                <a:rPr lang="en-AU" b="0" i="1" smtClean="0">
                                  <a:latin typeface="Cambria Math" panose="02040503050406030204" pitchFamily="18" charset="0"/>
                                </a:rPr>
                                <m:t>−</m:t>
                              </m:r>
                              <m:r>
                                <a:rPr lang="en-AU" b="0" i="1" smtClean="0">
                                  <a:latin typeface="Cambria Math" panose="02040503050406030204" pitchFamily="18" charset="0"/>
                                </a:rPr>
                                <m:t>𝑦</m:t>
                              </m:r>
                            </m:e>
                          </m:d>
                        </m:e>
                        <m:sup>
                          <m:r>
                            <a:rPr lang="en-AU" b="0" i="1" smtClean="0">
                              <a:latin typeface="Cambria Math" panose="02040503050406030204" pitchFamily="18" charset="0"/>
                            </a:rPr>
                            <m:t>2</m:t>
                          </m:r>
                        </m:sup>
                      </m:sSup>
                    </m:oMath>
                  </m:oMathPara>
                </a14:m>
                <a:endParaRPr lang="en-AU" dirty="0"/>
              </a:p>
              <a:p>
                <a:pPr marL="0" indent="0">
                  <a:buNone/>
                </a:pPr>
                <a:r>
                  <a:rPr lang="en-US" dirty="0"/>
                  <a:t>3. Compute gradients  </a:t>
                </a:r>
              </a:p>
              <a:p>
                <a:pPr marL="0" indent="0">
                  <a:buNone/>
                </a:pPr>
                <a14:m>
                  <m:oMathPara xmlns:m="http://schemas.openxmlformats.org/officeDocument/2006/math">
                    <m:oMath>
                      <m:r>
                        <m:rPr>
                          <m:sty m:val="p"/>
                        </m:rPr>
                        <a:rPr lang="en-AU" b="0" i="0" smtClean="0">
                          <a:latin typeface="Cambria Math" panose="02040503050406030204" pitchFamily="18" charset="0"/>
                        </a:rPr>
                        <m:t>∇</m:t>
                      </m:r>
                      <m:r>
                        <a:rPr lang="en-AU" b="0" i="1" smtClean="0">
                          <a:latin typeface="Cambria Math" panose="02040503050406030204" pitchFamily="18" charset="0"/>
                        </a:rPr>
                        <m:t>𝑤</m:t>
                      </m:r>
                      <m:r>
                        <a:rPr lang="en-AU" b="0" i="1" smtClean="0">
                          <a:latin typeface="Cambria Math" panose="02040503050406030204" pitchFamily="18" charset="0"/>
                        </a:rPr>
                        <m:t>=</m:t>
                      </m:r>
                      <m:f>
                        <m:fPr>
                          <m:ctrlPr>
                            <a:rPr lang="en-AU" b="0" i="1" smtClean="0">
                              <a:latin typeface="Cambria Math" panose="02040503050406030204" pitchFamily="18" charset="0"/>
                            </a:rPr>
                          </m:ctrlPr>
                        </m:fPr>
                        <m:num>
                          <m:r>
                            <a:rPr lang="en-AU" b="0" i="1" smtClean="0">
                              <a:latin typeface="Cambria Math" panose="02040503050406030204" pitchFamily="18" charset="0"/>
                            </a:rPr>
                            <m:t>𝜕</m:t>
                          </m:r>
                          <m:r>
                            <a:rPr lang="en-AU" b="0" i="1" smtClean="0">
                              <a:latin typeface="Cambria Math" panose="02040503050406030204" pitchFamily="18" charset="0"/>
                            </a:rPr>
                            <m:t>𝑙</m:t>
                          </m:r>
                        </m:num>
                        <m:den>
                          <m:r>
                            <a:rPr lang="en-AU" b="0" i="1" smtClean="0">
                              <a:latin typeface="Cambria Math" panose="02040503050406030204" pitchFamily="18" charset="0"/>
                            </a:rPr>
                            <m:t>𝜕</m:t>
                          </m:r>
                          <m:r>
                            <a:rPr lang="en-AU" b="0" i="1" smtClean="0">
                              <a:latin typeface="Cambria Math" panose="02040503050406030204" pitchFamily="18" charset="0"/>
                            </a:rPr>
                            <m:t>𝑤</m:t>
                          </m:r>
                        </m:den>
                      </m:f>
                      <m:r>
                        <a:rPr lang="en-AU" b="0" i="1" smtClean="0">
                          <a:latin typeface="Cambria Math" panose="02040503050406030204" pitchFamily="18" charset="0"/>
                        </a:rPr>
                        <m:t>, </m:t>
                      </m:r>
                      <m:r>
                        <m:rPr>
                          <m:sty m:val="p"/>
                        </m:rPr>
                        <a:rPr lang="en-AU">
                          <a:latin typeface="Cambria Math" panose="02040503050406030204" pitchFamily="18" charset="0"/>
                        </a:rPr>
                        <m:t>∇</m:t>
                      </m:r>
                      <m:r>
                        <a:rPr lang="en-AU" b="0" i="1" smtClean="0">
                          <a:latin typeface="Cambria Math" panose="02040503050406030204" pitchFamily="18" charset="0"/>
                        </a:rPr>
                        <m:t>𝑏</m:t>
                      </m:r>
                      <m:r>
                        <a:rPr lang="en-AU" i="1">
                          <a:latin typeface="Cambria Math" panose="02040503050406030204" pitchFamily="18" charset="0"/>
                        </a:rPr>
                        <m:t>=</m:t>
                      </m:r>
                      <m:f>
                        <m:fPr>
                          <m:ctrlPr>
                            <a:rPr lang="en-AU" i="1">
                              <a:latin typeface="Cambria Math" panose="02040503050406030204" pitchFamily="18" charset="0"/>
                            </a:rPr>
                          </m:ctrlPr>
                        </m:fPr>
                        <m:num>
                          <m:r>
                            <a:rPr lang="en-AU" i="1">
                              <a:latin typeface="Cambria Math" panose="02040503050406030204" pitchFamily="18" charset="0"/>
                            </a:rPr>
                            <m:t>𝜕</m:t>
                          </m:r>
                          <m:r>
                            <a:rPr lang="en-AU" i="1">
                              <a:latin typeface="Cambria Math" panose="02040503050406030204" pitchFamily="18" charset="0"/>
                            </a:rPr>
                            <m:t>𝑙</m:t>
                          </m:r>
                        </m:num>
                        <m:den>
                          <m:r>
                            <a:rPr lang="en-AU" i="1">
                              <a:latin typeface="Cambria Math" panose="02040503050406030204" pitchFamily="18" charset="0"/>
                            </a:rPr>
                            <m:t>𝜕</m:t>
                          </m:r>
                          <m:r>
                            <a:rPr lang="en-AU" b="0" i="1" smtClean="0">
                              <a:latin typeface="Cambria Math" panose="02040503050406030204" pitchFamily="18" charset="0"/>
                            </a:rPr>
                            <m:t>𝑏</m:t>
                          </m:r>
                        </m:den>
                      </m:f>
                    </m:oMath>
                  </m:oMathPara>
                </a14:m>
                <a:endParaRPr lang="en-US" dirty="0"/>
              </a:p>
              <a:p>
                <a:pPr marL="0" indent="0">
                  <a:buNone/>
                </a:pPr>
                <a:r>
                  <a:rPr lang="en-US" dirty="0"/>
                  <a:t>4. Update parameters (Gradient Descent)</a:t>
                </a:r>
              </a:p>
              <a:p>
                <a:pPr marL="0" indent="0">
                  <a:buNone/>
                </a:pPr>
                <a14:m>
                  <m:oMathPara xmlns:m="http://schemas.openxmlformats.org/officeDocument/2006/math">
                    <m:oMath>
                      <m:r>
                        <a:rPr lang="en-AU" b="0" i="1" smtClean="0">
                          <a:latin typeface="Cambria Math" panose="02040503050406030204" pitchFamily="18" charset="0"/>
                        </a:rPr>
                        <m:t>𝑤</m:t>
                      </m:r>
                      <m:r>
                        <a:rPr lang="en-AU" b="0" i="1" smtClean="0">
                          <a:latin typeface="Cambria Math" panose="02040503050406030204" pitchFamily="18" charset="0"/>
                        </a:rPr>
                        <m:t>=</m:t>
                      </m:r>
                      <m:r>
                        <a:rPr lang="en-AU" b="0" i="1" smtClean="0">
                          <a:latin typeface="Cambria Math" panose="02040503050406030204" pitchFamily="18" charset="0"/>
                        </a:rPr>
                        <m:t>𝑤</m:t>
                      </m:r>
                      <m:r>
                        <a:rPr lang="en-AU" b="0" i="1" smtClean="0">
                          <a:latin typeface="Cambria Math" panose="02040503050406030204" pitchFamily="18" charset="0"/>
                        </a:rPr>
                        <m:t>−</m:t>
                      </m:r>
                      <m:r>
                        <a:rPr lang="en-AU" b="0" i="1" smtClean="0">
                          <a:latin typeface="Cambria Math" panose="02040503050406030204" pitchFamily="18" charset="0"/>
                        </a:rPr>
                        <m:t>𝛼</m:t>
                      </m:r>
                      <m:r>
                        <a:rPr lang="en-AU" b="0" i="0" smtClean="0">
                          <a:latin typeface="Cambria Math" panose="02040503050406030204" pitchFamily="18" charset="0"/>
                        </a:rPr>
                        <m:t>∗</m:t>
                      </m:r>
                      <m:r>
                        <m:rPr>
                          <m:sty m:val="p"/>
                        </m:rPr>
                        <a:rPr lang="en-AU" b="0" i="0" smtClean="0">
                          <a:latin typeface="Cambria Math" panose="02040503050406030204" pitchFamily="18" charset="0"/>
                        </a:rPr>
                        <m:t>∇w</m:t>
                      </m:r>
                      <m:r>
                        <a:rPr lang="en-AU" b="0" i="0" smtClean="0">
                          <a:latin typeface="Cambria Math" panose="02040503050406030204" pitchFamily="18" charset="0"/>
                        </a:rPr>
                        <m:t>, </m:t>
                      </m:r>
                      <m:r>
                        <a:rPr lang="en-AU" b="0" i="1" smtClean="0">
                          <a:latin typeface="Cambria Math" panose="02040503050406030204" pitchFamily="18" charset="0"/>
                        </a:rPr>
                        <m:t>𝑏</m:t>
                      </m:r>
                      <m:r>
                        <a:rPr lang="en-AU" i="1">
                          <a:latin typeface="Cambria Math" panose="02040503050406030204" pitchFamily="18" charset="0"/>
                        </a:rPr>
                        <m:t>=</m:t>
                      </m:r>
                      <m:r>
                        <a:rPr lang="en-AU" b="0" i="1" smtClean="0">
                          <a:latin typeface="Cambria Math" panose="02040503050406030204" pitchFamily="18" charset="0"/>
                        </a:rPr>
                        <m:t>𝑏</m:t>
                      </m:r>
                      <m:r>
                        <a:rPr lang="en-AU" i="1">
                          <a:latin typeface="Cambria Math" panose="02040503050406030204" pitchFamily="18" charset="0"/>
                        </a:rPr>
                        <m:t>−</m:t>
                      </m:r>
                      <m:r>
                        <a:rPr lang="en-AU" i="1">
                          <a:latin typeface="Cambria Math" panose="02040503050406030204" pitchFamily="18" charset="0"/>
                        </a:rPr>
                        <m:t>𝛼</m:t>
                      </m:r>
                      <m:r>
                        <a:rPr lang="en-AU">
                          <a:latin typeface="Cambria Math" panose="02040503050406030204" pitchFamily="18" charset="0"/>
                        </a:rPr>
                        <m:t>∗</m:t>
                      </m:r>
                      <m:r>
                        <m:rPr>
                          <m:sty m:val="p"/>
                        </m:rPr>
                        <a:rPr lang="en-AU">
                          <a:latin typeface="Cambria Math" panose="02040503050406030204" pitchFamily="18" charset="0"/>
                        </a:rPr>
                        <m:t>∇b</m:t>
                      </m:r>
                    </m:oMath>
                  </m:oMathPara>
                </a14:m>
                <a:endParaRPr lang="en-US" dirty="0"/>
              </a:p>
            </p:txBody>
          </p:sp>
        </mc:Choice>
        <mc:Fallback>
          <p:sp>
            <p:nvSpPr>
              <p:cNvPr id="3" name="Content Placeholder 2">
                <a:extLst>
                  <a:ext uri="{FF2B5EF4-FFF2-40B4-BE49-F238E27FC236}">
                    <a16:creationId xmlns:a16="http://schemas.microsoft.com/office/drawing/2014/main" id="{5646AC1E-E1B0-7749-51F8-E613FE33D6CD}"/>
                  </a:ext>
                </a:extLst>
              </p:cNvPr>
              <p:cNvSpPr>
                <a:spLocks noGrp="1" noRot="1" noChangeAspect="1" noMove="1" noResize="1" noEditPoints="1" noAdjustHandles="1" noChangeArrowheads="1" noChangeShapeType="1" noTextEdit="1"/>
              </p:cNvSpPr>
              <p:nvPr>
                <p:ph idx="1"/>
              </p:nvPr>
            </p:nvSpPr>
            <p:spPr>
              <a:xfrm>
                <a:off x="838200" y="1825625"/>
                <a:ext cx="10515600" cy="3933491"/>
              </a:xfrm>
              <a:blipFill>
                <a:blip r:embed="rId2"/>
                <a:stretch>
                  <a:fillRect l="-1206" t="-2894"/>
                </a:stretch>
              </a:blipFill>
            </p:spPr>
            <p:txBody>
              <a:bodyPr/>
              <a:lstStyle/>
              <a:p>
                <a:r>
                  <a:rPr lang="en-US">
                    <a:noFill/>
                  </a:rPr>
                  <a:t> </a:t>
                </a:r>
              </a:p>
            </p:txBody>
          </p:sp>
        </mc:Fallback>
      </mc:AlternateContent>
    </p:spTree>
    <p:extLst>
      <p:ext uri="{BB962C8B-B14F-4D97-AF65-F5344CB8AC3E}">
        <p14:creationId xmlns:p14="http://schemas.microsoft.com/office/powerpoint/2010/main" val="104894093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D19D985-868F-3980-6D48-A26BF98FDC7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201E849-F552-C045-0829-E6808D08D7AC}"/>
              </a:ext>
            </a:extLst>
          </p:cNvPr>
          <p:cNvSpPr>
            <a:spLocks noGrp="1"/>
          </p:cNvSpPr>
          <p:nvPr>
            <p:ph type="title"/>
          </p:nvPr>
        </p:nvSpPr>
        <p:spPr/>
        <p:txBody>
          <a:bodyPr/>
          <a:lstStyle/>
          <a:p>
            <a:r>
              <a:rPr lang="en-US" b="1" dirty="0"/>
              <a:t>Linear regression</a:t>
            </a:r>
          </a:p>
        </p:txBody>
      </p:sp>
      <p:pic>
        <p:nvPicPr>
          <p:cNvPr id="7" name="Content Placeholder 6">
            <a:extLst>
              <a:ext uri="{FF2B5EF4-FFF2-40B4-BE49-F238E27FC236}">
                <a16:creationId xmlns:a16="http://schemas.microsoft.com/office/drawing/2014/main" id="{E2A4F9ED-B35A-9546-BF81-81E9856E6264}"/>
              </a:ext>
            </a:extLst>
          </p:cNvPr>
          <p:cNvPicPr>
            <a:picLocks noGrp="1" noChangeAspect="1"/>
          </p:cNvPicPr>
          <p:nvPr>
            <p:ph idx="1"/>
          </p:nvPr>
        </p:nvPicPr>
        <p:blipFill>
          <a:blip r:embed="rId3"/>
          <a:stretch>
            <a:fillRect/>
          </a:stretch>
        </p:blipFill>
        <p:spPr>
          <a:xfrm>
            <a:off x="1837684" y="1690688"/>
            <a:ext cx="7872833" cy="3830436"/>
          </a:xfrm>
          <a:prstGeom prst="rect">
            <a:avLst/>
          </a:prstGeom>
        </p:spPr>
      </p:pic>
      <p:sp>
        <p:nvSpPr>
          <p:cNvPr id="3" name="TextBox 2">
            <a:extLst>
              <a:ext uri="{FF2B5EF4-FFF2-40B4-BE49-F238E27FC236}">
                <a16:creationId xmlns:a16="http://schemas.microsoft.com/office/drawing/2014/main" id="{E43467E5-DCA6-D24F-C417-91BE7A1C4B15}"/>
              </a:ext>
            </a:extLst>
          </p:cNvPr>
          <p:cNvSpPr txBox="1"/>
          <p:nvPr/>
        </p:nvSpPr>
        <p:spPr>
          <a:xfrm>
            <a:off x="1379621" y="5823284"/>
            <a:ext cx="5163593" cy="646331"/>
          </a:xfrm>
          <a:prstGeom prst="rect">
            <a:avLst/>
          </a:prstGeom>
          <a:noFill/>
        </p:spPr>
        <p:txBody>
          <a:bodyPr wrap="none" rtlCol="0">
            <a:spAutoFit/>
          </a:bodyPr>
          <a:lstStyle/>
          <a:p>
            <a:r>
              <a:rPr lang="en-US" dirty="0">
                <a:hlinkClick r:id="rId4"/>
              </a:rPr>
              <a:t>https://www.kaggle.com/code/zahidbd/lecture6-nb1</a:t>
            </a:r>
            <a:endParaRPr lang="en-US" dirty="0"/>
          </a:p>
          <a:p>
            <a:endParaRPr lang="en-US" dirty="0"/>
          </a:p>
        </p:txBody>
      </p:sp>
    </p:spTree>
    <p:extLst>
      <p:ext uri="{BB962C8B-B14F-4D97-AF65-F5344CB8AC3E}">
        <p14:creationId xmlns:p14="http://schemas.microsoft.com/office/powerpoint/2010/main" val="387629130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0E86CAA-E37F-4D95-779A-E600F7B48A14}"/>
              </a:ext>
            </a:extLst>
          </p:cNvPr>
          <p:cNvSpPr>
            <a:spLocks noGrp="1"/>
          </p:cNvSpPr>
          <p:nvPr>
            <p:ph type="title"/>
          </p:nvPr>
        </p:nvSpPr>
        <p:spPr/>
        <p:txBody>
          <a:bodyPr/>
          <a:lstStyle/>
          <a:p>
            <a:r>
              <a:rPr lang="en-US" b="1" dirty="0"/>
              <a:t>Notations</a:t>
            </a:r>
            <a:r>
              <a:rPr lang="en-US" dirty="0"/>
              <a:t> </a:t>
            </a:r>
          </a:p>
        </p:txBody>
      </p:sp>
      <mc:AlternateContent xmlns:mc="http://schemas.openxmlformats.org/markup-compatibility/2006">
        <mc:Choice xmlns:a14="http://schemas.microsoft.com/office/drawing/2010/main" Requires="a14">
          <p:sp>
            <p:nvSpPr>
              <p:cNvPr id="9" name="Content Placeholder 8">
                <a:extLst>
                  <a:ext uri="{FF2B5EF4-FFF2-40B4-BE49-F238E27FC236}">
                    <a16:creationId xmlns:a16="http://schemas.microsoft.com/office/drawing/2014/main" id="{0432BA81-3233-5669-B869-C271E4F8D102}"/>
                  </a:ext>
                </a:extLst>
              </p:cNvPr>
              <p:cNvSpPr>
                <a:spLocks noGrp="1"/>
              </p:cNvSpPr>
              <p:nvPr>
                <p:ph idx="1"/>
              </p:nvPr>
            </p:nvSpPr>
            <p:spPr>
              <a:xfrm>
                <a:off x="838200" y="1659467"/>
                <a:ext cx="10515600" cy="4368799"/>
              </a:xfrm>
            </p:spPr>
            <p:txBody>
              <a:bodyPr>
                <a:normAutofit lnSpcReduction="10000"/>
              </a:bodyPr>
              <a:lstStyle/>
              <a:p>
                <a:r>
                  <a:rPr lang="en-US" sz="3200" b="1" dirty="0"/>
                  <a:t>Model:    </a:t>
                </a:r>
                <a14:m>
                  <m:oMath xmlns:m="http://schemas.openxmlformats.org/officeDocument/2006/math">
                    <m:sSub>
                      <m:sSubPr>
                        <m:ctrlPr>
                          <a:rPr lang="en-AU" sz="3200" b="0" i="1" smtClean="0">
                            <a:latin typeface="Cambria Math" panose="02040503050406030204" pitchFamily="18" charset="0"/>
                          </a:rPr>
                        </m:ctrlPr>
                      </m:sSubPr>
                      <m:e>
                        <m:r>
                          <a:rPr lang="en-AU" sz="3200" b="0" i="1" smtClean="0">
                            <a:latin typeface="Cambria Math" panose="02040503050406030204" pitchFamily="18" charset="0"/>
                          </a:rPr>
                          <m:t>𝑓</m:t>
                        </m:r>
                      </m:e>
                      <m:sub>
                        <m:r>
                          <a:rPr lang="en-AU" sz="3200" b="0" i="1" smtClean="0">
                            <a:latin typeface="Cambria Math" panose="02040503050406030204" pitchFamily="18" charset="0"/>
                          </a:rPr>
                          <m:t>𝑤</m:t>
                        </m:r>
                        <m:r>
                          <a:rPr lang="en-AU" sz="3200" b="0" i="1" smtClean="0">
                            <a:latin typeface="Cambria Math" panose="02040503050406030204" pitchFamily="18" charset="0"/>
                          </a:rPr>
                          <m:t>,</m:t>
                        </m:r>
                        <m:r>
                          <a:rPr lang="en-AU" sz="3200" b="0" i="1" smtClean="0">
                            <a:latin typeface="Cambria Math" panose="02040503050406030204" pitchFamily="18" charset="0"/>
                          </a:rPr>
                          <m:t>𝑏</m:t>
                        </m:r>
                      </m:sub>
                    </m:sSub>
                    <m:d>
                      <m:dPr>
                        <m:ctrlPr>
                          <a:rPr lang="en-AU" sz="3200" b="0" i="1" smtClean="0">
                            <a:latin typeface="Cambria Math" panose="02040503050406030204" pitchFamily="18" charset="0"/>
                          </a:rPr>
                        </m:ctrlPr>
                      </m:dPr>
                      <m:e>
                        <m:r>
                          <a:rPr lang="en-AU" sz="3200" b="0" i="1" smtClean="0">
                            <a:latin typeface="Cambria Math" panose="02040503050406030204" pitchFamily="18" charset="0"/>
                          </a:rPr>
                          <m:t>𝑥</m:t>
                        </m:r>
                      </m:e>
                    </m:d>
                    <m:r>
                      <a:rPr lang="en-AU" sz="3200" b="0" i="1" smtClean="0">
                        <a:latin typeface="Cambria Math" panose="02040503050406030204" pitchFamily="18" charset="0"/>
                      </a:rPr>
                      <m:t>=</m:t>
                    </m:r>
                    <m:r>
                      <a:rPr lang="en-AU" sz="3200" b="0" i="1" smtClean="0">
                        <a:latin typeface="Cambria Math" panose="02040503050406030204" pitchFamily="18" charset="0"/>
                      </a:rPr>
                      <m:t>𝑤</m:t>
                    </m:r>
                    <m:r>
                      <a:rPr lang="en-AU" sz="3200" b="0" i="1" smtClean="0">
                        <a:latin typeface="Cambria Math" panose="02040503050406030204" pitchFamily="18" charset="0"/>
                      </a:rPr>
                      <m:t>∗</m:t>
                    </m:r>
                    <m:r>
                      <a:rPr lang="en-AU" sz="3200" b="0" i="1" smtClean="0">
                        <a:latin typeface="Cambria Math" panose="02040503050406030204" pitchFamily="18" charset="0"/>
                      </a:rPr>
                      <m:t>𝑥</m:t>
                    </m:r>
                    <m:r>
                      <a:rPr lang="en-AU" sz="3200" b="0" i="1" smtClean="0">
                        <a:latin typeface="Cambria Math" panose="02040503050406030204" pitchFamily="18" charset="0"/>
                      </a:rPr>
                      <m:t>+</m:t>
                    </m:r>
                    <m:r>
                      <a:rPr lang="en-AU" sz="3200" b="0" i="1" smtClean="0">
                        <a:latin typeface="Cambria Math" panose="02040503050406030204" pitchFamily="18" charset="0"/>
                      </a:rPr>
                      <m:t>𝑏</m:t>
                    </m:r>
                  </m:oMath>
                </a14:m>
                <a:r>
                  <a:rPr lang="en-US" sz="3200" dirty="0"/>
                  <a:t>.             </a:t>
                </a:r>
              </a:p>
              <a:p>
                <a:pPr lvl="1"/>
                <a:r>
                  <a:rPr lang="en-US" sz="2800" dirty="0"/>
                  <a:t>A function of </a:t>
                </a:r>
                <a14:m>
                  <m:oMath xmlns:m="http://schemas.openxmlformats.org/officeDocument/2006/math">
                    <m:r>
                      <a:rPr lang="en-AU" sz="2800" b="0" i="1" smtClean="0">
                        <a:latin typeface="Cambria Math" panose="02040503050406030204" pitchFamily="18" charset="0"/>
                      </a:rPr>
                      <m:t>𝑥</m:t>
                    </m:r>
                  </m:oMath>
                </a14:m>
                <a:r>
                  <a:rPr lang="en-AU" sz="2800" b="0" dirty="0"/>
                  <a:t> (or input features)</a:t>
                </a:r>
              </a:p>
              <a:p>
                <a:pPr lvl="1"/>
                <a:r>
                  <a:rPr lang="en-AU" sz="2800" dirty="0"/>
                  <a:t>The subscript </a:t>
                </a:r>
                <a14:m>
                  <m:oMath xmlns:m="http://schemas.openxmlformats.org/officeDocument/2006/math">
                    <m:r>
                      <a:rPr lang="en-AU" sz="2800" b="0" i="1" smtClean="0">
                        <a:latin typeface="Cambria Math" panose="02040503050406030204" pitchFamily="18" charset="0"/>
                      </a:rPr>
                      <m:t>𝑤</m:t>
                    </m:r>
                    <m:r>
                      <a:rPr lang="en-AU" sz="2800" b="0" i="1" smtClean="0">
                        <a:latin typeface="Cambria Math" panose="02040503050406030204" pitchFamily="18" charset="0"/>
                      </a:rPr>
                      <m:t>,</m:t>
                    </m:r>
                    <m:r>
                      <a:rPr lang="en-AU" sz="2800" b="0" i="1" smtClean="0">
                        <a:latin typeface="Cambria Math" panose="02040503050406030204" pitchFamily="18" charset="0"/>
                      </a:rPr>
                      <m:t>𝑏</m:t>
                    </m:r>
                    <m:r>
                      <a:rPr lang="en-AU" sz="2800" b="0" i="1" smtClean="0">
                        <a:latin typeface="Cambria Math" panose="02040503050406030204" pitchFamily="18" charset="0"/>
                      </a:rPr>
                      <m:t> </m:t>
                    </m:r>
                  </m:oMath>
                </a14:m>
                <a:r>
                  <a:rPr lang="en-AU" sz="2800" dirty="0"/>
                  <a:t>represents fixed values that configure the function's behaviour.</a:t>
                </a:r>
                <a:endParaRPr lang="en-AU" sz="2800" b="0" dirty="0"/>
              </a:p>
              <a:p>
                <a:r>
                  <a:rPr lang="en-US" sz="3200" b="1" dirty="0"/>
                  <a:t>Parameters: </a:t>
                </a:r>
                <a14:m>
                  <m:oMath xmlns:m="http://schemas.openxmlformats.org/officeDocument/2006/math">
                    <m:r>
                      <a:rPr lang="en-AU" sz="3200" b="0" i="1" smtClean="0">
                        <a:latin typeface="Cambria Math" panose="02040503050406030204" pitchFamily="18" charset="0"/>
                      </a:rPr>
                      <m:t>𝑤</m:t>
                    </m:r>
                    <m:r>
                      <a:rPr lang="en-AU" sz="3200" b="0" i="1" smtClean="0">
                        <a:latin typeface="Cambria Math" panose="02040503050406030204" pitchFamily="18" charset="0"/>
                      </a:rPr>
                      <m:t>,</m:t>
                    </m:r>
                    <m:r>
                      <a:rPr lang="en-AU" sz="3200" b="0" i="1" smtClean="0">
                        <a:latin typeface="Cambria Math" panose="02040503050406030204" pitchFamily="18" charset="0"/>
                      </a:rPr>
                      <m:t>𝑏</m:t>
                    </m:r>
                  </m:oMath>
                </a14:m>
                <a:endParaRPr lang="en-AU" sz="3200" b="0" dirty="0"/>
              </a:p>
              <a:p>
                <a:r>
                  <a:rPr lang="en-US" sz="3200" b="1" dirty="0"/>
                  <a:t>Cost/Loss function: </a:t>
                </a:r>
                <a14:m>
                  <m:oMath xmlns:m="http://schemas.openxmlformats.org/officeDocument/2006/math">
                    <m:r>
                      <a:rPr lang="en-US" sz="3200" i="1" smtClean="0">
                        <a:latin typeface="Cambria Math" panose="02040503050406030204" pitchFamily="18" charset="0"/>
                        <a:ea typeface="Cambria Math" panose="02040503050406030204" pitchFamily="18" charset="0"/>
                      </a:rPr>
                      <m:t>ℒ</m:t>
                    </m:r>
                    <m:d>
                      <m:dPr>
                        <m:ctrlPr>
                          <a:rPr lang="en-AU" sz="3200" b="0" i="1" smtClean="0">
                            <a:latin typeface="Cambria Math" panose="02040503050406030204" pitchFamily="18" charset="0"/>
                            <a:ea typeface="Cambria Math" panose="02040503050406030204" pitchFamily="18" charset="0"/>
                          </a:rPr>
                        </m:ctrlPr>
                      </m:dPr>
                      <m:e>
                        <m:r>
                          <a:rPr lang="en-AU" sz="3200" b="0" i="1" smtClean="0">
                            <a:latin typeface="Cambria Math" panose="02040503050406030204" pitchFamily="18" charset="0"/>
                            <a:ea typeface="Cambria Math" panose="02040503050406030204" pitchFamily="18" charset="0"/>
                          </a:rPr>
                          <m:t>𝑤</m:t>
                        </m:r>
                        <m:r>
                          <a:rPr lang="en-AU" sz="3200" b="0" i="1" smtClean="0">
                            <a:latin typeface="Cambria Math" panose="02040503050406030204" pitchFamily="18" charset="0"/>
                            <a:ea typeface="Cambria Math" panose="02040503050406030204" pitchFamily="18" charset="0"/>
                          </a:rPr>
                          <m:t>,</m:t>
                        </m:r>
                        <m:r>
                          <a:rPr lang="en-AU" sz="3200" b="0" i="1" smtClean="0">
                            <a:latin typeface="Cambria Math" panose="02040503050406030204" pitchFamily="18" charset="0"/>
                            <a:ea typeface="Cambria Math" panose="02040503050406030204" pitchFamily="18" charset="0"/>
                          </a:rPr>
                          <m:t>𝑏</m:t>
                        </m:r>
                      </m:e>
                    </m:d>
                    <m:r>
                      <a:rPr lang="en-AU" sz="3200" b="0" i="1" smtClean="0">
                        <a:latin typeface="Cambria Math" panose="02040503050406030204" pitchFamily="18" charset="0"/>
                        <a:ea typeface="Cambria Math" panose="02040503050406030204" pitchFamily="18" charset="0"/>
                      </a:rPr>
                      <m:t>=</m:t>
                    </m:r>
                    <m:f>
                      <m:fPr>
                        <m:ctrlPr>
                          <a:rPr lang="en-AU" sz="3200" b="0" i="1" smtClean="0">
                            <a:latin typeface="Cambria Math" panose="02040503050406030204" pitchFamily="18" charset="0"/>
                            <a:ea typeface="Cambria Math" panose="02040503050406030204" pitchFamily="18" charset="0"/>
                          </a:rPr>
                        </m:ctrlPr>
                      </m:fPr>
                      <m:num>
                        <m:r>
                          <a:rPr lang="en-AU" sz="3200" b="0" i="1" smtClean="0">
                            <a:latin typeface="Cambria Math" panose="02040503050406030204" pitchFamily="18" charset="0"/>
                            <a:ea typeface="Cambria Math" panose="02040503050406030204" pitchFamily="18" charset="0"/>
                          </a:rPr>
                          <m:t>1</m:t>
                        </m:r>
                      </m:num>
                      <m:den>
                        <m:r>
                          <a:rPr lang="en-AU" sz="3200" b="0" i="1" smtClean="0">
                            <a:latin typeface="Cambria Math" panose="02040503050406030204" pitchFamily="18" charset="0"/>
                            <a:ea typeface="Cambria Math" panose="02040503050406030204" pitchFamily="18" charset="0"/>
                          </a:rPr>
                          <m:t>2</m:t>
                        </m:r>
                        <m:r>
                          <a:rPr lang="en-AU" sz="3200" b="0" i="1" smtClean="0">
                            <a:latin typeface="Cambria Math" panose="02040503050406030204" pitchFamily="18" charset="0"/>
                            <a:ea typeface="Cambria Math" panose="02040503050406030204" pitchFamily="18" charset="0"/>
                          </a:rPr>
                          <m:t>𝑚</m:t>
                        </m:r>
                      </m:den>
                    </m:f>
                    <m:nary>
                      <m:naryPr>
                        <m:chr m:val="∑"/>
                        <m:ctrlPr>
                          <a:rPr lang="en-AU" sz="3200" b="0" i="1" smtClean="0">
                            <a:latin typeface="Cambria Math" panose="02040503050406030204" pitchFamily="18" charset="0"/>
                            <a:ea typeface="Cambria Math" panose="02040503050406030204" pitchFamily="18" charset="0"/>
                          </a:rPr>
                        </m:ctrlPr>
                      </m:naryPr>
                      <m:sub>
                        <m:r>
                          <m:rPr>
                            <m:brk m:alnAt="23"/>
                          </m:rPr>
                          <a:rPr lang="en-AU" sz="3200" b="0" i="1" smtClean="0">
                            <a:latin typeface="Cambria Math" panose="02040503050406030204" pitchFamily="18" charset="0"/>
                            <a:ea typeface="Cambria Math" panose="02040503050406030204" pitchFamily="18" charset="0"/>
                          </a:rPr>
                          <m:t>𝑖</m:t>
                        </m:r>
                        <m:r>
                          <m:rPr>
                            <m:brk m:alnAt="23"/>
                          </m:rPr>
                          <a:rPr lang="en-AU" sz="3200" b="0" i="1" smtClean="0">
                            <a:latin typeface="Cambria Math" panose="02040503050406030204" pitchFamily="18" charset="0"/>
                            <a:ea typeface="Cambria Math" panose="02040503050406030204" pitchFamily="18" charset="0"/>
                          </a:rPr>
                          <m:t>=</m:t>
                        </m:r>
                        <m:r>
                          <m:rPr>
                            <m:brk m:alnAt="23"/>
                          </m:rPr>
                          <a:rPr lang="en-AU" sz="3200" b="0" i="1" smtClean="0">
                            <a:latin typeface="Cambria Math" panose="02040503050406030204" pitchFamily="18" charset="0"/>
                            <a:ea typeface="Cambria Math" panose="02040503050406030204" pitchFamily="18" charset="0"/>
                          </a:rPr>
                          <m:t>1</m:t>
                        </m:r>
                      </m:sub>
                      <m:sup>
                        <m:r>
                          <a:rPr lang="en-AU" sz="3200" b="0" i="1" smtClean="0">
                            <a:latin typeface="Cambria Math" panose="02040503050406030204" pitchFamily="18" charset="0"/>
                            <a:ea typeface="Cambria Math" panose="02040503050406030204" pitchFamily="18" charset="0"/>
                          </a:rPr>
                          <m:t>𝑚</m:t>
                        </m:r>
                      </m:sup>
                      <m:e>
                        <m:sSup>
                          <m:sSupPr>
                            <m:ctrlPr>
                              <a:rPr lang="en-AU" sz="3200" b="0" i="1" smtClean="0">
                                <a:latin typeface="Cambria Math" panose="02040503050406030204" pitchFamily="18" charset="0"/>
                                <a:ea typeface="Cambria Math" panose="02040503050406030204" pitchFamily="18" charset="0"/>
                              </a:rPr>
                            </m:ctrlPr>
                          </m:sSupPr>
                          <m:e>
                            <m:d>
                              <m:dPr>
                                <m:ctrlPr>
                                  <a:rPr lang="en-AU" sz="3200" b="0" i="1" smtClean="0">
                                    <a:latin typeface="Cambria Math" panose="02040503050406030204" pitchFamily="18" charset="0"/>
                                    <a:ea typeface="Cambria Math" panose="02040503050406030204" pitchFamily="18" charset="0"/>
                                  </a:rPr>
                                </m:ctrlPr>
                              </m:dPr>
                              <m:e>
                                <m:sSub>
                                  <m:sSubPr>
                                    <m:ctrlPr>
                                      <a:rPr lang="en-AU" sz="3200" b="0" i="1" smtClean="0">
                                        <a:latin typeface="Cambria Math" panose="02040503050406030204" pitchFamily="18" charset="0"/>
                                        <a:ea typeface="Cambria Math" panose="02040503050406030204" pitchFamily="18" charset="0"/>
                                      </a:rPr>
                                    </m:ctrlPr>
                                  </m:sSubPr>
                                  <m:e>
                                    <m:r>
                                      <a:rPr lang="en-AU" sz="3200" b="0" i="1" smtClean="0">
                                        <a:latin typeface="Cambria Math" panose="02040503050406030204" pitchFamily="18" charset="0"/>
                                        <a:ea typeface="Cambria Math" panose="02040503050406030204" pitchFamily="18" charset="0"/>
                                      </a:rPr>
                                      <m:t>𝑓</m:t>
                                    </m:r>
                                  </m:e>
                                  <m:sub>
                                    <m:r>
                                      <a:rPr lang="en-AU" sz="3200" b="0" i="1" smtClean="0">
                                        <a:latin typeface="Cambria Math" panose="02040503050406030204" pitchFamily="18" charset="0"/>
                                        <a:ea typeface="Cambria Math" panose="02040503050406030204" pitchFamily="18" charset="0"/>
                                      </a:rPr>
                                      <m:t>𝑤</m:t>
                                    </m:r>
                                    <m:r>
                                      <a:rPr lang="en-AU" sz="3200" b="0" i="1" smtClean="0">
                                        <a:latin typeface="Cambria Math" panose="02040503050406030204" pitchFamily="18" charset="0"/>
                                        <a:ea typeface="Cambria Math" panose="02040503050406030204" pitchFamily="18" charset="0"/>
                                      </a:rPr>
                                      <m:t>,</m:t>
                                    </m:r>
                                    <m:r>
                                      <a:rPr lang="en-AU" sz="3200" b="0" i="1" smtClean="0">
                                        <a:latin typeface="Cambria Math" panose="02040503050406030204" pitchFamily="18" charset="0"/>
                                        <a:ea typeface="Cambria Math" panose="02040503050406030204" pitchFamily="18" charset="0"/>
                                      </a:rPr>
                                      <m:t>𝑏</m:t>
                                    </m:r>
                                  </m:sub>
                                </m:sSub>
                                <m:d>
                                  <m:dPr>
                                    <m:ctrlPr>
                                      <a:rPr lang="en-AU" sz="3200" b="0" i="1" smtClean="0">
                                        <a:latin typeface="Cambria Math" panose="02040503050406030204" pitchFamily="18" charset="0"/>
                                        <a:ea typeface="Cambria Math" panose="02040503050406030204" pitchFamily="18" charset="0"/>
                                      </a:rPr>
                                    </m:ctrlPr>
                                  </m:dPr>
                                  <m:e>
                                    <m:sSup>
                                      <m:sSupPr>
                                        <m:ctrlPr>
                                          <a:rPr lang="en-AU" sz="3200" b="0" i="1" smtClean="0">
                                            <a:latin typeface="Cambria Math" panose="02040503050406030204" pitchFamily="18" charset="0"/>
                                            <a:ea typeface="Cambria Math" panose="02040503050406030204" pitchFamily="18" charset="0"/>
                                          </a:rPr>
                                        </m:ctrlPr>
                                      </m:sSupPr>
                                      <m:e>
                                        <m:r>
                                          <a:rPr lang="en-AU" sz="3200" b="0" i="1" smtClean="0">
                                            <a:latin typeface="Cambria Math" panose="02040503050406030204" pitchFamily="18" charset="0"/>
                                            <a:ea typeface="Cambria Math" panose="02040503050406030204" pitchFamily="18" charset="0"/>
                                          </a:rPr>
                                          <m:t>𝑥</m:t>
                                        </m:r>
                                      </m:e>
                                      <m:sup>
                                        <m:r>
                                          <a:rPr lang="en-AU" sz="3200" b="0" i="1" smtClean="0">
                                            <a:latin typeface="Cambria Math" panose="02040503050406030204" pitchFamily="18" charset="0"/>
                                            <a:ea typeface="Cambria Math" panose="02040503050406030204" pitchFamily="18" charset="0"/>
                                          </a:rPr>
                                          <m:t>𝑖</m:t>
                                        </m:r>
                                      </m:sup>
                                    </m:sSup>
                                  </m:e>
                                </m:d>
                                <m:r>
                                  <a:rPr lang="en-AU" sz="3200" b="0" i="1" smtClean="0">
                                    <a:latin typeface="Cambria Math" panose="02040503050406030204" pitchFamily="18" charset="0"/>
                                    <a:ea typeface="Cambria Math" panose="02040503050406030204" pitchFamily="18" charset="0"/>
                                  </a:rPr>
                                  <m:t>−</m:t>
                                </m:r>
                                <m:sSup>
                                  <m:sSupPr>
                                    <m:ctrlPr>
                                      <a:rPr lang="en-AU" sz="3200" b="0" i="1" smtClean="0">
                                        <a:latin typeface="Cambria Math" panose="02040503050406030204" pitchFamily="18" charset="0"/>
                                        <a:ea typeface="Cambria Math" panose="02040503050406030204" pitchFamily="18" charset="0"/>
                                      </a:rPr>
                                    </m:ctrlPr>
                                  </m:sSupPr>
                                  <m:e>
                                    <m:r>
                                      <a:rPr lang="en-AU" sz="3200" b="0" i="1" smtClean="0">
                                        <a:latin typeface="Cambria Math" panose="02040503050406030204" pitchFamily="18" charset="0"/>
                                        <a:ea typeface="Cambria Math" panose="02040503050406030204" pitchFamily="18" charset="0"/>
                                      </a:rPr>
                                      <m:t>𝑦</m:t>
                                    </m:r>
                                  </m:e>
                                  <m:sup>
                                    <m:r>
                                      <a:rPr lang="en-AU" sz="3200" b="0" i="1" smtClean="0">
                                        <a:latin typeface="Cambria Math" panose="02040503050406030204" pitchFamily="18" charset="0"/>
                                        <a:ea typeface="Cambria Math" panose="02040503050406030204" pitchFamily="18" charset="0"/>
                                      </a:rPr>
                                      <m:t>𝑖</m:t>
                                    </m:r>
                                  </m:sup>
                                </m:sSup>
                              </m:e>
                            </m:d>
                          </m:e>
                          <m:sup>
                            <m:r>
                              <a:rPr lang="en-AU" sz="3200" b="0" i="1" smtClean="0">
                                <a:latin typeface="Cambria Math" panose="02040503050406030204" pitchFamily="18" charset="0"/>
                                <a:ea typeface="Cambria Math" panose="02040503050406030204" pitchFamily="18" charset="0"/>
                              </a:rPr>
                              <m:t>2</m:t>
                            </m:r>
                          </m:sup>
                        </m:sSup>
                      </m:e>
                    </m:nary>
                  </m:oMath>
                </a14:m>
                <a:r>
                  <a:rPr lang="en-US" sz="3200" dirty="0"/>
                  <a:t> </a:t>
                </a:r>
              </a:p>
              <a:p>
                <a:pPr lvl="1"/>
                <a:r>
                  <a:rPr lang="en-US" sz="2800" dirty="0"/>
                  <a:t>A function of </a:t>
                </a:r>
                <a14:m>
                  <m:oMath xmlns:m="http://schemas.openxmlformats.org/officeDocument/2006/math">
                    <m:r>
                      <a:rPr lang="en-AU" sz="2800" b="0" i="1" smtClean="0">
                        <a:latin typeface="Cambria Math" panose="02040503050406030204" pitchFamily="18" charset="0"/>
                      </a:rPr>
                      <m:t>𝑤</m:t>
                    </m:r>
                  </m:oMath>
                </a14:m>
                <a:r>
                  <a:rPr lang="en-US" sz="2800" dirty="0"/>
                  <a:t> and </a:t>
                </a:r>
                <a14:m>
                  <m:oMath xmlns:m="http://schemas.openxmlformats.org/officeDocument/2006/math">
                    <m:r>
                      <a:rPr lang="en-AU" sz="2800" b="0" i="1" smtClean="0">
                        <a:latin typeface="Cambria Math" panose="02040503050406030204" pitchFamily="18" charset="0"/>
                      </a:rPr>
                      <m:t>𝑏</m:t>
                    </m:r>
                  </m:oMath>
                </a14:m>
                <a:r>
                  <a:rPr lang="en-US" sz="2800" dirty="0"/>
                  <a:t> (i.e., parameters) here </a:t>
                </a:r>
                <a14:m>
                  <m:oMath xmlns:m="http://schemas.openxmlformats.org/officeDocument/2006/math">
                    <m:r>
                      <a:rPr lang="en-US" sz="2800" i="1" dirty="0" smtClean="0">
                        <a:latin typeface="Cambria Math" panose="02040503050406030204" pitchFamily="18" charset="0"/>
                      </a:rPr>
                      <m:t>𝑥</m:t>
                    </m:r>
                  </m:oMath>
                </a14:m>
                <a:r>
                  <a:rPr lang="en-US" sz="2800" dirty="0"/>
                  <a:t> and </a:t>
                </a:r>
                <a14:m>
                  <m:oMath xmlns:m="http://schemas.openxmlformats.org/officeDocument/2006/math">
                    <m:r>
                      <a:rPr lang="en-US" sz="2800" i="1" dirty="0" smtClean="0">
                        <a:latin typeface="Cambria Math" panose="02040503050406030204" pitchFamily="18" charset="0"/>
                      </a:rPr>
                      <m:t>𝑦</m:t>
                    </m:r>
                  </m:oMath>
                </a14:m>
                <a:r>
                  <a:rPr lang="en-US" sz="2800" dirty="0"/>
                  <a:t> are fixed values</a:t>
                </a:r>
              </a:p>
              <a:p>
                <a:r>
                  <a:rPr lang="en-US" sz="3200" b="1" dirty="0"/>
                  <a:t>Objective:</a:t>
                </a:r>
                <a:r>
                  <a:rPr lang="en-US" sz="3200" dirty="0"/>
                  <a:t> </a:t>
                </a:r>
                <a14:m>
                  <m:oMath xmlns:m="http://schemas.openxmlformats.org/officeDocument/2006/math">
                    <m:func>
                      <m:funcPr>
                        <m:ctrlPr>
                          <a:rPr lang="en-US" sz="3200" i="1" smtClean="0">
                            <a:latin typeface="Cambria Math" panose="02040503050406030204" pitchFamily="18" charset="0"/>
                          </a:rPr>
                        </m:ctrlPr>
                      </m:funcPr>
                      <m:fName>
                        <m:limLow>
                          <m:limLowPr>
                            <m:ctrlPr>
                              <a:rPr lang="en-US" sz="3200" i="0" smtClean="0">
                                <a:latin typeface="Cambria Math" panose="02040503050406030204" pitchFamily="18" charset="0"/>
                              </a:rPr>
                            </m:ctrlPr>
                          </m:limLowPr>
                          <m:e>
                            <m:r>
                              <m:rPr>
                                <m:sty m:val="p"/>
                              </m:rPr>
                              <a:rPr lang="en-US" sz="3200" i="0" smtClean="0">
                                <a:latin typeface="Cambria Math" panose="02040503050406030204" pitchFamily="18" charset="0"/>
                              </a:rPr>
                              <m:t>min</m:t>
                            </m:r>
                          </m:e>
                          <m:lim>
                            <m:r>
                              <a:rPr lang="en-AU" sz="3200" b="0" i="1" smtClean="0">
                                <a:latin typeface="Cambria Math" panose="02040503050406030204" pitchFamily="18" charset="0"/>
                              </a:rPr>
                              <m:t>𝑤</m:t>
                            </m:r>
                            <m:r>
                              <a:rPr lang="en-AU" sz="3200" b="0" i="1" smtClean="0">
                                <a:latin typeface="Cambria Math" panose="02040503050406030204" pitchFamily="18" charset="0"/>
                              </a:rPr>
                              <m:t>,</m:t>
                            </m:r>
                            <m:r>
                              <a:rPr lang="en-AU" sz="3200" b="0" i="1" smtClean="0">
                                <a:latin typeface="Cambria Math" panose="02040503050406030204" pitchFamily="18" charset="0"/>
                              </a:rPr>
                              <m:t>𝑏</m:t>
                            </m:r>
                          </m:lim>
                        </m:limLow>
                        <m:r>
                          <a:rPr lang="en-AU" sz="3200" b="0" i="1" smtClean="0">
                            <a:latin typeface="Cambria Math" panose="02040503050406030204" pitchFamily="18" charset="0"/>
                          </a:rPr>
                          <m:t> </m:t>
                        </m:r>
                      </m:fName>
                      <m:e>
                        <m:r>
                          <a:rPr lang="en-US" sz="3200" i="1">
                            <a:latin typeface="Cambria Math" panose="02040503050406030204" pitchFamily="18" charset="0"/>
                            <a:ea typeface="Cambria Math" panose="02040503050406030204" pitchFamily="18" charset="0"/>
                          </a:rPr>
                          <m:t>ℒ</m:t>
                        </m:r>
                        <m:d>
                          <m:dPr>
                            <m:ctrlPr>
                              <a:rPr lang="en-AU" sz="3200" i="1">
                                <a:latin typeface="Cambria Math" panose="02040503050406030204" pitchFamily="18" charset="0"/>
                                <a:ea typeface="Cambria Math" panose="02040503050406030204" pitchFamily="18" charset="0"/>
                              </a:rPr>
                            </m:ctrlPr>
                          </m:dPr>
                          <m:e>
                            <m:r>
                              <a:rPr lang="en-AU" sz="3200" i="1">
                                <a:latin typeface="Cambria Math" panose="02040503050406030204" pitchFamily="18" charset="0"/>
                                <a:ea typeface="Cambria Math" panose="02040503050406030204" pitchFamily="18" charset="0"/>
                              </a:rPr>
                              <m:t>𝑤</m:t>
                            </m:r>
                            <m:r>
                              <a:rPr lang="en-AU" sz="3200" i="1">
                                <a:latin typeface="Cambria Math" panose="02040503050406030204" pitchFamily="18" charset="0"/>
                                <a:ea typeface="Cambria Math" panose="02040503050406030204" pitchFamily="18" charset="0"/>
                              </a:rPr>
                              <m:t>,</m:t>
                            </m:r>
                            <m:r>
                              <a:rPr lang="en-AU" sz="3200" i="1">
                                <a:latin typeface="Cambria Math" panose="02040503050406030204" pitchFamily="18" charset="0"/>
                                <a:ea typeface="Cambria Math" panose="02040503050406030204" pitchFamily="18" charset="0"/>
                              </a:rPr>
                              <m:t>𝑏</m:t>
                            </m:r>
                          </m:e>
                        </m:d>
                      </m:e>
                    </m:func>
                  </m:oMath>
                </a14:m>
                <a:endParaRPr lang="en-AU" sz="3200" dirty="0"/>
              </a:p>
            </p:txBody>
          </p:sp>
        </mc:Choice>
        <mc:Fallback>
          <p:sp>
            <p:nvSpPr>
              <p:cNvPr id="9" name="Content Placeholder 8">
                <a:extLst>
                  <a:ext uri="{FF2B5EF4-FFF2-40B4-BE49-F238E27FC236}">
                    <a16:creationId xmlns:a16="http://schemas.microsoft.com/office/drawing/2014/main" id="{0432BA81-3233-5669-B869-C271E4F8D102}"/>
                  </a:ext>
                </a:extLst>
              </p:cNvPr>
              <p:cNvSpPr>
                <a:spLocks noGrp="1" noRot="1" noChangeAspect="1" noMove="1" noResize="1" noEditPoints="1" noAdjustHandles="1" noChangeArrowheads="1" noChangeShapeType="1" noTextEdit="1"/>
              </p:cNvSpPr>
              <p:nvPr>
                <p:ph idx="1"/>
              </p:nvPr>
            </p:nvSpPr>
            <p:spPr>
              <a:xfrm>
                <a:off x="838200" y="1659467"/>
                <a:ext cx="10515600" cy="4368799"/>
              </a:xfrm>
              <a:blipFill>
                <a:blip r:embed="rId3"/>
                <a:stretch>
                  <a:fillRect l="-1327" t="-3478"/>
                </a:stretch>
              </a:blipFill>
            </p:spPr>
            <p:txBody>
              <a:bodyPr/>
              <a:lstStyle/>
              <a:p>
                <a:r>
                  <a:rPr lang="en-US">
                    <a:noFill/>
                  </a:rPr>
                  <a:t> </a:t>
                </a:r>
              </a:p>
            </p:txBody>
          </p:sp>
        </mc:Fallback>
      </mc:AlternateContent>
    </p:spTree>
    <p:extLst>
      <p:ext uri="{BB962C8B-B14F-4D97-AF65-F5344CB8AC3E}">
        <p14:creationId xmlns:p14="http://schemas.microsoft.com/office/powerpoint/2010/main" val="404446536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ECE7ECC-B79C-31BE-DE05-EFC7C6BB7C3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44758E3-3D04-DA4E-6DE3-4FC2E5978DB8}"/>
              </a:ext>
            </a:extLst>
          </p:cNvPr>
          <p:cNvSpPr>
            <a:spLocks noGrp="1"/>
          </p:cNvSpPr>
          <p:nvPr>
            <p:ph type="title"/>
          </p:nvPr>
        </p:nvSpPr>
        <p:spPr/>
        <p:txBody>
          <a:bodyPr/>
          <a:lstStyle/>
          <a:p>
            <a:r>
              <a:rPr lang="en-US" b="1" dirty="0"/>
              <a:t>Notations</a:t>
            </a:r>
            <a:r>
              <a:rPr lang="en-US" dirty="0"/>
              <a:t> </a:t>
            </a:r>
          </a:p>
        </p:txBody>
      </p:sp>
      <mc:AlternateContent xmlns:mc="http://schemas.openxmlformats.org/markup-compatibility/2006">
        <mc:Choice xmlns:a14="http://schemas.microsoft.com/office/drawing/2010/main" Requires="a14">
          <p:sp>
            <p:nvSpPr>
              <p:cNvPr id="9" name="Content Placeholder 8">
                <a:extLst>
                  <a:ext uri="{FF2B5EF4-FFF2-40B4-BE49-F238E27FC236}">
                    <a16:creationId xmlns:a16="http://schemas.microsoft.com/office/drawing/2014/main" id="{14F061B3-54AB-B658-FCEC-A5237796BA4A}"/>
                  </a:ext>
                </a:extLst>
              </p:cNvPr>
              <p:cNvSpPr>
                <a:spLocks noGrp="1"/>
              </p:cNvSpPr>
              <p:nvPr>
                <p:ph idx="1"/>
              </p:nvPr>
            </p:nvSpPr>
            <p:spPr/>
            <p:txBody>
              <a:bodyPr>
                <a:normAutofit/>
              </a:bodyPr>
              <a:lstStyle/>
              <a:p>
                <a:r>
                  <a:rPr lang="en-US" sz="3200" dirty="0"/>
                  <a:t>The dataset is represented as </a:t>
                </a:r>
                <a14:m>
                  <m:oMath xmlns:m="http://schemas.openxmlformats.org/officeDocument/2006/math">
                    <m:d>
                      <m:dPr>
                        <m:ctrlPr>
                          <a:rPr lang="en-AU" sz="3200" b="1" i="1" smtClean="0">
                            <a:latin typeface="Cambria Math" panose="02040503050406030204" pitchFamily="18" charset="0"/>
                          </a:rPr>
                        </m:ctrlPr>
                      </m:dPr>
                      <m:e>
                        <m:r>
                          <a:rPr lang="en-AU" sz="3200" b="1" i="1" smtClean="0">
                            <a:latin typeface="Cambria Math" panose="02040503050406030204" pitchFamily="18" charset="0"/>
                          </a:rPr>
                          <m:t>𝑿</m:t>
                        </m:r>
                        <m:r>
                          <a:rPr lang="en-AU" sz="3200" b="0" i="1" smtClean="0">
                            <a:latin typeface="Cambria Math" panose="02040503050406030204" pitchFamily="18" charset="0"/>
                          </a:rPr>
                          <m:t>,</m:t>
                        </m:r>
                        <m:r>
                          <a:rPr lang="en-AU" sz="3200" b="0" i="1" smtClean="0">
                            <a:latin typeface="Cambria Math" panose="02040503050406030204" pitchFamily="18" charset="0"/>
                          </a:rPr>
                          <m:t>𝑦</m:t>
                        </m:r>
                      </m:e>
                    </m:d>
                    <m:r>
                      <a:rPr lang="en-AU" sz="3200" b="0" i="1" smtClean="0">
                        <a:latin typeface="Cambria Math" panose="02040503050406030204" pitchFamily="18" charset="0"/>
                      </a:rPr>
                      <m:t>, </m:t>
                    </m:r>
                  </m:oMath>
                </a14:m>
                <a:r>
                  <a:rPr lang="en-US" sz="3200" dirty="0"/>
                  <a:t>where</a:t>
                </a:r>
              </a:p>
              <a:p>
                <a:pPr lvl="1"/>
                <a14:m>
                  <m:oMath xmlns:m="http://schemas.openxmlformats.org/officeDocument/2006/math">
                    <m:r>
                      <a:rPr lang="en-AU" sz="2800" b="1" i="1">
                        <a:latin typeface="Cambria Math" panose="02040503050406030204" pitchFamily="18" charset="0"/>
                      </a:rPr>
                      <m:t>𝑿</m:t>
                    </m:r>
                  </m:oMath>
                </a14:m>
                <a:r>
                  <a:rPr lang="en-US" sz="2800" dirty="0"/>
                  <a:t> – the feature matrix </a:t>
                </a:r>
                <a14:m>
                  <m:oMath xmlns:m="http://schemas.openxmlformats.org/officeDocument/2006/math">
                    <m:sSup>
                      <m:sSupPr>
                        <m:ctrlPr>
                          <a:rPr lang="en-US" sz="2800" i="1" smtClean="0">
                            <a:latin typeface="Cambria Math" panose="02040503050406030204" pitchFamily="18" charset="0"/>
                            <a:ea typeface="Cambria Math" panose="02040503050406030204" pitchFamily="18" charset="0"/>
                          </a:rPr>
                        </m:ctrlPr>
                      </m:sSupPr>
                      <m:e>
                        <m:r>
                          <a:rPr lang="en-US" sz="2800" i="1" smtClean="0">
                            <a:latin typeface="Cambria Math" panose="02040503050406030204" pitchFamily="18" charset="0"/>
                            <a:ea typeface="Cambria Math" panose="02040503050406030204" pitchFamily="18" charset="0"/>
                          </a:rPr>
                          <m:t>ℝ</m:t>
                        </m:r>
                      </m:e>
                      <m:sup>
                        <m:r>
                          <a:rPr lang="en-AU" sz="2800" b="0" i="1" smtClean="0">
                            <a:latin typeface="Cambria Math" panose="02040503050406030204" pitchFamily="18" charset="0"/>
                            <a:ea typeface="Cambria Math" panose="02040503050406030204" pitchFamily="18" charset="0"/>
                          </a:rPr>
                          <m:t>𝑛</m:t>
                        </m:r>
                        <m:r>
                          <a:rPr lang="en-AU" sz="2800" b="0" i="1" smtClean="0">
                            <a:latin typeface="Cambria Math" panose="02040503050406030204" pitchFamily="18" charset="0"/>
                            <a:ea typeface="Cambria Math" panose="02040503050406030204" pitchFamily="18" charset="0"/>
                          </a:rPr>
                          <m:t>×</m:t>
                        </m:r>
                        <m:r>
                          <a:rPr lang="en-AU" sz="2800" b="0" i="1" smtClean="0">
                            <a:latin typeface="Cambria Math" panose="02040503050406030204" pitchFamily="18" charset="0"/>
                            <a:ea typeface="Cambria Math" panose="02040503050406030204" pitchFamily="18" charset="0"/>
                          </a:rPr>
                          <m:t>𝑚</m:t>
                        </m:r>
                      </m:sup>
                    </m:sSup>
                  </m:oMath>
                </a14:m>
                <a:endParaRPr lang="en-AU" sz="2800" b="0" dirty="0">
                  <a:ea typeface="Cambria Math" panose="02040503050406030204" pitchFamily="18" charset="0"/>
                </a:endParaRPr>
              </a:p>
              <a:p>
                <a:pPr lvl="2"/>
                <a14:m>
                  <m:oMath xmlns:m="http://schemas.openxmlformats.org/officeDocument/2006/math">
                    <m:r>
                      <a:rPr lang="en-AU" sz="2400" b="0" i="1" smtClean="0">
                        <a:latin typeface="Cambria Math" panose="02040503050406030204" pitchFamily="18" charset="0"/>
                        <a:ea typeface="Cambria Math" panose="02040503050406030204" pitchFamily="18" charset="0"/>
                      </a:rPr>
                      <m:t>𝑛</m:t>
                    </m:r>
                  </m:oMath>
                </a14:m>
                <a:r>
                  <a:rPr lang="en-AU" sz="2400" b="0" dirty="0">
                    <a:ea typeface="Cambria Math" panose="02040503050406030204" pitchFamily="18" charset="0"/>
                  </a:rPr>
                  <a:t>: number of features</a:t>
                </a:r>
              </a:p>
              <a:p>
                <a:pPr lvl="2"/>
                <a14:m>
                  <m:oMath xmlns:m="http://schemas.openxmlformats.org/officeDocument/2006/math">
                    <m:r>
                      <a:rPr lang="en-AU" sz="2400" i="1">
                        <a:latin typeface="Cambria Math" panose="02040503050406030204" pitchFamily="18" charset="0"/>
                        <a:ea typeface="Cambria Math" panose="02040503050406030204" pitchFamily="18" charset="0"/>
                      </a:rPr>
                      <m:t>𝑚</m:t>
                    </m:r>
                  </m:oMath>
                </a14:m>
                <a:r>
                  <a:rPr lang="en-AU" sz="2400" b="0" dirty="0">
                    <a:ea typeface="Cambria Math" panose="02040503050406030204" pitchFamily="18" charset="0"/>
                  </a:rPr>
                  <a:t>: number of instances</a:t>
                </a:r>
              </a:p>
              <a:p>
                <a:pPr lvl="1"/>
                <a14:m>
                  <m:oMath xmlns:m="http://schemas.openxmlformats.org/officeDocument/2006/math">
                    <m:r>
                      <a:rPr lang="en-US" sz="2800" i="1" dirty="0" smtClean="0">
                        <a:latin typeface="Cambria Math" panose="02040503050406030204" pitchFamily="18" charset="0"/>
                      </a:rPr>
                      <m:t>𝑦</m:t>
                    </m:r>
                  </m:oMath>
                </a14:m>
                <a:r>
                  <a:rPr lang="en-US" sz="2800" dirty="0"/>
                  <a:t> – the targets usually 1D array </a:t>
                </a:r>
                <a14:m>
                  <m:oMath xmlns:m="http://schemas.openxmlformats.org/officeDocument/2006/math">
                    <m:sSup>
                      <m:sSupPr>
                        <m:ctrlPr>
                          <a:rPr lang="en-US" sz="2800" i="1">
                            <a:latin typeface="Cambria Math" panose="02040503050406030204" pitchFamily="18" charset="0"/>
                            <a:ea typeface="Cambria Math" panose="02040503050406030204" pitchFamily="18" charset="0"/>
                          </a:rPr>
                        </m:ctrlPr>
                      </m:sSupPr>
                      <m:e>
                        <m:r>
                          <a:rPr lang="en-US" sz="2800" i="1">
                            <a:latin typeface="Cambria Math" panose="02040503050406030204" pitchFamily="18" charset="0"/>
                            <a:ea typeface="Cambria Math" panose="02040503050406030204" pitchFamily="18" charset="0"/>
                          </a:rPr>
                          <m:t>ℝ</m:t>
                        </m:r>
                      </m:e>
                      <m:sup>
                        <m:r>
                          <a:rPr lang="en-AU" sz="2800" i="1">
                            <a:latin typeface="Cambria Math" panose="02040503050406030204" pitchFamily="18" charset="0"/>
                            <a:ea typeface="Cambria Math" panose="02040503050406030204" pitchFamily="18" charset="0"/>
                          </a:rPr>
                          <m:t>𝑚</m:t>
                        </m:r>
                      </m:sup>
                    </m:sSup>
                  </m:oMath>
                </a14:m>
                <a:endParaRPr lang="en-US" sz="2800" dirty="0"/>
              </a:p>
              <a:p>
                <a:pPr lvl="1"/>
                <a14:m>
                  <m:oMath xmlns:m="http://schemas.openxmlformats.org/officeDocument/2006/math">
                    <m:sSup>
                      <m:sSupPr>
                        <m:ctrlPr>
                          <a:rPr lang="en-AU" sz="2800" i="1">
                            <a:latin typeface="Cambria Math" panose="02040503050406030204" pitchFamily="18" charset="0"/>
                            <a:ea typeface="Cambria Math" panose="02040503050406030204" pitchFamily="18" charset="0"/>
                          </a:rPr>
                        </m:ctrlPr>
                      </m:sSupPr>
                      <m:e>
                        <m:r>
                          <a:rPr lang="en-AU" sz="2800" i="1">
                            <a:latin typeface="Cambria Math" panose="02040503050406030204" pitchFamily="18" charset="0"/>
                            <a:ea typeface="Cambria Math" panose="02040503050406030204" pitchFamily="18" charset="0"/>
                          </a:rPr>
                          <m:t>𝑥</m:t>
                        </m:r>
                      </m:e>
                      <m:sup>
                        <m:r>
                          <a:rPr lang="en-AU" sz="2800" i="1">
                            <a:latin typeface="Cambria Math" panose="02040503050406030204" pitchFamily="18" charset="0"/>
                            <a:ea typeface="Cambria Math" panose="02040503050406030204" pitchFamily="18" charset="0"/>
                          </a:rPr>
                          <m:t>𝑖</m:t>
                        </m:r>
                      </m:sup>
                    </m:sSup>
                  </m:oMath>
                </a14:m>
                <a:r>
                  <a:rPr lang="en-US" sz="2800" dirty="0"/>
                  <a:t>: the </a:t>
                </a:r>
                <a:r>
                  <a:rPr lang="en-US" sz="2800" dirty="0" err="1"/>
                  <a:t>i-th</a:t>
                </a:r>
                <a:r>
                  <a:rPr lang="en-US" sz="2800" dirty="0"/>
                  <a:t> instance in </a:t>
                </a:r>
                <a14:m>
                  <m:oMath xmlns:m="http://schemas.openxmlformats.org/officeDocument/2006/math">
                    <m:r>
                      <a:rPr lang="en-AU" sz="2800" b="1" i="1">
                        <a:latin typeface="Cambria Math" panose="02040503050406030204" pitchFamily="18" charset="0"/>
                      </a:rPr>
                      <m:t>𝑿</m:t>
                    </m:r>
                  </m:oMath>
                </a14:m>
                <a:r>
                  <a:rPr lang="en-US" sz="2800" dirty="0"/>
                  <a:t>. It is a </a:t>
                </a:r>
                <a14:m>
                  <m:oMath xmlns:m="http://schemas.openxmlformats.org/officeDocument/2006/math">
                    <m:r>
                      <a:rPr lang="en-AU" sz="2800" i="1">
                        <a:latin typeface="Cambria Math" panose="02040503050406030204" pitchFamily="18" charset="0"/>
                        <a:ea typeface="Cambria Math" panose="02040503050406030204" pitchFamily="18" charset="0"/>
                      </a:rPr>
                      <m:t>𝑛</m:t>
                    </m:r>
                  </m:oMath>
                </a14:m>
                <a:r>
                  <a:rPr lang="en-US" sz="2800" dirty="0"/>
                  <a:t> dimensional array </a:t>
                </a:r>
                <a14:m>
                  <m:oMath xmlns:m="http://schemas.openxmlformats.org/officeDocument/2006/math">
                    <m:sSup>
                      <m:sSupPr>
                        <m:ctrlPr>
                          <a:rPr lang="en-US" sz="2800" i="1">
                            <a:latin typeface="Cambria Math" panose="02040503050406030204" pitchFamily="18" charset="0"/>
                            <a:ea typeface="Cambria Math" panose="02040503050406030204" pitchFamily="18" charset="0"/>
                          </a:rPr>
                        </m:ctrlPr>
                      </m:sSupPr>
                      <m:e>
                        <m:r>
                          <a:rPr lang="en-US" sz="2800" i="1">
                            <a:latin typeface="Cambria Math" panose="02040503050406030204" pitchFamily="18" charset="0"/>
                            <a:ea typeface="Cambria Math" panose="02040503050406030204" pitchFamily="18" charset="0"/>
                          </a:rPr>
                          <m:t>ℝ</m:t>
                        </m:r>
                      </m:e>
                      <m:sup>
                        <m:r>
                          <a:rPr lang="en-AU" sz="2800" b="0" i="1" smtClean="0">
                            <a:latin typeface="Cambria Math" panose="02040503050406030204" pitchFamily="18" charset="0"/>
                            <a:ea typeface="Cambria Math" panose="02040503050406030204" pitchFamily="18" charset="0"/>
                          </a:rPr>
                          <m:t>𝑛</m:t>
                        </m:r>
                      </m:sup>
                    </m:sSup>
                  </m:oMath>
                </a14:m>
                <a:endParaRPr lang="en-US" sz="2800" dirty="0"/>
              </a:p>
              <a:p>
                <a:pPr lvl="1"/>
                <a14:m>
                  <m:oMath xmlns:m="http://schemas.openxmlformats.org/officeDocument/2006/math">
                    <m:sSup>
                      <m:sSupPr>
                        <m:ctrlPr>
                          <a:rPr lang="en-AU" sz="2800" b="0" i="1" smtClean="0">
                            <a:latin typeface="Cambria Math" panose="02040503050406030204" pitchFamily="18" charset="0"/>
                            <a:ea typeface="Cambria Math" panose="02040503050406030204" pitchFamily="18" charset="0"/>
                          </a:rPr>
                        </m:ctrlPr>
                      </m:sSupPr>
                      <m:e>
                        <m:r>
                          <a:rPr lang="en-AU" sz="2800" b="0" i="1" smtClean="0">
                            <a:latin typeface="Cambria Math" panose="02040503050406030204" pitchFamily="18" charset="0"/>
                            <a:ea typeface="Cambria Math" panose="02040503050406030204" pitchFamily="18" charset="0"/>
                          </a:rPr>
                          <m:t>𝑦</m:t>
                        </m:r>
                      </m:e>
                      <m:sup>
                        <m:r>
                          <a:rPr lang="en-AU" sz="2800" i="1">
                            <a:latin typeface="Cambria Math" panose="02040503050406030204" pitchFamily="18" charset="0"/>
                            <a:ea typeface="Cambria Math" panose="02040503050406030204" pitchFamily="18" charset="0"/>
                          </a:rPr>
                          <m:t>𝑖</m:t>
                        </m:r>
                      </m:sup>
                    </m:sSup>
                  </m:oMath>
                </a14:m>
                <a:r>
                  <a:rPr lang="en-US" sz="2800" dirty="0"/>
                  <a:t>: the </a:t>
                </a:r>
                <a:r>
                  <a:rPr lang="en-US" sz="2800" dirty="0" err="1"/>
                  <a:t>i-th</a:t>
                </a:r>
                <a:r>
                  <a:rPr lang="en-US" sz="2800" dirty="0"/>
                  <a:t> label</a:t>
                </a:r>
              </a:p>
            </p:txBody>
          </p:sp>
        </mc:Choice>
        <mc:Fallback>
          <p:sp>
            <p:nvSpPr>
              <p:cNvPr id="9" name="Content Placeholder 8">
                <a:extLst>
                  <a:ext uri="{FF2B5EF4-FFF2-40B4-BE49-F238E27FC236}">
                    <a16:creationId xmlns:a16="http://schemas.microsoft.com/office/drawing/2014/main" id="{14F061B3-54AB-B658-FCEC-A5237796BA4A}"/>
                  </a:ext>
                </a:extLst>
              </p:cNvPr>
              <p:cNvSpPr>
                <a:spLocks noGrp="1" noRot="1" noChangeAspect="1" noMove="1" noResize="1" noEditPoints="1" noAdjustHandles="1" noChangeArrowheads="1" noChangeShapeType="1" noTextEdit="1"/>
              </p:cNvSpPr>
              <p:nvPr>
                <p:ph idx="1"/>
              </p:nvPr>
            </p:nvSpPr>
            <p:spPr>
              <a:blipFill>
                <a:blip r:embed="rId3"/>
                <a:stretch>
                  <a:fillRect l="-1327" t="-2907"/>
                </a:stretch>
              </a:blipFill>
            </p:spPr>
            <p:txBody>
              <a:bodyPr/>
              <a:lstStyle/>
              <a:p>
                <a:r>
                  <a:rPr lang="en-US">
                    <a:noFill/>
                  </a:rPr>
                  <a:t> </a:t>
                </a:r>
              </a:p>
            </p:txBody>
          </p:sp>
        </mc:Fallback>
      </mc:AlternateContent>
    </p:spTree>
    <p:extLst>
      <p:ext uri="{BB962C8B-B14F-4D97-AF65-F5344CB8AC3E}">
        <p14:creationId xmlns:p14="http://schemas.microsoft.com/office/powerpoint/2010/main" val="295809975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2AF2EA1-E5B7-3DE3-5224-B12B731DA0F2}"/>
              </a:ext>
            </a:extLst>
          </p:cNvPr>
          <p:cNvSpPr>
            <a:spLocks noGrp="1"/>
          </p:cNvSpPr>
          <p:nvPr>
            <p:ph type="title"/>
          </p:nvPr>
        </p:nvSpPr>
        <p:spPr/>
        <p:txBody>
          <a:bodyPr/>
          <a:lstStyle/>
          <a:p>
            <a:r>
              <a:rPr lang="en-US" b="1" dirty="0"/>
              <a:t>Cost function intuition</a:t>
            </a:r>
          </a:p>
        </p:txBody>
      </p:sp>
      <mc:AlternateContent xmlns:mc="http://schemas.openxmlformats.org/markup-compatibility/2006">
        <mc:Choice xmlns:a14="http://schemas.microsoft.com/office/drawing/2010/main" Requires="a14">
          <p:sp>
            <p:nvSpPr>
              <p:cNvPr id="3" name="Content Placeholder 2">
                <a:extLst>
                  <a:ext uri="{FF2B5EF4-FFF2-40B4-BE49-F238E27FC236}">
                    <a16:creationId xmlns:a16="http://schemas.microsoft.com/office/drawing/2014/main" id="{6F8ABA89-6BF8-4C4A-9FB9-4C85F310D458}"/>
                  </a:ext>
                </a:extLst>
              </p:cNvPr>
              <p:cNvSpPr>
                <a:spLocks noGrp="1"/>
              </p:cNvSpPr>
              <p:nvPr>
                <p:ph idx="1"/>
              </p:nvPr>
            </p:nvSpPr>
            <p:spPr/>
            <p:txBody>
              <a:bodyPr>
                <a:normAutofit/>
              </a:bodyPr>
              <a:lstStyle/>
              <a:p>
                <a:r>
                  <a:rPr lang="en-US" dirty="0"/>
                  <a:t>Let’s simplify the model in order to explain it easily. </a:t>
                </a:r>
              </a:p>
              <a:p>
                <a:r>
                  <a:rPr lang="en-US" dirty="0"/>
                  <a:t>Assume there is no bias parameter.</a:t>
                </a:r>
              </a:p>
              <a:p>
                <a:r>
                  <a:rPr lang="en-US" sz="3200" b="1" dirty="0"/>
                  <a:t>Model:    </a:t>
                </a:r>
                <a14:m>
                  <m:oMath xmlns:m="http://schemas.openxmlformats.org/officeDocument/2006/math">
                    <m:sSub>
                      <m:sSubPr>
                        <m:ctrlPr>
                          <a:rPr lang="en-AU" sz="3200" i="1">
                            <a:latin typeface="Cambria Math" panose="02040503050406030204" pitchFamily="18" charset="0"/>
                          </a:rPr>
                        </m:ctrlPr>
                      </m:sSubPr>
                      <m:e>
                        <m:r>
                          <a:rPr lang="en-AU" sz="3200" i="1">
                            <a:latin typeface="Cambria Math" panose="02040503050406030204" pitchFamily="18" charset="0"/>
                          </a:rPr>
                          <m:t>𝑓</m:t>
                        </m:r>
                      </m:e>
                      <m:sub>
                        <m:r>
                          <a:rPr lang="en-AU" sz="3200" i="1">
                            <a:latin typeface="Cambria Math" panose="02040503050406030204" pitchFamily="18" charset="0"/>
                          </a:rPr>
                          <m:t>𝑤</m:t>
                        </m:r>
                      </m:sub>
                    </m:sSub>
                    <m:d>
                      <m:dPr>
                        <m:ctrlPr>
                          <a:rPr lang="en-AU" sz="3200" i="1">
                            <a:latin typeface="Cambria Math" panose="02040503050406030204" pitchFamily="18" charset="0"/>
                          </a:rPr>
                        </m:ctrlPr>
                      </m:dPr>
                      <m:e>
                        <m:r>
                          <a:rPr lang="en-AU" sz="3200" i="1">
                            <a:latin typeface="Cambria Math" panose="02040503050406030204" pitchFamily="18" charset="0"/>
                          </a:rPr>
                          <m:t>𝑥</m:t>
                        </m:r>
                      </m:e>
                    </m:d>
                    <m:r>
                      <a:rPr lang="en-AU" sz="3200" i="1">
                        <a:latin typeface="Cambria Math" panose="02040503050406030204" pitchFamily="18" charset="0"/>
                      </a:rPr>
                      <m:t>=</m:t>
                    </m:r>
                    <m:r>
                      <a:rPr lang="en-AU" sz="3200" i="1">
                        <a:latin typeface="Cambria Math" panose="02040503050406030204" pitchFamily="18" charset="0"/>
                      </a:rPr>
                      <m:t>𝑤</m:t>
                    </m:r>
                    <m:r>
                      <a:rPr lang="en-AU" sz="3200" i="1">
                        <a:latin typeface="Cambria Math" panose="02040503050406030204" pitchFamily="18" charset="0"/>
                      </a:rPr>
                      <m:t>∗</m:t>
                    </m:r>
                    <m:r>
                      <a:rPr lang="en-AU" sz="3200" i="1">
                        <a:latin typeface="Cambria Math" panose="02040503050406030204" pitchFamily="18" charset="0"/>
                      </a:rPr>
                      <m:t>𝑥</m:t>
                    </m:r>
                  </m:oMath>
                </a14:m>
                <a:endParaRPr lang="en-AU" sz="3200" dirty="0"/>
              </a:p>
              <a:p>
                <a:r>
                  <a:rPr lang="en-US" sz="3200" b="1" dirty="0"/>
                  <a:t>Parameter: </a:t>
                </a:r>
                <a14:m>
                  <m:oMath xmlns:m="http://schemas.openxmlformats.org/officeDocument/2006/math">
                    <m:r>
                      <a:rPr lang="en-AU" sz="3200" i="1">
                        <a:latin typeface="Cambria Math" panose="02040503050406030204" pitchFamily="18" charset="0"/>
                      </a:rPr>
                      <m:t>𝑤</m:t>
                    </m:r>
                  </m:oMath>
                </a14:m>
                <a:endParaRPr lang="en-AU" sz="3200" dirty="0"/>
              </a:p>
              <a:p>
                <a:r>
                  <a:rPr lang="en-US" sz="3200" b="1" dirty="0"/>
                  <a:t>Loss function: </a:t>
                </a:r>
                <a14:m>
                  <m:oMath xmlns:m="http://schemas.openxmlformats.org/officeDocument/2006/math">
                    <m:r>
                      <a:rPr lang="en-US" sz="3200" i="1">
                        <a:latin typeface="Cambria Math" panose="02040503050406030204" pitchFamily="18" charset="0"/>
                        <a:ea typeface="Cambria Math" panose="02040503050406030204" pitchFamily="18" charset="0"/>
                      </a:rPr>
                      <m:t>ℒ</m:t>
                    </m:r>
                    <m:d>
                      <m:dPr>
                        <m:ctrlPr>
                          <a:rPr lang="en-AU" sz="3200" i="1">
                            <a:latin typeface="Cambria Math" panose="02040503050406030204" pitchFamily="18" charset="0"/>
                            <a:ea typeface="Cambria Math" panose="02040503050406030204" pitchFamily="18" charset="0"/>
                          </a:rPr>
                        </m:ctrlPr>
                      </m:dPr>
                      <m:e>
                        <m:r>
                          <a:rPr lang="en-AU" sz="3200" i="1">
                            <a:latin typeface="Cambria Math" panose="02040503050406030204" pitchFamily="18" charset="0"/>
                            <a:ea typeface="Cambria Math" panose="02040503050406030204" pitchFamily="18" charset="0"/>
                          </a:rPr>
                          <m:t>𝑤</m:t>
                        </m:r>
                      </m:e>
                    </m:d>
                    <m:r>
                      <a:rPr lang="en-AU" sz="3200" i="1">
                        <a:latin typeface="Cambria Math" panose="02040503050406030204" pitchFamily="18" charset="0"/>
                        <a:ea typeface="Cambria Math" panose="02040503050406030204" pitchFamily="18" charset="0"/>
                      </a:rPr>
                      <m:t>=</m:t>
                    </m:r>
                    <m:f>
                      <m:fPr>
                        <m:ctrlPr>
                          <a:rPr lang="en-AU" sz="3200" i="1">
                            <a:latin typeface="Cambria Math" panose="02040503050406030204" pitchFamily="18" charset="0"/>
                            <a:ea typeface="Cambria Math" panose="02040503050406030204" pitchFamily="18" charset="0"/>
                          </a:rPr>
                        </m:ctrlPr>
                      </m:fPr>
                      <m:num>
                        <m:r>
                          <a:rPr lang="en-AU" sz="3200" i="1">
                            <a:latin typeface="Cambria Math" panose="02040503050406030204" pitchFamily="18" charset="0"/>
                            <a:ea typeface="Cambria Math" panose="02040503050406030204" pitchFamily="18" charset="0"/>
                          </a:rPr>
                          <m:t>1</m:t>
                        </m:r>
                      </m:num>
                      <m:den>
                        <m:r>
                          <a:rPr lang="en-AU" sz="3200" i="1">
                            <a:latin typeface="Cambria Math" panose="02040503050406030204" pitchFamily="18" charset="0"/>
                            <a:ea typeface="Cambria Math" panose="02040503050406030204" pitchFamily="18" charset="0"/>
                          </a:rPr>
                          <m:t>2</m:t>
                        </m:r>
                        <m:r>
                          <a:rPr lang="en-AU" sz="3200" i="1">
                            <a:latin typeface="Cambria Math" panose="02040503050406030204" pitchFamily="18" charset="0"/>
                            <a:ea typeface="Cambria Math" panose="02040503050406030204" pitchFamily="18" charset="0"/>
                          </a:rPr>
                          <m:t>𝑚</m:t>
                        </m:r>
                      </m:den>
                    </m:f>
                    <m:nary>
                      <m:naryPr>
                        <m:chr m:val="∑"/>
                        <m:ctrlPr>
                          <a:rPr lang="en-AU" sz="3200" i="1">
                            <a:latin typeface="Cambria Math" panose="02040503050406030204" pitchFamily="18" charset="0"/>
                            <a:ea typeface="Cambria Math" panose="02040503050406030204" pitchFamily="18" charset="0"/>
                          </a:rPr>
                        </m:ctrlPr>
                      </m:naryPr>
                      <m:sub>
                        <m:r>
                          <m:rPr>
                            <m:brk m:alnAt="23"/>
                          </m:rPr>
                          <a:rPr lang="en-AU" sz="3200" i="1">
                            <a:latin typeface="Cambria Math" panose="02040503050406030204" pitchFamily="18" charset="0"/>
                            <a:ea typeface="Cambria Math" panose="02040503050406030204" pitchFamily="18" charset="0"/>
                          </a:rPr>
                          <m:t>𝑖</m:t>
                        </m:r>
                        <m:r>
                          <m:rPr>
                            <m:brk m:alnAt="23"/>
                          </m:rPr>
                          <a:rPr lang="en-AU" sz="3200" i="1">
                            <a:latin typeface="Cambria Math" panose="02040503050406030204" pitchFamily="18" charset="0"/>
                            <a:ea typeface="Cambria Math" panose="02040503050406030204" pitchFamily="18" charset="0"/>
                          </a:rPr>
                          <m:t>=</m:t>
                        </m:r>
                        <m:r>
                          <m:rPr>
                            <m:brk m:alnAt="23"/>
                          </m:rPr>
                          <a:rPr lang="en-AU" sz="3200" i="1">
                            <a:latin typeface="Cambria Math" panose="02040503050406030204" pitchFamily="18" charset="0"/>
                            <a:ea typeface="Cambria Math" panose="02040503050406030204" pitchFamily="18" charset="0"/>
                          </a:rPr>
                          <m:t>1</m:t>
                        </m:r>
                      </m:sub>
                      <m:sup>
                        <m:r>
                          <a:rPr lang="en-AU" sz="3200" i="1">
                            <a:latin typeface="Cambria Math" panose="02040503050406030204" pitchFamily="18" charset="0"/>
                            <a:ea typeface="Cambria Math" panose="02040503050406030204" pitchFamily="18" charset="0"/>
                          </a:rPr>
                          <m:t>𝑚</m:t>
                        </m:r>
                      </m:sup>
                      <m:e>
                        <m:sSup>
                          <m:sSupPr>
                            <m:ctrlPr>
                              <a:rPr lang="en-AU" sz="3200" i="1">
                                <a:latin typeface="Cambria Math" panose="02040503050406030204" pitchFamily="18" charset="0"/>
                                <a:ea typeface="Cambria Math" panose="02040503050406030204" pitchFamily="18" charset="0"/>
                              </a:rPr>
                            </m:ctrlPr>
                          </m:sSupPr>
                          <m:e>
                            <m:d>
                              <m:dPr>
                                <m:ctrlPr>
                                  <a:rPr lang="en-AU" sz="3200" i="1">
                                    <a:latin typeface="Cambria Math" panose="02040503050406030204" pitchFamily="18" charset="0"/>
                                    <a:ea typeface="Cambria Math" panose="02040503050406030204" pitchFamily="18" charset="0"/>
                                  </a:rPr>
                                </m:ctrlPr>
                              </m:dPr>
                              <m:e>
                                <m:sSub>
                                  <m:sSubPr>
                                    <m:ctrlPr>
                                      <a:rPr lang="en-AU" sz="3200" i="1">
                                        <a:latin typeface="Cambria Math" panose="02040503050406030204" pitchFamily="18" charset="0"/>
                                        <a:ea typeface="Cambria Math" panose="02040503050406030204" pitchFamily="18" charset="0"/>
                                      </a:rPr>
                                    </m:ctrlPr>
                                  </m:sSubPr>
                                  <m:e>
                                    <m:r>
                                      <a:rPr lang="en-AU" sz="3200" i="1">
                                        <a:latin typeface="Cambria Math" panose="02040503050406030204" pitchFamily="18" charset="0"/>
                                        <a:ea typeface="Cambria Math" panose="02040503050406030204" pitchFamily="18" charset="0"/>
                                      </a:rPr>
                                      <m:t>𝑓</m:t>
                                    </m:r>
                                  </m:e>
                                  <m:sub>
                                    <m:r>
                                      <a:rPr lang="en-AU" sz="3200" i="1">
                                        <a:latin typeface="Cambria Math" panose="02040503050406030204" pitchFamily="18" charset="0"/>
                                        <a:ea typeface="Cambria Math" panose="02040503050406030204" pitchFamily="18" charset="0"/>
                                      </a:rPr>
                                      <m:t>𝑤</m:t>
                                    </m:r>
                                  </m:sub>
                                </m:sSub>
                                <m:d>
                                  <m:dPr>
                                    <m:ctrlPr>
                                      <a:rPr lang="en-AU" sz="3200" i="1">
                                        <a:latin typeface="Cambria Math" panose="02040503050406030204" pitchFamily="18" charset="0"/>
                                        <a:ea typeface="Cambria Math" panose="02040503050406030204" pitchFamily="18" charset="0"/>
                                      </a:rPr>
                                    </m:ctrlPr>
                                  </m:dPr>
                                  <m:e>
                                    <m:sSup>
                                      <m:sSupPr>
                                        <m:ctrlPr>
                                          <a:rPr lang="en-AU" sz="3200" i="1">
                                            <a:latin typeface="Cambria Math" panose="02040503050406030204" pitchFamily="18" charset="0"/>
                                            <a:ea typeface="Cambria Math" panose="02040503050406030204" pitchFamily="18" charset="0"/>
                                          </a:rPr>
                                        </m:ctrlPr>
                                      </m:sSupPr>
                                      <m:e>
                                        <m:r>
                                          <a:rPr lang="en-AU" sz="3200" i="1">
                                            <a:latin typeface="Cambria Math" panose="02040503050406030204" pitchFamily="18" charset="0"/>
                                            <a:ea typeface="Cambria Math" panose="02040503050406030204" pitchFamily="18" charset="0"/>
                                          </a:rPr>
                                          <m:t>𝑥</m:t>
                                        </m:r>
                                      </m:e>
                                      <m:sup>
                                        <m:r>
                                          <a:rPr lang="en-AU" sz="3200" i="1">
                                            <a:latin typeface="Cambria Math" panose="02040503050406030204" pitchFamily="18" charset="0"/>
                                            <a:ea typeface="Cambria Math" panose="02040503050406030204" pitchFamily="18" charset="0"/>
                                          </a:rPr>
                                          <m:t>𝑖</m:t>
                                        </m:r>
                                      </m:sup>
                                    </m:sSup>
                                  </m:e>
                                </m:d>
                                <m:r>
                                  <a:rPr lang="en-AU" sz="3200" i="1">
                                    <a:latin typeface="Cambria Math" panose="02040503050406030204" pitchFamily="18" charset="0"/>
                                    <a:ea typeface="Cambria Math" panose="02040503050406030204" pitchFamily="18" charset="0"/>
                                  </a:rPr>
                                  <m:t>−</m:t>
                                </m:r>
                                <m:sSup>
                                  <m:sSupPr>
                                    <m:ctrlPr>
                                      <a:rPr lang="en-AU" sz="3200" i="1">
                                        <a:latin typeface="Cambria Math" panose="02040503050406030204" pitchFamily="18" charset="0"/>
                                        <a:ea typeface="Cambria Math" panose="02040503050406030204" pitchFamily="18" charset="0"/>
                                      </a:rPr>
                                    </m:ctrlPr>
                                  </m:sSupPr>
                                  <m:e>
                                    <m:r>
                                      <a:rPr lang="en-AU" sz="3200" i="1">
                                        <a:latin typeface="Cambria Math" panose="02040503050406030204" pitchFamily="18" charset="0"/>
                                        <a:ea typeface="Cambria Math" panose="02040503050406030204" pitchFamily="18" charset="0"/>
                                      </a:rPr>
                                      <m:t>𝑦</m:t>
                                    </m:r>
                                  </m:e>
                                  <m:sup>
                                    <m:r>
                                      <a:rPr lang="en-AU" sz="3200" i="1">
                                        <a:latin typeface="Cambria Math" panose="02040503050406030204" pitchFamily="18" charset="0"/>
                                        <a:ea typeface="Cambria Math" panose="02040503050406030204" pitchFamily="18" charset="0"/>
                                      </a:rPr>
                                      <m:t>𝑖</m:t>
                                    </m:r>
                                  </m:sup>
                                </m:sSup>
                              </m:e>
                            </m:d>
                          </m:e>
                          <m:sup>
                            <m:r>
                              <a:rPr lang="en-AU" sz="3200" i="1">
                                <a:latin typeface="Cambria Math" panose="02040503050406030204" pitchFamily="18" charset="0"/>
                                <a:ea typeface="Cambria Math" panose="02040503050406030204" pitchFamily="18" charset="0"/>
                              </a:rPr>
                              <m:t>2</m:t>
                            </m:r>
                          </m:sup>
                        </m:sSup>
                      </m:e>
                    </m:nary>
                  </m:oMath>
                </a14:m>
                <a:r>
                  <a:rPr lang="en-US" sz="3200" dirty="0"/>
                  <a:t> </a:t>
                </a:r>
              </a:p>
              <a:p>
                <a:r>
                  <a:rPr lang="en-US" sz="3200" b="1" dirty="0"/>
                  <a:t>Objective:</a:t>
                </a:r>
                <a:r>
                  <a:rPr lang="en-US" sz="3200" dirty="0"/>
                  <a:t> </a:t>
                </a:r>
                <a14:m>
                  <m:oMath xmlns:m="http://schemas.openxmlformats.org/officeDocument/2006/math">
                    <m:func>
                      <m:funcPr>
                        <m:ctrlPr>
                          <a:rPr lang="en-US" sz="3200" i="1">
                            <a:latin typeface="Cambria Math" panose="02040503050406030204" pitchFamily="18" charset="0"/>
                          </a:rPr>
                        </m:ctrlPr>
                      </m:funcPr>
                      <m:fName>
                        <m:limLow>
                          <m:limLowPr>
                            <m:ctrlPr>
                              <a:rPr lang="en-US" sz="3200">
                                <a:latin typeface="Cambria Math" panose="02040503050406030204" pitchFamily="18" charset="0"/>
                              </a:rPr>
                            </m:ctrlPr>
                          </m:limLowPr>
                          <m:e>
                            <m:r>
                              <m:rPr>
                                <m:sty m:val="p"/>
                              </m:rPr>
                              <a:rPr lang="en-US" sz="3200">
                                <a:latin typeface="Cambria Math" panose="02040503050406030204" pitchFamily="18" charset="0"/>
                              </a:rPr>
                              <m:t>min</m:t>
                            </m:r>
                          </m:e>
                          <m:lim>
                            <m:r>
                              <a:rPr lang="en-AU" sz="3200" i="1">
                                <a:latin typeface="Cambria Math" panose="02040503050406030204" pitchFamily="18" charset="0"/>
                              </a:rPr>
                              <m:t>𝑤</m:t>
                            </m:r>
                          </m:lim>
                        </m:limLow>
                        <m:r>
                          <a:rPr lang="en-AU" sz="3200" i="1">
                            <a:latin typeface="Cambria Math" panose="02040503050406030204" pitchFamily="18" charset="0"/>
                          </a:rPr>
                          <m:t> </m:t>
                        </m:r>
                      </m:fName>
                      <m:e>
                        <m:r>
                          <a:rPr lang="en-US" sz="3200" i="1">
                            <a:latin typeface="Cambria Math" panose="02040503050406030204" pitchFamily="18" charset="0"/>
                            <a:ea typeface="Cambria Math" panose="02040503050406030204" pitchFamily="18" charset="0"/>
                          </a:rPr>
                          <m:t>ℒ</m:t>
                        </m:r>
                        <m:d>
                          <m:dPr>
                            <m:ctrlPr>
                              <a:rPr lang="en-AU" sz="3200" i="1">
                                <a:latin typeface="Cambria Math" panose="02040503050406030204" pitchFamily="18" charset="0"/>
                                <a:ea typeface="Cambria Math" panose="02040503050406030204" pitchFamily="18" charset="0"/>
                              </a:rPr>
                            </m:ctrlPr>
                          </m:dPr>
                          <m:e>
                            <m:r>
                              <a:rPr lang="en-AU" sz="3200" i="1">
                                <a:latin typeface="Cambria Math" panose="02040503050406030204" pitchFamily="18" charset="0"/>
                                <a:ea typeface="Cambria Math" panose="02040503050406030204" pitchFamily="18" charset="0"/>
                              </a:rPr>
                              <m:t>𝑤</m:t>
                            </m:r>
                          </m:e>
                        </m:d>
                      </m:e>
                    </m:func>
                  </m:oMath>
                </a14:m>
                <a:endParaRPr lang="en-US" dirty="0"/>
              </a:p>
            </p:txBody>
          </p:sp>
        </mc:Choice>
        <mc:Fallback>
          <p:sp>
            <p:nvSpPr>
              <p:cNvPr id="3" name="Content Placeholder 2">
                <a:extLst>
                  <a:ext uri="{FF2B5EF4-FFF2-40B4-BE49-F238E27FC236}">
                    <a16:creationId xmlns:a16="http://schemas.microsoft.com/office/drawing/2014/main" id="{6F8ABA89-6BF8-4C4A-9FB9-4C85F310D458}"/>
                  </a:ext>
                </a:extLst>
              </p:cNvPr>
              <p:cNvSpPr>
                <a:spLocks noGrp="1" noRot="1" noChangeAspect="1" noMove="1" noResize="1" noEditPoints="1" noAdjustHandles="1" noChangeArrowheads="1" noChangeShapeType="1" noTextEdit="1"/>
              </p:cNvSpPr>
              <p:nvPr>
                <p:ph idx="1"/>
              </p:nvPr>
            </p:nvSpPr>
            <p:spPr>
              <a:blipFill>
                <a:blip r:embed="rId3"/>
                <a:stretch>
                  <a:fillRect l="-1327" t="-2326"/>
                </a:stretch>
              </a:blipFill>
            </p:spPr>
            <p:txBody>
              <a:bodyPr/>
              <a:lstStyle/>
              <a:p>
                <a:r>
                  <a:rPr lang="en-US">
                    <a:noFill/>
                  </a:rPr>
                  <a:t> </a:t>
                </a:r>
              </a:p>
            </p:txBody>
          </p:sp>
        </mc:Fallback>
      </mc:AlternateContent>
    </p:spTree>
    <p:extLst>
      <p:ext uri="{BB962C8B-B14F-4D97-AF65-F5344CB8AC3E}">
        <p14:creationId xmlns:p14="http://schemas.microsoft.com/office/powerpoint/2010/main" val="1956514297"/>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68B5F12-E485-FA1D-FB4B-8D3BA212798B}"/>
              </a:ext>
            </a:extLst>
          </p:cNvPr>
          <p:cNvSpPr>
            <a:spLocks noGrp="1"/>
          </p:cNvSpPr>
          <p:nvPr>
            <p:ph type="title"/>
          </p:nvPr>
        </p:nvSpPr>
        <p:spPr/>
        <p:txBody>
          <a:bodyPr/>
          <a:lstStyle/>
          <a:p>
            <a:r>
              <a:rPr lang="en-US" b="1" dirty="0"/>
              <a:t>Parameter update rules</a:t>
            </a:r>
          </a:p>
        </p:txBody>
      </p:sp>
      <mc:AlternateContent xmlns:mc="http://schemas.openxmlformats.org/markup-compatibility/2006">
        <mc:Choice xmlns:a14="http://schemas.microsoft.com/office/drawing/2010/main" Requires="a14">
          <p:sp>
            <p:nvSpPr>
              <p:cNvPr id="3" name="Content Placeholder 2">
                <a:extLst>
                  <a:ext uri="{FF2B5EF4-FFF2-40B4-BE49-F238E27FC236}">
                    <a16:creationId xmlns:a16="http://schemas.microsoft.com/office/drawing/2014/main" id="{ADD343D0-8BE9-188B-B8F0-4C2AAF80BA28}"/>
                  </a:ext>
                </a:extLst>
              </p:cNvPr>
              <p:cNvSpPr>
                <a:spLocks noGrp="1"/>
              </p:cNvSpPr>
              <p:nvPr>
                <p:ph idx="1"/>
              </p:nvPr>
            </p:nvSpPr>
            <p:spPr/>
            <p:txBody>
              <a:bodyPr/>
              <a:lstStyle/>
              <a:p>
                <a:r>
                  <a:rPr lang="en-US" dirty="0"/>
                  <a:t>To update weights in the simpler model for one instance </a:t>
                </a:r>
                <a14:m>
                  <m:oMath xmlns:m="http://schemas.openxmlformats.org/officeDocument/2006/math">
                    <m:sSup>
                      <m:sSupPr>
                        <m:ctrlPr>
                          <a:rPr lang="en-AU" b="0" i="1" smtClean="0">
                            <a:latin typeface="Cambria Math" panose="02040503050406030204" pitchFamily="18" charset="0"/>
                          </a:rPr>
                        </m:ctrlPr>
                      </m:sSupPr>
                      <m:e>
                        <m:r>
                          <a:rPr lang="en-AU" b="0" i="1" smtClean="0">
                            <a:latin typeface="Cambria Math" panose="02040503050406030204" pitchFamily="18" charset="0"/>
                          </a:rPr>
                          <m:t>𝑥</m:t>
                        </m:r>
                      </m:e>
                      <m:sup>
                        <m:r>
                          <a:rPr lang="en-AU" b="0" i="1" smtClean="0">
                            <a:latin typeface="Cambria Math" panose="02040503050406030204" pitchFamily="18" charset="0"/>
                          </a:rPr>
                          <m:t>𝑖</m:t>
                        </m:r>
                      </m:sup>
                    </m:sSup>
                  </m:oMath>
                </a14:m>
                <a:endParaRPr lang="en-US" dirty="0"/>
              </a:p>
              <a:p>
                <a:pPr marL="0" indent="0">
                  <a:buNone/>
                </a:pPr>
                <a14:m>
                  <m:oMathPara xmlns:m="http://schemas.openxmlformats.org/officeDocument/2006/math">
                    <m:oMath>
                      <m:f>
                        <m:fPr>
                          <m:ctrlPr>
                            <a:rPr lang="en-US" i="1" smtClean="0">
                              <a:latin typeface="Cambria Math" panose="02040503050406030204" pitchFamily="18" charset="0"/>
                            </a:rPr>
                          </m:ctrlPr>
                        </m:fPr>
                        <m:num>
                          <m:r>
                            <a:rPr lang="en-US" i="1" smtClean="0">
                              <a:latin typeface="Cambria Math" panose="02040503050406030204" pitchFamily="18" charset="0"/>
                            </a:rPr>
                            <m:t>𝜕</m:t>
                          </m:r>
                        </m:num>
                        <m:den>
                          <m:r>
                            <a:rPr lang="en-US" i="1" smtClean="0">
                              <a:latin typeface="Cambria Math" panose="02040503050406030204" pitchFamily="18" charset="0"/>
                            </a:rPr>
                            <m:t>𝜕</m:t>
                          </m:r>
                          <m:r>
                            <a:rPr lang="en-AU" b="0" i="1" smtClean="0">
                              <a:latin typeface="Cambria Math" panose="02040503050406030204" pitchFamily="18" charset="0"/>
                            </a:rPr>
                            <m:t>𝑤</m:t>
                          </m:r>
                        </m:den>
                      </m:f>
                      <m:r>
                        <a:rPr lang="en-US" i="1" smtClean="0">
                          <a:latin typeface="Cambria Math" panose="02040503050406030204" pitchFamily="18" charset="0"/>
                          <a:ea typeface="Cambria Math" panose="02040503050406030204" pitchFamily="18" charset="0"/>
                        </a:rPr>
                        <m:t>ℒ</m:t>
                      </m:r>
                      <m:d>
                        <m:dPr>
                          <m:ctrlPr>
                            <a:rPr lang="en-AU" b="0" i="1" smtClean="0">
                              <a:latin typeface="Cambria Math" panose="02040503050406030204" pitchFamily="18" charset="0"/>
                              <a:ea typeface="Cambria Math" panose="02040503050406030204" pitchFamily="18" charset="0"/>
                            </a:rPr>
                          </m:ctrlPr>
                        </m:dPr>
                        <m:e>
                          <m:r>
                            <a:rPr lang="en-AU" b="0" i="1" smtClean="0">
                              <a:latin typeface="Cambria Math" panose="02040503050406030204" pitchFamily="18" charset="0"/>
                              <a:ea typeface="Cambria Math" panose="02040503050406030204" pitchFamily="18" charset="0"/>
                            </a:rPr>
                            <m:t>𝑤</m:t>
                          </m:r>
                        </m:e>
                      </m:d>
                      <m:r>
                        <m:rPr>
                          <m:aln/>
                        </m:rPr>
                        <a:rPr lang="en-AU" b="0" i="1" smtClean="0">
                          <a:latin typeface="Cambria Math" panose="02040503050406030204" pitchFamily="18" charset="0"/>
                          <a:ea typeface="Cambria Math" panose="02040503050406030204" pitchFamily="18" charset="0"/>
                        </a:rPr>
                        <m:t>=</m:t>
                      </m:r>
                      <m:f>
                        <m:fPr>
                          <m:ctrlPr>
                            <a:rPr lang="en-US" i="1">
                              <a:latin typeface="Cambria Math" panose="02040503050406030204" pitchFamily="18" charset="0"/>
                            </a:rPr>
                          </m:ctrlPr>
                        </m:fPr>
                        <m:num>
                          <m:r>
                            <a:rPr lang="en-US" i="1">
                              <a:latin typeface="Cambria Math" panose="02040503050406030204" pitchFamily="18" charset="0"/>
                            </a:rPr>
                            <m:t>𝜕</m:t>
                          </m:r>
                        </m:num>
                        <m:den>
                          <m:r>
                            <a:rPr lang="en-US" i="1">
                              <a:latin typeface="Cambria Math" panose="02040503050406030204" pitchFamily="18" charset="0"/>
                            </a:rPr>
                            <m:t>𝜕</m:t>
                          </m:r>
                          <m:r>
                            <a:rPr lang="en-AU" i="1">
                              <a:latin typeface="Cambria Math" panose="02040503050406030204" pitchFamily="18" charset="0"/>
                            </a:rPr>
                            <m:t>𝑤</m:t>
                          </m:r>
                        </m:den>
                      </m:f>
                      <m:f>
                        <m:fPr>
                          <m:ctrlPr>
                            <a:rPr lang="en-AU" i="1">
                              <a:latin typeface="Cambria Math" panose="02040503050406030204" pitchFamily="18" charset="0"/>
                              <a:ea typeface="Cambria Math" panose="02040503050406030204" pitchFamily="18" charset="0"/>
                            </a:rPr>
                          </m:ctrlPr>
                        </m:fPr>
                        <m:num>
                          <m:r>
                            <a:rPr lang="en-AU" i="1">
                              <a:latin typeface="Cambria Math" panose="02040503050406030204" pitchFamily="18" charset="0"/>
                              <a:ea typeface="Cambria Math" panose="02040503050406030204" pitchFamily="18" charset="0"/>
                            </a:rPr>
                            <m:t>1</m:t>
                          </m:r>
                        </m:num>
                        <m:den>
                          <m:r>
                            <a:rPr lang="en-AU" i="1">
                              <a:latin typeface="Cambria Math" panose="02040503050406030204" pitchFamily="18" charset="0"/>
                              <a:ea typeface="Cambria Math" panose="02040503050406030204" pitchFamily="18" charset="0"/>
                            </a:rPr>
                            <m:t>2</m:t>
                          </m:r>
                        </m:den>
                      </m:f>
                      <m:sSup>
                        <m:sSupPr>
                          <m:ctrlPr>
                            <a:rPr lang="en-AU" i="1">
                              <a:latin typeface="Cambria Math" panose="02040503050406030204" pitchFamily="18" charset="0"/>
                              <a:ea typeface="Cambria Math" panose="02040503050406030204" pitchFamily="18" charset="0"/>
                            </a:rPr>
                          </m:ctrlPr>
                        </m:sSupPr>
                        <m:e>
                          <m:d>
                            <m:dPr>
                              <m:ctrlPr>
                                <a:rPr lang="en-AU" i="1">
                                  <a:latin typeface="Cambria Math" panose="02040503050406030204" pitchFamily="18" charset="0"/>
                                  <a:ea typeface="Cambria Math" panose="02040503050406030204" pitchFamily="18" charset="0"/>
                                </a:rPr>
                              </m:ctrlPr>
                            </m:dPr>
                            <m:e>
                              <m:sSub>
                                <m:sSubPr>
                                  <m:ctrlPr>
                                    <a:rPr lang="en-AU" i="1">
                                      <a:latin typeface="Cambria Math" panose="02040503050406030204" pitchFamily="18" charset="0"/>
                                      <a:ea typeface="Cambria Math" panose="02040503050406030204" pitchFamily="18" charset="0"/>
                                    </a:rPr>
                                  </m:ctrlPr>
                                </m:sSubPr>
                                <m:e>
                                  <m:r>
                                    <a:rPr lang="en-AU" i="1">
                                      <a:latin typeface="Cambria Math" panose="02040503050406030204" pitchFamily="18" charset="0"/>
                                      <a:ea typeface="Cambria Math" panose="02040503050406030204" pitchFamily="18" charset="0"/>
                                    </a:rPr>
                                    <m:t>𝑓</m:t>
                                  </m:r>
                                </m:e>
                                <m:sub>
                                  <m:r>
                                    <a:rPr lang="en-AU" i="1">
                                      <a:latin typeface="Cambria Math" panose="02040503050406030204" pitchFamily="18" charset="0"/>
                                      <a:ea typeface="Cambria Math" panose="02040503050406030204" pitchFamily="18" charset="0"/>
                                    </a:rPr>
                                    <m:t>𝑤</m:t>
                                  </m:r>
                                </m:sub>
                              </m:sSub>
                              <m:d>
                                <m:dPr>
                                  <m:ctrlPr>
                                    <a:rPr lang="en-AU" i="1">
                                      <a:latin typeface="Cambria Math" panose="02040503050406030204" pitchFamily="18" charset="0"/>
                                      <a:ea typeface="Cambria Math" panose="02040503050406030204" pitchFamily="18" charset="0"/>
                                    </a:rPr>
                                  </m:ctrlPr>
                                </m:dPr>
                                <m:e>
                                  <m:sSup>
                                    <m:sSupPr>
                                      <m:ctrlPr>
                                        <a:rPr lang="en-AU" i="1">
                                          <a:latin typeface="Cambria Math" panose="02040503050406030204" pitchFamily="18" charset="0"/>
                                          <a:ea typeface="Cambria Math" panose="02040503050406030204" pitchFamily="18" charset="0"/>
                                        </a:rPr>
                                      </m:ctrlPr>
                                    </m:sSupPr>
                                    <m:e>
                                      <m:r>
                                        <a:rPr lang="en-AU" i="1">
                                          <a:latin typeface="Cambria Math" panose="02040503050406030204" pitchFamily="18" charset="0"/>
                                          <a:ea typeface="Cambria Math" panose="02040503050406030204" pitchFamily="18" charset="0"/>
                                        </a:rPr>
                                        <m:t>𝑥</m:t>
                                      </m:r>
                                    </m:e>
                                    <m:sup>
                                      <m:r>
                                        <a:rPr lang="en-AU" i="1">
                                          <a:latin typeface="Cambria Math" panose="02040503050406030204" pitchFamily="18" charset="0"/>
                                          <a:ea typeface="Cambria Math" panose="02040503050406030204" pitchFamily="18" charset="0"/>
                                        </a:rPr>
                                        <m:t>𝑖</m:t>
                                      </m:r>
                                    </m:sup>
                                  </m:sSup>
                                </m:e>
                              </m:d>
                              <m:r>
                                <a:rPr lang="en-AU" i="1">
                                  <a:latin typeface="Cambria Math" panose="02040503050406030204" pitchFamily="18" charset="0"/>
                                  <a:ea typeface="Cambria Math" panose="02040503050406030204" pitchFamily="18" charset="0"/>
                                </a:rPr>
                                <m:t>−</m:t>
                              </m:r>
                              <m:sSup>
                                <m:sSupPr>
                                  <m:ctrlPr>
                                    <a:rPr lang="en-AU" i="1">
                                      <a:latin typeface="Cambria Math" panose="02040503050406030204" pitchFamily="18" charset="0"/>
                                      <a:ea typeface="Cambria Math" panose="02040503050406030204" pitchFamily="18" charset="0"/>
                                    </a:rPr>
                                  </m:ctrlPr>
                                </m:sSupPr>
                                <m:e>
                                  <m:r>
                                    <a:rPr lang="en-AU" i="1">
                                      <a:latin typeface="Cambria Math" panose="02040503050406030204" pitchFamily="18" charset="0"/>
                                      <a:ea typeface="Cambria Math" panose="02040503050406030204" pitchFamily="18" charset="0"/>
                                    </a:rPr>
                                    <m:t>𝑦</m:t>
                                  </m:r>
                                </m:e>
                                <m:sup>
                                  <m:r>
                                    <a:rPr lang="en-AU" i="1">
                                      <a:latin typeface="Cambria Math" panose="02040503050406030204" pitchFamily="18" charset="0"/>
                                      <a:ea typeface="Cambria Math" panose="02040503050406030204" pitchFamily="18" charset="0"/>
                                    </a:rPr>
                                    <m:t>𝑖</m:t>
                                  </m:r>
                                </m:sup>
                              </m:sSup>
                            </m:e>
                          </m:d>
                        </m:e>
                        <m:sup>
                          <m:r>
                            <a:rPr lang="en-AU" i="1">
                              <a:latin typeface="Cambria Math" panose="02040503050406030204" pitchFamily="18" charset="0"/>
                              <a:ea typeface="Cambria Math" panose="02040503050406030204" pitchFamily="18" charset="0"/>
                            </a:rPr>
                            <m:t>2</m:t>
                          </m:r>
                        </m:sup>
                      </m:sSup>
                    </m:oMath>
                    <m:oMath>
                      <m:r>
                        <m:rPr>
                          <m:aln/>
                        </m:rPr>
                        <a:rPr lang="en-AU" b="0" i="1" smtClean="0">
                          <a:latin typeface="Cambria Math" panose="02040503050406030204" pitchFamily="18" charset="0"/>
                          <a:ea typeface="Cambria Math" panose="02040503050406030204" pitchFamily="18" charset="0"/>
                        </a:rPr>
                        <m:t>=</m:t>
                      </m:r>
                      <m:f>
                        <m:fPr>
                          <m:ctrlPr>
                            <a:rPr lang="en-AU" b="0" i="1" smtClean="0">
                              <a:latin typeface="Cambria Math" panose="02040503050406030204" pitchFamily="18" charset="0"/>
                              <a:ea typeface="Cambria Math" panose="02040503050406030204" pitchFamily="18" charset="0"/>
                            </a:rPr>
                          </m:ctrlPr>
                        </m:fPr>
                        <m:num>
                          <m:r>
                            <a:rPr lang="en-AU" b="0" i="1" smtClean="0">
                              <a:latin typeface="Cambria Math" panose="02040503050406030204" pitchFamily="18" charset="0"/>
                              <a:ea typeface="Cambria Math" panose="02040503050406030204" pitchFamily="18" charset="0"/>
                            </a:rPr>
                            <m:t>1</m:t>
                          </m:r>
                        </m:num>
                        <m:den>
                          <m:r>
                            <a:rPr lang="en-AU" b="0" i="1" smtClean="0">
                              <a:latin typeface="Cambria Math" panose="02040503050406030204" pitchFamily="18" charset="0"/>
                              <a:ea typeface="Cambria Math" panose="02040503050406030204" pitchFamily="18" charset="0"/>
                            </a:rPr>
                            <m:t>2</m:t>
                          </m:r>
                        </m:den>
                      </m:f>
                      <m:r>
                        <a:rPr lang="en-AU" b="0" i="1" smtClean="0">
                          <a:latin typeface="Cambria Math" panose="02040503050406030204" pitchFamily="18" charset="0"/>
                          <a:ea typeface="Cambria Math" panose="02040503050406030204" pitchFamily="18" charset="0"/>
                        </a:rPr>
                        <m:t>×2×</m:t>
                      </m:r>
                      <m:d>
                        <m:dPr>
                          <m:ctrlPr>
                            <a:rPr lang="en-AU" i="1">
                              <a:latin typeface="Cambria Math" panose="02040503050406030204" pitchFamily="18" charset="0"/>
                              <a:ea typeface="Cambria Math" panose="02040503050406030204" pitchFamily="18" charset="0"/>
                            </a:rPr>
                          </m:ctrlPr>
                        </m:dPr>
                        <m:e>
                          <m:sSub>
                            <m:sSubPr>
                              <m:ctrlPr>
                                <a:rPr lang="en-AU" i="1">
                                  <a:latin typeface="Cambria Math" panose="02040503050406030204" pitchFamily="18" charset="0"/>
                                  <a:ea typeface="Cambria Math" panose="02040503050406030204" pitchFamily="18" charset="0"/>
                                </a:rPr>
                              </m:ctrlPr>
                            </m:sSubPr>
                            <m:e>
                              <m:r>
                                <a:rPr lang="en-AU" i="1">
                                  <a:latin typeface="Cambria Math" panose="02040503050406030204" pitchFamily="18" charset="0"/>
                                  <a:ea typeface="Cambria Math" panose="02040503050406030204" pitchFamily="18" charset="0"/>
                                </a:rPr>
                                <m:t>𝑓</m:t>
                              </m:r>
                            </m:e>
                            <m:sub>
                              <m:r>
                                <a:rPr lang="en-AU" i="1">
                                  <a:latin typeface="Cambria Math" panose="02040503050406030204" pitchFamily="18" charset="0"/>
                                  <a:ea typeface="Cambria Math" panose="02040503050406030204" pitchFamily="18" charset="0"/>
                                </a:rPr>
                                <m:t>𝑤</m:t>
                              </m:r>
                            </m:sub>
                          </m:sSub>
                          <m:d>
                            <m:dPr>
                              <m:ctrlPr>
                                <a:rPr lang="en-AU" i="1">
                                  <a:latin typeface="Cambria Math" panose="02040503050406030204" pitchFamily="18" charset="0"/>
                                  <a:ea typeface="Cambria Math" panose="02040503050406030204" pitchFamily="18" charset="0"/>
                                </a:rPr>
                              </m:ctrlPr>
                            </m:dPr>
                            <m:e>
                              <m:sSup>
                                <m:sSupPr>
                                  <m:ctrlPr>
                                    <a:rPr lang="en-AU" i="1">
                                      <a:latin typeface="Cambria Math" panose="02040503050406030204" pitchFamily="18" charset="0"/>
                                      <a:ea typeface="Cambria Math" panose="02040503050406030204" pitchFamily="18" charset="0"/>
                                    </a:rPr>
                                  </m:ctrlPr>
                                </m:sSupPr>
                                <m:e>
                                  <m:r>
                                    <a:rPr lang="en-AU" i="1">
                                      <a:latin typeface="Cambria Math" panose="02040503050406030204" pitchFamily="18" charset="0"/>
                                      <a:ea typeface="Cambria Math" panose="02040503050406030204" pitchFamily="18" charset="0"/>
                                    </a:rPr>
                                    <m:t>𝑥</m:t>
                                  </m:r>
                                </m:e>
                                <m:sup>
                                  <m:r>
                                    <a:rPr lang="en-AU" i="1">
                                      <a:latin typeface="Cambria Math" panose="02040503050406030204" pitchFamily="18" charset="0"/>
                                      <a:ea typeface="Cambria Math" panose="02040503050406030204" pitchFamily="18" charset="0"/>
                                    </a:rPr>
                                    <m:t>𝑖</m:t>
                                  </m:r>
                                </m:sup>
                              </m:sSup>
                            </m:e>
                          </m:d>
                          <m:r>
                            <a:rPr lang="en-AU" i="1">
                              <a:latin typeface="Cambria Math" panose="02040503050406030204" pitchFamily="18" charset="0"/>
                              <a:ea typeface="Cambria Math" panose="02040503050406030204" pitchFamily="18" charset="0"/>
                            </a:rPr>
                            <m:t>−</m:t>
                          </m:r>
                          <m:sSup>
                            <m:sSupPr>
                              <m:ctrlPr>
                                <a:rPr lang="en-AU" i="1">
                                  <a:latin typeface="Cambria Math" panose="02040503050406030204" pitchFamily="18" charset="0"/>
                                  <a:ea typeface="Cambria Math" panose="02040503050406030204" pitchFamily="18" charset="0"/>
                                </a:rPr>
                              </m:ctrlPr>
                            </m:sSupPr>
                            <m:e>
                              <m:r>
                                <a:rPr lang="en-AU" i="1">
                                  <a:latin typeface="Cambria Math" panose="02040503050406030204" pitchFamily="18" charset="0"/>
                                  <a:ea typeface="Cambria Math" panose="02040503050406030204" pitchFamily="18" charset="0"/>
                                </a:rPr>
                                <m:t>𝑦</m:t>
                              </m:r>
                            </m:e>
                            <m:sup>
                              <m:r>
                                <a:rPr lang="en-AU" i="1">
                                  <a:latin typeface="Cambria Math" panose="02040503050406030204" pitchFamily="18" charset="0"/>
                                  <a:ea typeface="Cambria Math" panose="02040503050406030204" pitchFamily="18" charset="0"/>
                                </a:rPr>
                                <m:t>𝑖</m:t>
                              </m:r>
                            </m:sup>
                          </m:sSup>
                        </m:e>
                      </m:d>
                      <m:f>
                        <m:fPr>
                          <m:ctrlPr>
                            <a:rPr lang="en-US" i="1">
                              <a:latin typeface="Cambria Math" panose="02040503050406030204" pitchFamily="18" charset="0"/>
                            </a:rPr>
                          </m:ctrlPr>
                        </m:fPr>
                        <m:num>
                          <m:r>
                            <a:rPr lang="en-US" i="1">
                              <a:latin typeface="Cambria Math" panose="02040503050406030204" pitchFamily="18" charset="0"/>
                            </a:rPr>
                            <m:t>𝜕</m:t>
                          </m:r>
                        </m:num>
                        <m:den>
                          <m:r>
                            <a:rPr lang="en-US" i="1">
                              <a:latin typeface="Cambria Math" panose="02040503050406030204" pitchFamily="18" charset="0"/>
                            </a:rPr>
                            <m:t>𝜕</m:t>
                          </m:r>
                          <m:r>
                            <a:rPr lang="en-AU" i="1">
                              <a:latin typeface="Cambria Math" panose="02040503050406030204" pitchFamily="18" charset="0"/>
                            </a:rPr>
                            <m:t>𝑤</m:t>
                          </m:r>
                        </m:den>
                      </m:f>
                      <m:d>
                        <m:dPr>
                          <m:ctrlPr>
                            <a:rPr lang="en-AU" i="1">
                              <a:latin typeface="Cambria Math" panose="02040503050406030204" pitchFamily="18" charset="0"/>
                              <a:ea typeface="Cambria Math" panose="02040503050406030204" pitchFamily="18" charset="0"/>
                            </a:rPr>
                          </m:ctrlPr>
                        </m:dPr>
                        <m:e>
                          <m:sSub>
                            <m:sSubPr>
                              <m:ctrlPr>
                                <a:rPr lang="en-AU" i="1">
                                  <a:latin typeface="Cambria Math" panose="02040503050406030204" pitchFamily="18" charset="0"/>
                                  <a:ea typeface="Cambria Math" panose="02040503050406030204" pitchFamily="18" charset="0"/>
                                </a:rPr>
                              </m:ctrlPr>
                            </m:sSubPr>
                            <m:e>
                              <m:r>
                                <a:rPr lang="en-AU" i="1">
                                  <a:latin typeface="Cambria Math" panose="02040503050406030204" pitchFamily="18" charset="0"/>
                                  <a:ea typeface="Cambria Math" panose="02040503050406030204" pitchFamily="18" charset="0"/>
                                </a:rPr>
                                <m:t>𝑓</m:t>
                              </m:r>
                            </m:e>
                            <m:sub>
                              <m:r>
                                <a:rPr lang="en-AU" i="1">
                                  <a:latin typeface="Cambria Math" panose="02040503050406030204" pitchFamily="18" charset="0"/>
                                  <a:ea typeface="Cambria Math" panose="02040503050406030204" pitchFamily="18" charset="0"/>
                                </a:rPr>
                                <m:t>𝑤</m:t>
                              </m:r>
                            </m:sub>
                          </m:sSub>
                          <m:d>
                            <m:dPr>
                              <m:ctrlPr>
                                <a:rPr lang="en-AU" i="1">
                                  <a:latin typeface="Cambria Math" panose="02040503050406030204" pitchFamily="18" charset="0"/>
                                  <a:ea typeface="Cambria Math" panose="02040503050406030204" pitchFamily="18" charset="0"/>
                                </a:rPr>
                              </m:ctrlPr>
                            </m:dPr>
                            <m:e>
                              <m:sSup>
                                <m:sSupPr>
                                  <m:ctrlPr>
                                    <a:rPr lang="en-AU" i="1">
                                      <a:latin typeface="Cambria Math" panose="02040503050406030204" pitchFamily="18" charset="0"/>
                                      <a:ea typeface="Cambria Math" panose="02040503050406030204" pitchFamily="18" charset="0"/>
                                    </a:rPr>
                                  </m:ctrlPr>
                                </m:sSupPr>
                                <m:e>
                                  <m:r>
                                    <a:rPr lang="en-AU" i="1">
                                      <a:latin typeface="Cambria Math" panose="02040503050406030204" pitchFamily="18" charset="0"/>
                                      <a:ea typeface="Cambria Math" panose="02040503050406030204" pitchFamily="18" charset="0"/>
                                    </a:rPr>
                                    <m:t>𝑥</m:t>
                                  </m:r>
                                </m:e>
                                <m:sup>
                                  <m:r>
                                    <a:rPr lang="en-AU" i="1">
                                      <a:latin typeface="Cambria Math" panose="02040503050406030204" pitchFamily="18" charset="0"/>
                                      <a:ea typeface="Cambria Math" panose="02040503050406030204" pitchFamily="18" charset="0"/>
                                    </a:rPr>
                                    <m:t>𝑖</m:t>
                                  </m:r>
                                </m:sup>
                              </m:sSup>
                            </m:e>
                          </m:d>
                          <m:r>
                            <a:rPr lang="en-AU" i="1">
                              <a:latin typeface="Cambria Math" panose="02040503050406030204" pitchFamily="18" charset="0"/>
                              <a:ea typeface="Cambria Math" panose="02040503050406030204" pitchFamily="18" charset="0"/>
                            </a:rPr>
                            <m:t>−</m:t>
                          </m:r>
                          <m:sSup>
                            <m:sSupPr>
                              <m:ctrlPr>
                                <a:rPr lang="en-AU" i="1">
                                  <a:latin typeface="Cambria Math" panose="02040503050406030204" pitchFamily="18" charset="0"/>
                                  <a:ea typeface="Cambria Math" panose="02040503050406030204" pitchFamily="18" charset="0"/>
                                </a:rPr>
                              </m:ctrlPr>
                            </m:sSupPr>
                            <m:e>
                              <m:r>
                                <a:rPr lang="en-AU" i="1">
                                  <a:latin typeface="Cambria Math" panose="02040503050406030204" pitchFamily="18" charset="0"/>
                                  <a:ea typeface="Cambria Math" panose="02040503050406030204" pitchFamily="18" charset="0"/>
                                </a:rPr>
                                <m:t>𝑦</m:t>
                              </m:r>
                            </m:e>
                            <m:sup>
                              <m:r>
                                <a:rPr lang="en-AU" i="1">
                                  <a:latin typeface="Cambria Math" panose="02040503050406030204" pitchFamily="18" charset="0"/>
                                  <a:ea typeface="Cambria Math" panose="02040503050406030204" pitchFamily="18" charset="0"/>
                                </a:rPr>
                                <m:t>𝑖</m:t>
                              </m:r>
                            </m:sup>
                          </m:sSup>
                        </m:e>
                      </m:d>
                    </m:oMath>
                    <m:oMath>
                      <m:r>
                        <m:rPr>
                          <m:aln/>
                        </m:rPr>
                        <a:rPr lang="en-AU" b="0" i="1" smtClean="0">
                          <a:latin typeface="Cambria Math" panose="02040503050406030204" pitchFamily="18" charset="0"/>
                          <a:ea typeface="Cambria Math" panose="02040503050406030204" pitchFamily="18" charset="0"/>
                        </a:rPr>
                        <m:t>=</m:t>
                      </m:r>
                      <m:d>
                        <m:dPr>
                          <m:ctrlPr>
                            <a:rPr lang="en-AU" i="1">
                              <a:latin typeface="Cambria Math" panose="02040503050406030204" pitchFamily="18" charset="0"/>
                              <a:ea typeface="Cambria Math" panose="02040503050406030204" pitchFamily="18" charset="0"/>
                            </a:rPr>
                          </m:ctrlPr>
                        </m:dPr>
                        <m:e>
                          <m:sSub>
                            <m:sSubPr>
                              <m:ctrlPr>
                                <a:rPr lang="en-AU" i="1">
                                  <a:latin typeface="Cambria Math" panose="02040503050406030204" pitchFamily="18" charset="0"/>
                                  <a:ea typeface="Cambria Math" panose="02040503050406030204" pitchFamily="18" charset="0"/>
                                </a:rPr>
                              </m:ctrlPr>
                            </m:sSubPr>
                            <m:e>
                              <m:r>
                                <a:rPr lang="en-AU" i="1">
                                  <a:latin typeface="Cambria Math" panose="02040503050406030204" pitchFamily="18" charset="0"/>
                                  <a:ea typeface="Cambria Math" panose="02040503050406030204" pitchFamily="18" charset="0"/>
                                </a:rPr>
                                <m:t>𝑓</m:t>
                              </m:r>
                            </m:e>
                            <m:sub>
                              <m:r>
                                <a:rPr lang="en-AU" i="1">
                                  <a:latin typeface="Cambria Math" panose="02040503050406030204" pitchFamily="18" charset="0"/>
                                  <a:ea typeface="Cambria Math" panose="02040503050406030204" pitchFamily="18" charset="0"/>
                                </a:rPr>
                                <m:t>𝑤</m:t>
                              </m:r>
                            </m:sub>
                          </m:sSub>
                          <m:d>
                            <m:dPr>
                              <m:ctrlPr>
                                <a:rPr lang="en-AU" i="1">
                                  <a:latin typeface="Cambria Math" panose="02040503050406030204" pitchFamily="18" charset="0"/>
                                  <a:ea typeface="Cambria Math" panose="02040503050406030204" pitchFamily="18" charset="0"/>
                                </a:rPr>
                              </m:ctrlPr>
                            </m:dPr>
                            <m:e>
                              <m:sSup>
                                <m:sSupPr>
                                  <m:ctrlPr>
                                    <a:rPr lang="en-AU" i="1">
                                      <a:latin typeface="Cambria Math" panose="02040503050406030204" pitchFamily="18" charset="0"/>
                                      <a:ea typeface="Cambria Math" panose="02040503050406030204" pitchFamily="18" charset="0"/>
                                    </a:rPr>
                                  </m:ctrlPr>
                                </m:sSupPr>
                                <m:e>
                                  <m:r>
                                    <a:rPr lang="en-AU" i="1">
                                      <a:latin typeface="Cambria Math" panose="02040503050406030204" pitchFamily="18" charset="0"/>
                                      <a:ea typeface="Cambria Math" panose="02040503050406030204" pitchFamily="18" charset="0"/>
                                    </a:rPr>
                                    <m:t>𝑥</m:t>
                                  </m:r>
                                </m:e>
                                <m:sup>
                                  <m:r>
                                    <a:rPr lang="en-AU" i="1">
                                      <a:latin typeface="Cambria Math" panose="02040503050406030204" pitchFamily="18" charset="0"/>
                                      <a:ea typeface="Cambria Math" panose="02040503050406030204" pitchFamily="18" charset="0"/>
                                    </a:rPr>
                                    <m:t>𝑖</m:t>
                                  </m:r>
                                </m:sup>
                              </m:sSup>
                            </m:e>
                          </m:d>
                          <m:r>
                            <a:rPr lang="en-AU" i="1">
                              <a:latin typeface="Cambria Math" panose="02040503050406030204" pitchFamily="18" charset="0"/>
                              <a:ea typeface="Cambria Math" panose="02040503050406030204" pitchFamily="18" charset="0"/>
                            </a:rPr>
                            <m:t>−</m:t>
                          </m:r>
                          <m:sSup>
                            <m:sSupPr>
                              <m:ctrlPr>
                                <a:rPr lang="en-AU" i="1">
                                  <a:latin typeface="Cambria Math" panose="02040503050406030204" pitchFamily="18" charset="0"/>
                                  <a:ea typeface="Cambria Math" panose="02040503050406030204" pitchFamily="18" charset="0"/>
                                </a:rPr>
                              </m:ctrlPr>
                            </m:sSupPr>
                            <m:e>
                              <m:r>
                                <a:rPr lang="en-AU" i="1">
                                  <a:latin typeface="Cambria Math" panose="02040503050406030204" pitchFamily="18" charset="0"/>
                                  <a:ea typeface="Cambria Math" panose="02040503050406030204" pitchFamily="18" charset="0"/>
                                </a:rPr>
                                <m:t>𝑦</m:t>
                              </m:r>
                            </m:e>
                            <m:sup>
                              <m:r>
                                <a:rPr lang="en-AU" i="1">
                                  <a:latin typeface="Cambria Math" panose="02040503050406030204" pitchFamily="18" charset="0"/>
                                  <a:ea typeface="Cambria Math" panose="02040503050406030204" pitchFamily="18" charset="0"/>
                                </a:rPr>
                                <m:t>𝑖</m:t>
                              </m:r>
                            </m:sup>
                          </m:sSup>
                        </m:e>
                      </m:d>
                      <m:r>
                        <a:rPr lang="en-AU" b="0" i="1" smtClean="0">
                          <a:latin typeface="Cambria Math" panose="02040503050406030204" pitchFamily="18" charset="0"/>
                          <a:ea typeface="Cambria Math" panose="02040503050406030204" pitchFamily="18" charset="0"/>
                        </a:rPr>
                        <m:t>×</m:t>
                      </m:r>
                      <m:f>
                        <m:fPr>
                          <m:ctrlPr>
                            <a:rPr lang="en-US" i="1">
                              <a:latin typeface="Cambria Math" panose="02040503050406030204" pitchFamily="18" charset="0"/>
                            </a:rPr>
                          </m:ctrlPr>
                        </m:fPr>
                        <m:num>
                          <m:r>
                            <a:rPr lang="en-US" i="1">
                              <a:latin typeface="Cambria Math" panose="02040503050406030204" pitchFamily="18" charset="0"/>
                            </a:rPr>
                            <m:t>𝜕</m:t>
                          </m:r>
                        </m:num>
                        <m:den>
                          <m:r>
                            <a:rPr lang="en-US" i="1">
                              <a:latin typeface="Cambria Math" panose="02040503050406030204" pitchFamily="18" charset="0"/>
                            </a:rPr>
                            <m:t>𝜕</m:t>
                          </m:r>
                          <m:r>
                            <a:rPr lang="en-AU" i="1">
                              <a:latin typeface="Cambria Math" panose="02040503050406030204" pitchFamily="18" charset="0"/>
                            </a:rPr>
                            <m:t>𝑤</m:t>
                          </m:r>
                        </m:den>
                      </m:f>
                      <m:d>
                        <m:dPr>
                          <m:ctrlPr>
                            <a:rPr lang="en-AU" i="1">
                              <a:latin typeface="Cambria Math" panose="02040503050406030204" pitchFamily="18" charset="0"/>
                            </a:rPr>
                          </m:ctrlPr>
                        </m:dPr>
                        <m:e>
                          <m:r>
                            <a:rPr lang="en-AU" i="1">
                              <a:latin typeface="Cambria Math" panose="02040503050406030204" pitchFamily="18" charset="0"/>
                            </a:rPr>
                            <m:t>𝑤</m:t>
                          </m:r>
                          <m:r>
                            <a:rPr lang="en-AU" i="1">
                              <a:latin typeface="Cambria Math" panose="02040503050406030204" pitchFamily="18" charset="0"/>
                            </a:rPr>
                            <m:t>∗</m:t>
                          </m:r>
                          <m:sSup>
                            <m:sSupPr>
                              <m:ctrlPr>
                                <a:rPr lang="en-AU" i="1">
                                  <a:latin typeface="Cambria Math" panose="02040503050406030204" pitchFamily="18" charset="0"/>
                                </a:rPr>
                              </m:ctrlPr>
                            </m:sSupPr>
                            <m:e>
                              <m:r>
                                <a:rPr lang="en-AU" i="1">
                                  <a:latin typeface="Cambria Math" panose="02040503050406030204" pitchFamily="18" charset="0"/>
                                </a:rPr>
                                <m:t>𝑥</m:t>
                              </m:r>
                            </m:e>
                            <m:sup>
                              <m:r>
                                <a:rPr lang="en-AU" b="0" i="1" smtClean="0">
                                  <a:latin typeface="Cambria Math" panose="02040503050406030204" pitchFamily="18" charset="0"/>
                                </a:rPr>
                                <m:t>𝑖</m:t>
                              </m:r>
                            </m:sup>
                          </m:sSup>
                          <m:r>
                            <a:rPr lang="en-AU" i="1">
                              <a:latin typeface="Cambria Math" panose="02040503050406030204" pitchFamily="18" charset="0"/>
                              <a:ea typeface="Cambria Math" panose="02040503050406030204" pitchFamily="18" charset="0"/>
                            </a:rPr>
                            <m:t>−</m:t>
                          </m:r>
                          <m:sSup>
                            <m:sSupPr>
                              <m:ctrlPr>
                                <a:rPr lang="en-AU" i="1">
                                  <a:latin typeface="Cambria Math" panose="02040503050406030204" pitchFamily="18" charset="0"/>
                                  <a:ea typeface="Cambria Math" panose="02040503050406030204" pitchFamily="18" charset="0"/>
                                </a:rPr>
                              </m:ctrlPr>
                            </m:sSupPr>
                            <m:e>
                              <m:r>
                                <a:rPr lang="en-AU" i="1">
                                  <a:latin typeface="Cambria Math" panose="02040503050406030204" pitchFamily="18" charset="0"/>
                                  <a:ea typeface="Cambria Math" panose="02040503050406030204" pitchFamily="18" charset="0"/>
                                </a:rPr>
                                <m:t>𝑦</m:t>
                              </m:r>
                            </m:e>
                            <m:sup>
                              <m:r>
                                <a:rPr lang="en-AU" i="1">
                                  <a:latin typeface="Cambria Math" panose="02040503050406030204" pitchFamily="18" charset="0"/>
                                  <a:ea typeface="Cambria Math" panose="02040503050406030204" pitchFamily="18" charset="0"/>
                                </a:rPr>
                                <m:t>𝑖</m:t>
                              </m:r>
                            </m:sup>
                          </m:sSup>
                        </m:e>
                      </m:d>
                    </m:oMath>
                    <m:oMath>
                      <m:r>
                        <m:rPr>
                          <m:aln/>
                        </m:rPr>
                        <a:rPr lang="en-AU" b="0" i="1" smtClean="0">
                          <a:latin typeface="Cambria Math" panose="02040503050406030204" pitchFamily="18" charset="0"/>
                          <a:ea typeface="Cambria Math" panose="02040503050406030204" pitchFamily="18" charset="0"/>
                        </a:rPr>
                        <m:t>=</m:t>
                      </m:r>
                      <m:d>
                        <m:dPr>
                          <m:ctrlPr>
                            <a:rPr lang="en-AU" i="1">
                              <a:latin typeface="Cambria Math" panose="02040503050406030204" pitchFamily="18" charset="0"/>
                              <a:ea typeface="Cambria Math" panose="02040503050406030204" pitchFamily="18" charset="0"/>
                            </a:rPr>
                          </m:ctrlPr>
                        </m:dPr>
                        <m:e>
                          <m:sSub>
                            <m:sSubPr>
                              <m:ctrlPr>
                                <a:rPr lang="en-AU" i="1">
                                  <a:latin typeface="Cambria Math" panose="02040503050406030204" pitchFamily="18" charset="0"/>
                                  <a:ea typeface="Cambria Math" panose="02040503050406030204" pitchFamily="18" charset="0"/>
                                </a:rPr>
                              </m:ctrlPr>
                            </m:sSubPr>
                            <m:e>
                              <m:r>
                                <a:rPr lang="en-AU" i="1">
                                  <a:latin typeface="Cambria Math" panose="02040503050406030204" pitchFamily="18" charset="0"/>
                                  <a:ea typeface="Cambria Math" panose="02040503050406030204" pitchFamily="18" charset="0"/>
                                </a:rPr>
                                <m:t>𝑓</m:t>
                              </m:r>
                            </m:e>
                            <m:sub>
                              <m:r>
                                <a:rPr lang="en-AU" i="1">
                                  <a:latin typeface="Cambria Math" panose="02040503050406030204" pitchFamily="18" charset="0"/>
                                  <a:ea typeface="Cambria Math" panose="02040503050406030204" pitchFamily="18" charset="0"/>
                                </a:rPr>
                                <m:t>𝑤</m:t>
                              </m:r>
                            </m:sub>
                          </m:sSub>
                          <m:d>
                            <m:dPr>
                              <m:ctrlPr>
                                <a:rPr lang="en-AU" i="1">
                                  <a:latin typeface="Cambria Math" panose="02040503050406030204" pitchFamily="18" charset="0"/>
                                  <a:ea typeface="Cambria Math" panose="02040503050406030204" pitchFamily="18" charset="0"/>
                                </a:rPr>
                              </m:ctrlPr>
                            </m:dPr>
                            <m:e>
                              <m:sSup>
                                <m:sSupPr>
                                  <m:ctrlPr>
                                    <a:rPr lang="en-AU" i="1">
                                      <a:latin typeface="Cambria Math" panose="02040503050406030204" pitchFamily="18" charset="0"/>
                                      <a:ea typeface="Cambria Math" panose="02040503050406030204" pitchFamily="18" charset="0"/>
                                    </a:rPr>
                                  </m:ctrlPr>
                                </m:sSupPr>
                                <m:e>
                                  <m:r>
                                    <a:rPr lang="en-AU" i="1">
                                      <a:latin typeface="Cambria Math" panose="02040503050406030204" pitchFamily="18" charset="0"/>
                                      <a:ea typeface="Cambria Math" panose="02040503050406030204" pitchFamily="18" charset="0"/>
                                    </a:rPr>
                                    <m:t>𝑥</m:t>
                                  </m:r>
                                </m:e>
                                <m:sup>
                                  <m:r>
                                    <a:rPr lang="en-AU" i="1">
                                      <a:latin typeface="Cambria Math" panose="02040503050406030204" pitchFamily="18" charset="0"/>
                                      <a:ea typeface="Cambria Math" panose="02040503050406030204" pitchFamily="18" charset="0"/>
                                    </a:rPr>
                                    <m:t>𝑖</m:t>
                                  </m:r>
                                </m:sup>
                              </m:sSup>
                            </m:e>
                          </m:d>
                          <m:r>
                            <a:rPr lang="en-AU" i="1">
                              <a:latin typeface="Cambria Math" panose="02040503050406030204" pitchFamily="18" charset="0"/>
                              <a:ea typeface="Cambria Math" panose="02040503050406030204" pitchFamily="18" charset="0"/>
                            </a:rPr>
                            <m:t>−</m:t>
                          </m:r>
                          <m:sSup>
                            <m:sSupPr>
                              <m:ctrlPr>
                                <a:rPr lang="en-AU" i="1">
                                  <a:latin typeface="Cambria Math" panose="02040503050406030204" pitchFamily="18" charset="0"/>
                                  <a:ea typeface="Cambria Math" panose="02040503050406030204" pitchFamily="18" charset="0"/>
                                </a:rPr>
                              </m:ctrlPr>
                            </m:sSupPr>
                            <m:e>
                              <m:r>
                                <a:rPr lang="en-AU" i="1">
                                  <a:latin typeface="Cambria Math" panose="02040503050406030204" pitchFamily="18" charset="0"/>
                                  <a:ea typeface="Cambria Math" panose="02040503050406030204" pitchFamily="18" charset="0"/>
                                </a:rPr>
                                <m:t>𝑦</m:t>
                              </m:r>
                            </m:e>
                            <m:sup>
                              <m:r>
                                <a:rPr lang="en-AU" i="1">
                                  <a:latin typeface="Cambria Math" panose="02040503050406030204" pitchFamily="18" charset="0"/>
                                  <a:ea typeface="Cambria Math" panose="02040503050406030204" pitchFamily="18" charset="0"/>
                                </a:rPr>
                                <m:t>𝑖</m:t>
                              </m:r>
                            </m:sup>
                          </m:sSup>
                        </m:e>
                      </m:d>
                      <m:r>
                        <a:rPr lang="en-AU" b="0" i="1" smtClean="0">
                          <a:latin typeface="Cambria Math" panose="02040503050406030204" pitchFamily="18" charset="0"/>
                          <a:ea typeface="Cambria Math" panose="02040503050406030204" pitchFamily="18" charset="0"/>
                        </a:rPr>
                        <m:t>∗</m:t>
                      </m:r>
                      <m:sSup>
                        <m:sSupPr>
                          <m:ctrlPr>
                            <a:rPr lang="en-AU" b="0" i="1" smtClean="0">
                              <a:latin typeface="Cambria Math" panose="02040503050406030204" pitchFamily="18" charset="0"/>
                              <a:ea typeface="Cambria Math" panose="02040503050406030204" pitchFamily="18" charset="0"/>
                            </a:rPr>
                          </m:ctrlPr>
                        </m:sSupPr>
                        <m:e>
                          <m:r>
                            <a:rPr lang="en-AU" b="0" i="1" smtClean="0">
                              <a:latin typeface="Cambria Math" panose="02040503050406030204" pitchFamily="18" charset="0"/>
                              <a:ea typeface="Cambria Math" panose="02040503050406030204" pitchFamily="18" charset="0"/>
                            </a:rPr>
                            <m:t>𝑥</m:t>
                          </m:r>
                        </m:e>
                        <m:sup>
                          <m:r>
                            <a:rPr lang="en-AU" b="0" i="1" smtClean="0">
                              <a:latin typeface="Cambria Math" panose="02040503050406030204" pitchFamily="18" charset="0"/>
                              <a:ea typeface="Cambria Math" panose="02040503050406030204" pitchFamily="18" charset="0"/>
                            </a:rPr>
                            <m:t>𝑖</m:t>
                          </m:r>
                        </m:sup>
                      </m:sSup>
                    </m:oMath>
                  </m:oMathPara>
                </a14:m>
                <a:endParaRPr lang="en-AU" dirty="0">
                  <a:ea typeface="Cambria Math" panose="02040503050406030204" pitchFamily="18" charset="0"/>
                </a:endParaRPr>
              </a:p>
            </p:txBody>
          </p:sp>
        </mc:Choice>
        <mc:Fallback>
          <p:sp>
            <p:nvSpPr>
              <p:cNvPr id="3" name="Content Placeholder 2">
                <a:extLst>
                  <a:ext uri="{FF2B5EF4-FFF2-40B4-BE49-F238E27FC236}">
                    <a16:creationId xmlns:a16="http://schemas.microsoft.com/office/drawing/2014/main" id="{ADD343D0-8BE9-188B-B8F0-4C2AAF80BA28}"/>
                  </a:ext>
                </a:extLst>
              </p:cNvPr>
              <p:cNvSpPr>
                <a:spLocks noGrp="1" noRot="1" noChangeAspect="1" noMove="1" noResize="1" noEditPoints="1" noAdjustHandles="1" noChangeArrowheads="1" noChangeShapeType="1" noTextEdit="1"/>
              </p:cNvSpPr>
              <p:nvPr>
                <p:ph idx="1"/>
              </p:nvPr>
            </p:nvSpPr>
            <p:spPr>
              <a:blipFill>
                <a:blip r:embed="rId3"/>
                <a:stretch>
                  <a:fillRect l="-1086" t="-2035"/>
                </a:stretch>
              </a:blipFill>
            </p:spPr>
            <p:txBody>
              <a:bodyPr/>
              <a:lstStyle/>
              <a:p>
                <a:r>
                  <a:rPr lang="en-US">
                    <a:noFill/>
                  </a:rPr>
                  <a:t> </a:t>
                </a:r>
              </a:p>
            </p:txBody>
          </p:sp>
        </mc:Fallback>
      </mc:AlternateContent>
    </p:spTree>
    <p:extLst>
      <p:ext uri="{BB962C8B-B14F-4D97-AF65-F5344CB8AC3E}">
        <p14:creationId xmlns:p14="http://schemas.microsoft.com/office/powerpoint/2010/main" val="256167510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7BFCE7F-C034-7922-8D80-41CF9DF9F5F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DC863A2-693C-0219-5838-81585201FE6F}"/>
              </a:ext>
            </a:extLst>
          </p:cNvPr>
          <p:cNvSpPr>
            <a:spLocks noGrp="1"/>
          </p:cNvSpPr>
          <p:nvPr>
            <p:ph type="title"/>
          </p:nvPr>
        </p:nvSpPr>
        <p:spPr/>
        <p:txBody>
          <a:bodyPr/>
          <a:lstStyle/>
          <a:p>
            <a:r>
              <a:rPr lang="en-US" b="1" dirty="0"/>
              <a:t>Parameter update rules</a:t>
            </a:r>
          </a:p>
        </p:txBody>
      </p:sp>
      <mc:AlternateContent xmlns:mc="http://schemas.openxmlformats.org/markup-compatibility/2006">
        <mc:Choice xmlns:a14="http://schemas.microsoft.com/office/drawing/2010/main" Requires="a14">
          <p:sp>
            <p:nvSpPr>
              <p:cNvPr id="3" name="Content Placeholder 2">
                <a:extLst>
                  <a:ext uri="{FF2B5EF4-FFF2-40B4-BE49-F238E27FC236}">
                    <a16:creationId xmlns:a16="http://schemas.microsoft.com/office/drawing/2014/main" id="{0894E38B-BFBD-00EE-DF53-EA2BEE5BE01C}"/>
                  </a:ext>
                </a:extLst>
              </p:cNvPr>
              <p:cNvSpPr>
                <a:spLocks noGrp="1"/>
              </p:cNvSpPr>
              <p:nvPr>
                <p:ph idx="1"/>
              </p:nvPr>
            </p:nvSpPr>
            <p:spPr>
              <a:xfrm>
                <a:off x="838200" y="1825625"/>
                <a:ext cx="10515600" cy="4667250"/>
              </a:xfrm>
            </p:spPr>
            <p:txBody>
              <a:bodyPr>
                <a:normAutofit/>
              </a:bodyPr>
              <a:lstStyle/>
              <a:p>
                <a:r>
                  <a:rPr lang="en-US" dirty="0"/>
                  <a:t>To update weights of the actual model for one instance </a:t>
                </a:r>
                <a14:m>
                  <m:oMath xmlns:m="http://schemas.openxmlformats.org/officeDocument/2006/math">
                    <m:sSup>
                      <m:sSupPr>
                        <m:ctrlPr>
                          <a:rPr lang="en-AU" b="0" i="1" smtClean="0">
                            <a:latin typeface="Cambria Math" panose="02040503050406030204" pitchFamily="18" charset="0"/>
                          </a:rPr>
                        </m:ctrlPr>
                      </m:sSupPr>
                      <m:e>
                        <m:r>
                          <a:rPr lang="en-AU" b="0" i="1" smtClean="0">
                            <a:latin typeface="Cambria Math" panose="02040503050406030204" pitchFamily="18" charset="0"/>
                          </a:rPr>
                          <m:t>𝑥</m:t>
                        </m:r>
                      </m:e>
                      <m:sup>
                        <m:r>
                          <a:rPr lang="en-AU" b="0" i="1" smtClean="0">
                            <a:latin typeface="Cambria Math" panose="02040503050406030204" pitchFamily="18" charset="0"/>
                          </a:rPr>
                          <m:t>𝑖</m:t>
                        </m:r>
                      </m:sup>
                    </m:sSup>
                  </m:oMath>
                </a14:m>
                <a:endParaRPr lang="en-AU" b="0" dirty="0"/>
              </a:p>
              <a:p>
                <a14:m>
                  <m:oMath xmlns:m="http://schemas.openxmlformats.org/officeDocument/2006/math">
                    <m:f>
                      <m:fPr>
                        <m:ctrlPr>
                          <a:rPr lang="en-US" i="1">
                            <a:latin typeface="Cambria Math" panose="02040503050406030204" pitchFamily="18" charset="0"/>
                          </a:rPr>
                        </m:ctrlPr>
                      </m:fPr>
                      <m:num>
                        <m:r>
                          <a:rPr lang="en-US" i="1">
                            <a:latin typeface="Cambria Math" panose="02040503050406030204" pitchFamily="18" charset="0"/>
                          </a:rPr>
                          <m:t>𝜕</m:t>
                        </m:r>
                      </m:num>
                      <m:den>
                        <m:r>
                          <a:rPr lang="en-US" i="1">
                            <a:latin typeface="Cambria Math" panose="02040503050406030204" pitchFamily="18" charset="0"/>
                          </a:rPr>
                          <m:t>𝜕</m:t>
                        </m:r>
                        <m:r>
                          <a:rPr lang="en-AU" i="1">
                            <a:latin typeface="Cambria Math" panose="02040503050406030204" pitchFamily="18" charset="0"/>
                          </a:rPr>
                          <m:t>𝑤</m:t>
                        </m:r>
                      </m:den>
                    </m:f>
                    <m:r>
                      <a:rPr lang="en-US" i="1">
                        <a:latin typeface="Cambria Math" panose="02040503050406030204" pitchFamily="18" charset="0"/>
                        <a:ea typeface="Cambria Math" panose="02040503050406030204" pitchFamily="18" charset="0"/>
                      </a:rPr>
                      <m:t>ℒ</m:t>
                    </m:r>
                    <m:d>
                      <m:dPr>
                        <m:ctrlPr>
                          <a:rPr lang="en-AU" i="1">
                            <a:latin typeface="Cambria Math" panose="02040503050406030204" pitchFamily="18" charset="0"/>
                            <a:ea typeface="Cambria Math" panose="02040503050406030204" pitchFamily="18" charset="0"/>
                          </a:rPr>
                        </m:ctrlPr>
                      </m:dPr>
                      <m:e>
                        <m:r>
                          <a:rPr lang="en-AU" i="1">
                            <a:latin typeface="Cambria Math" panose="02040503050406030204" pitchFamily="18" charset="0"/>
                            <a:ea typeface="Cambria Math" panose="02040503050406030204" pitchFamily="18" charset="0"/>
                          </a:rPr>
                          <m:t>𝑤</m:t>
                        </m:r>
                        <m:r>
                          <a:rPr lang="en-AU" i="1">
                            <a:latin typeface="Cambria Math" panose="02040503050406030204" pitchFamily="18" charset="0"/>
                            <a:ea typeface="Cambria Math" panose="02040503050406030204" pitchFamily="18" charset="0"/>
                          </a:rPr>
                          <m:t>,</m:t>
                        </m:r>
                        <m:r>
                          <a:rPr lang="en-AU" i="1">
                            <a:latin typeface="Cambria Math" panose="02040503050406030204" pitchFamily="18" charset="0"/>
                            <a:ea typeface="Cambria Math" panose="02040503050406030204" pitchFamily="18" charset="0"/>
                          </a:rPr>
                          <m:t>𝑏</m:t>
                        </m:r>
                      </m:e>
                    </m:d>
                    <m:r>
                      <m:rPr>
                        <m:aln/>
                      </m:rPr>
                      <a:rPr lang="en-AU" i="1">
                        <a:latin typeface="Cambria Math" panose="02040503050406030204" pitchFamily="18" charset="0"/>
                        <a:ea typeface="Cambria Math" panose="02040503050406030204" pitchFamily="18" charset="0"/>
                      </a:rPr>
                      <m:t>=</m:t>
                    </m:r>
                    <m:f>
                      <m:fPr>
                        <m:ctrlPr>
                          <a:rPr lang="en-US" i="1">
                            <a:latin typeface="Cambria Math" panose="02040503050406030204" pitchFamily="18" charset="0"/>
                          </a:rPr>
                        </m:ctrlPr>
                      </m:fPr>
                      <m:num>
                        <m:r>
                          <a:rPr lang="en-US" i="1">
                            <a:latin typeface="Cambria Math" panose="02040503050406030204" pitchFamily="18" charset="0"/>
                          </a:rPr>
                          <m:t>𝜕</m:t>
                        </m:r>
                      </m:num>
                      <m:den>
                        <m:r>
                          <a:rPr lang="en-US" i="1">
                            <a:latin typeface="Cambria Math" panose="02040503050406030204" pitchFamily="18" charset="0"/>
                          </a:rPr>
                          <m:t>𝜕</m:t>
                        </m:r>
                        <m:r>
                          <a:rPr lang="en-AU" i="1">
                            <a:latin typeface="Cambria Math" panose="02040503050406030204" pitchFamily="18" charset="0"/>
                          </a:rPr>
                          <m:t>𝑤</m:t>
                        </m:r>
                      </m:den>
                    </m:f>
                    <m:f>
                      <m:fPr>
                        <m:ctrlPr>
                          <a:rPr lang="en-AU" i="1">
                            <a:latin typeface="Cambria Math" panose="02040503050406030204" pitchFamily="18" charset="0"/>
                            <a:ea typeface="Cambria Math" panose="02040503050406030204" pitchFamily="18" charset="0"/>
                          </a:rPr>
                        </m:ctrlPr>
                      </m:fPr>
                      <m:num>
                        <m:r>
                          <a:rPr lang="en-AU" i="1">
                            <a:latin typeface="Cambria Math" panose="02040503050406030204" pitchFamily="18" charset="0"/>
                            <a:ea typeface="Cambria Math" panose="02040503050406030204" pitchFamily="18" charset="0"/>
                          </a:rPr>
                          <m:t>1</m:t>
                        </m:r>
                      </m:num>
                      <m:den>
                        <m:r>
                          <a:rPr lang="en-AU" i="1">
                            <a:latin typeface="Cambria Math" panose="02040503050406030204" pitchFamily="18" charset="0"/>
                            <a:ea typeface="Cambria Math" panose="02040503050406030204" pitchFamily="18" charset="0"/>
                          </a:rPr>
                          <m:t>2</m:t>
                        </m:r>
                      </m:den>
                    </m:f>
                    <m:sSup>
                      <m:sSupPr>
                        <m:ctrlPr>
                          <a:rPr lang="en-AU" i="1">
                            <a:latin typeface="Cambria Math" panose="02040503050406030204" pitchFamily="18" charset="0"/>
                            <a:ea typeface="Cambria Math" panose="02040503050406030204" pitchFamily="18" charset="0"/>
                          </a:rPr>
                        </m:ctrlPr>
                      </m:sSupPr>
                      <m:e>
                        <m:d>
                          <m:dPr>
                            <m:ctrlPr>
                              <a:rPr lang="en-AU" i="1">
                                <a:latin typeface="Cambria Math" panose="02040503050406030204" pitchFamily="18" charset="0"/>
                                <a:ea typeface="Cambria Math" panose="02040503050406030204" pitchFamily="18" charset="0"/>
                              </a:rPr>
                            </m:ctrlPr>
                          </m:dPr>
                          <m:e>
                            <m:sSub>
                              <m:sSubPr>
                                <m:ctrlPr>
                                  <a:rPr lang="en-AU" i="1">
                                    <a:latin typeface="Cambria Math" panose="02040503050406030204" pitchFamily="18" charset="0"/>
                                    <a:ea typeface="Cambria Math" panose="02040503050406030204" pitchFamily="18" charset="0"/>
                                  </a:rPr>
                                </m:ctrlPr>
                              </m:sSubPr>
                              <m:e>
                                <m:r>
                                  <a:rPr lang="en-AU" i="1">
                                    <a:latin typeface="Cambria Math" panose="02040503050406030204" pitchFamily="18" charset="0"/>
                                    <a:ea typeface="Cambria Math" panose="02040503050406030204" pitchFamily="18" charset="0"/>
                                  </a:rPr>
                                  <m:t>𝑓</m:t>
                                </m:r>
                              </m:e>
                              <m:sub>
                                <m:r>
                                  <a:rPr lang="en-AU" i="1">
                                    <a:latin typeface="Cambria Math" panose="02040503050406030204" pitchFamily="18" charset="0"/>
                                    <a:ea typeface="Cambria Math" panose="02040503050406030204" pitchFamily="18" charset="0"/>
                                  </a:rPr>
                                  <m:t>𝑤</m:t>
                                </m:r>
                                <m:r>
                                  <a:rPr lang="en-AU" i="1">
                                    <a:latin typeface="Cambria Math" panose="02040503050406030204" pitchFamily="18" charset="0"/>
                                    <a:ea typeface="Cambria Math" panose="02040503050406030204" pitchFamily="18" charset="0"/>
                                  </a:rPr>
                                  <m:t>,</m:t>
                                </m:r>
                                <m:r>
                                  <a:rPr lang="en-AU" i="1">
                                    <a:latin typeface="Cambria Math" panose="02040503050406030204" pitchFamily="18" charset="0"/>
                                    <a:ea typeface="Cambria Math" panose="02040503050406030204" pitchFamily="18" charset="0"/>
                                  </a:rPr>
                                  <m:t>𝑏</m:t>
                                </m:r>
                              </m:sub>
                            </m:sSub>
                            <m:d>
                              <m:dPr>
                                <m:ctrlPr>
                                  <a:rPr lang="en-AU" i="1">
                                    <a:latin typeface="Cambria Math" panose="02040503050406030204" pitchFamily="18" charset="0"/>
                                    <a:ea typeface="Cambria Math" panose="02040503050406030204" pitchFamily="18" charset="0"/>
                                  </a:rPr>
                                </m:ctrlPr>
                              </m:dPr>
                              <m:e>
                                <m:sSup>
                                  <m:sSupPr>
                                    <m:ctrlPr>
                                      <a:rPr lang="en-AU" i="1">
                                        <a:latin typeface="Cambria Math" panose="02040503050406030204" pitchFamily="18" charset="0"/>
                                        <a:ea typeface="Cambria Math" panose="02040503050406030204" pitchFamily="18" charset="0"/>
                                      </a:rPr>
                                    </m:ctrlPr>
                                  </m:sSupPr>
                                  <m:e>
                                    <m:r>
                                      <a:rPr lang="en-AU" i="1">
                                        <a:latin typeface="Cambria Math" panose="02040503050406030204" pitchFamily="18" charset="0"/>
                                        <a:ea typeface="Cambria Math" panose="02040503050406030204" pitchFamily="18" charset="0"/>
                                      </a:rPr>
                                      <m:t>𝑥</m:t>
                                    </m:r>
                                  </m:e>
                                  <m:sup>
                                    <m:r>
                                      <a:rPr lang="en-AU" i="1">
                                        <a:latin typeface="Cambria Math" panose="02040503050406030204" pitchFamily="18" charset="0"/>
                                        <a:ea typeface="Cambria Math" panose="02040503050406030204" pitchFamily="18" charset="0"/>
                                      </a:rPr>
                                      <m:t>𝑖</m:t>
                                    </m:r>
                                  </m:sup>
                                </m:sSup>
                              </m:e>
                            </m:d>
                            <m:r>
                              <a:rPr lang="en-AU" i="1">
                                <a:latin typeface="Cambria Math" panose="02040503050406030204" pitchFamily="18" charset="0"/>
                                <a:ea typeface="Cambria Math" panose="02040503050406030204" pitchFamily="18" charset="0"/>
                              </a:rPr>
                              <m:t>−</m:t>
                            </m:r>
                            <m:sSup>
                              <m:sSupPr>
                                <m:ctrlPr>
                                  <a:rPr lang="en-AU" i="1">
                                    <a:latin typeface="Cambria Math" panose="02040503050406030204" pitchFamily="18" charset="0"/>
                                    <a:ea typeface="Cambria Math" panose="02040503050406030204" pitchFamily="18" charset="0"/>
                                  </a:rPr>
                                </m:ctrlPr>
                              </m:sSupPr>
                              <m:e>
                                <m:r>
                                  <a:rPr lang="en-AU" i="1">
                                    <a:latin typeface="Cambria Math" panose="02040503050406030204" pitchFamily="18" charset="0"/>
                                    <a:ea typeface="Cambria Math" panose="02040503050406030204" pitchFamily="18" charset="0"/>
                                  </a:rPr>
                                  <m:t>𝑦</m:t>
                                </m:r>
                              </m:e>
                              <m:sup>
                                <m:r>
                                  <a:rPr lang="en-AU" i="1">
                                    <a:latin typeface="Cambria Math" panose="02040503050406030204" pitchFamily="18" charset="0"/>
                                    <a:ea typeface="Cambria Math" panose="02040503050406030204" pitchFamily="18" charset="0"/>
                                  </a:rPr>
                                  <m:t>𝑖</m:t>
                                </m:r>
                              </m:sup>
                            </m:sSup>
                          </m:e>
                        </m:d>
                      </m:e>
                      <m:sup>
                        <m:r>
                          <a:rPr lang="en-AU" i="1">
                            <a:latin typeface="Cambria Math" panose="02040503050406030204" pitchFamily="18" charset="0"/>
                            <a:ea typeface="Cambria Math" panose="02040503050406030204" pitchFamily="18" charset="0"/>
                          </a:rPr>
                          <m:t>2</m:t>
                        </m:r>
                      </m:sup>
                    </m:sSup>
                  </m:oMath>
                </a14:m>
                <a:br>
                  <a:rPr lang="en-AU" i="1" dirty="0">
                    <a:latin typeface="Cambria Math" panose="02040503050406030204" pitchFamily="18" charset="0"/>
                    <a:ea typeface="Cambria Math" panose="02040503050406030204" pitchFamily="18" charset="0"/>
                  </a:rPr>
                </a:br>
                <a14:m>
                  <m:oMath xmlns:m="http://schemas.openxmlformats.org/officeDocument/2006/math">
                    <m:r>
                      <m:rPr>
                        <m:aln/>
                      </m:rPr>
                      <a:rPr lang="en-AU" i="1">
                        <a:latin typeface="Cambria Math" panose="02040503050406030204" pitchFamily="18" charset="0"/>
                        <a:ea typeface="Cambria Math" panose="02040503050406030204" pitchFamily="18" charset="0"/>
                      </a:rPr>
                      <m:t>=</m:t>
                    </m:r>
                    <m:f>
                      <m:fPr>
                        <m:ctrlPr>
                          <a:rPr lang="en-AU" i="1">
                            <a:latin typeface="Cambria Math" panose="02040503050406030204" pitchFamily="18" charset="0"/>
                            <a:ea typeface="Cambria Math" panose="02040503050406030204" pitchFamily="18" charset="0"/>
                          </a:rPr>
                        </m:ctrlPr>
                      </m:fPr>
                      <m:num>
                        <m:r>
                          <a:rPr lang="en-AU" i="1">
                            <a:latin typeface="Cambria Math" panose="02040503050406030204" pitchFamily="18" charset="0"/>
                            <a:ea typeface="Cambria Math" panose="02040503050406030204" pitchFamily="18" charset="0"/>
                          </a:rPr>
                          <m:t>1</m:t>
                        </m:r>
                      </m:num>
                      <m:den>
                        <m:r>
                          <a:rPr lang="en-AU" i="1">
                            <a:latin typeface="Cambria Math" panose="02040503050406030204" pitchFamily="18" charset="0"/>
                            <a:ea typeface="Cambria Math" panose="02040503050406030204" pitchFamily="18" charset="0"/>
                          </a:rPr>
                          <m:t>2</m:t>
                        </m:r>
                      </m:den>
                    </m:f>
                    <m:r>
                      <a:rPr lang="en-AU" i="1">
                        <a:latin typeface="Cambria Math" panose="02040503050406030204" pitchFamily="18" charset="0"/>
                        <a:ea typeface="Cambria Math" panose="02040503050406030204" pitchFamily="18" charset="0"/>
                      </a:rPr>
                      <m:t>×2×</m:t>
                    </m:r>
                    <m:d>
                      <m:dPr>
                        <m:ctrlPr>
                          <a:rPr lang="en-AU" i="1">
                            <a:latin typeface="Cambria Math" panose="02040503050406030204" pitchFamily="18" charset="0"/>
                            <a:ea typeface="Cambria Math" panose="02040503050406030204" pitchFamily="18" charset="0"/>
                          </a:rPr>
                        </m:ctrlPr>
                      </m:dPr>
                      <m:e>
                        <m:sSub>
                          <m:sSubPr>
                            <m:ctrlPr>
                              <a:rPr lang="en-AU" i="1">
                                <a:latin typeface="Cambria Math" panose="02040503050406030204" pitchFamily="18" charset="0"/>
                                <a:ea typeface="Cambria Math" panose="02040503050406030204" pitchFamily="18" charset="0"/>
                              </a:rPr>
                            </m:ctrlPr>
                          </m:sSubPr>
                          <m:e>
                            <m:r>
                              <a:rPr lang="en-AU" i="1">
                                <a:latin typeface="Cambria Math" panose="02040503050406030204" pitchFamily="18" charset="0"/>
                                <a:ea typeface="Cambria Math" panose="02040503050406030204" pitchFamily="18" charset="0"/>
                              </a:rPr>
                              <m:t>𝑓</m:t>
                            </m:r>
                          </m:e>
                          <m:sub>
                            <m:r>
                              <a:rPr lang="en-AU" i="1">
                                <a:latin typeface="Cambria Math" panose="02040503050406030204" pitchFamily="18" charset="0"/>
                                <a:ea typeface="Cambria Math" panose="02040503050406030204" pitchFamily="18" charset="0"/>
                              </a:rPr>
                              <m:t>𝑤</m:t>
                            </m:r>
                            <m:r>
                              <a:rPr lang="en-AU" i="1">
                                <a:latin typeface="Cambria Math" panose="02040503050406030204" pitchFamily="18" charset="0"/>
                                <a:ea typeface="Cambria Math" panose="02040503050406030204" pitchFamily="18" charset="0"/>
                              </a:rPr>
                              <m:t>,</m:t>
                            </m:r>
                            <m:r>
                              <a:rPr lang="en-AU" i="1">
                                <a:latin typeface="Cambria Math" panose="02040503050406030204" pitchFamily="18" charset="0"/>
                                <a:ea typeface="Cambria Math" panose="02040503050406030204" pitchFamily="18" charset="0"/>
                              </a:rPr>
                              <m:t>𝑏</m:t>
                            </m:r>
                          </m:sub>
                        </m:sSub>
                        <m:d>
                          <m:dPr>
                            <m:ctrlPr>
                              <a:rPr lang="en-AU" i="1">
                                <a:latin typeface="Cambria Math" panose="02040503050406030204" pitchFamily="18" charset="0"/>
                                <a:ea typeface="Cambria Math" panose="02040503050406030204" pitchFamily="18" charset="0"/>
                              </a:rPr>
                            </m:ctrlPr>
                          </m:dPr>
                          <m:e>
                            <m:sSup>
                              <m:sSupPr>
                                <m:ctrlPr>
                                  <a:rPr lang="en-AU" i="1">
                                    <a:latin typeface="Cambria Math" panose="02040503050406030204" pitchFamily="18" charset="0"/>
                                    <a:ea typeface="Cambria Math" panose="02040503050406030204" pitchFamily="18" charset="0"/>
                                  </a:rPr>
                                </m:ctrlPr>
                              </m:sSupPr>
                              <m:e>
                                <m:r>
                                  <a:rPr lang="en-AU" i="1">
                                    <a:latin typeface="Cambria Math" panose="02040503050406030204" pitchFamily="18" charset="0"/>
                                    <a:ea typeface="Cambria Math" panose="02040503050406030204" pitchFamily="18" charset="0"/>
                                  </a:rPr>
                                  <m:t>𝑥</m:t>
                                </m:r>
                              </m:e>
                              <m:sup>
                                <m:r>
                                  <a:rPr lang="en-AU" i="1">
                                    <a:latin typeface="Cambria Math" panose="02040503050406030204" pitchFamily="18" charset="0"/>
                                    <a:ea typeface="Cambria Math" panose="02040503050406030204" pitchFamily="18" charset="0"/>
                                  </a:rPr>
                                  <m:t>𝑖</m:t>
                                </m:r>
                              </m:sup>
                            </m:sSup>
                          </m:e>
                        </m:d>
                        <m:r>
                          <a:rPr lang="en-AU" i="1">
                            <a:latin typeface="Cambria Math" panose="02040503050406030204" pitchFamily="18" charset="0"/>
                            <a:ea typeface="Cambria Math" panose="02040503050406030204" pitchFamily="18" charset="0"/>
                          </a:rPr>
                          <m:t>−</m:t>
                        </m:r>
                        <m:sSup>
                          <m:sSupPr>
                            <m:ctrlPr>
                              <a:rPr lang="en-AU" i="1">
                                <a:latin typeface="Cambria Math" panose="02040503050406030204" pitchFamily="18" charset="0"/>
                                <a:ea typeface="Cambria Math" panose="02040503050406030204" pitchFamily="18" charset="0"/>
                              </a:rPr>
                            </m:ctrlPr>
                          </m:sSupPr>
                          <m:e>
                            <m:r>
                              <a:rPr lang="en-AU" i="1">
                                <a:latin typeface="Cambria Math" panose="02040503050406030204" pitchFamily="18" charset="0"/>
                                <a:ea typeface="Cambria Math" panose="02040503050406030204" pitchFamily="18" charset="0"/>
                              </a:rPr>
                              <m:t>𝑦</m:t>
                            </m:r>
                          </m:e>
                          <m:sup>
                            <m:r>
                              <a:rPr lang="en-AU" i="1">
                                <a:latin typeface="Cambria Math" panose="02040503050406030204" pitchFamily="18" charset="0"/>
                                <a:ea typeface="Cambria Math" panose="02040503050406030204" pitchFamily="18" charset="0"/>
                              </a:rPr>
                              <m:t>𝑖</m:t>
                            </m:r>
                          </m:sup>
                        </m:sSup>
                      </m:e>
                    </m:d>
                    <m:f>
                      <m:fPr>
                        <m:ctrlPr>
                          <a:rPr lang="en-US" i="1">
                            <a:latin typeface="Cambria Math" panose="02040503050406030204" pitchFamily="18" charset="0"/>
                          </a:rPr>
                        </m:ctrlPr>
                      </m:fPr>
                      <m:num>
                        <m:r>
                          <a:rPr lang="en-US" i="1">
                            <a:latin typeface="Cambria Math" panose="02040503050406030204" pitchFamily="18" charset="0"/>
                          </a:rPr>
                          <m:t>𝜕</m:t>
                        </m:r>
                      </m:num>
                      <m:den>
                        <m:r>
                          <a:rPr lang="en-US" i="1">
                            <a:latin typeface="Cambria Math" panose="02040503050406030204" pitchFamily="18" charset="0"/>
                          </a:rPr>
                          <m:t>𝜕</m:t>
                        </m:r>
                        <m:r>
                          <a:rPr lang="en-AU" i="1">
                            <a:latin typeface="Cambria Math" panose="02040503050406030204" pitchFamily="18" charset="0"/>
                          </a:rPr>
                          <m:t>𝑤</m:t>
                        </m:r>
                      </m:den>
                    </m:f>
                    <m:d>
                      <m:dPr>
                        <m:ctrlPr>
                          <a:rPr lang="en-AU" i="1">
                            <a:latin typeface="Cambria Math" panose="02040503050406030204" pitchFamily="18" charset="0"/>
                            <a:ea typeface="Cambria Math" panose="02040503050406030204" pitchFamily="18" charset="0"/>
                          </a:rPr>
                        </m:ctrlPr>
                      </m:dPr>
                      <m:e>
                        <m:sSub>
                          <m:sSubPr>
                            <m:ctrlPr>
                              <a:rPr lang="en-AU" i="1">
                                <a:latin typeface="Cambria Math" panose="02040503050406030204" pitchFamily="18" charset="0"/>
                                <a:ea typeface="Cambria Math" panose="02040503050406030204" pitchFamily="18" charset="0"/>
                              </a:rPr>
                            </m:ctrlPr>
                          </m:sSubPr>
                          <m:e>
                            <m:r>
                              <a:rPr lang="en-AU" i="1">
                                <a:latin typeface="Cambria Math" panose="02040503050406030204" pitchFamily="18" charset="0"/>
                                <a:ea typeface="Cambria Math" panose="02040503050406030204" pitchFamily="18" charset="0"/>
                              </a:rPr>
                              <m:t>𝑓</m:t>
                            </m:r>
                          </m:e>
                          <m:sub>
                            <m:r>
                              <a:rPr lang="en-AU" i="1">
                                <a:latin typeface="Cambria Math" panose="02040503050406030204" pitchFamily="18" charset="0"/>
                                <a:ea typeface="Cambria Math" panose="02040503050406030204" pitchFamily="18" charset="0"/>
                              </a:rPr>
                              <m:t>𝑤</m:t>
                            </m:r>
                            <m:r>
                              <a:rPr lang="en-AU" i="1">
                                <a:latin typeface="Cambria Math" panose="02040503050406030204" pitchFamily="18" charset="0"/>
                                <a:ea typeface="Cambria Math" panose="02040503050406030204" pitchFamily="18" charset="0"/>
                              </a:rPr>
                              <m:t>,</m:t>
                            </m:r>
                            <m:r>
                              <a:rPr lang="en-AU" i="1">
                                <a:latin typeface="Cambria Math" panose="02040503050406030204" pitchFamily="18" charset="0"/>
                                <a:ea typeface="Cambria Math" panose="02040503050406030204" pitchFamily="18" charset="0"/>
                              </a:rPr>
                              <m:t>𝑏</m:t>
                            </m:r>
                          </m:sub>
                        </m:sSub>
                        <m:d>
                          <m:dPr>
                            <m:ctrlPr>
                              <a:rPr lang="en-AU" i="1">
                                <a:latin typeface="Cambria Math" panose="02040503050406030204" pitchFamily="18" charset="0"/>
                                <a:ea typeface="Cambria Math" panose="02040503050406030204" pitchFamily="18" charset="0"/>
                              </a:rPr>
                            </m:ctrlPr>
                          </m:dPr>
                          <m:e>
                            <m:sSup>
                              <m:sSupPr>
                                <m:ctrlPr>
                                  <a:rPr lang="en-AU" i="1">
                                    <a:latin typeface="Cambria Math" panose="02040503050406030204" pitchFamily="18" charset="0"/>
                                    <a:ea typeface="Cambria Math" panose="02040503050406030204" pitchFamily="18" charset="0"/>
                                  </a:rPr>
                                </m:ctrlPr>
                              </m:sSupPr>
                              <m:e>
                                <m:r>
                                  <a:rPr lang="en-AU" i="1">
                                    <a:latin typeface="Cambria Math" panose="02040503050406030204" pitchFamily="18" charset="0"/>
                                    <a:ea typeface="Cambria Math" panose="02040503050406030204" pitchFamily="18" charset="0"/>
                                  </a:rPr>
                                  <m:t>𝑥</m:t>
                                </m:r>
                              </m:e>
                              <m:sup>
                                <m:r>
                                  <a:rPr lang="en-AU" i="1">
                                    <a:latin typeface="Cambria Math" panose="02040503050406030204" pitchFamily="18" charset="0"/>
                                    <a:ea typeface="Cambria Math" panose="02040503050406030204" pitchFamily="18" charset="0"/>
                                  </a:rPr>
                                  <m:t>𝑖</m:t>
                                </m:r>
                              </m:sup>
                            </m:sSup>
                          </m:e>
                        </m:d>
                        <m:r>
                          <a:rPr lang="en-AU" i="1">
                            <a:latin typeface="Cambria Math" panose="02040503050406030204" pitchFamily="18" charset="0"/>
                            <a:ea typeface="Cambria Math" panose="02040503050406030204" pitchFamily="18" charset="0"/>
                          </a:rPr>
                          <m:t>−</m:t>
                        </m:r>
                        <m:sSup>
                          <m:sSupPr>
                            <m:ctrlPr>
                              <a:rPr lang="en-AU" i="1">
                                <a:latin typeface="Cambria Math" panose="02040503050406030204" pitchFamily="18" charset="0"/>
                                <a:ea typeface="Cambria Math" panose="02040503050406030204" pitchFamily="18" charset="0"/>
                              </a:rPr>
                            </m:ctrlPr>
                          </m:sSupPr>
                          <m:e>
                            <m:r>
                              <a:rPr lang="en-AU" i="1">
                                <a:latin typeface="Cambria Math" panose="02040503050406030204" pitchFamily="18" charset="0"/>
                                <a:ea typeface="Cambria Math" panose="02040503050406030204" pitchFamily="18" charset="0"/>
                              </a:rPr>
                              <m:t>𝑦</m:t>
                            </m:r>
                          </m:e>
                          <m:sup>
                            <m:r>
                              <a:rPr lang="en-AU" i="1">
                                <a:latin typeface="Cambria Math" panose="02040503050406030204" pitchFamily="18" charset="0"/>
                                <a:ea typeface="Cambria Math" panose="02040503050406030204" pitchFamily="18" charset="0"/>
                              </a:rPr>
                              <m:t>𝑖</m:t>
                            </m:r>
                          </m:sup>
                        </m:sSup>
                      </m:e>
                    </m:d>
                  </m:oMath>
                </a14:m>
                <a:br>
                  <a:rPr lang="en-AU" i="1" dirty="0">
                    <a:latin typeface="Cambria Math" panose="02040503050406030204" pitchFamily="18" charset="0"/>
                    <a:ea typeface="Cambria Math" panose="02040503050406030204" pitchFamily="18" charset="0"/>
                  </a:rPr>
                </a:br>
                <a14:m>
                  <m:oMath xmlns:m="http://schemas.openxmlformats.org/officeDocument/2006/math">
                    <m:r>
                      <m:rPr>
                        <m:aln/>
                      </m:rPr>
                      <a:rPr lang="en-AU" i="1">
                        <a:latin typeface="Cambria Math" panose="02040503050406030204" pitchFamily="18" charset="0"/>
                        <a:ea typeface="Cambria Math" panose="02040503050406030204" pitchFamily="18" charset="0"/>
                      </a:rPr>
                      <m:t>=</m:t>
                    </m:r>
                    <m:d>
                      <m:dPr>
                        <m:ctrlPr>
                          <a:rPr lang="en-AU" i="1">
                            <a:latin typeface="Cambria Math" panose="02040503050406030204" pitchFamily="18" charset="0"/>
                            <a:ea typeface="Cambria Math" panose="02040503050406030204" pitchFamily="18" charset="0"/>
                          </a:rPr>
                        </m:ctrlPr>
                      </m:dPr>
                      <m:e>
                        <m:sSub>
                          <m:sSubPr>
                            <m:ctrlPr>
                              <a:rPr lang="en-AU" i="1">
                                <a:latin typeface="Cambria Math" panose="02040503050406030204" pitchFamily="18" charset="0"/>
                                <a:ea typeface="Cambria Math" panose="02040503050406030204" pitchFamily="18" charset="0"/>
                              </a:rPr>
                            </m:ctrlPr>
                          </m:sSubPr>
                          <m:e>
                            <m:r>
                              <a:rPr lang="en-AU" i="1">
                                <a:latin typeface="Cambria Math" panose="02040503050406030204" pitchFamily="18" charset="0"/>
                                <a:ea typeface="Cambria Math" panose="02040503050406030204" pitchFamily="18" charset="0"/>
                              </a:rPr>
                              <m:t>𝑓</m:t>
                            </m:r>
                          </m:e>
                          <m:sub>
                            <m:r>
                              <a:rPr lang="en-AU" i="1">
                                <a:latin typeface="Cambria Math" panose="02040503050406030204" pitchFamily="18" charset="0"/>
                                <a:ea typeface="Cambria Math" panose="02040503050406030204" pitchFamily="18" charset="0"/>
                              </a:rPr>
                              <m:t>𝑤</m:t>
                            </m:r>
                            <m:r>
                              <a:rPr lang="en-AU" i="1">
                                <a:latin typeface="Cambria Math" panose="02040503050406030204" pitchFamily="18" charset="0"/>
                                <a:ea typeface="Cambria Math" panose="02040503050406030204" pitchFamily="18" charset="0"/>
                              </a:rPr>
                              <m:t>,</m:t>
                            </m:r>
                            <m:r>
                              <a:rPr lang="en-AU" i="1">
                                <a:latin typeface="Cambria Math" panose="02040503050406030204" pitchFamily="18" charset="0"/>
                                <a:ea typeface="Cambria Math" panose="02040503050406030204" pitchFamily="18" charset="0"/>
                              </a:rPr>
                              <m:t>𝑏</m:t>
                            </m:r>
                          </m:sub>
                        </m:sSub>
                        <m:d>
                          <m:dPr>
                            <m:ctrlPr>
                              <a:rPr lang="en-AU" i="1">
                                <a:latin typeface="Cambria Math" panose="02040503050406030204" pitchFamily="18" charset="0"/>
                                <a:ea typeface="Cambria Math" panose="02040503050406030204" pitchFamily="18" charset="0"/>
                              </a:rPr>
                            </m:ctrlPr>
                          </m:dPr>
                          <m:e>
                            <m:sSup>
                              <m:sSupPr>
                                <m:ctrlPr>
                                  <a:rPr lang="en-AU" i="1">
                                    <a:latin typeface="Cambria Math" panose="02040503050406030204" pitchFamily="18" charset="0"/>
                                    <a:ea typeface="Cambria Math" panose="02040503050406030204" pitchFamily="18" charset="0"/>
                                  </a:rPr>
                                </m:ctrlPr>
                              </m:sSupPr>
                              <m:e>
                                <m:r>
                                  <a:rPr lang="en-AU" i="1">
                                    <a:latin typeface="Cambria Math" panose="02040503050406030204" pitchFamily="18" charset="0"/>
                                    <a:ea typeface="Cambria Math" panose="02040503050406030204" pitchFamily="18" charset="0"/>
                                  </a:rPr>
                                  <m:t>𝑥</m:t>
                                </m:r>
                              </m:e>
                              <m:sup>
                                <m:r>
                                  <a:rPr lang="en-AU" i="1">
                                    <a:latin typeface="Cambria Math" panose="02040503050406030204" pitchFamily="18" charset="0"/>
                                    <a:ea typeface="Cambria Math" panose="02040503050406030204" pitchFamily="18" charset="0"/>
                                  </a:rPr>
                                  <m:t>𝑖</m:t>
                                </m:r>
                              </m:sup>
                            </m:sSup>
                          </m:e>
                        </m:d>
                        <m:r>
                          <a:rPr lang="en-AU" i="1">
                            <a:latin typeface="Cambria Math" panose="02040503050406030204" pitchFamily="18" charset="0"/>
                            <a:ea typeface="Cambria Math" panose="02040503050406030204" pitchFamily="18" charset="0"/>
                          </a:rPr>
                          <m:t>−</m:t>
                        </m:r>
                        <m:sSup>
                          <m:sSupPr>
                            <m:ctrlPr>
                              <a:rPr lang="en-AU" i="1">
                                <a:latin typeface="Cambria Math" panose="02040503050406030204" pitchFamily="18" charset="0"/>
                                <a:ea typeface="Cambria Math" panose="02040503050406030204" pitchFamily="18" charset="0"/>
                              </a:rPr>
                            </m:ctrlPr>
                          </m:sSupPr>
                          <m:e>
                            <m:r>
                              <a:rPr lang="en-AU" i="1">
                                <a:latin typeface="Cambria Math" panose="02040503050406030204" pitchFamily="18" charset="0"/>
                                <a:ea typeface="Cambria Math" panose="02040503050406030204" pitchFamily="18" charset="0"/>
                              </a:rPr>
                              <m:t>𝑦</m:t>
                            </m:r>
                          </m:e>
                          <m:sup>
                            <m:r>
                              <a:rPr lang="en-AU" i="1">
                                <a:latin typeface="Cambria Math" panose="02040503050406030204" pitchFamily="18" charset="0"/>
                                <a:ea typeface="Cambria Math" panose="02040503050406030204" pitchFamily="18" charset="0"/>
                              </a:rPr>
                              <m:t>𝑖</m:t>
                            </m:r>
                          </m:sup>
                        </m:sSup>
                      </m:e>
                    </m:d>
                    <m:r>
                      <a:rPr lang="en-AU" i="1">
                        <a:latin typeface="Cambria Math" panose="02040503050406030204" pitchFamily="18" charset="0"/>
                        <a:ea typeface="Cambria Math" panose="02040503050406030204" pitchFamily="18" charset="0"/>
                      </a:rPr>
                      <m:t>×</m:t>
                    </m:r>
                    <m:f>
                      <m:fPr>
                        <m:ctrlPr>
                          <a:rPr lang="en-US" i="1">
                            <a:latin typeface="Cambria Math" panose="02040503050406030204" pitchFamily="18" charset="0"/>
                          </a:rPr>
                        </m:ctrlPr>
                      </m:fPr>
                      <m:num>
                        <m:r>
                          <a:rPr lang="en-US" i="1">
                            <a:latin typeface="Cambria Math" panose="02040503050406030204" pitchFamily="18" charset="0"/>
                          </a:rPr>
                          <m:t>𝜕</m:t>
                        </m:r>
                      </m:num>
                      <m:den>
                        <m:r>
                          <a:rPr lang="en-US" i="1">
                            <a:latin typeface="Cambria Math" panose="02040503050406030204" pitchFamily="18" charset="0"/>
                          </a:rPr>
                          <m:t>𝜕</m:t>
                        </m:r>
                        <m:r>
                          <a:rPr lang="en-AU" i="1">
                            <a:latin typeface="Cambria Math" panose="02040503050406030204" pitchFamily="18" charset="0"/>
                          </a:rPr>
                          <m:t>𝑤</m:t>
                        </m:r>
                      </m:den>
                    </m:f>
                    <m:d>
                      <m:dPr>
                        <m:ctrlPr>
                          <a:rPr lang="en-AU" i="1">
                            <a:latin typeface="Cambria Math" panose="02040503050406030204" pitchFamily="18" charset="0"/>
                          </a:rPr>
                        </m:ctrlPr>
                      </m:dPr>
                      <m:e>
                        <m:r>
                          <a:rPr lang="en-AU" i="1">
                            <a:latin typeface="Cambria Math" panose="02040503050406030204" pitchFamily="18" charset="0"/>
                          </a:rPr>
                          <m:t>𝑤</m:t>
                        </m:r>
                        <m:r>
                          <a:rPr lang="en-AU" i="1">
                            <a:latin typeface="Cambria Math" panose="02040503050406030204" pitchFamily="18" charset="0"/>
                          </a:rPr>
                          <m:t>∗</m:t>
                        </m:r>
                        <m:sSup>
                          <m:sSupPr>
                            <m:ctrlPr>
                              <a:rPr lang="en-AU" i="1">
                                <a:latin typeface="Cambria Math" panose="02040503050406030204" pitchFamily="18" charset="0"/>
                              </a:rPr>
                            </m:ctrlPr>
                          </m:sSupPr>
                          <m:e>
                            <m:r>
                              <a:rPr lang="en-AU" i="1">
                                <a:latin typeface="Cambria Math" panose="02040503050406030204" pitchFamily="18" charset="0"/>
                              </a:rPr>
                              <m:t>𝑥</m:t>
                            </m:r>
                          </m:e>
                          <m:sup>
                            <m:r>
                              <a:rPr lang="en-AU" i="1">
                                <a:latin typeface="Cambria Math" panose="02040503050406030204" pitchFamily="18" charset="0"/>
                              </a:rPr>
                              <m:t>𝑖</m:t>
                            </m:r>
                          </m:sup>
                        </m:sSup>
                        <m:r>
                          <a:rPr lang="en-AU" i="1">
                            <a:latin typeface="Cambria Math" panose="02040503050406030204" pitchFamily="18" charset="0"/>
                          </a:rPr>
                          <m:t>+</m:t>
                        </m:r>
                        <m:r>
                          <a:rPr lang="en-AU" i="1">
                            <a:latin typeface="Cambria Math" panose="02040503050406030204" pitchFamily="18" charset="0"/>
                          </a:rPr>
                          <m:t>𝑏</m:t>
                        </m:r>
                        <m:r>
                          <a:rPr lang="en-AU" i="1">
                            <a:latin typeface="Cambria Math" panose="02040503050406030204" pitchFamily="18" charset="0"/>
                            <a:ea typeface="Cambria Math" panose="02040503050406030204" pitchFamily="18" charset="0"/>
                          </a:rPr>
                          <m:t>−</m:t>
                        </m:r>
                        <m:sSup>
                          <m:sSupPr>
                            <m:ctrlPr>
                              <a:rPr lang="en-AU" i="1">
                                <a:latin typeface="Cambria Math" panose="02040503050406030204" pitchFamily="18" charset="0"/>
                                <a:ea typeface="Cambria Math" panose="02040503050406030204" pitchFamily="18" charset="0"/>
                              </a:rPr>
                            </m:ctrlPr>
                          </m:sSupPr>
                          <m:e>
                            <m:r>
                              <a:rPr lang="en-AU" i="1">
                                <a:latin typeface="Cambria Math" panose="02040503050406030204" pitchFamily="18" charset="0"/>
                                <a:ea typeface="Cambria Math" panose="02040503050406030204" pitchFamily="18" charset="0"/>
                              </a:rPr>
                              <m:t>𝑦</m:t>
                            </m:r>
                          </m:e>
                          <m:sup>
                            <m:r>
                              <a:rPr lang="en-AU" i="1">
                                <a:latin typeface="Cambria Math" panose="02040503050406030204" pitchFamily="18" charset="0"/>
                                <a:ea typeface="Cambria Math" panose="02040503050406030204" pitchFamily="18" charset="0"/>
                              </a:rPr>
                              <m:t>𝑖</m:t>
                            </m:r>
                          </m:sup>
                        </m:sSup>
                      </m:e>
                    </m:d>
                  </m:oMath>
                </a14:m>
                <a:br>
                  <a:rPr lang="en-AU" i="1" dirty="0">
                    <a:latin typeface="Cambria Math" panose="02040503050406030204" pitchFamily="18" charset="0"/>
                    <a:ea typeface="Cambria Math" panose="02040503050406030204" pitchFamily="18" charset="0"/>
                  </a:rPr>
                </a:br>
                <a14:m>
                  <m:oMath xmlns:m="http://schemas.openxmlformats.org/officeDocument/2006/math">
                    <m:r>
                      <m:rPr>
                        <m:aln/>
                      </m:rPr>
                      <a:rPr lang="en-AU" i="1">
                        <a:latin typeface="Cambria Math" panose="02040503050406030204" pitchFamily="18" charset="0"/>
                        <a:ea typeface="Cambria Math" panose="02040503050406030204" pitchFamily="18" charset="0"/>
                      </a:rPr>
                      <m:t>=</m:t>
                    </m:r>
                    <m:d>
                      <m:dPr>
                        <m:ctrlPr>
                          <a:rPr lang="en-AU" i="1">
                            <a:latin typeface="Cambria Math" panose="02040503050406030204" pitchFamily="18" charset="0"/>
                            <a:ea typeface="Cambria Math" panose="02040503050406030204" pitchFamily="18" charset="0"/>
                          </a:rPr>
                        </m:ctrlPr>
                      </m:dPr>
                      <m:e>
                        <m:sSub>
                          <m:sSubPr>
                            <m:ctrlPr>
                              <a:rPr lang="en-AU" i="1">
                                <a:latin typeface="Cambria Math" panose="02040503050406030204" pitchFamily="18" charset="0"/>
                                <a:ea typeface="Cambria Math" panose="02040503050406030204" pitchFamily="18" charset="0"/>
                              </a:rPr>
                            </m:ctrlPr>
                          </m:sSubPr>
                          <m:e>
                            <m:r>
                              <a:rPr lang="en-AU" i="1">
                                <a:latin typeface="Cambria Math" panose="02040503050406030204" pitchFamily="18" charset="0"/>
                                <a:ea typeface="Cambria Math" panose="02040503050406030204" pitchFamily="18" charset="0"/>
                              </a:rPr>
                              <m:t>𝑓</m:t>
                            </m:r>
                          </m:e>
                          <m:sub>
                            <m:r>
                              <a:rPr lang="en-AU" i="1">
                                <a:latin typeface="Cambria Math" panose="02040503050406030204" pitchFamily="18" charset="0"/>
                                <a:ea typeface="Cambria Math" panose="02040503050406030204" pitchFamily="18" charset="0"/>
                              </a:rPr>
                              <m:t>𝑤</m:t>
                            </m:r>
                            <m:r>
                              <a:rPr lang="en-AU" i="1">
                                <a:latin typeface="Cambria Math" panose="02040503050406030204" pitchFamily="18" charset="0"/>
                                <a:ea typeface="Cambria Math" panose="02040503050406030204" pitchFamily="18" charset="0"/>
                              </a:rPr>
                              <m:t>,</m:t>
                            </m:r>
                            <m:r>
                              <a:rPr lang="en-AU" i="1">
                                <a:latin typeface="Cambria Math" panose="02040503050406030204" pitchFamily="18" charset="0"/>
                                <a:ea typeface="Cambria Math" panose="02040503050406030204" pitchFamily="18" charset="0"/>
                              </a:rPr>
                              <m:t>𝑏</m:t>
                            </m:r>
                          </m:sub>
                        </m:sSub>
                        <m:d>
                          <m:dPr>
                            <m:ctrlPr>
                              <a:rPr lang="en-AU" i="1">
                                <a:latin typeface="Cambria Math" panose="02040503050406030204" pitchFamily="18" charset="0"/>
                                <a:ea typeface="Cambria Math" panose="02040503050406030204" pitchFamily="18" charset="0"/>
                              </a:rPr>
                            </m:ctrlPr>
                          </m:dPr>
                          <m:e>
                            <m:sSup>
                              <m:sSupPr>
                                <m:ctrlPr>
                                  <a:rPr lang="en-AU" i="1">
                                    <a:latin typeface="Cambria Math" panose="02040503050406030204" pitchFamily="18" charset="0"/>
                                    <a:ea typeface="Cambria Math" panose="02040503050406030204" pitchFamily="18" charset="0"/>
                                  </a:rPr>
                                </m:ctrlPr>
                              </m:sSupPr>
                              <m:e>
                                <m:r>
                                  <a:rPr lang="en-AU" i="1">
                                    <a:latin typeface="Cambria Math" panose="02040503050406030204" pitchFamily="18" charset="0"/>
                                    <a:ea typeface="Cambria Math" panose="02040503050406030204" pitchFamily="18" charset="0"/>
                                  </a:rPr>
                                  <m:t>𝑥</m:t>
                                </m:r>
                              </m:e>
                              <m:sup>
                                <m:r>
                                  <a:rPr lang="en-AU" i="1">
                                    <a:latin typeface="Cambria Math" panose="02040503050406030204" pitchFamily="18" charset="0"/>
                                    <a:ea typeface="Cambria Math" panose="02040503050406030204" pitchFamily="18" charset="0"/>
                                  </a:rPr>
                                  <m:t>𝑖</m:t>
                                </m:r>
                              </m:sup>
                            </m:sSup>
                          </m:e>
                        </m:d>
                        <m:r>
                          <a:rPr lang="en-AU" i="1">
                            <a:latin typeface="Cambria Math" panose="02040503050406030204" pitchFamily="18" charset="0"/>
                            <a:ea typeface="Cambria Math" panose="02040503050406030204" pitchFamily="18" charset="0"/>
                          </a:rPr>
                          <m:t>−</m:t>
                        </m:r>
                        <m:sSup>
                          <m:sSupPr>
                            <m:ctrlPr>
                              <a:rPr lang="en-AU" i="1">
                                <a:latin typeface="Cambria Math" panose="02040503050406030204" pitchFamily="18" charset="0"/>
                                <a:ea typeface="Cambria Math" panose="02040503050406030204" pitchFamily="18" charset="0"/>
                              </a:rPr>
                            </m:ctrlPr>
                          </m:sSupPr>
                          <m:e>
                            <m:r>
                              <a:rPr lang="en-AU" i="1">
                                <a:latin typeface="Cambria Math" panose="02040503050406030204" pitchFamily="18" charset="0"/>
                                <a:ea typeface="Cambria Math" panose="02040503050406030204" pitchFamily="18" charset="0"/>
                              </a:rPr>
                              <m:t>𝑦</m:t>
                            </m:r>
                          </m:e>
                          <m:sup>
                            <m:r>
                              <a:rPr lang="en-AU" i="1">
                                <a:latin typeface="Cambria Math" panose="02040503050406030204" pitchFamily="18" charset="0"/>
                                <a:ea typeface="Cambria Math" panose="02040503050406030204" pitchFamily="18" charset="0"/>
                              </a:rPr>
                              <m:t>𝑖</m:t>
                            </m:r>
                          </m:sup>
                        </m:sSup>
                      </m:e>
                    </m:d>
                    <m:r>
                      <a:rPr lang="en-AU" i="1">
                        <a:latin typeface="Cambria Math" panose="02040503050406030204" pitchFamily="18" charset="0"/>
                        <a:ea typeface="Cambria Math" panose="02040503050406030204" pitchFamily="18" charset="0"/>
                      </a:rPr>
                      <m:t>∗</m:t>
                    </m:r>
                    <m:sSup>
                      <m:sSupPr>
                        <m:ctrlPr>
                          <a:rPr lang="en-AU" i="1">
                            <a:latin typeface="Cambria Math" panose="02040503050406030204" pitchFamily="18" charset="0"/>
                            <a:ea typeface="Cambria Math" panose="02040503050406030204" pitchFamily="18" charset="0"/>
                          </a:rPr>
                        </m:ctrlPr>
                      </m:sSupPr>
                      <m:e>
                        <m:r>
                          <a:rPr lang="en-AU" i="1">
                            <a:latin typeface="Cambria Math" panose="02040503050406030204" pitchFamily="18" charset="0"/>
                            <a:ea typeface="Cambria Math" panose="02040503050406030204" pitchFamily="18" charset="0"/>
                          </a:rPr>
                          <m:t>𝑥</m:t>
                        </m:r>
                      </m:e>
                      <m:sup>
                        <m:r>
                          <a:rPr lang="en-AU" i="1">
                            <a:latin typeface="Cambria Math" panose="02040503050406030204" pitchFamily="18" charset="0"/>
                            <a:ea typeface="Cambria Math" panose="02040503050406030204" pitchFamily="18" charset="0"/>
                          </a:rPr>
                          <m:t>𝑖</m:t>
                        </m:r>
                      </m:sup>
                    </m:sSup>
                  </m:oMath>
                </a14:m>
                <a:endParaRPr lang="en-AU" dirty="0">
                  <a:ea typeface="Cambria Math" panose="02040503050406030204" pitchFamily="18" charset="0"/>
                </a:endParaRPr>
              </a:p>
              <a:p>
                <a:endParaRPr lang="en-US" dirty="0"/>
              </a:p>
              <a:p>
                <a:r>
                  <a:rPr lang="en-US" dirty="0"/>
                  <a:t>Similarly, </a:t>
                </a:r>
                <a14:m>
                  <m:oMath xmlns:m="http://schemas.openxmlformats.org/officeDocument/2006/math">
                    <m:f>
                      <m:fPr>
                        <m:ctrlPr>
                          <a:rPr lang="en-US" i="1">
                            <a:latin typeface="Cambria Math" panose="02040503050406030204" pitchFamily="18" charset="0"/>
                          </a:rPr>
                        </m:ctrlPr>
                      </m:fPr>
                      <m:num>
                        <m:r>
                          <a:rPr lang="en-US" i="1">
                            <a:latin typeface="Cambria Math" panose="02040503050406030204" pitchFamily="18" charset="0"/>
                          </a:rPr>
                          <m:t>𝜕</m:t>
                        </m:r>
                      </m:num>
                      <m:den>
                        <m:r>
                          <a:rPr lang="en-US" i="1">
                            <a:latin typeface="Cambria Math" panose="02040503050406030204" pitchFamily="18" charset="0"/>
                          </a:rPr>
                          <m:t>𝜕</m:t>
                        </m:r>
                        <m:r>
                          <a:rPr lang="en-AU" b="0" i="1" smtClean="0">
                            <a:latin typeface="Cambria Math" panose="02040503050406030204" pitchFamily="18" charset="0"/>
                          </a:rPr>
                          <m:t>𝑏</m:t>
                        </m:r>
                      </m:den>
                    </m:f>
                    <m:r>
                      <a:rPr lang="en-US" i="1">
                        <a:latin typeface="Cambria Math" panose="02040503050406030204" pitchFamily="18" charset="0"/>
                        <a:ea typeface="Cambria Math" panose="02040503050406030204" pitchFamily="18" charset="0"/>
                      </a:rPr>
                      <m:t>ℒ</m:t>
                    </m:r>
                    <m:d>
                      <m:dPr>
                        <m:ctrlPr>
                          <a:rPr lang="en-AU" i="1">
                            <a:latin typeface="Cambria Math" panose="02040503050406030204" pitchFamily="18" charset="0"/>
                            <a:ea typeface="Cambria Math" panose="02040503050406030204" pitchFamily="18" charset="0"/>
                          </a:rPr>
                        </m:ctrlPr>
                      </m:dPr>
                      <m:e>
                        <m:r>
                          <a:rPr lang="en-AU" i="1">
                            <a:latin typeface="Cambria Math" panose="02040503050406030204" pitchFamily="18" charset="0"/>
                            <a:ea typeface="Cambria Math" panose="02040503050406030204" pitchFamily="18" charset="0"/>
                          </a:rPr>
                          <m:t>𝑤</m:t>
                        </m:r>
                        <m:r>
                          <a:rPr lang="en-AU" i="1">
                            <a:latin typeface="Cambria Math" panose="02040503050406030204" pitchFamily="18" charset="0"/>
                            <a:ea typeface="Cambria Math" panose="02040503050406030204" pitchFamily="18" charset="0"/>
                          </a:rPr>
                          <m:t>,</m:t>
                        </m:r>
                        <m:r>
                          <a:rPr lang="en-AU" i="1">
                            <a:latin typeface="Cambria Math" panose="02040503050406030204" pitchFamily="18" charset="0"/>
                            <a:ea typeface="Cambria Math" panose="02040503050406030204" pitchFamily="18" charset="0"/>
                          </a:rPr>
                          <m:t>𝑏</m:t>
                        </m:r>
                      </m:e>
                    </m:d>
                    <m:r>
                      <a:rPr lang="en-AU" b="0" i="1" smtClean="0">
                        <a:latin typeface="Cambria Math" panose="02040503050406030204" pitchFamily="18" charset="0"/>
                        <a:ea typeface="Cambria Math" panose="02040503050406030204" pitchFamily="18" charset="0"/>
                      </a:rPr>
                      <m:t>=</m:t>
                    </m:r>
                  </m:oMath>
                </a14:m>
                <a:r>
                  <a:rPr lang="en-AU" dirty="0">
                    <a:ea typeface="Cambria Math" panose="02040503050406030204" pitchFamily="18" charset="0"/>
                  </a:rPr>
                  <a:t> </a:t>
                </a:r>
                <a14:m>
                  <m:oMath xmlns:m="http://schemas.openxmlformats.org/officeDocument/2006/math">
                    <m:sSub>
                      <m:sSubPr>
                        <m:ctrlPr>
                          <a:rPr lang="en-AU" i="1">
                            <a:latin typeface="Cambria Math" panose="02040503050406030204" pitchFamily="18" charset="0"/>
                            <a:ea typeface="Cambria Math" panose="02040503050406030204" pitchFamily="18" charset="0"/>
                          </a:rPr>
                        </m:ctrlPr>
                      </m:sSubPr>
                      <m:e>
                        <m:r>
                          <a:rPr lang="en-AU" i="1">
                            <a:latin typeface="Cambria Math" panose="02040503050406030204" pitchFamily="18" charset="0"/>
                            <a:ea typeface="Cambria Math" panose="02040503050406030204" pitchFamily="18" charset="0"/>
                          </a:rPr>
                          <m:t>𝑓</m:t>
                        </m:r>
                      </m:e>
                      <m:sub>
                        <m:r>
                          <a:rPr lang="en-AU" i="1">
                            <a:latin typeface="Cambria Math" panose="02040503050406030204" pitchFamily="18" charset="0"/>
                            <a:ea typeface="Cambria Math" panose="02040503050406030204" pitchFamily="18" charset="0"/>
                          </a:rPr>
                          <m:t>𝑤</m:t>
                        </m:r>
                        <m:r>
                          <a:rPr lang="en-AU" i="1">
                            <a:latin typeface="Cambria Math" panose="02040503050406030204" pitchFamily="18" charset="0"/>
                            <a:ea typeface="Cambria Math" panose="02040503050406030204" pitchFamily="18" charset="0"/>
                          </a:rPr>
                          <m:t>,</m:t>
                        </m:r>
                        <m:r>
                          <a:rPr lang="en-AU" i="1">
                            <a:latin typeface="Cambria Math" panose="02040503050406030204" pitchFamily="18" charset="0"/>
                            <a:ea typeface="Cambria Math" panose="02040503050406030204" pitchFamily="18" charset="0"/>
                          </a:rPr>
                          <m:t>𝑏</m:t>
                        </m:r>
                      </m:sub>
                    </m:sSub>
                    <m:d>
                      <m:dPr>
                        <m:ctrlPr>
                          <a:rPr lang="en-AU" i="1">
                            <a:latin typeface="Cambria Math" panose="02040503050406030204" pitchFamily="18" charset="0"/>
                            <a:ea typeface="Cambria Math" panose="02040503050406030204" pitchFamily="18" charset="0"/>
                          </a:rPr>
                        </m:ctrlPr>
                      </m:dPr>
                      <m:e>
                        <m:sSup>
                          <m:sSupPr>
                            <m:ctrlPr>
                              <a:rPr lang="en-AU" i="1">
                                <a:latin typeface="Cambria Math" panose="02040503050406030204" pitchFamily="18" charset="0"/>
                                <a:ea typeface="Cambria Math" panose="02040503050406030204" pitchFamily="18" charset="0"/>
                              </a:rPr>
                            </m:ctrlPr>
                          </m:sSupPr>
                          <m:e>
                            <m:r>
                              <a:rPr lang="en-AU" i="1">
                                <a:latin typeface="Cambria Math" panose="02040503050406030204" pitchFamily="18" charset="0"/>
                                <a:ea typeface="Cambria Math" panose="02040503050406030204" pitchFamily="18" charset="0"/>
                              </a:rPr>
                              <m:t>𝑥</m:t>
                            </m:r>
                          </m:e>
                          <m:sup>
                            <m:r>
                              <a:rPr lang="en-AU" i="1">
                                <a:latin typeface="Cambria Math" panose="02040503050406030204" pitchFamily="18" charset="0"/>
                                <a:ea typeface="Cambria Math" panose="02040503050406030204" pitchFamily="18" charset="0"/>
                              </a:rPr>
                              <m:t>𝑖</m:t>
                            </m:r>
                          </m:sup>
                        </m:sSup>
                      </m:e>
                    </m:d>
                    <m:r>
                      <a:rPr lang="en-AU" i="1">
                        <a:latin typeface="Cambria Math" panose="02040503050406030204" pitchFamily="18" charset="0"/>
                        <a:ea typeface="Cambria Math" panose="02040503050406030204" pitchFamily="18" charset="0"/>
                      </a:rPr>
                      <m:t>−</m:t>
                    </m:r>
                    <m:sSup>
                      <m:sSupPr>
                        <m:ctrlPr>
                          <a:rPr lang="en-AU" i="1">
                            <a:latin typeface="Cambria Math" panose="02040503050406030204" pitchFamily="18" charset="0"/>
                            <a:ea typeface="Cambria Math" panose="02040503050406030204" pitchFamily="18" charset="0"/>
                          </a:rPr>
                        </m:ctrlPr>
                      </m:sSupPr>
                      <m:e>
                        <m:r>
                          <a:rPr lang="en-AU" i="1">
                            <a:latin typeface="Cambria Math" panose="02040503050406030204" pitchFamily="18" charset="0"/>
                            <a:ea typeface="Cambria Math" panose="02040503050406030204" pitchFamily="18" charset="0"/>
                          </a:rPr>
                          <m:t>𝑦</m:t>
                        </m:r>
                      </m:e>
                      <m:sup>
                        <m:r>
                          <a:rPr lang="en-AU" i="1">
                            <a:latin typeface="Cambria Math" panose="02040503050406030204" pitchFamily="18" charset="0"/>
                            <a:ea typeface="Cambria Math" panose="02040503050406030204" pitchFamily="18" charset="0"/>
                          </a:rPr>
                          <m:t>𝑖</m:t>
                        </m:r>
                      </m:sup>
                    </m:sSup>
                  </m:oMath>
                </a14:m>
                <a:endParaRPr lang="en-US" dirty="0"/>
              </a:p>
              <a:p>
                <a:endParaRPr lang="en-US" dirty="0"/>
              </a:p>
              <a:p>
                <a:endParaRPr lang="en-US" dirty="0"/>
              </a:p>
              <a:p>
                <a:endParaRPr lang="en-US" dirty="0"/>
              </a:p>
            </p:txBody>
          </p:sp>
        </mc:Choice>
        <mc:Fallback>
          <p:sp>
            <p:nvSpPr>
              <p:cNvPr id="3" name="Content Placeholder 2">
                <a:extLst>
                  <a:ext uri="{FF2B5EF4-FFF2-40B4-BE49-F238E27FC236}">
                    <a16:creationId xmlns:a16="http://schemas.microsoft.com/office/drawing/2014/main" id="{0894E38B-BFBD-00EE-DF53-EA2BEE5BE01C}"/>
                  </a:ext>
                </a:extLst>
              </p:cNvPr>
              <p:cNvSpPr>
                <a:spLocks noGrp="1" noRot="1" noChangeAspect="1" noMove="1" noResize="1" noEditPoints="1" noAdjustHandles="1" noChangeArrowheads="1" noChangeShapeType="1" noTextEdit="1"/>
              </p:cNvSpPr>
              <p:nvPr>
                <p:ph idx="1"/>
              </p:nvPr>
            </p:nvSpPr>
            <p:spPr>
              <a:xfrm>
                <a:off x="838200" y="1825625"/>
                <a:ext cx="10515600" cy="4667250"/>
              </a:xfrm>
              <a:blipFill>
                <a:blip r:embed="rId3"/>
                <a:stretch>
                  <a:fillRect l="-1086" t="-1897"/>
                </a:stretch>
              </a:blipFill>
            </p:spPr>
            <p:txBody>
              <a:bodyPr/>
              <a:lstStyle/>
              <a:p>
                <a:r>
                  <a:rPr lang="en-US">
                    <a:noFill/>
                  </a:rPr>
                  <a:t> </a:t>
                </a:r>
              </a:p>
            </p:txBody>
          </p:sp>
        </mc:Fallback>
      </mc:AlternateContent>
    </p:spTree>
    <p:extLst>
      <p:ext uri="{BB962C8B-B14F-4D97-AF65-F5344CB8AC3E}">
        <p14:creationId xmlns:p14="http://schemas.microsoft.com/office/powerpoint/2010/main" val="414461658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2728C64-3EEF-4CFE-A327-F8076783E74D}"/>
              </a:ext>
            </a:extLst>
          </p:cNvPr>
          <p:cNvSpPr>
            <a:spLocks noGrp="1"/>
          </p:cNvSpPr>
          <p:nvPr>
            <p:ph type="title"/>
          </p:nvPr>
        </p:nvSpPr>
        <p:spPr/>
        <p:txBody>
          <a:bodyPr/>
          <a:lstStyle/>
          <a:p>
            <a:r>
              <a:rPr lang="en-US" b="1" dirty="0"/>
              <a:t>Weight updates in models: Gradient Descent </a:t>
            </a:r>
          </a:p>
        </p:txBody>
      </p:sp>
      <mc:AlternateContent xmlns:mc="http://schemas.openxmlformats.org/markup-compatibility/2006">
        <mc:Choice xmlns:a14="http://schemas.microsoft.com/office/drawing/2010/main" Requires="a14">
          <p:sp>
            <p:nvSpPr>
              <p:cNvPr id="3" name="Content Placeholder 2">
                <a:extLst>
                  <a:ext uri="{FF2B5EF4-FFF2-40B4-BE49-F238E27FC236}">
                    <a16:creationId xmlns:a16="http://schemas.microsoft.com/office/drawing/2014/main" id="{CE64487D-CEFD-EAE5-BB37-D31E8BA61B68}"/>
                  </a:ext>
                </a:extLst>
              </p:cNvPr>
              <p:cNvSpPr>
                <a:spLocks noGrp="1"/>
              </p:cNvSpPr>
              <p:nvPr>
                <p:ph idx="1"/>
              </p:nvPr>
            </p:nvSpPr>
            <p:spPr>
              <a:xfrm>
                <a:off x="838200" y="1825625"/>
                <a:ext cx="7214419" cy="4351338"/>
              </a:xfrm>
            </p:spPr>
            <p:txBody>
              <a:bodyPr>
                <a:normAutofit fontScale="92500" lnSpcReduction="10000"/>
              </a:bodyPr>
              <a:lstStyle/>
              <a:p>
                <a:r>
                  <a:rPr lang="en-US" dirty="0"/>
                  <a:t>We have a loss function </a:t>
                </a:r>
                <a14:m>
                  <m:oMath xmlns:m="http://schemas.openxmlformats.org/officeDocument/2006/math">
                    <m:r>
                      <a:rPr lang="en-US" i="1" smtClean="0">
                        <a:latin typeface="Cambria Math" panose="02040503050406030204" pitchFamily="18" charset="0"/>
                        <a:ea typeface="Cambria Math" panose="02040503050406030204" pitchFamily="18" charset="0"/>
                      </a:rPr>
                      <m:t>ℒ</m:t>
                    </m:r>
                    <m:d>
                      <m:dPr>
                        <m:ctrlPr>
                          <a:rPr lang="en-AU" b="0" i="1" smtClean="0">
                            <a:latin typeface="Cambria Math" panose="02040503050406030204" pitchFamily="18" charset="0"/>
                            <a:ea typeface="Cambria Math" panose="02040503050406030204" pitchFamily="18" charset="0"/>
                          </a:rPr>
                        </m:ctrlPr>
                      </m:dPr>
                      <m:e>
                        <m:r>
                          <a:rPr lang="en-AU" b="0" i="1" smtClean="0">
                            <a:latin typeface="Cambria Math" panose="02040503050406030204" pitchFamily="18" charset="0"/>
                            <a:ea typeface="Cambria Math" panose="02040503050406030204" pitchFamily="18" charset="0"/>
                          </a:rPr>
                          <m:t>𝑤</m:t>
                        </m:r>
                        <m:r>
                          <a:rPr lang="en-AU" b="0" i="1" smtClean="0">
                            <a:latin typeface="Cambria Math" panose="02040503050406030204" pitchFamily="18" charset="0"/>
                            <a:ea typeface="Cambria Math" panose="02040503050406030204" pitchFamily="18" charset="0"/>
                          </a:rPr>
                          <m:t>,</m:t>
                        </m:r>
                        <m:r>
                          <a:rPr lang="en-AU" b="0" i="1" smtClean="0">
                            <a:latin typeface="Cambria Math" panose="02040503050406030204" pitchFamily="18" charset="0"/>
                            <a:ea typeface="Cambria Math" panose="02040503050406030204" pitchFamily="18" charset="0"/>
                          </a:rPr>
                          <m:t>𝑏</m:t>
                        </m:r>
                      </m:e>
                    </m:d>
                  </m:oMath>
                </a14:m>
                <a:r>
                  <a:rPr lang="en-US" dirty="0"/>
                  <a:t>, we want to minimize it </a:t>
                </a:r>
                <a14:m>
                  <m:oMath xmlns:m="http://schemas.openxmlformats.org/officeDocument/2006/math">
                    <m:func>
                      <m:funcPr>
                        <m:ctrlPr>
                          <a:rPr lang="en-US" i="1" smtClean="0">
                            <a:latin typeface="Cambria Math" panose="02040503050406030204" pitchFamily="18" charset="0"/>
                          </a:rPr>
                        </m:ctrlPr>
                      </m:funcPr>
                      <m:fName>
                        <m:limLow>
                          <m:limLowPr>
                            <m:ctrlPr>
                              <a:rPr lang="en-US" i="0" smtClean="0">
                                <a:latin typeface="Cambria Math" panose="02040503050406030204" pitchFamily="18" charset="0"/>
                              </a:rPr>
                            </m:ctrlPr>
                          </m:limLowPr>
                          <m:e>
                            <m:r>
                              <m:rPr>
                                <m:sty m:val="p"/>
                              </m:rPr>
                              <a:rPr lang="en-US" i="0" smtClean="0">
                                <a:latin typeface="Cambria Math" panose="02040503050406030204" pitchFamily="18" charset="0"/>
                              </a:rPr>
                              <m:t>min</m:t>
                            </m:r>
                          </m:e>
                          <m:lim>
                            <m:r>
                              <a:rPr lang="en-AU" b="0" i="1" smtClean="0">
                                <a:latin typeface="Cambria Math" panose="02040503050406030204" pitchFamily="18" charset="0"/>
                              </a:rPr>
                              <m:t>𝑤</m:t>
                            </m:r>
                            <m:r>
                              <a:rPr lang="en-AU" b="0" i="1" smtClean="0">
                                <a:latin typeface="Cambria Math" panose="02040503050406030204" pitchFamily="18" charset="0"/>
                              </a:rPr>
                              <m:t>,</m:t>
                            </m:r>
                            <m:r>
                              <a:rPr lang="en-AU" b="0" i="1" smtClean="0">
                                <a:latin typeface="Cambria Math" panose="02040503050406030204" pitchFamily="18" charset="0"/>
                              </a:rPr>
                              <m:t>𝑏</m:t>
                            </m:r>
                          </m:lim>
                        </m:limLow>
                      </m:fName>
                      <m:e>
                        <m:r>
                          <a:rPr lang="en-US" i="1">
                            <a:latin typeface="Cambria Math" panose="02040503050406030204" pitchFamily="18" charset="0"/>
                            <a:ea typeface="Cambria Math" panose="02040503050406030204" pitchFamily="18" charset="0"/>
                          </a:rPr>
                          <m:t>ℒ</m:t>
                        </m:r>
                        <m:d>
                          <m:dPr>
                            <m:ctrlPr>
                              <a:rPr lang="en-AU" i="1">
                                <a:latin typeface="Cambria Math" panose="02040503050406030204" pitchFamily="18" charset="0"/>
                                <a:ea typeface="Cambria Math" panose="02040503050406030204" pitchFamily="18" charset="0"/>
                              </a:rPr>
                            </m:ctrlPr>
                          </m:dPr>
                          <m:e>
                            <m:r>
                              <a:rPr lang="en-AU" i="1">
                                <a:latin typeface="Cambria Math" panose="02040503050406030204" pitchFamily="18" charset="0"/>
                                <a:ea typeface="Cambria Math" panose="02040503050406030204" pitchFamily="18" charset="0"/>
                              </a:rPr>
                              <m:t>𝑤</m:t>
                            </m:r>
                            <m:r>
                              <a:rPr lang="en-AU" i="1">
                                <a:latin typeface="Cambria Math" panose="02040503050406030204" pitchFamily="18" charset="0"/>
                                <a:ea typeface="Cambria Math" panose="02040503050406030204" pitchFamily="18" charset="0"/>
                              </a:rPr>
                              <m:t>,</m:t>
                            </m:r>
                            <m:r>
                              <a:rPr lang="en-AU" i="1">
                                <a:latin typeface="Cambria Math" panose="02040503050406030204" pitchFamily="18" charset="0"/>
                                <a:ea typeface="Cambria Math" panose="02040503050406030204" pitchFamily="18" charset="0"/>
                              </a:rPr>
                              <m:t>𝑏</m:t>
                            </m:r>
                          </m:e>
                        </m:d>
                      </m:e>
                    </m:func>
                  </m:oMath>
                </a14:m>
                <a:endParaRPr lang="en-US" dirty="0"/>
              </a:p>
              <a:p>
                <a:r>
                  <a:rPr lang="en-US" dirty="0"/>
                  <a:t>Outline of the steps:</a:t>
                </a:r>
              </a:p>
              <a:p>
                <a:pPr lvl="1"/>
                <a:r>
                  <a:rPr lang="en-US" dirty="0"/>
                  <a:t>Start with random </a:t>
                </a:r>
                <a14:m>
                  <m:oMath xmlns:m="http://schemas.openxmlformats.org/officeDocument/2006/math">
                    <m:r>
                      <a:rPr lang="en-AU" b="0" i="1" smtClean="0">
                        <a:latin typeface="Cambria Math" panose="02040503050406030204" pitchFamily="18" charset="0"/>
                      </a:rPr>
                      <m:t>𝑤</m:t>
                    </m:r>
                    <m:r>
                      <a:rPr lang="en-AU" b="0" i="1" smtClean="0">
                        <a:latin typeface="Cambria Math" panose="02040503050406030204" pitchFamily="18" charset="0"/>
                      </a:rPr>
                      <m:t>,</m:t>
                    </m:r>
                    <m:r>
                      <a:rPr lang="en-AU" b="0" i="1" smtClean="0">
                        <a:latin typeface="Cambria Math" panose="02040503050406030204" pitchFamily="18" charset="0"/>
                      </a:rPr>
                      <m:t>𝑏</m:t>
                    </m:r>
                    <m:r>
                      <a:rPr lang="en-AU" b="0" i="1" smtClean="0">
                        <a:latin typeface="Cambria Math" panose="02040503050406030204" pitchFamily="18" charset="0"/>
                      </a:rPr>
                      <m:t> </m:t>
                    </m:r>
                  </m:oMath>
                </a14:m>
                <a:endParaRPr lang="en-AU" b="0" dirty="0"/>
              </a:p>
              <a:p>
                <a:pPr lvl="1"/>
                <a:r>
                  <a:rPr lang="en-AU" dirty="0"/>
                  <a:t>Loop for all instances:</a:t>
                </a:r>
              </a:p>
              <a:p>
                <a:pPr lvl="2"/>
                <a:r>
                  <a:rPr lang="en-AU" b="0" dirty="0"/>
                  <a:t>Compute </a:t>
                </a:r>
                <a14:m>
                  <m:oMath xmlns:m="http://schemas.openxmlformats.org/officeDocument/2006/math">
                    <m:d>
                      <m:dPr>
                        <m:ctrlPr>
                          <a:rPr lang="en-AU" i="1">
                            <a:latin typeface="Cambria Math" panose="02040503050406030204" pitchFamily="18" charset="0"/>
                            <a:ea typeface="Cambria Math" panose="02040503050406030204" pitchFamily="18" charset="0"/>
                          </a:rPr>
                        </m:ctrlPr>
                      </m:dPr>
                      <m:e>
                        <m:sSub>
                          <m:sSubPr>
                            <m:ctrlPr>
                              <a:rPr lang="en-AU" i="1">
                                <a:latin typeface="Cambria Math" panose="02040503050406030204" pitchFamily="18" charset="0"/>
                                <a:ea typeface="Cambria Math" panose="02040503050406030204" pitchFamily="18" charset="0"/>
                              </a:rPr>
                            </m:ctrlPr>
                          </m:sSubPr>
                          <m:e>
                            <m:r>
                              <a:rPr lang="en-AU" i="1">
                                <a:latin typeface="Cambria Math" panose="02040503050406030204" pitchFamily="18" charset="0"/>
                                <a:ea typeface="Cambria Math" panose="02040503050406030204" pitchFamily="18" charset="0"/>
                              </a:rPr>
                              <m:t>𝑓</m:t>
                            </m:r>
                          </m:e>
                          <m:sub>
                            <m:r>
                              <a:rPr lang="en-AU" i="1">
                                <a:latin typeface="Cambria Math" panose="02040503050406030204" pitchFamily="18" charset="0"/>
                                <a:ea typeface="Cambria Math" panose="02040503050406030204" pitchFamily="18" charset="0"/>
                              </a:rPr>
                              <m:t>𝑤</m:t>
                            </m:r>
                            <m:r>
                              <a:rPr lang="en-AU" i="1">
                                <a:latin typeface="Cambria Math" panose="02040503050406030204" pitchFamily="18" charset="0"/>
                                <a:ea typeface="Cambria Math" panose="02040503050406030204" pitchFamily="18" charset="0"/>
                              </a:rPr>
                              <m:t>,</m:t>
                            </m:r>
                            <m:r>
                              <a:rPr lang="en-AU" i="1">
                                <a:latin typeface="Cambria Math" panose="02040503050406030204" pitchFamily="18" charset="0"/>
                                <a:ea typeface="Cambria Math" panose="02040503050406030204" pitchFamily="18" charset="0"/>
                              </a:rPr>
                              <m:t>𝑏</m:t>
                            </m:r>
                          </m:sub>
                        </m:sSub>
                        <m:d>
                          <m:dPr>
                            <m:ctrlPr>
                              <a:rPr lang="en-AU" i="1">
                                <a:latin typeface="Cambria Math" panose="02040503050406030204" pitchFamily="18" charset="0"/>
                                <a:ea typeface="Cambria Math" panose="02040503050406030204" pitchFamily="18" charset="0"/>
                              </a:rPr>
                            </m:ctrlPr>
                          </m:dPr>
                          <m:e>
                            <m:sSup>
                              <m:sSupPr>
                                <m:ctrlPr>
                                  <a:rPr lang="en-AU" i="1">
                                    <a:latin typeface="Cambria Math" panose="02040503050406030204" pitchFamily="18" charset="0"/>
                                    <a:ea typeface="Cambria Math" panose="02040503050406030204" pitchFamily="18" charset="0"/>
                                  </a:rPr>
                                </m:ctrlPr>
                              </m:sSupPr>
                              <m:e>
                                <m:r>
                                  <a:rPr lang="en-AU" i="1">
                                    <a:latin typeface="Cambria Math" panose="02040503050406030204" pitchFamily="18" charset="0"/>
                                    <a:ea typeface="Cambria Math" panose="02040503050406030204" pitchFamily="18" charset="0"/>
                                  </a:rPr>
                                  <m:t>𝑥</m:t>
                                </m:r>
                              </m:e>
                              <m:sup>
                                <m:r>
                                  <a:rPr lang="en-AU" i="1">
                                    <a:latin typeface="Cambria Math" panose="02040503050406030204" pitchFamily="18" charset="0"/>
                                    <a:ea typeface="Cambria Math" panose="02040503050406030204" pitchFamily="18" charset="0"/>
                                  </a:rPr>
                                  <m:t>𝑖</m:t>
                                </m:r>
                              </m:sup>
                            </m:sSup>
                          </m:e>
                        </m:d>
                        <m:r>
                          <a:rPr lang="en-AU" i="1">
                            <a:latin typeface="Cambria Math" panose="02040503050406030204" pitchFamily="18" charset="0"/>
                            <a:ea typeface="Cambria Math" panose="02040503050406030204" pitchFamily="18" charset="0"/>
                          </a:rPr>
                          <m:t>−</m:t>
                        </m:r>
                        <m:sSup>
                          <m:sSupPr>
                            <m:ctrlPr>
                              <a:rPr lang="en-AU" i="1">
                                <a:latin typeface="Cambria Math" panose="02040503050406030204" pitchFamily="18" charset="0"/>
                                <a:ea typeface="Cambria Math" panose="02040503050406030204" pitchFamily="18" charset="0"/>
                              </a:rPr>
                            </m:ctrlPr>
                          </m:sSupPr>
                          <m:e>
                            <m:r>
                              <a:rPr lang="en-AU" i="1">
                                <a:latin typeface="Cambria Math" panose="02040503050406030204" pitchFamily="18" charset="0"/>
                                <a:ea typeface="Cambria Math" panose="02040503050406030204" pitchFamily="18" charset="0"/>
                              </a:rPr>
                              <m:t>𝑦</m:t>
                            </m:r>
                          </m:e>
                          <m:sup>
                            <m:r>
                              <a:rPr lang="en-AU" i="1">
                                <a:latin typeface="Cambria Math" panose="02040503050406030204" pitchFamily="18" charset="0"/>
                                <a:ea typeface="Cambria Math" panose="02040503050406030204" pitchFamily="18" charset="0"/>
                              </a:rPr>
                              <m:t>𝑖</m:t>
                            </m:r>
                          </m:sup>
                        </m:sSup>
                      </m:e>
                    </m:d>
                  </m:oMath>
                </a14:m>
                <a:endParaRPr lang="en-AU" dirty="0">
                  <a:ea typeface="Cambria Math" panose="02040503050406030204" pitchFamily="18" charset="0"/>
                </a:endParaRPr>
              </a:p>
              <a:p>
                <a:pPr lvl="2"/>
                <a:r>
                  <a:rPr lang="en-AU" b="0" dirty="0"/>
                  <a:t>S1: compute loss</a:t>
                </a:r>
                <a:r>
                  <a:rPr lang="en-US" dirty="0">
                    <a:ea typeface="Cambria Math" panose="02040503050406030204" pitchFamily="18" charset="0"/>
                  </a:rPr>
                  <a:t> </a:t>
                </a:r>
                <a14:m>
                  <m:oMath xmlns:m="http://schemas.openxmlformats.org/officeDocument/2006/math">
                    <m:r>
                      <a:rPr lang="en-US" i="1">
                        <a:latin typeface="Cambria Math" panose="02040503050406030204" pitchFamily="18" charset="0"/>
                        <a:ea typeface="Cambria Math" panose="02040503050406030204" pitchFamily="18" charset="0"/>
                      </a:rPr>
                      <m:t>ℒ</m:t>
                    </m:r>
                  </m:oMath>
                </a14:m>
                <a:endParaRPr lang="en-AU" b="0" dirty="0"/>
              </a:p>
              <a:p>
                <a:pPr lvl="2"/>
                <a:r>
                  <a:rPr lang="en-AU" b="0" dirty="0"/>
                  <a:t>S2: compute </a:t>
                </a:r>
                <a14:m>
                  <m:oMath xmlns:m="http://schemas.openxmlformats.org/officeDocument/2006/math">
                    <m:f>
                      <m:fPr>
                        <m:ctrlPr>
                          <a:rPr lang="en-US" i="1">
                            <a:latin typeface="Cambria Math" panose="02040503050406030204" pitchFamily="18" charset="0"/>
                          </a:rPr>
                        </m:ctrlPr>
                      </m:fPr>
                      <m:num>
                        <m:r>
                          <a:rPr lang="en-US" i="1">
                            <a:latin typeface="Cambria Math" panose="02040503050406030204" pitchFamily="18" charset="0"/>
                          </a:rPr>
                          <m:t>𝜕</m:t>
                        </m:r>
                      </m:num>
                      <m:den>
                        <m:r>
                          <a:rPr lang="en-US" i="1">
                            <a:latin typeface="Cambria Math" panose="02040503050406030204" pitchFamily="18" charset="0"/>
                          </a:rPr>
                          <m:t>𝜕</m:t>
                        </m:r>
                        <m:r>
                          <a:rPr lang="en-AU" i="1">
                            <a:latin typeface="Cambria Math" panose="02040503050406030204" pitchFamily="18" charset="0"/>
                          </a:rPr>
                          <m:t>𝑤</m:t>
                        </m:r>
                      </m:den>
                    </m:f>
                    <m:r>
                      <a:rPr lang="en-US" i="1">
                        <a:latin typeface="Cambria Math" panose="02040503050406030204" pitchFamily="18" charset="0"/>
                        <a:ea typeface="Cambria Math" panose="02040503050406030204" pitchFamily="18" charset="0"/>
                      </a:rPr>
                      <m:t>ℒ</m:t>
                    </m:r>
                    <m:d>
                      <m:dPr>
                        <m:ctrlPr>
                          <a:rPr lang="en-AU" i="1">
                            <a:latin typeface="Cambria Math" panose="02040503050406030204" pitchFamily="18" charset="0"/>
                            <a:ea typeface="Cambria Math" panose="02040503050406030204" pitchFamily="18" charset="0"/>
                          </a:rPr>
                        </m:ctrlPr>
                      </m:dPr>
                      <m:e>
                        <m:r>
                          <a:rPr lang="en-AU" i="1">
                            <a:latin typeface="Cambria Math" panose="02040503050406030204" pitchFamily="18" charset="0"/>
                            <a:ea typeface="Cambria Math" panose="02040503050406030204" pitchFamily="18" charset="0"/>
                          </a:rPr>
                          <m:t>𝑤</m:t>
                        </m:r>
                        <m:r>
                          <a:rPr lang="en-AU" i="1">
                            <a:latin typeface="Cambria Math" panose="02040503050406030204" pitchFamily="18" charset="0"/>
                            <a:ea typeface="Cambria Math" panose="02040503050406030204" pitchFamily="18" charset="0"/>
                          </a:rPr>
                          <m:t>,</m:t>
                        </m:r>
                        <m:r>
                          <a:rPr lang="en-AU" i="1">
                            <a:latin typeface="Cambria Math" panose="02040503050406030204" pitchFamily="18" charset="0"/>
                            <a:ea typeface="Cambria Math" panose="02040503050406030204" pitchFamily="18" charset="0"/>
                          </a:rPr>
                          <m:t>𝑏</m:t>
                        </m:r>
                      </m:e>
                    </m:d>
                    <m:r>
                      <a:rPr lang="en-AU" b="0" i="1" smtClean="0">
                        <a:latin typeface="Cambria Math" panose="02040503050406030204" pitchFamily="18" charset="0"/>
                        <a:ea typeface="Cambria Math" panose="02040503050406030204" pitchFamily="18" charset="0"/>
                      </a:rPr>
                      <m:t>=</m:t>
                    </m:r>
                    <m:d>
                      <m:dPr>
                        <m:ctrlPr>
                          <a:rPr lang="en-AU" i="1">
                            <a:latin typeface="Cambria Math" panose="02040503050406030204" pitchFamily="18" charset="0"/>
                            <a:ea typeface="Cambria Math" panose="02040503050406030204" pitchFamily="18" charset="0"/>
                          </a:rPr>
                        </m:ctrlPr>
                      </m:dPr>
                      <m:e>
                        <m:sSub>
                          <m:sSubPr>
                            <m:ctrlPr>
                              <a:rPr lang="en-AU" i="1">
                                <a:latin typeface="Cambria Math" panose="02040503050406030204" pitchFamily="18" charset="0"/>
                                <a:ea typeface="Cambria Math" panose="02040503050406030204" pitchFamily="18" charset="0"/>
                              </a:rPr>
                            </m:ctrlPr>
                          </m:sSubPr>
                          <m:e>
                            <m:r>
                              <a:rPr lang="en-AU" i="1">
                                <a:latin typeface="Cambria Math" panose="02040503050406030204" pitchFamily="18" charset="0"/>
                                <a:ea typeface="Cambria Math" panose="02040503050406030204" pitchFamily="18" charset="0"/>
                              </a:rPr>
                              <m:t>𝑓</m:t>
                            </m:r>
                          </m:e>
                          <m:sub>
                            <m:r>
                              <a:rPr lang="en-AU" i="1">
                                <a:latin typeface="Cambria Math" panose="02040503050406030204" pitchFamily="18" charset="0"/>
                                <a:ea typeface="Cambria Math" panose="02040503050406030204" pitchFamily="18" charset="0"/>
                              </a:rPr>
                              <m:t>𝑤</m:t>
                            </m:r>
                            <m:r>
                              <a:rPr lang="en-AU" i="1">
                                <a:latin typeface="Cambria Math" panose="02040503050406030204" pitchFamily="18" charset="0"/>
                                <a:ea typeface="Cambria Math" panose="02040503050406030204" pitchFamily="18" charset="0"/>
                              </a:rPr>
                              <m:t>,</m:t>
                            </m:r>
                            <m:r>
                              <a:rPr lang="en-AU" i="1">
                                <a:latin typeface="Cambria Math" panose="02040503050406030204" pitchFamily="18" charset="0"/>
                                <a:ea typeface="Cambria Math" panose="02040503050406030204" pitchFamily="18" charset="0"/>
                              </a:rPr>
                              <m:t>𝑏</m:t>
                            </m:r>
                          </m:sub>
                        </m:sSub>
                        <m:d>
                          <m:dPr>
                            <m:ctrlPr>
                              <a:rPr lang="en-AU" i="1">
                                <a:latin typeface="Cambria Math" panose="02040503050406030204" pitchFamily="18" charset="0"/>
                                <a:ea typeface="Cambria Math" panose="02040503050406030204" pitchFamily="18" charset="0"/>
                              </a:rPr>
                            </m:ctrlPr>
                          </m:dPr>
                          <m:e>
                            <m:sSup>
                              <m:sSupPr>
                                <m:ctrlPr>
                                  <a:rPr lang="en-AU" i="1">
                                    <a:latin typeface="Cambria Math" panose="02040503050406030204" pitchFamily="18" charset="0"/>
                                    <a:ea typeface="Cambria Math" panose="02040503050406030204" pitchFamily="18" charset="0"/>
                                  </a:rPr>
                                </m:ctrlPr>
                              </m:sSupPr>
                              <m:e>
                                <m:r>
                                  <a:rPr lang="en-AU" i="1">
                                    <a:latin typeface="Cambria Math" panose="02040503050406030204" pitchFamily="18" charset="0"/>
                                    <a:ea typeface="Cambria Math" panose="02040503050406030204" pitchFamily="18" charset="0"/>
                                  </a:rPr>
                                  <m:t>𝑥</m:t>
                                </m:r>
                              </m:e>
                              <m:sup>
                                <m:r>
                                  <a:rPr lang="en-AU" i="1">
                                    <a:latin typeface="Cambria Math" panose="02040503050406030204" pitchFamily="18" charset="0"/>
                                    <a:ea typeface="Cambria Math" panose="02040503050406030204" pitchFamily="18" charset="0"/>
                                  </a:rPr>
                                  <m:t>𝑖</m:t>
                                </m:r>
                              </m:sup>
                            </m:sSup>
                          </m:e>
                        </m:d>
                        <m:r>
                          <a:rPr lang="en-AU" i="1">
                            <a:latin typeface="Cambria Math" panose="02040503050406030204" pitchFamily="18" charset="0"/>
                            <a:ea typeface="Cambria Math" panose="02040503050406030204" pitchFamily="18" charset="0"/>
                          </a:rPr>
                          <m:t>−</m:t>
                        </m:r>
                        <m:sSup>
                          <m:sSupPr>
                            <m:ctrlPr>
                              <a:rPr lang="en-AU" i="1">
                                <a:latin typeface="Cambria Math" panose="02040503050406030204" pitchFamily="18" charset="0"/>
                                <a:ea typeface="Cambria Math" panose="02040503050406030204" pitchFamily="18" charset="0"/>
                              </a:rPr>
                            </m:ctrlPr>
                          </m:sSupPr>
                          <m:e>
                            <m:r>
                              <a:rPr lang="en-AU" i="1">
                                <a:latin typeface="Cambria Math" panose="02040503050406030204" pitchFamily="18" charset="0"/>
                                <a:ea typeface="Cambria Math" panose="02040503050406030204" pitchFamily="18" charset="0"/>
                              </a:rPr>
                              <m:t>𝑦</m:t>
                            </m:r>
                          </m:e>
                          <m:sup>
                            <m:r>
                              <a:rPr lang="en-AU" i="1">
                                <a:latin typeface="Cambria Math" panose="02040503050406030204" pitchFamily="18" charset="0"/>
                                <a:ea typeface="Cambria Math" panose="02040503050406030204" pitchFamily="18" charset="0"/>
                              </a:rPr>
                              <m:t>𝑖</m:t>
                            </m:r>
                          </m:sup>
                        </m:sSup>
                      </m:e>
                    </m:d>
                    <m:r>
                      <a:rPr lang="en-AU" i="1">
                        <a:latin typeface="Cambria Math" panose="02040503050406030204" pitchFamily="18" charset="0"/>
                        <a:ea typeface="Cambria Math" panose="02040503050406030204" pitchFamily="18" charset="0"/>
                      </a:rPr>
                      <m:t>∗</m:t>
                    </m:r>
                    <m:sSup>
                      <m:sSupPr>
                        <m:ctrlPr>
                          <a:rPr lang="en-AU" i="1">
                            <a:latin typeface="Cambria Math" panose="02040503050406030204" pitchFamily="18" charset="0"/>
                            <a:ea typeface="Cambria Math" panose="02040503050406030204" pitchFamily="18" charset="0"/>
                          </a:rPr>
                        </m:ctrlPr>
                      </m:sSupPr>
                      <m:e>
                        <m:r>
                          <a:rPr lang="en-AU" i="1">
                            <a:latin typeface="Cambria Math" panose="02040503050406030204" pitchFamily="18" charset="0"/>
                            <a:ea typeface="Cambria Math" panose="02040503050406030204" pitchFamily="18" charset="0"/>
                          </a:rPr>
                          <m:t>𝑥</m:t>
                        </m:r>
                      </m:e>
                      <m:sup>
                        <m:r>
                          <a:rPr lang="en-AU" i="1">
                            <a:latin typeface="Cambria Math" panose="02040503050406030204" pitchFamily="18" charset="0"/>
                            <a:ea typeface="Cambria Math" panose="02040503050406030204" pitchFamily="18" charset="0"/>
                          </a:rPr>
                          <m:t>𝑖</m:t>
                        </m:r>
                      </m:sup>
                    </m:sSup>
                  </m:oMath>
                </a14:m>
                <a:endParaRPr lang="en-AU" b="0" dirty="0"/>
              </a:p>
              <a:p>
                <a:pPr lvl="2"/>
                <a:r>
                  <a:rPr lang="en-AU" b="0" dirty="0"/>
                  <a:t>S3: </a:t>
                </a:r>
                <a:r>
                  <a:rPr lang="en-AU" dirty="0"/>
                  <a:t>compute </a:t>
                </a:r>
                <a14:m>
                  <m:oMath xmlns:m="http://schemas.openxmlformats.org/officeDocument/2006/math">
                    <m:f>
                      <m:fPr>
                        <m:ctrlPr>
                          <a:rPr lang="en-US" i="1">
                            <a:latin typeface="Cambria Math" panose="02040503050406030204" pitchFamily="18" charset="0"/>
                          </a:rPr>
                        </m:ctrlPr>
                      </m:fPr>
                      <m:num>
                        <m:r>
                          <a:rPr lang="en-US" i="1">
                            <a:latin typeface="Cambria Math" panose="02040503050406030204" pitchFamily="18" charset="0"/>
                          </a:rPr>
                          <m:t>𝜕</m:t>
                        </m:r>
                      </m:num>
                      <m:den>
                        <m:r>
                          <a:rPr lang="en-US" i="1">
                            <a:latin typeface="Cambria Math" panose="02040503050406030204" pitchFamily="18" charset="0"/>
                          </a:rPr>
                          <m:t>𝜕</m:t>
                        </m:r>
                        <m:r>
                          <a:rPr lang="en-AU" i="1">
                            <a:latin typeface="Cambria Math" panose="02040503050406030204" pitchFamily="18" charset="0"/>
                          </a:rPr>
                          <m:t>𝑤</m:t>
                        </m:r>
                      </m:den>
                    </m:f>
                    <m:r>
                      <a:rPr lang="en-US" i="1">
                        <a:latin typeface="Cambria Math" panose="02040503050406030204" pitchFamily="18" charset="0"/>
                        <a:ea typeface="Cambria Math" panose="02040503050406030204" pitchFamily="18" charset="0"/>
                      </a:rPr>
                      <m:t>ℒ</m:t>
                    </m:r>
                    <m:d>
                      <m:dPr>
                        <m:ctrlPr>
                          <a:rPr lang="en-AU" i="1">
                            <a:latin typeface="Cambria Math" panose="02040503050406030204" pitchFamily="18" charset="0"/>
                            <a:ea typeface="Cambria Math" panose="02040503050406030204" pitchFamily="18" charset="0"/>
                          </a:rPr>
                        </m:ctrlPr>
                      </m:dPr>
                      <m:e>
                        <m:r>
                          <a:rPr lang="en-AU" i="1">
                            <a:latin typeface="Cambria Math" panose="02040503050406030204" pitchFamily="18" charset="0"/>
                            <a:ea typeface="Cambria Math" panose="02040503050406030204" pitchFamily="18" charset="0"/>
                          </a:rPr>
                          <m:t>𝑤</m:t>
                        </m:r>
                        <m:r>
                          <a:rPr lang="en-AU" i="1">
                            <a:latin typeface="Cambria Math" panose="02040503050406030204" pitchFamily="18" charset="0"/>
                            <a:ea typeface="Cambria Math" panose="02040503050406030204" pitchFamily="18" charset="0"/>
                          </a:rPr>
                          <m:t>,</m:t>
                        </m:r>
                        <m:r>
                          <a:rPr lang="en-AU" i="1">
                            <a:latin typeface="Cambria Math" panose="02040503050406030204" pitchFamily="18" charset="0"/>
                            <a:ea typeface="Cambria Math" panose="02040503050406030204" pitchFamily="18" charset="0"/>
                          </a:rPr>
                          <m:t>𝑏</m:t>
                        </m:r>
                      </m:e>
                    </m:d>
                    <m:r>
                      <a:rPr lang="en-AU" b="0" i="1" smtClean="0">
                        <a:latin typeface="Cambria Math" panose="02040503050406030204" pitchFamily="18" charset="0"/>
                        <a:ea typeface="Cambria Math" panose="02040503050406030204" pitchFamily="18" charset="0"/>
                      </a:rPr>
                      <m:t>=</m:t>
                    </m:r>
                    <m:d>
                      <m:dPr>
                        <m:ctrlPr>
                          <a:rPr lang="en-AU" i="1">
                            <a:latin typeface="Cambria Math" panose="02040503050406030204" pitchFamily="18" charset="0"/>
                            <a:ea typeface="Cambria Math" panose="02040503050406030204" pitchFamily="18" charset="0"/>
                          </a:rPr>
                        </m:ctrlPr>
                      </m:dPr>
                      <m:e>
                        <m:sSub>
                          <m:sSubPr>
                            <m:ctrlPr>
                              <a:rPr lang="en-AU" i="1">
                                <a:latin typeface="Cambria Math" panose="02040503050406030204" pitchFamily="18" charset="0"/>
                                <a:ea typeface="Cambria Math" panose="02040503050406030204" pitchFamily="18" charset="0"/>
                              </a:rPr>
                            </m:ctrlPr>
                          </m:sSubPr>
                          <m:e>
                            <m:r>
                              <a:rPr lang="en-AU" i="1">
                                <a:latin typeface="Cambria Math" panose="02040503050406030204" pitchFamily="18" charset="0"/>
                                <a:ea typeface="Cambria Math" panose="02040503050406030204" pitchFamily="18" charset="0"/>
                              </a:rPr>
                              <m:t>𝑓</m:t>
                            </m:r>
                          </m:e>
                          <m:sub>
                            <m:r>
                              <a:rPr lang="en-AU" i="1">
                                <a:latin typeface="Cambria Math" panose="02040503050406030204" pitchFamily="18" charset="0"/>
                                <a:ea typeface="Cambria Math" panose="02040503050406030204" pitchFamily="18" charset="0"/>
                              </a:rPr>
                              <m:t>𝑤</m:t>
                            </m:r>
                            <m:r>
                              <a:rPr lang="en-AU" i="1">
                                <a:latin typeface="Cambria Math" panose="02040503050406030204" pitchFamily="18" charset="0"/>
                                <a:ea typeface="Cambria Math" panose="02040503050406030204" pitchFamily="18" charset="0"/>
                              </a:rPr>
                              <m:t>,</m:t>
                            </m:r>
                            <m:r>
                              <a:rPr lang="en-AU" i="1">
                                <a:latin typeface="Cambria Math" panose="02040503050406030204" pitchFamily="18" charset="0"/>
                                <a:ea typeface="Cambria Math" panose="02040503050406030204" pitchFamily="18" charset="0"/>
                              </a:rPr>
                              <m:t>𝑏</m:t>
                            </m:r>
                          </m:sub>
                        </m:sSub>
                        <m:d>
                          <m:dPr>
                            <m:ctrlPr>
                              <a:rPr lang="en-AU" i="1">
                                <a:latin typeface="Cambria Math" panose="02040503050406030204" pitchFamily="18" charset="0"/>
                                <a:ea typeface="Cambria Math" panose="02040503050406030204" pitchFamily="18" charset="0"/>
                              </a:rPr>
                            </m:ctrlPr>
                          </m:dPr>
                          <m:e>
                            <m:sSup>
                              <m:sSupPr>
                                <m:ctrlPr>
                                  <a:rPr lang="en-AU" i="1">
                                    <a:latin typeface="Cambria Math" panose="02040503050406030204" pitchFamily="18" charset="0"/>
                                    <a:ea typeface="Cambria Math" panose="02040503050406030204" pitchFamily="18" charset="0"/>
                                  </a:rPr>
                                </m:ctrlPr>
                              </m:sSupPr>
                              <m:e>
                                <m:r>
                                  <a:rPr lang="en-AU" i="1">
                                    <a:latin typeface="Cambria Math" panose="02040503050406030204" pitchFamily="18" charset="0"/>
                                    <a:ea typeface="Cambria Math" panose="02040503050406030204" pitchFamily="18" charset="0"/>
                                  </a:rPr>
                                  <m:t>𝑥</m:t>
                                </m:r>
                              </m:e>
                              <m:sup>
                                <m:r>
                                  <a:rPr lang="en-AU" i="1">
                                    <a:latin typeface="Cambria Math" panose="02040503050406030204" pitchFamily="18" charset="0"/>
                                    <a:ea typeface="Cambria Math" panose="02040503050406030204" pitchFamily="18" charset="0"/>
                                  </a:rPr>
                                  <m:t>𝑖</m:t>
                                </m:r>
                              </m:sup>
                            </m:sSup>
                          </m:e>
                        </m:d>
                        <m:r>
                          <a:rPr lang="en-AU" i="1">
                            <a:latin typeface="Cambria Math" panose="02040503050406030204" pitchFamily="18" charset="0"/>
                            <a:ea typeface="Cambria Math" panose="02040503050406030204" pitchFamily="18" charset="0"/>
                          </a:rPr>
                          <m:t>−</m:t>
                        </m:r>
                        <m:sSup>
                          <m:sSupPr>
                            <m:ctrlPr>
                              <a:rPr lang="en-AU" i="1">
                                <a:latin typeface="Cambria Math" panose="02040503050406030204" pitchFamily="18" charset="0"/>
                                <a:ea typeface="Cambria Math" panose="02040503050406030204" pitchFamily="18" charset="0"/>
                              </a:rPr>
                            </m:ctrlPr>
                          </m:sSupPr>
                          <m:e>
                            <m:r>
                              <a:rPr lang="en-AU" i="1">
                                <a:latin typeface="Cambria Math" panose="02040503050406030204" pitchFamily="18" charset="0"/>
                                <a:ea typeface="Cambria Math" panose="02040503050406030204" pitchFamily="18" charset="0"/>
                              </a:rPr>
                              <m:t>𝑦</m:t>
                            </m:r>
                          </m:e>
                          <m:sup>
                            <m:r>
                              <a:rPr lang="en-AU" i="1">
                                <a:latin typeface="Cambria Math" panose="02040503050406030204" pitchFamily="18" charset="0"/>
                                <a:ea typeface="Cambria Math" panose="02040503050406030204" pitchFamily="18" charset="0"/>
                              </a:rPr>
                              <m:t>𝑖</m:t>
                            </m:r>
                          </m:sup>
                        </m:sSup>
                      </m:e>
                    </m:d>
                  </m:oMath>
                </a14:m>
                <a:endParaRPr lang="en-AU" dirty="0">
                  <a:ea typeface="Cambria Math" panose="02040503050406030204" pitchFamily="18" charset="0"/>
                </a:endParaRPr>
              </a:p>
              <a:p>
                <a:pPr lvl="2"/>
                <a:r>
                  <a:rPr lang="en-AU" dirty="0"/>
                  <a:t>S4: update </a:t>
                </a:r>
                <a14:m>
                  <m:oMath xmlns:m="http://schemas.openxmlformats.org/officeDocument/2006/math">
                    <m:r>
                      <a:rPr lang="en-AU" i="1">
                        <a:latin typeface="Cambria Math" panose="02040503050406030204" pitchFamily="18" charset="0"/>
                      </a:rPr>
                      <m:t>𝑤</m:t>
                    </m:r>
                    <m:r>
                      <a:rPr lang="en-AU" i="1">
                        <a:latin typeface="Cambria Math" panose="02040503050406030204" pitchFamily="18" charset="0"/>
                      </a:rPr>
                      <m:t>=</m:t>
                    </m:r>
                    <m:r>
                      <a:rPr lang="en-AU" i="1">
                        <a:latin typeface="Cambria Math" panose="02040503050406030204" pitchFamily="18" charset="0"/>
                      </a:rPr>
                      <m:t>𝑤</m:t>
                    </m:r>
                    <m:r>
                      <a:rPr lang="en-AU" i="1">
                        <a:latin typeface="Cambria Math" panose="02040503050406030204" pitchFamily="18" charset="0"/>
                      </a:rPr>
                      <m:t>−</m:t>
                    </m:r>
                    <m:r>
                      <a:rPr lang="en-AU" i="1">
                        <a:latin typeface="Cambria Math" panose="02040503050406030204" pitchFamily="18" charset="0"/>
                      </a:rPr>
                      <m:t>𝛼</m:t>
                    </m:r>
                  </m:oMath>
                </a14:m>
                <a:r>
                  <a:rPr lang="en-US" dirty="0"/>
                  <a:t> </a:t>
                </a:r>
                <a14:m>
                  <m:oMath xmlns:m="http://schemas.openxmlformats.org/officeDocument/2006/math">
                    <m:f>
                      <m:fPr>
                        <m:ctrlPr>
                          <a:rPr lang="en-US" i="1">
                            <a:latin typeface="Cambria Math" panose="02040503050406030204" pitchFamily="18" charset="0"/>
                          </a:rPr>
                        </m:ctrlPr>
                      </m:fPr>
                      <m:num>
                        <m:r>
                          <a:rPr lang="en-US" i="1">
                            <a:latin typeface="Cambria Math" panose="02040503050406030204" pitchFamily="18" charset="0"/>
                          </a:rPr>
                          <m:t>𝜕</m:t>
                        </m:r>
                      </m:num>
                      <m:den>
                        <m:r>
                          <a:rPr lang="en-US" i="1">
                            <a:latin typeface="Cambria Math" panose="02040503050406030204" pitchFamily="18" charset="0"/>
                          </a:rPr>
                          <m:t>𝜕</m:t>
                        </m:r>
                        <m:r>
                          <a:rPr lang="en-AU" i="1">
                            <a:latin typeface="Cambria Math" panose="02040503050406030204" pitchFamily="18" charset="0"/>
                          </a:rPr>
                          <m:t>𝑤</m:t>
                        </m:r>
                      </m:den>
                    </m:f>
                    <m:r>
                      <a:rPr lang="en-US" i="1">
                        <a:latin typeface="Cambria Math" panose="02040503050406030204" pitchFamily="18" charset="0"/>
                        <a:ea typeface="Cambria Math" panose="02040503050406030204" pitchFamily="18" charset="0"/>
                      </a:rPr>
                      <m:t>ℒ</m:t>
                    </m:r>
                    <m:d>
                      <m:dPr>
                        <m:ctrlPr>
                          <a:rPr lang="en-AU" i="1">
                            <a:latin typeface="Cambria Math" panose="02040503050406030204" pitchFamily="18" charset="0"/>
                            <a:ea typeface="Cambria Math" panose="02040503050406030204" pitchFamily="18" charset="0"/>
                          </a:rPr>
                        </m:ctrlPr>
                      </m:dPr>
                      <m:e>
                        <m:r>
                          <a:rPr lang="en-AU" i="1">
                            <a:latin typeface="Cambria Math" panose="02040503050406030204" pitchFamily="18" charset="0"/>
                            <a:ea typeface="Cambria Math" panose="02040503050406030204" pitchFamily="18" charset="0"/>
                          </a:rPr>
                          <m:t>𝑤</m:t>
                        </m:r>
                        <m:r>
                          <a:rPr lang="en-AU" i="1">
                            <a:latin typeface="Cambria Math" panose="02040503050406030204" pitchFamily="18" charset="0"/>
                            <a:ea typeface="Cambria Math" panose="02040503050406030204" pitchFamily="18" charset="0"/>
                          </a:rPr>
                          <m:t>,</m:t>
                        </m:r>
                        <m:r>
                          <a:rPr lang="en-AU" i="1">
                            <a:latin typeface="Cambria Math" panose="02040503050406030204" pitchFamily="18" charset="0"/>
                            <a:ea typeface="Cambria Math" panose="02040503050406030204" pitchFamily="18" charset="0"/>
                          </a:rPr>
                          <m:t>𝑏</m:t>
                        </m:r>
                      </m:e>
                    </m:d>
                  </m:oMath>
                </a14:m>
                <a:endParaRPr lang="en-AU" dirty="0">
                  <a:ea typeface="Cambria Math" panose="02040503050406030204" pitchFamily="18" charset="0"/>
                </a:endParaRPr>
              </a:p>
              <a:p>
                <a:pPr lvl="2"/>
                <a:r>
                  <a:rPr lang="en-AU" dirty="0"/>
                  <a:t>S5: update </a:t>
                </a:r>
                <a14:m>
                  <m:oMath xmlns:m="http://schemas.openxmlformats.org/officeDocument/2006/math">
                    <m:r>
                      <a:rPr lang="en-AU" b="0" i="1" smtClean="0">
                        <a:latin typeface="Cambria Math" panose="02040503050406030204" pitchFamily="18" charset="0"/>
                      </a:rPr>
                      <m:t>𝑏</m:t>
                    </m:r>
                    <m:r>
                      <a:rPr lang="en-AU" i="1">
                        <a:latin typeface="Cambria Math" panose="02040503050406030204" pitchFamily="18" charset="0"/>
                      </a:rPr>
                      <m:t>=</m:t>
                    </m:r>
                    <m:r>
                      <a:rPr lang="en-AU" i="1">
                        <a:latin typeface="Cambria Math" panose="02040503050406030204" pitchFamily="18" charset="0"/>
                      </a:rPr>
                      <m:t>𝑤</m:t>
                    </m:r>
                    <m:r>
                      <a:rPr lang="en-AU" i="1">
                        <a:latin typeface="Cambria Math" panose="02040503050406030204" pitchFamily="18" charset="0"/>
                      </a:rPr>
                      <m:t>−</m:t>
                    </m:r>
                    <m:r>
                      <a:rPr lang="en-AU" i="1">
                        <a:latin typeface="Cambria Math" panose="02040503050406030204" pitchFamily="18" charset="0"/>
                      </a:rPr>
                      <m:t>𝛼</m:t>
                    </m:r>
                  </m:oMath>
                </a14:m>
                <a:r>
                  <a:rPr lang="en-US" dirty="0"/>
                  <a:t> </a:t>
                </a:r>
                <a14:m>
                  <m:oMath xmlns:m="http://schemas.openxmlformats.org/officeDocument/2006/math">
                    <m:f>
                      <m:fPr>
                        <m:ctrlPr>
                          <a:rPr lang="en-US" i="1">
                            <a:latin typeface="Cambria Math" panose="02040503050406030204" pitchFamily="18" charset="0"/>
                          </a:rPr>
                        </m:ctrlPr>
                      </m:fPr>
                      <m:num>
                        <m:r>
                          <a:rPr lang="en-US" i="1">
                            <a:latin typeface="Cambria Math" panose="02040503050406030204" pitchFamily="18" charset="0"/>
                          </a:rPr>
                          <m:t>𝜕</m:t>
                        </m:r>
                      </m:num>
                      <m:den>
                        <m:r>
                          <a:rPr lang="en-US" i="1">
                            <a:latin typeface="Cambria Math" panose="02040503050406030204" pitchFamily="18" charset="0"/>
                          </a:rPr>
                          <m:t>𝜕</m:t>
                        </m:r>
                        <m:r>
                          <a:rPr lang="en-AU" b="0" i="1" smtClean="0">
                            <a:latin typeface="Cambria Math" panose="02040503050406030204" pitchFamily="18" charset="0"/>
                          </a:rPr>
                          <m:t>𝑏</m:t>
                        </m:r>
                      </m:den>
                    </m:f>
                    <m:r>
                      <a:rPr lang="en-US" i="1">
                        <a:latin typeface="Cambria Math" panose="02040503050406030204" pitchFamily="18" charset="0"/>
                        <a:ea typeface="Cambria Math" panose="02040503050406030204" pitchFamily="18" charset="0"/>
                      </a:rPr>
                      <m:t>ℒ</m:t>
                    </m:r>
                    <m:d>
                      <m:dPr>
                        <m:ctrlPr>
                          <a:rPr lang="en-AU" i="1">
                            <a:latin typeface="Cambria Math" panose="02040503050406030204" pitchFamily="18" charset="0"/>
                            <a:ea typeface="Cambria Math" panose="02040503050406030204" pitchFamily="18" charset="0"/>
                          </a:rPr>
                        </m:ctrlPr>
                      </m:dPr>
                      <m:e>
                        <m:r>
                          <a:rPr lang="en-AU" i="1">
                            <a:latin typeface="Cambria Math" panose="02040503050406030204" pitchFamily="18" charset="0"/>
                            <a:ea typeface="Cambria Math" panose="02040503050406030204" pitchFamily="18" charset="0"/>
                          </a:rPr>
                          <m:t>𝑤</m:t>
                        </m:r>
                        <m:r>
                          <a:rPr lang="en-AU" i="1">
                            <a:latin typeface="Cambria Math" panose="02040503050406030204" pitchFamily="18" charset="0"/>
                            <a:ea typeface="Cambria Math" panose="02040503050406030204" pitchFamily="18" charset="0"/>
                          </a:rPr>
                          <m:t>,</m:t>
                        </m:r>
                        <m:r>
                          <a:rPr lang="en-AU" i="1">
                            <a:latin typeface="Cambria Math" panose="02040503050406030204" pitchFamily="18" charset="0"/>
                            <a:ea typeface="Cambria Math" panose="02040503050406030204" pitchFamily="18" charset="0"/>
                          </a:rPr>
                          <m:t>𝑏</m:t>
                        </m:r>
                      </m:e>
                    </m:d>
                  </m:oMath>
                </a14:m>
                <a:endParaRPr lang="en-AU" dirty="0">
                  <a:ea typeface="Cambria Math" panose="02040503050406030204" pitchFamily="18" charset="0"/>
                </a:endParaRPr>
              </a:p>
            </p:txBody>
          </p:sp>
        </mc:Choice>
        <mc:Fallback>
          <p:sp>
            <p:nvSpPr>
              <p:cNvPr id="3" name="Content Placeholder 2">
                <a:extLst>
                  <a:ext uri="{FF2B5EF4-FFF2-40B4-BE49-F238E27FC236}">
                    <a16:creationId xmlns:a16="http://schemas.microsoft.com/office/drawing/2014/main" id="{CE64487D-CEFD-EAE5-BB37-D31E8BA61B68}"/>
                  </a:ext>
                </a:extLst>
              </p:cNvPr>
              <p:cNvSpPr>
                <a:spLocks noGrp="1" noRot="1" noChangeAspect="1" noMove="1" noResize="1" noEditPoints="1" noAdjustHandles="1" noChangeArrowheads="1" noChangeShapeType="1" noTextEdit="1"/>
              </p:cNvSpPr>
              <p:nvPr>
                <p:ph idx="1"/>
              </p:nvPr>
            </p:nvSpPr>
            <p:spPr>
              <a:xfrm>
                <a:off x="838200" y="1825625"/>
                <a:ext cx="7214419" cy="4351338"/>
              </a:xfrm>
              <a:blipFill>
                <a:blip r:embed="rId2"/>
                <a:stretch>
                  <a:fillRect l="-1406" t="-2616"/>
                </a:stretch>
              </a:blipFill>
            </p:spPr>
            <p:txBody>
              <a:bodyPr/>
              <a:lstStyle/>
              <a:p>
                <a:r>
                  <a:rPr lang="en-US">
                    <a:noFill/>
                  </a:rPr>
                  <a:t> </a:t>
                </a:r>
              </a:p>
            </p:txBody>
          </p:sp>
        </mc:Fallback>
      </mc:AlternateContent>
      <mc:AlternateContent xmlns:mc="http://schemas.openxmlformats.org/markup-compatibility/2006">
        <mc:Choice xmlns:a14="http://schemas.microsoft.com/office/drawing/2010/main" Requires="a14">
          <p:sp>
            <p:nvSpPr>
              <p:cNvPr id="4" name="TextBox 3">
                <a:extLst>
                  <a:ext uri="{FF2B5EF4-FFF2-40B4-BE49-F238E27FC236}">
                    <a16:creationId xmlns:a16="http://schemas.microsoft.com/office/drawing/2014/main" id="{4A367668-90AF-048D-AAE0-6F3427D511AD}"/>
                  </a:ext>
                </a:extLst>
              </p:cNvPr>
              <p:cNvSpPr txBox="1"/>
              <p:nvPr/>
            </p:nvSpPr>
            <p:spPr>
              <a:xfrm>
                <a:off x="7565254" y="2454043"/>
                <a:ext cx="4422727" cy="3094501"/>
              </a:xfrm>
              <a:prstGeom prst="rect">
                <a:avLst/>
              </a:prstGeom>
              <a:noFill/>
            </p:spPr>
            <p:txBody>
              <a:bodyPr wrap="square" rtlCol="0">
                <a:spAutoFit/>
              </a:bodyPr>
              <a:lstStyle/>
              <a:p>
                <a:r>
                  <a:rPr lang="en-US" sz="2400" b="1" dirty="0">
                    <a:solidFill>
                      <a:srgbClr val="FF0000"/>
                    </a:solidFill>
                  </a:rPr>
                  <a:t>Simultaneous update of the parameters</a:t>
                </a:r>
              </a:p>
              <a:p>
                <a:pPr marL="342900" indent="-342900">
                  <a:buFontTx/>
                  <a:buChar char="-"/>
                </a:pPr>
                <a:r>
                  <a:rPr lang="en-US" sz="2400" dirty="0">
                    <a:solidFill>
                      <a:srgbClr val="FF0000"/>
                    </a:solidFill>
                  </a:rPr>
                  <a:t>The sequence S2, S3, S4, S5 is important</a:t>
                </a:r>
              </a:p>
              <a:p>
                <a:pPr marL="342900" indent="-342900">
                  <a:buFontTx/>
                  <a:buChar char="-"/>
                </a:pPr>
                <a:r>
                  <a:rPr lang="en-US" sz="2400" dirty="0">
                    <a:solidFill>
                      <a:srgbClr val="FF0000"/>
                    </a:solidFill>
                  </a:rPr>
                  <a:t>If we do S4 after S2, then </a:t>
                </a:r>
                <a14:m>
                  <m:oMath xmlns:m="http://schemas.openxmlformats.org/officeDocument/2006/math">
                    <m:sSub>
                      <m:sSubPr>
                        <m:ctrlPr>
                          <a:rPr lang="en-AU" sz="2400" i="1">
                            <a:latin typeface="Cambria Math" panose="02040503050406030204" pitchFamily="18" charset="0"/>
                            <a:ea typeface="Cambria Math" panose="02040503050406030204" pitchFamily="18" charset="0"/>
                          </a:rPr>
                        </m:ctrlPr>
                      </m:sSubPr>
                      <m:e>
                        <m:r>
                          <a:rPr lang="en-AU" sz="2400" i="1">
                            <a:latin typeface="Cambria Math" panose="02040503050406030204" pitchFamily="18" charset="0"/>
                            <a:ea typeface="Cambria Math" panose="02040503050406030204" pitchFamily="18" charset="0"/>
                          </a:rPr>
                          <m:t>𝑓</m:t>
                        </m:r>
                      </m:e>
                      <m:sub>
                        <m:r>
                          <a:rPr lang="en-AU" sz="2400" i="1">
                            <a:latin typeface="Cambria Math" panose="02040503050406030204" pitchFamily="18" charset="0"/>
                            <a:ea typeface="Cambria Math" panose="02040503050406030204" pitchFamily="18" charset="0"/>
                          </a:rPr>
                          <m:t>𝑤</m:t>
                        </m:r>
                        <m:r>
                          <a:rPr lang="en-AU" sz="2400" i="1">
                            <a:latin typeface="Cambria Math" panose="02040503050406030204" pitchFamily="18" charset="0"/>
                            <a:ea typeface="Cambria Math" panose="02040503050406030204" pitchFamily="18" charset="0"/>
                          </a:rPr>
                          <m:t>,</m:t>
                        </m:r>
                        <m:r>
                          <a:rPr lang="en-AU" sz="2400" i="1">
                            <a:latin typeface="Cambria Math" panose="02040503050406030204" pitchFamily="18" charset="0"/>
                            <a:ea typeface="Cambria Math" panose="02040503050406030204" pitchFamily="18" charset="0"/>
                          </a:rPr>
                          <m:t>𝑏</m:t>
                        </m:r>
                      </m:sub>
                    </m:sSub>
                    <m:d>
                      <m:dPr>
                        <m:ctrlPr>
                          <a:rPr lang="en-AU" sz="2400" i="1">
                            <a:latin typeface="Cambria Math" panose="02040503050406030204" pitchFamily="18" charset="0"/>
                            <a:ea typeface="Cambria Math" panose="02040503050406030204" pitchFamily="18" charset="0"/>
                          </a:rPr>
                        </m:ctrlPr>
                      </m:dPr>
                      <m:e>
                        <m:sSup>
                          <m:sSupPr>
                            <m:ctrlPr>
                              <a:rPr lang="en-AU" sz="2400" i="1">
                                <a:latin typeface="Cambria Math" panose="02040503050406030204" pitchFamily="18" charset="0"/>
                                <a:ea typeface="Cambria Math" panose="02040503050406030204" pitchFamily="18" charset="0"/>
                              </a:rPr>
                            </m:ctrlPr>
                          </m:sSupPr>
                          <m:e>
                            <m:r>
                              <a:rPr lang="en-AU" sz="2400" i="1">
                                <a:latin typeface="Cambria Math" panose="02040503050406030204" pitchFamily="18" charset="0"/>
                                <a:ea typeface="Cambria Math" panose="02040503050406030204" pitchFamily="18" charset="0"/>
                              </a:rPr>
                              <m:t>𝑥</m:t>
                            </m:r>
                          </m:e>
                          <m:sup>
                            <m:r>
                              <a:rPr lang="en-AU" sz="2400" i="1">
                                <a:latin typeface="Cambria Math" panose="02040503050406030204" pitchFamily="18" charset="0"/>
                                <a:ea typeface="Cambria Math" panose="02040503050406030204" pitchFamily="18" charset="0"/>
                              </a:rPr>
                              <m:t>𝑖</m:t>
                            </m:r>
                          </m:sup>
                        </m:sSup>
                      </m:e>
                    </m:d>
                  </m:oMath>
                </a14:m>
                <a:r>
                  <a:rPr lang="en-US" sz="2400" dirty="0">
                    <a:solidFill>
                      <a:srgbClr val="FF0000"/>
                    </a:solidFill>
                  </a:rPr>
                  <a:t> will receive the updated </a:t>
                </a:r>
                <a14:m>
                  <m:oMath xmlns:m="http://schemas.openxmlformats.org/officeDocument/2006/math">
                    <m:r>
                      <a:rPr lang="en-AU" sz="2400" b="0" i="1" smtClean="0">
                        <a:solidFill>
                          <a:srgbClr val="FF0000"/>
                        </a:solidFill>
                        <a:latin typeface="Cambria Math" panose="02040503050406030204" pitchFamily="18" charset="0"/>
                      </a:rPr>
                      <m:t>𝑤</m:t>
                    </m:r>
                  </m:oMath>
                </a14:m>
                <a:r>
                  <a:rPr lang="en-US" sz="2400" dirty="0">
                    <a:solidFill>
                      <a:srgbClr val="FF0000"/>
                    </a:solidFill>
                  </a:rPr>
                  <a:t> – this implementation is incorrect </a:t>
                </a:r>
              </a:p>
            </p:txBody>
          </p:sp>
        </mc:Choice>
        <mc:Fallback>
          <p:sp>
            <p:nvSpPr>
              <p:cNvPr id="4" name="TextBox 3">
                <a:extLst>
                  <a:ext uri="{FF2B5EF4-FFF2-40B4-BE49-F238E27FC236}">
                    <a16:creationId xmlns:a16="http://schemas.microsoft.com/office/drawing/2014/main" id="{4A367668-90AF-048D-AAE0-6F3427D511AD}"/>
                  </a:ext>
                </a:extLst>
              </p:cNvPr>
              <p:cNvSpPr txBox="1">
                <a:spLocks noRot="1" noChangeAspect="1" noMove="1" noResize="1" noEditPoints="1" noAdjustHandles="1" noChangeArrowheads="1" noChangeShapeType="1" noTextEdit="1"/>
              </p:cNvSpPr>
              <p:nvPr/>
            </p:nvSpPr>
            <p:spPr>
              <a:xfrm>
                <a:off x="7565254" y="2454043"/>
                <a:ext cx="4422727" cy="3094501"/>
              </a:xfrm>
              <a:prstGeom prst="rect">
                <a:avLst/>
              </a:prstGeom>
              <a:blipFill>
                <a:blip r:embed="rId3"/>
                <a:stretch>
                  <a:fillRect l="-2000" t="-1639" b="-3689"/>
                </a:stretch>
              </a:blipFill>
            </p:spPr>
            <p:txBody>
              <a:bodyPr/>
              <a:lstStyle/>
              <a:p>
                <a:r>
                  <a:rPr lang="en-US">
                    <a:noFill/>
                  </a:rPr>
                  <a:t> </a:t>
                </a:r>
              </a:p>
            </p:txBody>
          </p:sp>
        </mc:Fallback>
      </mc:AlternateContent>
    </p:spTree>
    <p:extLst>
      <p:ext uri="{BB962C8B-B14F-4D97-AF65-F5344CB8AC3E}">
        <p14:creationId xmlns:p14="http://schemas.microsoft.com/office/powerpoint/2010/main" val="233653418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FFF305C-1DF7-36E6-A3F6-17A4D1722624}"/>
              </a:ext>
            </a:extLst>
          </p:cNvPr>
          <p:cNvSpPr>
            <a:spLocks noGrp="1"/>
          </p:cNvSpPr>
          <p:nvPr>
            <p:ph type="title"/>
          </p:nvPr>
        </p:nvSpPr>
        <p:spPr/>
        <p:txBody>
          <a:bodyPr/>
          <a:lstStyle/>
          <a:p>
            <a:r>
              <a:rPr lang="en-US" b="1" dirty="0"/>
              <a:t>Practical 1</a:t>
            </a:r>
          </a:p>
        </p:txBody>
      </p:sp>
      <p:sp>
        <p:nvSpPr>
          <p:cNvPr id="3" name="Content Placeholder 2">
            <a:extLst>
              <a:ext uri="{FF2B5EF4-FFF2-40B4-BE49-F238E27FC236}">
                <a16:creationId xmlns:a16="http://schemas.microsoft.com/office/drawing/2014/main" id="{8CA43281-7798-CE53-2A5F-90FCB5ACFFC1}"/>
              </a:ext>
            </a:extLst>
          </p:cNvPr>
          <p:cNvSpPr>
            <a:spLocks noGrp="1"/>
          </p:cNvSpPr>
          <p:nvPr>
            <p:ph idx="1"/>
          </p:nvPr>
        </p:nvSpPr>
        <p:spPr/>
        <p:txBody>
          <a:bodyPr/>
          <a:lstStyle/>
          <a:p>
            <a:r>
              <a:rPr lang="en-AU" dirty="0">
                <a:hlinkClick r:id="rId2"/>
              </a:rPr>
              <a:t>https://www.kaggle.com/code/zahidbd/lecture6-nb1</a:t>
            </a:r>
            <a:endParaRPr lang="en-AU" dirty="0"/>
          </a:p>
          <a:p>
            <a:r>
              <a:rPr lang="en-US" b="1" dirty="0"/>
              <a:t>Tasks</a:t>
            </a:r>
            <a:r>
              <a:rPr lang="en-US" dirty="0"/>
              <a:t>:</a:t>
            </a:r>
          </a:p>
          <a:p>
            <a:pPr lvl="1"/>
            <a:r>
              <a:rPr lang="en-US" sz="2800" dirty="0"/>
              <a:t>Implement a regression model using </a:t>
            </a:r>
            <a:r>
              <a:rPr lang="en-US" sz="2800" dirty="0" err="1"/>
              <a:t>SGDRegressor</a:t>
            </a:r>
            <a:r>
              <a:rPr lang="en-US" sz="2800" dirty="0"/>
              <a:t> from </a:t>
            </a:r>
            <a:r>
              <a:rPr lang="en-US" sz="2800" dirty="0" err="1"/>
              <a:t>sklearn</a:t>
            </a:r>
            <a:endParaRPr lang="en-US" sz="2800" dirty="0"/>
          </a:p>
          <a:p>
            <a:pPr lvl="1"/>
            <a:r>
              <a:rPr lang="en-US" sz="2800" dirty="0"/>
              <a:t>Observe the inner working of the library</a:t>
            </a:r>
          </a:p>
          <a:p>
            <a:pPr lvl="1"/>
            <a:r>
              <a:rPr lang="en-US" sz="2800" dirty="0"/>
              <a:t>Implement without the library and cross check the output</a:t>
            </a:r>
          </a:p>
        </p:txBody>
      </p:sp>
    </p:spTree>
    <p:extLst>
      <p:ext uri="{BB962C8B-B14F-4D97-AF65-F5344CB8AC3E}">
        <p14:creationId xmlns:p14="http://schemas.microsoft.com/office/powerpoint/2010/main" val="1583144112"/>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17D2E73-2480-76FB-35A3-8367E72DD45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0669A2A-28E1-DEE9-E236-9693B1459584}"/>
              </a:ext>
            </a:extLst>
          </p:cNvPr>
          <p:cNvSpPr>
            <a:spLocks noGrp="1"/>
          </p:cNvSpPr>
          <p:nvPr>
            <p:ph type="title"/>
          </p:nvPr>
        </p:nvSpPr>
        <p:spPr/>
        <p:txBody>
          <a:bodyPr>
            <a:normAutofit/>
          </a:bodyPr>
          <a:lstStyle/>
          <a:p>
            <a:r>
              <a:rPr lang="en-AU" b="1" dirty="0"/>
              <a:t>Underfitting and Overfitting in Polynomial Estimation</a:t>
            </a:r>
          </a:p>
        </p:txBody>
      </p:sp>
      <p:pic>
        <p:nvPicPr>
          <p:cNvPr id="6" name="Content Placeholder 5">
            <a:extLst>
              <a:ext uri="{FF2B5EF4-FFF2-40B4-BE49-F238E27FC236}">
                <a16:creationId xmlns:a16="http://schemas.microsoft.com/office/drawing/2014/main" id="{6ADF2C5D-3E73-E242-9899-BC4995DC45F2}"/>
              </a:ext>
            </a:extLst>
          </p:cNvPr>
          <p:cNvPicPr>
            <a:picLocks noGrp="1" noChangeAspect="1"/>
          </p:cNvPicPr>
          <p:nvPr>
            <p:ph idx="1"/>
          </p:nvPr>
        </p:nvPicPr>
        <p:blipFill>
          <a:blip r:embed="rId3"/>
          <a:stretch>
            <a:fillRect/>
          </a:stretch>
        </p:blipFill>
        <p:spPr>
          <a:xfrm>
            <a:off x="2239880" y="1995433"/>
            <a:ext cx="7889254" cy="3712590"/>
          </a:xfrm>
          <a:prstGeom prst="rect">
            <a:avLst/>
          </a:prstGeom>
        </p:spPr>
      </p:pic>
    </p:spTree>
    <p:extLst>
      <p:ext uri="{BB962C8B-B14F-4D97-AF65-F5344CB8AC3E}">
        <p14:creationId xmlns:p14="http://schemas.microsoft.com/office/powerpoint/2010/main" val="3124998402"/>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5523211-ABF9-267E-BA58-A45834ADA7DD}"/>
              </a:ext>
            </a:extLst>
          </p:cNvPr>
          <p:cNvSpPr>
            <a:spLocks noGrp="1"/>
          </p:cNvSpPr>
          <p:nvPr>
            <p:ph type="title"/>
          </p:nvPr>
        </p:nvSpPr>
        <p:spPr/>
        <p:txBody>
          <a:bodyPr/>
          <a:lstStyle/>
          <a:p>
            <a:r>
              <a:rPr lang="en-US" b="1" dirty="0"/>
              <a:t>Generalization and capacity</a:t>
            </a:r>
          </a:p>
        </p:txBody>
      </p:sp>
      <p:pic>
        <p:nvPicPr>
          <p:cNvPr id="5" name="Content Placeholder 4">
            <a:extLst>
              <a:ext uri="{FF2B5EF4-FFF2-40B4-BE49-F238E27FC236}">
                <a16:creationId xmlns:a16="http://schemas.microsoft.com/office/drawing/2014/main" id="{D57CB404-6572-E450-F2E6-F1374CAD482C}"/>
              </a:ext>
            </a:extLst>
          </p:cNvPr>
          <p:cNvPicPr>
            <a:picLocks noGrp="1" noChangeAspect="1"/>
          </p:cNvPicPr>
          <p:nvPr>
            <p:ph idx="1"/>
          </p:nvPr>
        </p:nvPicPr>
        <p:blipFill>
          <a:blip r:embed="rId3"/>
          <a:stretch>
            <a:fillRect/>
          </a:stretch>
        </p:blipFill>
        <p:spPr>
          <a:xfrm>
            <a:off x="1938397" y="1788760"/>
            <a:ext cx="8315205" cy="4005397"/>
          </a:xfrm>
          <a:prstGeom prst="rect">
            <a:avLst/>
          </a:prstGeom>
        </p:spPr>
      </p:pic>
    </p:spTree>
    <p:extLst>
      <p:ext uri="{BB962C8B-B14F-4D97-AF65-F5344CB8AC3E}">
        <p14:creationId xmlns:p14="http://schemas.microsoft.com/office/powerpoint/2010/main" val="2135879511"/>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885C4BB-E714-8BBB-4334-25F35369F7BD}"/>
              </a:ext>
            </a:extLst>
          </p:cNvPr>
          <p:cNvSpPr>
            <a:spLocks noGrp="1"/>
          </p:cNvSpPr>
          <p:nvPr>
            <p:ph type="title"/>
          </p:nvPr>
        </p:nvSpPr>
        <p:spPr/>
        <p:txBody>
          <a:bodyPr>
            <a:normAutofit/>
          </a:bodyPr>
          <a:lstStyle/>
          <a:p>
            <a:r>
              <a:rPr lang="en-AU" b="1" dirty="0"/>
              <a:t>Gradient Descent for Multiple Regression</a:t>
            </a:r>
            <a:endParaRPr lang="en-US" b="1" dirty="0"/>
          </a:p>
        </p:txBody>
      </p:sp>
      <mc:AlternateContent xmlns:mc="http://schemas.openxmlformats.org/markup-compatibility/2006">
        <mc:Choice xmlns:a14="http://schemas.microsoft.com/office/drawing/2010/main" Requires="a14">
          <p:sp>
            <p:nvSpPr>
              <p:cNvPr id="7" name="Content Placeholder 6">
                <a:extLst>
                  <a:ext uri="{FF2B5EF4-FFF2-40B4-BE49-F238E27FC236}">
                    <a16:creationId xmlns:a16="http://schemas.microsoft.com/office/drawing/2014/main" id="{A73CA64E-57F6-72B9-9F8B-5BE664C7FB9E}"/>
                  </a:ext>
                </a:extLst>
              </p:cNvPr>
              <p:cNvSpPr>
                <a:spLocks noGrp="1"/>
              </p:cNvSpPr>
              <p:nvPr>
                <p:ph idx="1"/>
              </p:nvPr>
            </p:nvSpPr>
            <p:spPr/>
            <p:txBody>
              <a:bodyPr>
                <a:normAutofit fontScale="92500" lnSpcReduction="10000"/>
              </a:bodyPr>
              <a:lstStyle/>
              <a:p>
                <a:r>
                  <a:rPr lang="en-US" dirty="0"/>
                  <a:t>Multiple features:</a:t>
                </a:r>
                <a14:m>
                  <m:oMath xmlns:m="http://schemas.openxmlformats.org/officeDocument/2006/math">
                    <m:r>
                      <a:rPr lang="en-AU" b="0" i="0" smtClean="0">
                        <a:latin typeface="Cambria Math" panose="02040503050406030204" pitchFamily="18" charset="0"/>
                      </a:rPr>
                      <m:t> </m:t>
                    </m:r>
                    <m:r>
                      <a:rPr lang="en-AU" b="1" i="1" smtClean="0">
                        <a:latin typeface="Cambria Math" panose="02040503050406030204" pitchFamily="18" charset="0"/>
                      </a:rPr>
                      <m:t>𝒙</m:t>
                    </m:r>
                    <m:r>
                      <a:rPr lang="en-AU" b="0" i="1" smtClean="0">
                        <a:latin typeface="Cambria Math" panose="02040503050406030204" pitchFamily="18" charset="0"/>
                      </a:rPr>
                      <m:t>=</m:t>
                    </m:r>
                    <m:sSub>
                      <m:sSubPr>
                        <m:ctrlPr>
                          <a:rPr lang="en-AU" b="0" i="1" smtClean="0">
                            <a:latin typeface="Cambria Math" panose="02040503050406030204" pitchFamily="18" charset="0"/>
                          </a:rPr>
                        </m:ctrlPr>
                      </m:sSubPr>
                      <m:e>
                        <m:r>
                          <a:rPr lang="en-AU" b="0" i="1" smtClean="0">
                            <a:latin typeface="Cambria Math" panose="02040503050406030204" pitchFamily="18" charset="0"/>
                          </a:rPr>
                          <m:t>𝑥</m:t>
                        </m:r>
                      </m:e>
                      <m:sub>
                        <m:r>
                          <a:rPr lang="en-AU" b="0" i="1" smtClean="0">
                            <a:latin typeface="Cambria Math" panose="02040503050406030204" pitchFamily="18" charset="0"/>
                          </a:rPr>
                          <m:t>1</m:t>
                        </m:r>
                      </m:sub>
                    </m:sSub>
                    <m:r>
                      <a:rPr lang="en-AU" b="0" i="1" smtClean="0">
                        <a:latin typeface="Cambria Math" panose="02040503050406030204" pitchFamily="18" charset="0"/>
                      </a:rPr>
                      <m:t>,</m:t>
                    </m:r>
                    <m:sSub>
                      <m:sSubPr>
                        <m:ctrlPr>
                          <a:rPr lang="en-AU" b="0" i="1" smtClean="0">
                            <a:latin typeface="Cambria Math" panose="02040503050406030204" pitchFamily="18" charset="0"/>
                          </a:rPr>
                        </m:ctrlPr>
                      </m:sSubPr>
                      <m:e>
                        <m:r>
                          <a:rPr lang="en-AU" b="0" i="1" smtClean="0">
                            <a:latin typeface="Cambria Math" panose="02040503050406030204" pitchFamily="18" charset="0"/>
                          </a:rPr>
                          <m:t>𝑥</m:t>
                        </m:r>
                      </m:e>
                      <m:sub>
                        <m:r>
                          <a:rPr lang="en-AU" b="0" i="1" smtClean="0">
                            <a:latin typeface="Cambria Math" panose="02040503050406030204" pitchFamily="18" charset="0"/>
                          </a:rPr>
                          <m:t>2</m:t>
                        </m:r>
                      </m:sub>
                    </m:sSub>
                    <m:r>
                      <a:rPr lang="en-AU" b="0" i="1" smtClean="0">
                        <a:latin typeface="Cambria Math" panose="02040503050406030204" pitchFamily="18" charset="0"/>
                      </a:rPr>
                      <m:t>,…, </m:t>
                    </m:r>
                    <m:sSub>
                      <m:sSubPr>
                        <m:ctrlPr>
                          <a:rPr lang="en-AU" b="0" i="1" smtClean="0">
                            <a:latin typeface="Cambria Math" panose="02040503050406030204" pitchFamily="18" charset="0"/>
                          </a:rPr>
                        </m:ctrlPr>
                      </m:sSubPr>
                      <m:e>
                        <m:r>
                          <a:rPr lang="en-AU" b="0" i="1" smtClean="0">
                            <a:latin typeface="Cambria Math" panose="02040503050406030204" pitchFamily="18" charset="0"/>
                          </a:rPr>
                          <m:t>𝑥</m:t>
                        </m:r>
                      </m:e>
                      <m:sub>
                        <m:r>
                          <a:rPr lang="en-AU" b="0" i="1" smtClean="0">
                            <a:latin typeface="Cambria Math" panose="02040503050406030204" pitchFamily="18" charset="0"/>
                          </a:rPr>
                          <m:t>𝑛</m:t>
                        </m:r>
                      </m:sub>
                    </m:sSub>
                  </m:oMath>
                </a14:m>
                <a:r>
                  <a:rPr lang="en-US" dirty="0"/>
                  <a:t> i.e., </a:t>
                </a:r>
                <a14:m>
                  <m:oMath xmlns:m="http://schemas.openxmlformats.org/officeDocument/2006/math">
                    <m:r>
                      <a:rPr lang="en-AU" b="0" i="1" smtClean="0">
                        <a:latin typeface="Cambria Math" panose="02040503050406030204" pitchFamily="18" charset="0"/>
                      </a:rPr>
                      <m:t>𝑛</m:t>
                    </m:r>
                  </m:oMath>
                </a14:m>
                <a:r>
                  <a:rPr lang="en-US" dirty="0"/>
                  <a:t> weights parameters.</a:t>
                </a:r>
              </a:p>
              <a:p>
                <a:r>
                  <a:rPr lang="en-US" b="1" dirty="0"/>
                  <a:t>Parameters</a:t>
                </a:r>
                <a:r>
                  <a:rPr lang="en-US" dirty="0"/>
                  <a:t>: </a:t>
                </a:r>
                <a14:m>
                  <m:oMath xmlns:m="http://schemas.openxmlformats.org/officeDocument/2006/math">
                    <m:r>
                      <a:rPr lang="en-AU" b="1" i="0" smtClean="0">
                        <a:latin typeface="Cambria Math" panose="02040503050406030204" pitchFamily="18" charset="0"/>
                      </a:rPr>
                      <m:t>𝐖</m:t>
                    </m:r>
                    <m:r>
                      <a:rPr lang="en-AU" b="1" i="0" smtClean="0">
                        <a:latin typeface="Cambria Math" panose="02040503050406030204" pitchFamily="18" charset="0"/>
                      </a:rPr>
                      <m:t>= </m:t>
                    </m:r>
                    <m:sSub>
                      <m:sSubPr>
                        <m:ctrlPr>
                          <a:rPr lang="en-AU" b="0" i="1" smtClean="0">
                            <a:latin typeface="Cambria Math" panose="02040503050406030204" pitchFamily="18" charset="0"/>
                          </a:rPr>
                        </m:ctrlPr>
                      </m:sSubPr>
                      <m:e>
                        <m:r>
                          <a:rPr lang="en-AU" b="0" i="1" smtClean="0">
                            <a:latin typeface="Cambria Math" panose="02040503050406030204" pitchFamily="18" charset="0"/>
                          </a:rPr>
                          <m:t>𝑤</m:t>
                        </m:r>
                      </m:e>
                      <m:sub>
                        <m:r>
                          <a:rPr lang="en-AU" i="1">
                            <a:latin typeface="Cambria Math" panose="02040503050406030204" pitchFamily="18" charset="0"/>
                          </a:rPr>
                          <m:t>1</m:t>
                        </m:r>
                      </m:sub>
                    </m:sSub>
                    <m:r>
                      <a:rPr lang="en-AU" i="1">
                        <a:latin typeface="Cambria Math" panose="02040503050406030204" pitchFamily="18" charset="0"/>
                      </a:rPr>
                      <m:t>,</m:t>
                    </m:r>
                    <m:sSub>
                      <m:sSubPr>
                        <m:ctrlPr>
                          <a:rPr lang="en-AU" b="0" i="1" smtClean="0">
                            <a:latin typeface="Cambria Math" panose="02040503050406030204" pitchFamily="18" charset="0"/>
                          </a:rPr>
                        </m:ctrlPr>
                      </m:sSubPr>
                      <m:e>
                        <m:r>
                          <a:rPr lang="en-AU" b="0" i="1" smtClean="0">
                            <a:latin typeface="Cambria Math" panose="02040503050406030204" pitchFamily="18" charset="0"/>
                          </a:rPr>
                          <m:t>𝑤</m:t>
                        </m:r>
                      </m:e>
                      <m:sub>
                        <m:r>
                          <a:rPr lang="en-AU" i="1">
                            <a:latin typeface="Cambria Math" panose="02040503050406030204" pitchFamily="18" charset="0"/>
                          </a:rPr>
                          <m:t>2</m:t>
                        </m:r>
                      </m:sub>
                    </m:sSub>
                    <m:r>
                      <a:rPr lang="en-AU" i="1">
                        <a:latin typeface="Cambria Math" panose="02040503050406030204" pitchFamily="18" charset="0"/>
                      </a:rPr>
                      <m:t>,…, </m:t>
                    </m:r>
                    <m:sSub>
                      <m:sSubPr>
                        <m:ctrlPr>
                          <a:rPr lang="en-AU" b="0" i="1" smtClean="0">
                            <a:latin typeface="Cambria Math" panose="02040503050406030204" pitchFamily="18" charset="0"/>
                          </a:rPr>
                        </m:ctrlPr>
                      </m:sSubPr>
                      <m:e>
                        <m:r>
                          <a:rPr lang="en-AU" b="0" i="1" smtClean="0">
                            <a:latin typeface="Cambria Math" panose="02040503050406030204" pitchFamily="18" charset="0"/>
                          </a:rPr>
                          <m:t>𝑤</m:t>
                        </m:r>
                      </m:e>
                      <m:sub>
                        <m:r>
                          <a:rPr lang="en-AU" i="1">
                            <a:latin typeface="Cambria Math" panose="02040503050406030204" pitchFamily="18" charset="0"/>
                          </a:rPr>
                          <m:t>𝑛</m:t>
                        </m:r>
                      </m:sub>
                    </m:sSub>
                    <m:r>
                      <a:rPr lang="en-AU" b="0" i="1" smtClean="0">
                        <a:latin typeface="Cambria Math" panose="02040503050406030204" pitchFamily="18" charset="0"/>
                      </a:rPr>
                      <m:t> </m:t>
                    </m:r>
                  </m:oMath>
                </a14:m>
                <a:r>
                  <a:rPr lang="en-US" dirty="0"/>
                  <a:t>and </a:t>
                </a:r>
                <a14:m>
                  <m:oMath xmlns:m="http://schemas.openxmlformats.org/officeDocument/2006/math">
                    <m:r>
                      <a:rPr lang="en-AU" i="1">
                        <a:latin typeface="Cambria Math" panose="02040503050406030204" pitchFamily="18" charset="0"/>
                      </a:rPr>
                      <m:t>𝑏</m:t>
                    </m:r>
                  </m:oMath>
                </a14:m>
                <a:endParaRPr lang="en-US" dirty="0"/>
              </a:p>
              <a:p>
                <a:r>
                  <a:rPr lang="en-US" b="1" dirty="0"/>
                  <a:t>Model</a:t>
                </a:r>
                <a:r>
                  <a:rPr lang="en-US" dirty="0"/>
                  <a:t>: </a:t>
                </a:r>
                <a14:m>
                  <m:oMath xmlns:m="http://schemas.openxmlformats.org/officeDocument/2006/math">
                    <m:sSub>
                      <m:sSubPr>
                        <m:ctrlPr>
                          <a:rPr lang="en-AU" i="1">
                            <a:latin typeface="Cambria Math" panose="02040503050406030204" pitchFamily="18" charset="0"/>
                          </a:rPr>
                        </m:ctrlPr>
                      </m:sSubPr>
                      <m:e>
                        <m:r>
                          <a:rPr lang="en-AU" i="1">
                            <a:latin typeface="Cambria Math" panose="02040503050406030204" pitchFamily="18" charset="0"/>
                          </a:rPr>
                          <m:t>𝑓</m:t>
                        </m:r>
                      </m:e>
                      <m:sub>
                        <m:r>
                          <a:rPr lang="en-AU" b="1" i="1" smtClean="0">
                            <a:latin typeface="Cambria Math" panose="02040503050406030204" pitchFamily="18" charset="0"/>
                          </a:rPr>
                          <m:t>𝑾</m:t>
                        </m:r>
                        <m:r>
                          <a:rPr lang="en-AU" i="1">
                            <a:latin typeface="Cambria Math" panose="02040503050406030204" pitchFamily="18" charset="0"/>
                          </a:rPr>
                          <m:t>,</m:t>
                        </m:r>
                        <m:r>
                          <a:rPr lang="en-AU" i="1">
                            <a:latin typeface="Cambria Math" panose="02040503050406030204" pitchFamily="18" charset="0"/>
                          </a:rPr>
                          <m:t>𝑏</m:t>
                        </m:r>
                      </m:sub>
                    </m:sSub>
                    <m:d>
                      <m:dPr>
                        <m:ctrlPr>
                          <a:rPr lang="en-AU" b="1" i="1">
                            <a:latin typeface="Cambria Math" panose="02040503050406030204" pitchFamily="18" charset="0"/>
                          </a:rPr>
                        </m:ctrlPr>
                      </m:dPr>
                      <m:e>
                        <m:r>
                          <a:rPr lang="en-AU" b="1" i="1">
                            <a:latin typeface="Cambria Math" panose="02040503050406030204" pitchFamily="18" charset="0"/>
                          </a:rPr>
                          <m:t>𝒙</m:t>
                        </m:r>
                      </m:e>
                    </m:d>
                    <m:r>
                      <a:rPr lang="en-AU" i="1">
                        <a:latin typeface="Cambria Math" panose="02040503050406030204" pitchFamily="18" charset="0"/>
                      </a:rPr>
                      <m:t>=</m:t>
                    </m:r>
                    <m:sSub>
                      <m:sSubPr>
                        <m:ctrlPr>
                          <a:rPr lang="en-AU" i="1">
                            <a:latin typeface="Cambria Math" panose="02040503050406030204" pitchFamily="18" charset="0"/>
                          </a:rPr>
                        </m:ctrlPr>
                      </m:sSubPr>
                      <m:e>
                        <m:r>
                          <a:rPr lang="en-AU" i="1">
                            <a:latin typeface="Cambria Math" panose="02040503050406030204" pitchFamily="18" charset="0"/>
                          </a:rPr>
                          <m:t>𝑤</m:t>
                        </m:r>
                      </m:e>
                      <m:sub>
                        <m:r>
                          <a:rPr lang="en-AU" b="0" i="1" smtClean="0">
                            <a:latin typeface="Cambria Math" panose="02040503050406030204" pitchFamily="18" charset="0"/>
                          </a:rPr>
                          <m:t>1</m:t>
                        </m:r>
                      </m:sub>
                    </m:sSub>
                    <m:r>
                      <a:rPr lang="en-AU" i="1">
                        <a:latin typeface="Cambria Math" panose="02040503050406030204" pitchFamily="18" charset="0"/>
                      </a:rPr>
                      <m:t>∗</m:t>
                    </m:r>
                    <m:sSub>
                      <m:sSubPr>
                        <m:ctrlPr>
                          <a:rPr lang="en-AU" i="1">
                            <a:latin typeface="Cambria Math" panose="02040503050406030204" pitchFamily="18" charset="0"/>
                          </a:rPr>
                        </m:ctrlPr>
                      </m:sSubPr>
                      <m:e>
                        <m:r>
                          <a:rPr lang="en-AU" i="1">
                            <a:latin typeface="Cambria Math" panose="02040503050406030204" pitchFamily="18" charset="0"/>
                          </a:rPr>
                          <m:t>𝑥</m:t>
                        </m:r>
                      </m:e>
                      <m:sub>
                        <m:r>
                          <a:rPr lang="en-AU" b="0" i="1" smtClean="0">
                            <a:latin typeface="Cambria Math" panose="02040503050406030204" pitchFamily="18" charset="0"/>
                          </a:rPr>
                          <m:t>1</m:t>
                        </m:r>
                      </m:sub>
                    </m:sSub>
                    <m:r>
                      <a:rPr lang="en-AU" i="1">
                        <a:latin typeface="Cambria Math" panose="02040503050406030204" pitchFamily="18" charset="0"/>
                      </a:rPr>
                      <m:t>+</m:t>
                    </m:r>
                    <m:r>
                      <a:rPr lang="en-AU" b="0" i="1" smtClean="0">
                        <a:latin typeface="Cambria Math" panose="02040503050406030204" pitchFamily="18" charset="0"/>
                      </a:rPr>
                      <m:t>…+</m:t>
                    </m:r>
                    <m:sSub>
                      <m:sSubPr>
                        <m:ctrlPr>
                          <a:rPr lang="en-AU" i="1">
                            <a:latin typeface="Cambria Math" panose="02040503050406030204" pitchFamily="18" charset="0"/>
                          </a:rPr>
                        </m:ctrlPr>
                      </m:sSubPr>
                      <m:e>
                        <m:r>
                          <a:rPr lang="en-AU" i="1">
                            <a:latin typeface="Cambria Math" panose="02040503050406030204" pitchFamily="18" charset="0"/>
                          </a:rPr>
                          <m:t>𝑤</m:t>
                        </m:r>
                      </m:e>
                      <m:sub>
                        <m:r>
                          <a:rPr lang="en-AU" b="0" i="1" smtClean="0">
                            <a:latin typeface="Cambria Math" panose="02040503050406030204" pitchFamily="18" charset="0"/>
                          </a:rPr>
                          <m:t>𝑛</m:t>
                        </m:r>
                      </m:sub>
                    </m:sSub>
                    <m:r>
                      <a:rPr lang="en-AU" i="1">
                        <a:latin typeface="Cambria Math" panose="02040503050406030204" pitchFamily="18" charset="0"/>
                      </a:rPr>
                      <m:t>∗</m:t>
                    </m:r>
                    <m:sSub>
                      <m:sSubPr>
                        <m:ctrlPr>
                          <a:rPr lang="en-AU" i="1">
                            <a:latin typeface="Cambria Math" panose="02040503050406030204" pitchFamily="18" charset="0"/>
                          </a:rPr>
                        </m:ctrlPr>
                      </m:sSubPr>
                      <m:e>
                        <m:r>
                          <a:rPr lang="en-AU" i="1">
                            <a:latin typeface="Cambria Math" panose="02040503050406030204" pitchFamily="18" charset="0"/>
                          </a:rPr>
                          <m:t>𝑥</m:t>
                        </m:r>
                      </m:e>
                      <m:sub>
                        <m:r>
                          <a:rPr lang="en-AU" b="0" i="1" smtClean="0">
                            <a:latin typeface="Cambria Math" panose="02040503050406030204" pitchFamily="18" charset="0"/>
                          </a:rPr>
                          <m:t>𝑛</m:t>
                        </m:r>
                      </m:sub>
                    </m:sSub>
                    <m:r>
                      <a:rPr lang="en-AU" b="0" i="1" smtClean="0">
                        <a:latin typeface="Cambria Math" panose="02040503050406030204" pitchFamily="18" charset="0"/>
                      </a:rPr>
                      <m:t>+</m:t>
                    </m:r>
                    <m:r>
                      <a:rPr lang="en-AU" i="1">
                        <a:latin typeface="Cambria Math" panose="02040503050406030204" pitchFamily="18" charset="0"/>
                      </a:rPr>
                      <m:t>𝑏</m:t>
                    </m:r>
                  </m:oMath>
                </a14:m>
                <a:endParaRPr lang="en-AU" dirty="0"/>
              </a:p>
              <a:p>
                <a:r>
                  <a:rPr lang="en-US" b="1" dirty="0"/>
                  <a:t>Loss function: </a:t>
                </a:r>
                <a14:m>
                  <m:oMath xmlns:m="http://schemas.openxmlformats.org/officeDocument/2006/math">
                    <m:r>
                      <a:rPr lang="en-US" i="1">
                        <a:latin typeface="Cambria Math" panose="02040503050406030204" pitchFamily="18" charset="0"/>
                        <a:ea typeface="Cambria Math" panose="02040503050406030204" pitchFamily="18" charset="0"/>
                      </a:rPr>
                      <m:t>ℒ</m:t>
                    </m:r>
                    <m:d>
                      <m:dPr>
                        <m:ctrlPr>
                          <a:rPr lang="en-AU" b="1" i="1" smtClean="0">
                            <a:latin typeface="Cambria Math" panose="02040503050406030204" pitchFamily="18" charset="0"/>
                            <a:ea typeface="Cambria Math" panose="02040503050406030204" pitchFamily="18" charset="0"/>
                          </a:rPr>
                        </m:ctrlPr>
                      </m:dPr>
                      <m:e>
                        <m:r>
                          <a:rPr lang="en-AU" b="1" i="1" smtClean="0">
                            <a:latin typeface="Cambria Math" panose="02040503050406030204" pitchFamily="18" charset="0"/>
                            <a:ea typeface="Cambria Math" panose="02040503050406030204" pitchFamily="18" charset="0"/>
                          </a:rPr>
                          <m:t>𝑾</m:t>
                        </m:r>
                        <m:r>
                          <a:rPr lang="en-AU" i="1">
                            <a:latin typeface="Cambria Math" panose="02040503050406030204" pitchFamily="18" charset="0"/>
                            <a:ea typeface="Cambria Math" panose="02040503050406030204" pitchFamily="18" charset="0"/>
                          </a:rPr>
                          <m:t>,</m:t>
                        </m:r>
                        <m:r>
                          <a:rPr lang="en-AU" i="1">
                            <a:latin typeface="Cambria Math" panose="02040503050406030204" pitchFamily="18" charset="0"/>
                            <a:ea typeface="Cambria Math" panose="02040503050406030204" pitchFamily="18" charset="0"/>
                          </a:rPr>
                          <m:t>𝑏</m:t>
                        </m:r>
                      </m:e>
                    </m:d>
                    <m:r>
                      <a:rPr lang="en-AU" i="1">
                        <a:latin typeface="Cambria Math" panose="02040503050406030204" pitchFamily="18" charset="0"/>
                        <a:ea typeface="Cambria Math" panose="02040503050406030204" pitchFamily="18" charset="0"/>
                      </a:rPr>
                      <m:t>=</m:t>
                    </m:r>
                    <m:f>
                      <m:fPr>
                        <m:ctrlPr>
                          <a:rPr lang="en-AU" i="1">
                            <a:latin typeface="Cambria Math" panose="02040503050406030204" pitchFamily="18" charset="0"/>
                            <a:ea typeface="Cambria Math" panose="02040503050406030204" pitchFamily="18" charset="0"/>
                          </a:rPr>
                        </m:ctrlPr>
                      </m:fPr>
                      <m:num>
                        <m:r>
                          <a:rPr lang="en-AU" i="1">
                            <a:latin typeface="Cambria Math" panose="02040503050406030204" pitchFamily="18" charset="0"/>
                            <a:ea typeface="Cambria Math" panose="02040503050406030204" pitchFamily="18" charset="0"/>
                          </a:rPr>
                          <m:t>1</m:t>
                        </m:r>
                      </m:num>
                      <m:den>
                        <m:r>
                          <a:rPr lang="en-AU" i="1">
                            <a:latin typeface="Cambria Math" panose="02040503050406030204" pitchFamily="18" charset="0"/>
                            <a:ea typeface="Cambria Math" panose="02040503050406030204" pitchFamily="18" charset="0"/>
                          </a:rPr>
                          <m:t>2</m:t>
                        </m:r>
                        <m:r>
                          <a:rPr lang="en-AU" i="1">
                            <a:latin typeface="Cambria Math" panose="02040503050406030204" pitchFamily="18" charset="0"/>
                            <a:ea typeface="Cambria Math" panose="02040503050406030204" pitchFamily="18" charset="0"/>
                          </a:rPr>
                          <m:t>𝑚</m:t>
                        </m:r>
                      </m:den>
                    </m:f>
                    <m:nary>
                      <m:naryPr>
                        <m:chr m:val="∑"/>
                        <m:ctrlPr>
                          <a:rPr lang="en-AU" i="1">
                            <a:latin typeface="Cambria Math" panose="02040503050406030204" pitchFamily="18" charset="0"/>
                            <a:ea typeface="Cambria Math" panose="02040503050406030204" pitchFamily="18" charset="0"/>
                          </a:rPr>
                        </m:ctrlPr>
                      </m:naryPr>
                      <m:sub>
                        <m:r>
                          <m:rPr>
                            <m:brk m:alnAt="23"/>
                          </m:rPr>
                          <a:rPr lang="en-AU" i="1">
                            <a:latin typeface="Cambria Math" panose="02040503050406030204" pitchFamily="18" charset="0"/>
                            <a:ea typeface="Cambria Math" panose="02040503050406030204" pitchFamily="18" charset="0"/>
                          </a:rPr>
                          <m:t>𝑖</m:t>
                        </m:r>
                        <m:r>
                          <m:rPr>
                            <m:brk m:alnAt="23"/>
                          </m:rPr>
                          <a:rPr lang="en-AU" i="1">
                            <a:latin typeface="Cambria Math" panose="02040503050406030204" pitchFamily="18" charset="0"/>
                            <a:ea typeface="Cambria Math" panose="02040503050406030204" pitchFamily="18" charset="0"/>
                          </a:rPr>
                          <m:t>=</m:t>
                        </m:r>
                        <m:r>
                          <m:rPr>
                            <m:brk m:alnAt="23"/>
                          </m:rPr>
                          <a:rPr lang="en-AU" i="1">
                            <a:latin typeface="Cambria Math" panose="02040503050406030204" pitchFamily="18" charset="0"/>
                            <a:ea typeface="Cambria Math" panose="02040503050406030204" pitchFamily="18" charset="0"/>
                          </a:rPr>
                          <m:t>1</m:t>
                        </m:r>
                      </m:sub>
                      <m:sup>
                        <m:r>
                          <a:rPr lang="en-AU" i="1">
                            <a:latin typeface="Cambria Math" panose="02040503050406030204" pitchFamily="18" charset="0"/>
                            <a:ea typeface="Cambria Math" panose="02040503050406030204" pitchFamily="18" charset="0"/>
                          </a:rPr>
                          <m:t>𝑚</m:t>
                        </m:r>
                      </m:sup>
                      <m:e>
                        <m:sSup>
                          <m:sSupPr>
                            <m:ctrlPr>
                              <a:rPr lang="en-AU" i="1">
                                <a:latin typeface="Cambria Math" panose="02040503050406030204" pitchFamily="18" charset="0"/>
                                <a:ea typeface="Cambria Math" panose="02040503050406030204" pitchFamily="18" charset="0"/>
                              </a:rPr>
                            </m:ctrlPr>
                          </m:sSupPr>
                          <m:e>
                            <m:d>
                              <m:dPr>
                                <m:ctrlPr>
                                  <a:rPr lang="en-AU" i="1">
                                    <a:latin typeface="Cambria Math" panose="02040503050406030204" pitchFamily="18" charset="0"/>
                                    <a:ea typeface="Cambria Math" panose="02040503050406030204" pitchFamily="18" charset="0"/>
                                  </a:rPr>
                                </m:ctrlPr>
                              </m:dPr>
                              <m:e>
                                <m:sSub>
                                  <m:sSubPr>
                                    <m:ctrlPr>
                                      <a:rPr lang="en-AU" i="1">
                                        <a:latin typeface="Cambria Math" panose="02040503050406030204" pitchFamily="18" charset="0"/>
                                        <a:ea typeface="Cambria Math" panose="02040503050406030204" pitchFamily="18" charset="0"/>
                                      </a:rPr>
                                    </m:ctrlPr>
                                  </m:sSubPr>
                                  <m:e>
                                    <m:r>
                                      <a:rPr lang="en-AU" i="1">
                                        <a:latin typeface="Cambria Math" panose="02040503050406030204" pitchFamily="18" charset="0"/>
                                        <a:ea typeface="Cambria Math" panose="02040503050406030204" pitchFamily="18" charset="0"/>
                                      </a:rPr>
                                      <m:t>𝑓</m:t>
                                    </m:r>
                                  </m:e>
                                  <m:sub>
                                    <m:r>
                                      <a:rPr lang="en-AU" b="1" i="1" smtClean="0">
                                        <a:latin typeface="Cambria Math" panose="02040503050406030204" pitchFamily="18" charset="0"/>
                                        <a:ea typeface="Cambria Math" panose="02040503050406030204" pitchFamily="18" charset="0"/>
                                      </a:rPr>
                                      <m:t>𝑾</m:t>
                                    </m:r>
                                    <m:r>
                                      <a:rPr lang="en-AU" i="1">
                                        <a:latin typeface="Cambria Math" panose="02040503050406030204" pitchFamily="18" charset="0"/>
                                        <a:ea typeface="Cambria Math" panose="02040503050406030204" pitchFamily="18" charset="0"/>
                                      </a:rPr>
                                      <m:t>,</m:t>
                                    </m:r>
                                    <m:r>
                                      <a:rPr lang="en-AU" i="1">
                                        <a:latin typeface="Cambria Math" panose="02040503050406030204" pitchFamily="18" charset="0"/>
                                        <a:ea typeface="Cambria Math" panose="02040503050406030204" pitchFamily="18" charset="0"/>
                                      </a:rPr>
                                      <m:t>𝑏</m:t>
                                    </m:r>
                                  </m:sub>
                                </m:sSub>
                                <m:d>
                                  <m:dPr>
                                    <m:ctrlPr>
                                      <a:rPr lang="en-AU" i="1">
                                        <a:latin typeface="Cambria Math" panose="02040503050406030204" pitchFamily="18" charset="0"/>
                                        <a:ea typeface="Cambria Math" panose="02040503050406030204" pitchFamily="18" charset="0"/>
                                      </a:rPr>
                                    </m:ctrlPr>
                                  </m:dPr>
                                  <m:e>
                                    <m:sSup>
                                      <m:sSupPr>
                                        <m:ctrlPr>
                                          <a:rPr lang="en-AU" b="1" i="1">
                                            <a:latin typeface="Cambria Math" panose="02040503050406030204" pitchFamily="18" charset="0"/>
                                            <a:ea typeface="Cambria Math" panose="02040503050406030204" pitchFamily="18" charset="0"/>
                                          </a:rPr>
                                        </m:ctrlPr>
                                      </m:sSupPr>
                                      <m:e>
                                        <m:r>
                                          <a:rPr lang="en-AU" b="1" i="1">
                                            <a:latin typeface="Cambria Math" panose="02040503050406030204" pitchFamily="18" charset="0"/>
                                            <a:ea typeface="Cambria Math" panose="02040503050406030204" pitchFamily="18" charset="0"/>
                                          </a:rPr>
                                          <m:t>𝒙</m:t>
                                        </m:r>
                                      </m:e>
                                      <m:sup>
                                        <m:r>
                                          <a:rPr lang="en-AU" i="1">
                                            <a:latin typeface="Cambria Math" panose="02040503050406030204" pitchFamily="18" charset="0"/>
                                            <a:ea typeface="Cambria Math" panose="02040503050406030204" pitchFamily="18" charset="0"/>
                                          </a:rPr>
                                          <m:t>𝑖</m:t>
                                        </m:r>
                                      </m:sup>
                                    </m:sSup>
                                  </m:e>
                                </m:d>
                                <m:r>
                                  <a:rPr lang="en-AU" i="1">
                                    <a:latin typeface="Cambria Math" panose="02040503050406030204" pitchFamily="18" charset="0"/>
                                    <a:ea typeface="Cambria Math" panose="02040503050406030204" pitchFamily="18" charset="0"/>
                                  </a:rPr>
                                  <m:t>−</m:t>
                                </m:r>
                                <m:sSup>
                                  <m:sSupPr>
                                    <m:ctrlPr>
                                      <a:rPr lang="en-AU" i="1">
                                        <a:latin typeface="Cambria Math" panose="02040503050406030204" pitchFamily="18" charset="0"/>
                                        <a:ea typeface="Cambria Math" panose="02040503050406030204" pitchFamily="18" charset="0"/>
                                      </a:rPr>
                                    </m:ctrlPr>
                                  </m:sSupPr>
                                  <m:e>
                                    <m:r>
                                      <a:rPr lang="en-AU" i="1">
                                        <a:latin typeface="Cambria Math" panose="02040503050406030204" pitchFamily="18" charset="0"/>
                                        <a:ea typeface="Cambria Math" panose="02040503050406030204" pitchFamily="18" charset="0"/>
                                      </a:rPr>
                                      <m:t>𝑦</m:t>
                                    </m:r>
                                  </m:e>
                                  <m:sup>
                                    <m:r>
                                      <a:rPr lang="en-AU" i="1">
                                        <a:latin typeface="Cambria Math" panose="02040503050406030204" pitchFamily="18" charset="0"/>
                                        <a:ea typeface="Cambria Math" panose="02040503050406030204" pitchFamily="18" charset="0"/>
                                      </a:rPr>
                                      <m:t>𝑖</m:t>
                                    </m:r>
                                  </m:sup>
                                </m:sSup>
                              </m:e>
                            </m:d>
                          </m:e>
                          <m:sup>
                            <m:r>
                              <a:rPr lang="en-AU" i="1">
                                <a:latin typeface="Cambria Math" panose="02040503050406030204" pitchFamily="18" charset="0"/>
                                <a:ea typeface="Cambria Math" panose="02040503050406030204" pitchFamily="18" charset="0"/>
                              </a:rPr>
                              <m:t>2</m:t>
                            </m:r>
                          </m:sup>
                        </m:sSup>
                      </m:e>
                    </m:nary>
                  </m:oMath>
                </a14:m>
                <a:endParaRPr lang="en-AU" dirty="0">
                  <a:ea typeface="Cambria Math" panose="02040503050406030204" pitchFamily="18" charset="0"/>
                </a:endParaRPr>
              </a:p>
              <a:p>
                <a:r>
                  <a:rPr lang="en-AU" b="1" dirty="0"/>
                  <a:t>Gradient descent </a:t>
                </a:r>
              </a:p>
              <a:p>
                <a:pPr marL="457200" lvl="1" indent="0">
                  <a:buNone/>
                </a:pPr>
                <a:r>
                  <a:rPr lang="en-AU" dirty="0">
                    <a:latin typeface="Courier New" panose="02070309020205020404" pitchFamily="49" charset="0"/>
                    <a:cs typeface="Courier New" panose="02070309020205020404" pitchFamily="49" charset="0"/>
                  </a:rPr>
                  <a:t>repeat {</a:t>
                </a:r>
              </a:p>
              <a:p>
                <a:pPr marL="457200" lvl="1" indent="0">
                  <a:buNone/>
                </a:pPr>
                <a:r>
                  <a:rPr lang="en-AU" dirty="0">
                    <a:latin typeface="Courier New" panose="02070309020205020404" pitchFamily="49" charset="0"/>
                    <a:cs typeface="Courier New" panose="02070309020205020404" pitchFamily="49" charset="0"/>
                  </a:rPr>
                  <a:t>	for </a:t>
                </a:r>
                <a:r>
                  <a:rPr lang="en-AU" dirty="0" err="1">
                    <a:latin typeface="Courier New" panose="02070309020205020404" pitchFamily="49" charset="0"/>
                    <a:cs typeface="Courier New" panose="02070309020205020404" pitchFamily="49" charset="0"/>
                  </a:rPr>
                  <a:t>i</a:t>
                </a:r>
                <a:r>
                  <a:rPr lang="en-AU" dirty="0">
                    <a:latin typeface="Courier New" panose="02070309020205020404" pitchFamily="49" charset="0"/>
                    <a:cs typeface="Courier New" panose="02070309020205020404" pitchFamily="49" charset="0"/>
                  </a:rPr>
                  <a:t> in range(1, n):</a:t>
                </a:r>
              </a:p>
              <a:p>
                <a:pPr marL="457200" lvl="1" indent="0">
                  <a:buNone/>
                </a:pPr>
                <a:r>
                  <a:rPr lang="en-AU" dirty="0">
                    <a:latin typeface="Courier New" panose="02070309020205020404" pitchFamily="49" charset="0"/>
                    <a:cs typeface="Courier New" panose="02070309020205020404" pitchFamily="49" charset="0"/>
                  </a:rPr>
                  <a:t>	    </a:t>
                </a:r>
                <a14:m>
                  <m:oMath xmlns:m="http://schemas.openxmlformats.org/officeDocument/2006/math">
                    <m:sSub>
                      <m:sSubPr>
                        <m:ctrlPr>
                          <a:rPr lang="en-AU" i="1" dirty="0" smtClean="0">
                            <a:latin typeface="Cambria Math" panose="02040503050406030204" pitchFamily="18" charset="0"/>
                            <a:cs typeface="Courier New" panose="02070309020205020404" pitchFamily="49" charset="0"/>
                          </a:rPr>
                        </m:ctrlPr>
                      </m:sSubPr>
                      <m:e>
                        <m:r>
                          <a:rPr lang="en-AU" i="1" dirty="0" smtClean="0">
                            <a:latin typeface="Cambria Math" panose="02040503050406030204" pitchFamily="18" charset="0"/>
                            <a:cs typeface="Courier New" panose="02070309020205020404" pitchFamily="49" charset="0"/>
                          </a:rPr>
                          <m:t>𝑤</m:t>
                        </m:r>
                      </m:e>
                      <m:sub>
                        <m:r>
                          <a:rPr lang="en-AU" i="1" dirty="0" smtClean="0">
                            <a:latin typeface="Cambria Math" panose="02040503050406030204" pitchFamily="18" charset="0"/>
                            <a:cs typeface="Courier New" panose="02070309020205020404" pitchFamily="49" charset="0"/>
                          </a:rPr>
                          <m:t>𝑖</m:t>
                        </m:r>
                      </m:sub>
                    </m:sSub>
                    <m:r>
                      <a:rPr lang="en-AU" i="1" dirty="0" smtClean="0">
                        <a:latin typeface="Cambria Math" panose="02040503050406030204" pitchFamily="18" charset="0"/>
                        <a:cs typeface="Courier New" panose="02070309020205020404" pitchFamily="49" charset="0"/>
                      </a:rPr>
                      <m:t> = </m:t>
                    </m:r>
                    <m:sSub>
                      <m:sSubPr>
                        <m:ctrlPr>
                          <a:rPr lang="en-AU" i="1" dirty="0" err="1" smtClean="0">
                            <a:latin typeface="Cambria Math" panose="02040503050406030204" pitchFamily="18" charset="0"/>
                            <a:cs typeface="Courier New" panose="02070309020205020404" pitchFamily="49" charset="0"/>
                          </a:rPr>
                        </m:ctrlPr>
                      </m:sSubPr>
                      <m:e>
                        <m:r>
                          <a:rPr lang="en-AU" i="1" dirty="0" err="1" smtClean="0">
                            <a:latin typeface="Cambria Math" panose="02040503050406030204" pitchFamily="18" charset="0"/>
                            <a:cs typeface="Courier New" panose="02070309020205020404" pitchFamily="49" charset="0"/>
                          </a:rPr>
                          <m:t>𝑤</m:t>
                        </m:r>
                      </m:e>
                      <m:sub>
                        <m:r>
                          <a:rPr lang="en-AU" i="1" dirty="0" err="1" smtClean="0">
                            <a:latin typeface="Cambria Math" panose="02040503050406030204" pitchFamily="18" charset="0"/>
                            <a:cs typeface="Courier New" panose="02070309020205020404" pitchFamily="49" charset="0"/>
                          </a:rPr>
                          <m:t>𝑖</m:t>
                        </m:r>
                      </m:sub>
                    </m:sSub>
                    <m:r>
                      <a:rPr lang="en-AU" i="1" dirty="0" smtClean="0">
                        <a:latin typeface="Cambria Math" panose="02040503050406030204" pitchFamily="18" charset="0"/>
                        <a:cs typeface="Courier New" panose="02070309020205020404" pitchFamily="49" charset="0"/>
                      </a:rPr>
                      <m:t>−</m:t>
                    </m:r>
                    <m:r>
                      <a:rPr lang="en-AU" b="0" i="1" dirty="0" smtClean="0">
                        <a:latin typeface="Cambria Math" panose="02040503050406030204" pitchFamily="18" charset="0"/>
                        <a:cs typeface="Courier New" panose="02070309020205020404" pitchFamily="49" charset="0"/>
                      </a:rPr>
                      <m:t>𝛼</m:t>
                    </m:r>
                    <m:r>
                      <a:rPr lang="en-AU" i="1" dirty="0" smtClean="0">
                        <a:latin typeface="Cambria Math" panose="02040503050406030204" pitchFamily="18" charset="0"/>
                        <a:cs typeface="Courier New" panose="02070309020205020404" pitchFamily="49" charset="0"/>
                      </a:rPr>
                      <m:t> </m:t>
                    </m:r>
                    <m:f>
                      <m:fPr>
                        <m:ctrlPr>
                          <a:rPr lang="en-US" i="1">
                            <a:latin typeface="Cambria Math" panose="02040503050406030204" pitchFamily="18" charset="0"/>
                          </a:rPr>
                        </m:ctrlPr>
                      </m:fPr>
                      <m:num>
                        <m:r>
                          <a:rPr lang="en-US" i="1">
                            <a:latin typeface="Cambria Math" panose="02040503050406030204" pitchFamily="18" charset="0"/>
                          </a:rPr>
                          <m:t>𝜕</m:t>
                        </m:r>
                      </m:num>
                      <m:den>
                        <m:r>
                          <a:rPr lang="en-US" i="1">
                            <a:latin typeface="Cambria Math" panose="02040503050406030204" pitchFamily="18" charset="0"/>
                          </a:rPr>
                          <m:t>𝜕</m:t>
                        </m:r>
                        <m:sSub>
                          <m:sSubPr>
                            <m:ctrlPr>
                              <a:rPr lang="en-AU" i="1">
                                <a:latin typeface="Cambria Math" panose="02040503050406030204" pitchFamily="18" charset="0"/>
                              </a:rPr>
                            </m:ctrlPr>
                          </m:sSubPr>
                          <m:e>
                            <m:r>
                              <a:rPr lang="en-AU" i="1">
                                <a:latin typeface="Cambria Math" panose="02040503050406030204" pitchFamily="18" charset="0"/>
                              </a:rPr>
                              <m:t>𝑤</m:t>
                            </m:r>
                          </m:e>
                          <m:sub>
                            <m:r>
                              <a:rPr lang="en-AU" b="0" i="1" smtClean="0">
                                <a:latin typeface="Cambria Math" panose="02040503050406030204" pitchFamily="18" charset="0"/>
                              </a:rPr>
                              <m:t>𝑖</m:t>
                            </m:r>
                          </m:sub>
                        </m:sSub>
                      </m:den>
                    </m:f>
                    <m:r>
                      <a:rPr lang="en-US" i="1">
                        <a:latin typeface="Cambria Math" panose="02040503050406030204" pitchFamily="18" charset="0"/>
                        <a:ea typeface="Cambria Math" panose="02040503050406030204" pitchFamily="18" charset="0"/>
                      </a:rPr>
                      <m:t>ℒ</m:t>
                    </m:r>
                    <m:d>
                      <m:dPr>
                        <m:ctrlPr>
                          <a:rPr lang="en-AU" b="0" i="1" smtClean="0">
                            <a:latin typeface="Cambria Math" panose="02040503050406030204" pitchFamily="18" charset="0"/>
                            <a:ea typeface="Cambria Math" panose="02040503050406030204" pitchFamily="18" charset="0"/>
                          </a:rPr>
                        </m:ctrlPr>
                      </m:dPr>
                      <m:e>
                        <m:sSub>
                          <m:sSubPr>
                            <m:ctrlPr>
                              <a:rPr lang="en-AU" b="0" i="1" smtClean="0">
                                <a:latin typeface="Cambria Math" panose="02040503050406030204" pitchFamily="18" charset="0"/>
                                <a:ea typeface="Cambria Math" panose="02040503050406030204" pitchFamily="18" charset="0"/>
                              </a:rPr>
                            </m:ctrlPr>
                          </m:sSubPr>
                          <m:e>
                            <m:r>
                              <a:rPr lang="en-AU" b="0" i="1" smtClean="0">
                                <a:latin typeface="Cambria Math" panose="02040503050406030204" pitchFamily="18" charset="0"/>
                                <a:ea typeface="Cambria Math" panose="02040503050406030204" pitchFamily="18" charset="0"/>
                              </a:rPr>
                              <m:t>𝑤</m:t>
                            </m:r>
                          </m:e>
                          <m:sub>
                            <m:r>
                              <a:rPr lang="en-AU" b="0" i="1" smtClean="0">
                                <a:latin typeface="Cambria Math" panose="02040503050406030204" pitchFamily="18" charset="0"/>
                                <a:ea typeface="Cambria Math" panose="02040503050406030204" pitchFamily="18" charset="0"/>
                              </a:rPr>
                              <m:t>1</m:t>
                            </m:r>
                          </m:sub>
                        </m:sSub>
                        <m:r>
                          <a:rPr lang="en-AU" b="0" i="1" smtClean="0">
                            <a:latin typeface="Cambria Math" panose="02040503050406030204" pitchFamily="18" charset="0"/>
                            <a:ea typeface="Cambria Math" panose="02040503050406030204" pitchFamily="18" charset="0"/>
                          </a:rPr>
                          <m:t>,…,</m:t>
                        </m:r>
                        <m:sSub>
                          <m:sSubPr>
                            <m:ctrlPr>
                              <a:rPr lang="en-AU" b="0" i="1" smtClean="0">
                                <a:latin typeface="Cambria Math" panose="02040503050406030204" pitchFamily="18" charset="0"/>
                                <a:ea typeface="Cambria Math" panose="02040503050406030204" pitchFamily="18" charset="0"/>
                              </a:rPr>
                            </m:ctrlPr>
                          </m:sSubPr>
                          <m:e>
                            <m:r>
                              <a:rPr lang="en-AU" b="0" i="1" smtClean="0">
                                <a:latin typeface="Cambria Math" panose="02040503050406030204" pitchFamily="18" charset="0"/>
                                <a:ea typeface="Cambria Math" panose="02040503050406030204" pitchFamily="18" charset="0"/>
                              </a:rPr>
                              <m:t>𝑤</m:t>
                            </m:r>
                          </m:e>
                          <m:sub>
                            <m:r>
                              <a:rPr lang="en-AU" b="0" i="1" smtClean="0">
                                <a:latin typeface="Cambria Math" panose="02040503050406030204" pitchFamily="18" charset="0"/>
                                <a:ea typeface="Cambria Math" panose="02040503050406030204" pitchFamily="18" charset="0"/>
                              </a:rPr>
                              <m:t>𝑛</m:t>
                            </m:r>
                          </m:sub>
                        </m:sSub>
                        <m:r>
                          <a:rPr lang="en-AU" i="1">
                            <a:latin typeface="Cambria Math" panose="02040503050406030204" pitchFamily="18" charset="0"/>
                            <a:ea typeface="Cambria Math" panose="02040503050406030204" pitchFamily="18" charset="0"/>
                          </a:rPr>
                          <m:t>,</m:t>
                        </m:r>
                        <m:r>
                          <a:rPr lang="en-AU" i="1">
                            <a:latin typeface="Cambria Math" panose="02040503050406030204" pitchFamily="18" charset="0"/>
                            <a:ea typeface="Cambria Math" panose="02040503050406030204" pitchFamily="18" charset="0"/>
                          </a:rPr>
                          <m:t>𝑏</m:t>
                        </m:r>
                      </m:e>
                    </m:d>
                  </m:oMath>
                </a14:m>
                <a:endParaRPr lang="en-AU" dirty="0">
                  <a:latin typeface="Courier New" panose="02070309020205020404" pitchFamily="49" charset="0"/>
                  <a:ea typeface="Cambria Math" panose="02040503050406030204" pitchFamily="18" charset="0"/>
                </a:endParaRPr>
              </a:p>
              <a:p>
                <a:pPr marL="457200" lvl="1" indent="0">
                  <a:buNone/>
                </a:pPr>
                <a:r>
                  <a:rPr lang="en-AU" dirty="0">
                    <a:latin typeface="Courier New" panose="02070309020205020404" pitchFamily="49" charset="0"/>
                    <a:cs typeface="Courier New" panose="02070309020205020404" pitchFamily="49" charset="0"/>
                  </a:rPr>
                  <a:t>   </a:t>
                </a:r>
                <a14:m>
                  <m:oMath xmlns:m="http://schemas.openxmlformats.org/officeDocument/2006/math">
                    <m:r>
                      <a:rPr lang="en-AU" b="0" i="1" dirty="0" smtClean="0">
                        <a:latin typeface="Cambria Math" panose="02040503050406030204" pitchFamily="18" charset="0"/>
                        <a:cs typeface="Courier New" panose="02070309020205020404" pitchFamily="49" charset="0"/>
                      </a:rPr>
                      <m:t>𝑏</m:t>
                    </m:r>
                    <m:r>
                      <a:rPr lang="en-AU" i="1" dirty="0">
                        <a:latin typeface="Cambria Math" panose="02040503050406030204" pitchFamily="18" charset="0"/>
                        <a:cs typeface="Courier New" panose="02070309020205020404" pitchFamily="49" charset="0"/>
                      </a:rPr>
                      <m:t> =</m:t>
                    </m:r>
                    <m:r>
                      <a:rPr lang="en-AU" b="0" i="1" dirty="0" smtClean="0">
                        <a:latin typeface="Cambria Math" panose="02040503050406030204" pitchFamily="18" charset="0"/>
                        <a:cs typeface="Courier New" panose="02070309020205020404" pitchFamily="49" charset="0"/>
                      </a:rPr>
                      <m:t>𝑏</m:t>
                    </m:r>
                    <m:r>
                      <a:rPr lang="en-AU" i="1" dirty="0">
                        <a:latin typeface="Cambria Math" panose="02040503050406030204" pitchFamily="18" charset="0"/>
                        <a:cs typeface="Courier New" panose="02070309020205020404" pitchFamily="49" charset="0"/>
                      </a:rPr>
                      <m:t>−</m:t>
                    </m:r>
                    <m:r>
                      <a:rPr lang="en-AU" i="1" dirty="0">
                        <a:latin typeface="Cambria Math" panose="02040503050406030204" pitchFamily="18" charset="0"/>
                        <a:cs typeface="Courier New" panose="02070309020205020404" pitchFamily="49" charset="0"/>
                      </a:rPr>
                      <m:t>𝛼</m:t>
                    </m:r>
                    <m:r>
                      <a:rPr lang="en-AU" i="1" dirty="0">
                        <a:latin typeface="Cambria Math" panose="02040503050406030204" pitchFamily="18" charset="0"/>
                        <a:cs typeface="Courier New" panose="02070309020205020404" pitchFamily="49" charset="0"/>
                      </a:rPr>
                      <m:t> </m:t>
                    </m:r>
                    <m:f>
                      <m:fPr>
                        <m:ctrlPr>
                          <a:rPr lang="en-US" i="1">
                            <a:latin typeface="Cambria Math" panose="02040503050406030204" pitchFamily="18" charset="0"/>
                          </a:rPr>
                        </m:ctrlPr>
                      </m:fPr>
                      <m:num>
                        <m:r>
                          <a:rPr lang="en-US" i="1">
                            <a:latin typeface="Cambria Math" panose="02040503050406030204" pitchFamily="18" charset="0"/>
                          </a:rPr>
                          <m:t>𝜕</m:t>
                        </m:r>
                      </m:num>
                      <m:den>
                        <m:r>
                          <a:rPr lang="en-US" i="1">
                            <a:latin typeface="Cambria Math" panose="02040503050406030204" pitchFamily="18" charset="0"/>
                          </a:rPr>
                          <m:t>𝜕</m:t>
                        </m:r>
                        <m:r>
                          <a:rPr lang="en-AU" b="0" i="1" smtClean="0">
                            <a:latin typeface="Cambria Math" panose="02040503050406030204" pitchFamily="18" charset="0"/>
                          </a:rPr>
                          <m:t>𝑏</m:t>
                        </m:r>
                      </m:den>
                    </m:f>
                    <m:r>
                      <a:rPr lang="en-US" i="1">
                        <a:latin typeface="Cambria Math" panose="02040503050406030204" pitchFamily="18" charset="0"/>
                        <a:ea typeface="Cambria Math" panose="02040503050406030204" pitchFamily="18" charset="0"/>
                      </a:rPr>
                      <m:t>ℒ</m:t>
                    </m:r>
                    <m:d>
                      <m:dPr>
                        <m:ctrlPr>
                          <a:rPr lang="en-AU" i="1">
                            <a:latin typeface="Cambria Math" panose="02040503050406030204" pitchFamily="18" charset="0"/>
                            <a:ea typeface="Cambria Math" panose="02040503050406030204" pitchFamily="18" charset="0"/>
                          </a:rPr>
                        </m:ctrlPr>
                      </m:dPr>
                      <m:e>
                        <m:sSub>
                          <m:sSubPr>
                            <m:ctrlPr>
                              <a:rPr lang="en-AU" i="1">
                                <a:latin typeface="Cambria Math" panose="02040503050406030204" pitchFamily="18" charset="0"/>
                                <a:ea typeface="Cambria Math" panose="02040503050406030204" pitchFamily="18" charset="0"/>
                              </a:rPr>
                            </m:ctrlPr>
                          </m:sSubPr>
                          <m:e>
                            <m:r>
                              <a:rPr lang="en-AU" i="1">
                                <a:latin typeface="Cambria Math" panose="02040503050406030204" pitchFamily="18" charset="0"/>
                                <a:ea typeface="Cambria Math" panose="02040503050406030204" pitchFamily="18" charset="0"/>
                              </a:rPr>
                              <m:t>𝑤</m:t>
                            </m:r>
                          </m:e>
                          <m:sub>
                            <m:r>
                              <a:rPr lang="en-AU" i="1">
                                <a:latin typeface="Cambria Math" panose="02040503050406030204" pitchFamily="18" charset="0"/>
                                <a:ea typeface="Cambria Math" panose="02040503050406030204" pitchFamily="18" charset="0"/>
                              </a:rPr>
                              <m:t>1</m:t>
                            </m:r>
                          </m:sub>
                        </m:sSub>
                        <m:r>
                          <a:rPr lang="en-AU" i="1">
                            <a:latin typeface="Cambria Math" panose="02040503050406030204" pitchFamily="18" charset="0"/>
                            <a:ea typeface="Cambria Math" panose="02040503050406030204" pitchFamily="18" charset="0"/>
                          </a:rPr>
                          <m:t>,…,</m:t>
                        </m:r>
                        <m:sSub>
                          <m:sSubPr>
                            <m:ctrlPr>
                              <a:rPr lang="en-AU" i="1">
                                <a:latin typeface="Cambria Math" panose="02040503050406030204" pitchFamily="18" charset="0"/>
                                <a:ea typeface="Cambria Math" panose="02040503050406030204" pitchFamily="18" charset="0"/>
                              </a:rPr>
                            </m:ctrlPr>
                          </m:sSubPr>
                          <m:e>
                            <m:r>
                              <a:rPr lang="en-AU" i="1">
                                <a:latin typeface="Cambria Math" panose="02040503050406030204" pitchFamily="18" charset="0"/>
                                <a:ea typeface="Cambria Math" panose="02040503050406030204" pitchFamily="18" charset="0"/>
                              </a:rPr>
                              <m:t>𝑤</m:t>
                            </m:r>
                          </m:e>
                          <m:sub>
                            <m:r>
                              <a:rPr lang="en-AU" i="1">
                                <a:latin typeface="Cambria Math" panose="02040503050406030204" pitchFamily="18" charset="0"/>
                                <a:ea typeface="Cambria Math" panose="02040503050406030204" pitchFamily="18" charset="0"/>
                              </a:rPr>
                              <m:t>𝑛</m:t>
                            </m:r>
                          </m:sub>
                        </m:sSub>
                        <m:r>
                          <a:rPr lang="en-AU" i="1">
                            <a:latin typeface="Cambria Math" panose="02040503050406030204" pitchFamily="18" charset="0"/>
                            <a:ea typeface="Cambria Math" panose="02040503050406030204" pitchFamily="18" charset="0"/>
                          </a:rPr>
                          <m:t>,</m:t>
                        </m:r>
                        <m:r>
                          <a:rPr lang="en-AU" i="1">
                            <a:latin typeface="Cambria Math" panose="02040503050406030204" pitchFamily="18" charset="0"/>
                            <a:ea typeface="Cambria Math" panose="02040503050406030204" pitchFamily="18" charset="0"/>
                          </a:rPr>
                          <m:t>𝑏</m:t>
                        </m:r>
                      </m:e>
                    </m:d>
                  </m:oMath>
                </a14:m>
                <a:endParaRPr lang="en-AU" dirty="0">
                  <a:latin typeface="Courier New" panose="02070309020205020404" pitchFamily="49" charset="0"/>
                  <a:cs typeface="Courier New" panose="02070309020205020404" pitchFamily="49" charset="0"/>
                </a:endParaRPr>
              </a:p>
              <a:p>
                <a:pPr marL="457200" lvl="1" indent="0">
                  <a:buNone/>
                </a:pPr>
                <a:r>
                  <a:rPr lang="en-AU" dirty="0">
                    <a:latin typeface="Courier New" panose="02070309020205020404" pitchFamily="49" charset="0"/>
                    <a:cs typeface="Courier New" panose="02070309020205020404" pitchFamily="49" charset="0"/>
                  </a:rPr>
                  <a:t>}</a:t>
                </a:r>
              </a:p>
              <a:p>
                <a:endParaRPr lang="en-US" dirty="0"/>
              </a:p>
            </p:txBody>
          </p:sp>
        </mc:Choice>
        <mc:Fallback>
          <p:sp>
            <p:nvSpPr>
              <p:cNvPr id="7" name="Content Placeholder 6">
                <a:extLst>
                  <a:ext uri="{FF2B5EF4-FFF2-40B4-BE49-F238E27FC236}">
                    <a16:creationId xmlns:a16="http://schemas.microsoft.com/office/drawing/2014/main" id="{A73CA64E-57F6-72B9-9F8B-5BE664C7FB9E}"/>
                  </a:ext>
                </a:extLst>
              </p:cNvPr>
              <p:cNvSpPr>
                <a:spLocks noGrp="1" noRot="1" noChangeAspect="1" noMove="1" noResize="1" noEditPoints="1" noAdjustHandles="1" noChangeArrowheads="1" noChangeShapeType="1" noTextEdit="1"/>
              </p:cNvSpPr>
              <p:nvPr>
                <p:ph idx="1"/>
              </p:nvPr>
            </p:nvSpPr>
            <p:spPr>
              <a:blipFill>
                <a:blip r:embed="rId3"/>
                <a:stretch>
                  <a:fillRect l="-965" t="-2616" b="-2035"/>
                </a:stretch>
              </a:blipFill>
            </p:spPr>
            <p:txBody>
              <a:bodyPr/>
              <a:lstStyle/>
              <a:p>
                <a:r>
                  <a:rPr lang="en-US">
                    <a:noFill/>
                  </a:rPr>
                  <a:t> </a:t>
                </a:r>
              </a:p>
            </p:txBody>
          </p:sp>
        </mc:Fallback>
      </mc:AlternateContent>
    </p:spTree>
    <p:extLst>
      <p:ext uri="{BB962C8B-B14F-4D97-AF65-F5344CB8AC3E}">
        <p14:creationId xmlns:p14="http://schemas.microsoft.com/office/powerpoint/2010/main" val="4048861639"/>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mc:Choice xmlns:a14="http://schemas.microsoft.com/office/drawing/2010/main" Requires="a14">
          <p:sp>
            <p:nvSpPr>
              <p:cNvPr id="2" name="Title 1">
                <a:extLst>
                  <a:ext uri="{FF2B5EF4-FFF2-40B4-BE49-F238E27FC236}">
                    <a16:creationId xmlns:a16="http://schemas.microsoft.com/office/drawing/2014/main" id="{D2879D13-4528-D16F-0E3E-EFA47B0DC770}"/>
                  </a:ext>
                </a:extLst>
              </p:cNvPr>
              <p:cNvSpPr>
                <a:spLocks noGrp="1"/>
              </p:cNvSpPr>
              <p:nvPr>
                <p:ph type="title"/>
              </p:nvPr>
            </p:nvSpPr>
            <p:spPr/>
            <p:txBody>
              <a:bodyPr/>
              <a:lstStyle/>
              <a:p>
                <a:r>
                  <a:rPr lang="en-AU" b="1" dirty="0"/>
                  <a:t>Multiple Regression for </a:t>
                </a:r>
                <a14:m>
                  <m:oMath xmlns:m="http://schemas.openxmlformats.org/officeDocument/2006/math">
                    <m:r>
                      <a:rPr lang="en-AU" b="1" i="1" dirty="0" smtClean="0">
                        <a:latin typeface="Cambria Math" panose="02040503050406030204" pitchFamily="18" charset="0"/>
                      </a:rPr>
                      <m:t>𝒎</m:t>
                    </m:r>
                  </m:oMath>
                </a14:m>
                <a:r>
                  <a:rPr lang="en-AU" b="1" dirty="0"/>
                  <a:t> instances (batched)</a:t>
                </a:r>
                <a:endParaRPr lang="en-US" b="1" dirty="0"/>
              </a:p>
            </p:txBody>
          </p:sp>
        </mc:Choice>
        <mc:Fallback>
          <p:sp>
            <p:nvSpPr>
              <p:cNvPr id="2" name="Title 1">
                <a:extLst>
                  <a:ext uri="{FF2B5EF4-FFF2-40B4-BE49-F238E27FC236}">
                    <a16:creationId xmlns:a16="http://schemas.microsoft.com/office/drawing/2014/main" id="{D2879D13-4528-D16F-0E3E-EFA47B0DC770}"/>
                  </a:ext>
                </a:extLst>
              </p:cNvPr>
              <p:cNvSpPr>
                <a:spLocks noGrp="1" noRot="1" noChangeAspect="1" noMove="1" noResize="1" noEditPoints="1" noAdjustHandles="1" noChangeArrowheads="1" noChangeShapeType="1" noTextEdit="1"/>
              </p:cNvSpPr>
              <p:nvPr>
                <p:ph type="title"/>
              </p:nvPr>
            </p:nvSpPr>
            <p:spPr>
              <a:blipFill>
                <a:blip r:embed="rId2"/>
                <a:stretch>
                  <a:fillRect l="-2413" r="-483"/>
                </a:stretch>
              </a:blipFill>
            </p:spPr>
            <p:txBody>
              <a:bodyPr/>
              <a:lstStyle/>
              <a:p>
                <a:r>
                  <a:rPr lang="en-US">
                    <a:noFill/>
                  </a:rPr>
                  <a:t> </a:t>
                </a:r>
              </a:p>
            </p:txBody>
          </p:sp>
        </mc:Fallback>
      </mc:AlternateContent>
      <mc:AlternateContent xmlns:mc="http://schemas.openxmlformats.org/markup-compatibility/2006">
        <mc:Choice xmlns:a14="http://schemas.microsoft.com/office/drawing/2010/main" Requires="a14">
          <p:sp>
            <p:nvSpPr>
              <p:cNvPr id="7" name="Content Placeholder 6">
                <a:extLst>
                  <a:ext uri="{FF2B5EF4-FFF2-40B4-BE49-F238E27FC236}">
                    <a16:creationId xmlns:a16="http://schemas.microsoft.com/office/drawing/2014/main" id="{0023E489-890D-89E3-5772-48D38FDF1CB6}"/>
                  </a:ext>
                </a:extLst>
              </p:cNvPr>
              <p:cNvSpPr>
                <a:spLocks noGrp="1"/>
              </p:cNvSpPr>
              <p:nvPr>
                <p:ph idx="1"/>
              </p:nvPr>
            </p:nvSpPr>
            <p:spPr>
              <a:xfrm>
                <a:off x="215154" y="1825625"/>
                <a:ext cx="5880846" cy="3391834"/>
              </a:xfrm>
            </p:spPr>
            <p:txBody>
              <a:bodyPr>
                <a:normAutofit fontScale="92500" lnSpcReduction="10000"/>
              </a:bodyPr>
              <a:lstStyle/>
              <a:p>
                <a:r>
                  <a:rPr lang="en-US" dirty="0"/>
                  <a:t>One feature</a:t>
                </a:r>
              </a:p>
              <a:p>
                <a:pPr marL="0" indent="0">
                  <a:buNone/>
                </a:pPr>
                <a:r>
                  <a:rPr lang="en-US" dirty="0"/>
                  <a:t>repeat {</a:t>
                </a:r>
              </a:p>
              <a:p>
                <a:pPr marL="0" indent="0">
                  <a:buNone/>
                </a:pPr>
                <a:r>
                  <a:rPr lang="en-US" dirty="0"/>
                  <a:t>   </a:t>
                </a:r>
                <a14:m>
                  <m:oMath xmlns:m="http://schemas.openxmlformats.org/officeDocument/2006/math">
                    <m:r>
                      <m:rPr>
                        <m:sty m:val="p"/>
                      </m:rPr>
                      <a:rPr lang="en-AU" b="0" i="0" smtClean="0">
                        <a:latin typeface="Cambria Math" panose="02040503050406030204" pitchFamily="18" charset="0"/>
                        <a:ea typeface="Cambria Math" panose="02040503050406030204" pitchFamily="18" charset="0"/>
                      </a:rPr>
                      <m:t>w</m:t>
                    </m:r>
                    <m:r>
                      <a:rPr lang="en-AU" b="0" i="0" smtClean="0">
                        <a:latin typeface="Cambria Math" panose="02040503050406030204" pitchFamily="18" charset="0"/>
                        <a:ea typeface="Cambria Math" panose="02040503050406030204" pitchFamily="18" charset="0"/>
                      </a:rPr>
                      <m:t>=</m:t>
                    </m:r>
                    <m:r>
                      <m:rPr>
                        <m:sty m:val="p"/>
                      </m:rPr>
                      <a:rPr lang="en-AU" b="0" i="0" smtClean="0">
                        <a:latin typeface="Cambria Math" panose="02040503050406030204" pitchFamily="18" charset="0"/>
                        <a:ea typeface="Cambria Math" panose="02040503050406030204" pitchFamily="18" charset="0"/>
                      </a:rPr>
                      <m:t>w</m:t>
                    </m:r>
                    <m:r>
                      <a:rPr lang="en-AU" b="0" i="0" smtClean="0">
                        <a:latin typeface="Cambria Math" panose="02040503050406030204" pitchFamily="18" charset="0"/>
                        <a:ea typeface="Cambria Math" panose="02040503050406030204" pitchFamily="18" charset="0"/>
                      </a:rPr>
                      <m:t>−</m:t>
                    </m:r>
                    <m:r>
                      <a:rPr lang="en-AU" b="0" i="1" smtClean="0">
                        <a:latin typeface="Cambria Math" panose="02040503050406030204" pitchFamily="18" charset="0"/>
                        <a:ea typeface="Cambria Math" panose="02040503050406030204" pitchFamily="18" charset="0"/>
                      </a:rPr>
                      <m:t>𝛼</m:t>
                    </m:r>
                    <m:f>
                      <m:fPr>
                        <m:ctrlPr>
                          <a:rPr lang="en-AU" b="0" i="1" smtClean="0">
                            <a:latin typeface="Cambria Math" panose="02040503050406030204" pitchFamily="18" charset="0"/>
                            <a:ea typeface="Cambria Math" panose="02040503050406030204" pitchFamily="18" charset="0"/>
                          </a:rPr>
                        </m:ctrlPr>
                      </m:fPr>
                      <m:num>
                        <m:r>
                          <a:rPr lang="en-AU" b="0" i="1" smtClean="0">
                            <a:latin typeface="Cambria Math" panose="02040503050406030204" pitchFamily="18" charset="0"/>
                            <a:ea typeface="Cambria Math" panose="02040503050406030204" pitchFamily="18" charset="0"/>
                          </a:rPr>
                          <m:t>1</m:t>
                        </m:r>
                      </m:num>
                      <m:den>
                        <m:r>
                          <a:rPr lang="en-AU" b="0" i="1" smtClean="0">
                            <a:latin typeface="Cambria Math" panose="02040503050406030204" pitchFamily="18" charset="0"/>
                            <a:ea typeface="Cambria Math" panose="02040503050406030204" pitchFamily="18" charset="0"/>
                          </a:rPr>
                          <m:t>𝑚</m:t>
                        </m:r>
                      </m:den>
                    </m:f>
                    <m:nary>
                      <m:naryPr>
                        <m:chr m:val="∑"/>
                        <m:ctrlPr>
                          <a:rPr lang="en-AU" b="0" i="1" smtClean="0">
                            <a:latin typeface="Cambria Math" panose="02040503050406030204" pitchFamily="18" charset="0"/>
                            <a:ea typeface="Cambria Math" panose="02040503050406030204" pitchFamily="18" charset="0"/>
                          </a:rPr>
                        </m:ctrlPr>
                      </m:naryPr>
                      <m:sub>
                        <m:r>
                          <m:rPr>
                            <m:brk m:alnAt="23"/>
                          </m:rPr>
                          <a:rPr lang="en-AU" b="0" i="1" smtClean="0">
                            <a:latin typeface="Cambria Math" panose="02040503050406030204" pitchFamily="18" charset="0"/>
                            <a:ea typeface="Cambria Math" panose="02040503050406030204" pitchFamily="18" charset="0"/>
                          </a:rPr>
                          <m:t>𝑖</m:t>
                        </m:r>
                        <m:r>
                          <m:rPr>
                            <m:brk m:alnAt="23"/>
                          </m:rPr>
                          <a:rPr lang="en-AU" b="0" i="1" smtClean="0">
                            <a:latin typeface="Cambria Math" panose="02040503050406030204" pitchFamily="18" charset="0"/>
                            <a:ea typeface="Cambria Math" panose="02040503050406030204" pitchFamily="18" charset="0"/>
                          </a:rPr>
                          <m:t>=</m:t>
                        </m:r>
                        <m:r>
                          <m:rPr>
                            <m:brk m:alnAt="23"/>
                          </m:rPr>
                          <a:rPr lang="en-AU" b="0" i="1" smtClean="0">
                            <a:latin typeface="Cambria Math" panose="02040503050406030204" pitchFamily="18" charset="0"/>
                            <a:ea typeface="Cambria Math" panose="02040503050406030204" pitchFamily="18" charset="0"/>
                          </a:rPr>
                          <m:t>1</m:t>
                        </m:r>
                      </m:sub>
                      <m:sup>
                        <m:r>
                          <a:rPr lang="en-AU" b="0" i="1" smtClean="0">
                            <a:latin typeface="Cambria Math" panose="02040503050406030204" pitchFamily="18" charset="0"/>
                            <a:ea typeface="Cambria Math" panose="02040503050406030204" pitchFamily="18" charset="0"/>
                          </a:rPr>
                          <m:t>𝑚</m:t>
                        </m:r>
                      </m:sup>
                      <m:e>
                        <m:d>
                          <m:dPr>
                            <m:ctrlPr>
                              <a:rPr lang="en-AU" i="1">
                                <a:latin typeface="Cambria Math" panose="02040503050406030204" pitchFamily="18" charset="0"/>
                                <a:ea typeface="Cambria Math" panose="02040503050406030204" pitchFamily="18" charset="0"/>
                              </a:rPr>
                            </m:ctrlPr>
                          </m:dPr>
                          <m:e>
                            <m:sSub>
                              <m:sSubPr>
                                <m:ctrlPr>
                                  <a:rPr lang="en-AU" i="1">
                                    <a:latin typeface="Cambria Math" panose="02040503050406030204" pitchFamily="18" charset="0"/>
                                    <a:ea typeface="Cambria Math" panose="02040503050406030204" pitchFamily="18" charset="0"/>
                                  </a:rPr>
                                </m:ctrlPr>
                              </m:sSubPr>
                              <m:e>
                                <m:r>
                                  <a:rPr lang="en-AU" i="1">
                                    <a:latin typeface="Cambria Math" panose="02040503050406030204" pitchFamily="18" charset="0"/>
                                    <a:ea typeface="Cambria Math" panose="02040503050406030204" pitchFamily="18" charset="0"/>
                                  </a:rPr>
                                  <m:t>𝑓</m:t>
                                </m:r>
                              </m:e>
                              <m:sub>
                                <m:r>
                                  <a:rPr lang="en-AU" i="1">
                                    <a:latin typeface="Cambria Math" panose="02040503050406030204" pitchFamily="18" charset="0"/>
                                    <a:ea typeface="Cambria Math" panose="02040503050406030204" pitchFamily="18" charset="0"/>
                                  </a:rPr>
                                  <m:t>𝑤</m:t>
                                </m:r>
                                <m:r>
                                  <a:rPr lang="en-AU" i="1">
                                    <a:latin typeface="Cambria Math" panose="02040503050406030204" pitchFamily="18" charset="0"/>
                                    <a:ea typeface="Cambria Math" panose="02040503050406030204" pitchFamily="18" charset="0"/>
                                  </a:rPr>
                                  <m:t>,</m:t>
                                </m:r>
                                <m:r>
                                  <a:rPr lang="en-AU" i="1">
                                    <a:latin typeface="Cambria Math" panose="02040503050406030204" pitchFamily="18" charset="0"/>
                                    <a:ea typeface="Cambria Math" panose="02040503050406030204" pitchFamily="18" charset="0"/>
                                  </a:rPr>
                                  <m:t>𝑏</m:t>
                                </m:r>
                              </m:sub>
                            </m:sSub>
                            <m:d>
                              <m:dPr>
                                <m:ctrlPr>
                                  <a:rPr lang="en-AU" i="1">
                                    <a:latin typeface="Cambria Math" panose="02040503050406030204" pitchFamily="18" charset="0"/>
                                    <a:ea typeface="Cambria Math" panose="02040503050406030204" pitchFamily="18" charset="0"/>
                                  </a:rPr>
                                </m:ctrlPr>
                              </m:dPr>
                              <m:e>
                                <m:sSup>
                                  <m:sSupPr>
                                    <m:ctrlPr>
                                      <a:rPr lang="en-AU" i="1">
                                        <a:latin typeface="Cambria Math" panose="02040503050406030204" pitchFamily="18" charset="0"/>
                                        <a:ea typeface="Cambria Math" panose="02040503050406030204" pitchFamily="18" charset="0"/>
                                      </a:rPr>
                                    </m:ctrlPr>
                                  </m:sSupPr>
                                  <m:e>
                                    <m:r>
                                      <a:rPr lang="en-AU" i="1">
                                        <a:latin typeface="Cambria Math" panose="02040503050406030204" pitchFamily="18" charset="0"/>
                                        <a:ea typeface="Cambria Math" panose="02040503050406030204" pitchFamily="18" charset="0"/>
                                      </a:rPr>
                                      <m:t>𝑥</m:t>
                                    </m:r>
                                  </m:e>
                                  <m:sup>
                                    <m:r>
                                      <a:rPr lang="en-AU" i="1">
                                        <a:latin typeface="Cambria Math" panose="02040503050406030204" pitchFamily="18" charset="0"/>
                                        <a:ea typeface="Cambria Math" panose="02040503050406030204" pitchFamily="18" charset="0"/>
                                      </a:rPr>
                                      <m:t>𝑖</m:t>
                                    </m:r>
                                  </m:sup>
                                </m:sSup>
                              </m:e>
                            </m:d>
                            <m:r>
                              <a:rPr lang="en-AU" i="1">
                                <a:latin typeface="Cambria Math" panose="02040503050406030204" pitchFamily="18" charset="0"/>
                                <a:ea typeface="Cambria Math" panose="02040503050406030204" pitchFamily="18" charset="0"/>
                              </a:rPr>
                              <m:t>−</m:t>
                            </m:r>
                            <m:sSup>
                              <m:sSupPr>
                                <m:ctrlPr>
                                  <a:rPr lang="en-AU" i="1">
                                    <a:latin typeface="Cambria Math" panose="02040503050406030204" pitchFamily="18" charset="0"/>
                                    <a:ea typeface="Cambria Math" panose="02040503050406030204" pitchFamily="18" charset="0"/>
                                  </a:rPr>
                                </m:ctrlPr>
                              </m:sSupPr>
                              <m:e>
                                <m:r>
                                  <a:rPr lang="en-AU" i="1">
                                    <a:latin typeface="Cambria Math" panose="02040503050406030204" pitchFamily="18" charset="0"/>
                                    <a:ea typeface="Cambria Math" panose="02040503050406030204" pitchFamily="18" charset="0"/>
                                  </a:rPr>
                                  <m:t>𝑦</m:t>
                                </m:r>
                              </m:e>
                              <m:sup>
                                <m:r>
                                  <a:rPr lang="en-AU" i="1">
                                    <a:latin typeface="Cambria Math" panose="02040503050406030204" pitchFamily="18" charset="0"/>
                                    <a:ea typeface="Cambria Math" panose="02040503050406030204" pitchFamily="18" charset="0"/>
                                  </a:rPr>
                                  <m:t>𝑖</m:t>
                                </m:r>
                              </m:sup>
                            </m:sSup>
                          </m:e>
                        </m:d>
                        <m:r>
                          <a:rPr lang="en-AU" i="1">
                            <a:latin typeface="Cambria Math" panose="02040503050406030204" pitchFamily="18" charset="0"/>
                            <a:ea typeface="Cambria Math" panose="02040503050406030204" pitchFamily="18" charset="0"/>
                          </a:rPr>
                          <m:t>∗</m:t>
                        </m:r>
                        <m:sSup>
                          <m:sSupPr>
                            <m:ctrlPr>
                              <a:rPr lang="en-AU" i="1">
                                <a:latin typeface="Cambria Math" panose="02040503050406030204" pitchFamily="18" charset="0"/>
                                <a:ea typeface="Cambria Math" panose="02040503050406030204" pitchFamily="18" charset="0"/>
                              </a:rPr>
                            </m:ctrlPr>
                          </m:sSupPr>
                          <m:e>
                            <m:r>
                              <a:rPr lang="en-AU" i="1">
                                <a:latin typeface="Cambria Math" panose="02040503050406030204" pitchFamily="18" charset="0"/>
                                <a:ea typeface="Cambria Math" panose="02040503050406030204" pitchFamily="18" charset="0"/>
                              </a:rPr>
                              <m:t>𝑥</m:t>
                            </m:r>
                          </m:e>
                          <m:sup>
                            <m:r>
                              <a:rPr lang="en-AU" i="1">
                                <a:latin typeface="Cambria Math" panose="02040503050406030204" pitchFamily="18" charset="0"/>
                                <a:ea typeface="Cambria Math" panose="02040503050406030204" pitchFamily="18" charset="0"/>
                              </a:rPr>
                              <m:t>𝑖</m:t>
                            </m:r>
                          </m:sup>
                        </m:sSup>
                      </m:e>
                    </m:nary>
                  </m:oMath>
                </a14:m>
                <a:endParaRPr lang="en-AU" b="0" dirty="0">
                  <a:ea typeface="Cambria Math" panose="02040503050406030204" pitchFamily="18" charset="0"/>
                </a:endParaRPr>
              </a:p>
              <a:p>
                <a:pPr marL="0" indent="0">
                  <a:buNone/>
                </a:pPr>
                <a:r>
                  <a:rPr lang="en-US" dirty="0"/>
                  <a:t>  </a:t>
                </a:r>
                <a14:m>
                  <m:oMath xmlns:m="http://schemas.openxmlformats.org/officeDocument/2006/math">
                    <m:r>
                      <a:rPr lang="en-AU" b="0" i="0" smtClean="0">
                        <a:latin typeface="Cambria Math" panose="02040503050406030204" pitchFamily="18" charset="0"/>
                        <a:ea typeface="Cambria Math" panose="02040503050406030204" pitchFamily="18" charset="0"/>
                      </a:rPr>
                      <m:t> </m:t>
                    </m:r>
                    <m:r>
                      <m:rPr>
                        <m:sty m:val="p"/>
                      </m:rPr>
                      <a:rPr lang="en-AU" b="0" i="0" smtClean="0">
                        <a:latin typeface="Cambria Math" panose="02040503050406030204" pitchFamily="18" charset="0"/>
                        <a:ea typeface="Cambria Math" panose="02040503050406030204" pitchFamily="18" charset="0"/>
                      </a:rPr>
                      <m:t>b</m:t>
                    </m:r>
                    <m:r>
                      <a:rPr lang="en-AU">
                        <a:latin typeface="Cambria Math" panose="02040503050406030204" pitchFamily="18" charset="0"/>
                        <a:ea typeface="Cambria Math" panose="02040503050406030204" pitchFamily="18" charset="0"/>
                      </a:rPr>
                      <m:t>=</m:t>
                    </m:r>
                    <m:r>
                      <m:rPr>
                        <m:sty m:val="p"/>
                      </m:rPr>
                      <a:rPr lang="en-AU" b="0" i="0" smtClean="0">
                        <a:latin typeface="Cambria Math" panose="02040503050406030204" pitchFamily="18" charset="0"/>
                        <a:ea typeface="Cambria Math" panose="02040503050406030204" pitchFamily="18" charset="0"/>
                      </a:rPr>
                      <m:t>b</m:t>
                    </m:r>
                    <m:r>
                      <a:rPr lang="en-AU">
                        <a:latin typeface="Cambria Math" panose="02040503050406030204" pitchFamily="18" charset="0"/>
                        <a:ea typeface="Cambria Math" panose="02040503050406030204" pitchFamily="18" charset="0"/>
                      </a:rPr>
                      <m:t>−</m:t>
                    </m:r>
                    <m:r>
                      <a:rPr lang="en-AU" i="1">
                        <a:latin typeface="Cambria Math" panose="02040503050406030204" pitchFamily="18" charset="0"/>
                        <a:ea typeface="Cambria Math" panose="02040503050406030204" pitchFamily="18" charset="0"/>
                      </a:rPr>
                      <m:t>𝛼</m:t>
                    </m:r>
                    <m:f>
                      <m:fPr>
                        <m:ctrlPr>
                          <a:rPr lang="en-AU" i="1">
                            <a:latin typeface="Cambria Math" panose="02040503050406030204" pitchFamily="18" charset="0"/>
                            <a:ea typeface="Cambria Math" panose="02040503050406030204" pitchFamily="18" charset="0"/>
                          </a:rPr>
                        </m:ctrlPr>
                      </m:fPr>
                      <m:num>
                        <m:r>
                          <a:rPr lang="en-AU" i="1">
                            <a:latin typeface="Cambria Math" panose="02040503050406030204" pitchFamily="18" charset="0"/>
                            <a:ea typeface="Cambria Math" panose="02040503050406030204" pitchFamily="18" charset="0"/>
                          </a:rPr>
                          <m:t>1</m:t>
                        </m:r>
                      </m:num>
                      <m:den>
                        <m:r>
                          <a:rPr lang="en-AU" i="1">
                            <a:latin typeface="Cambria Math" panose="02040503050406030204" pitchFamily="18" charset="0"/>
                            <a:ea typeface="Cambria Math" panose="02040503050406030204" pitchFamily="18" charset="0"/>
                          </a:rPr>
                          <m:t>𝑚</m:t>
                        </m:r>
                      </m:den>
                    </m:f>
                    <m:nary>
                      <m:naryPr>
                        <m:chr m:val="∑"/>
                        <m:ctrlPr>
                          <a:rPr lang="en-AU" i="1">
                            <a:latin typeface="Cambria Math" panose="02040503050406030204" pitchFamily="18" charset="0"/>
                            <a:ea typeface="Cambria Math" panose="02040503050406030204" pitchFamily="18" charset="0"/>
                          </a:rPr>
                        </m:ctrlPr>
                      </m:naryPr>
                      <m:sub>
                        <m:r>
                          <m:rPr>
                            <m:brk m:alnAt="23"/>
                          </m:rPr>
                          <a:rPr lang="en-AU" i="1">
                            <a:latin typeface="Cambria Math" panose="02040503050406030204" pitchFamily="18" charset="0"/>
                            <a:ea typeface="Cambria Math" panose="02040503050406030204" pitchFamily="18" charset="0"/>
                          </a:rPr>
                          <m:t>𝑖</m:t>
                        </m:r>
                        <m:r>
                          <m:rPr>
                            <m:brk m:alnAt="23"/>
                          </m:rPr>
                          <a:rPr lang="en-AU" i="1">
                            <a:latin typeface="Cambria Math" panose="02040503050406030204" pitchFamily="18" charset="0"/>
                            <a:ea typeface="Cambria Math" panose="02040503050406030204" pitchFamily="18" charset="0"/>
                          </a:rPr>
                          <m:t>=</m:t>
                        </m:r>
                        <m:r>
                          <m:rPr>
                            <m:brk m:alnAt="23"/>
                          </m:rPr>
                          <a:rPr lang="en-AU" i="1">
                            <a:latin typeface="Cambria Math" panose="02040503050406030204" pitchFamily="18" charset="0"/>
                            <a:ea typeface="Cambria Math" panose="02040503050406030204" pitchFamily="18" charset="0"/>
                          </a:rPr>
                          <m:t>1</m:t>
                        </m:r>
                      </m:sub>
                      <m:sup>
                        <m:r>
                          <a:rPr lang="en-AU" i="1">
                            <a:latin typeface="Cambria Math" panose="02040503050406030204" pitchFamily="18" charset="0"/>
                            <a:ea typeface="Cambria Math" panose="02040503050406030204" pitchFamily="18" charset="0"/>
                          </a:rPr>
                          <m:t>𝑚</m:t>
                        </m:r>
                      </m:sup>
                      <m:e>
                        <m:d>
                          <m:dPr>
                            <m:ctrlPr>
                              <a:rPr lang="en-AU" i="1">
                                <a:latin typeface="Cambria Math" panose="02040503050406030204" pitchFamily="18" charset="0"/>
                                <a:ea typeface="Cambria Math" panose="02040503050406030204" pitchFamily="18" charset="0"/>
                              </a:rPr>
                            </m:ctrlPr>
                          </m:dPr>
                          <m:e>
                            <m:sSub>
                              <m:sSubPr>
                                <m:ctrlPr>
                                  <a:rPr lang="en-AU" i="1">
                                    <a:latin typeface="Cambria Math" panose="02040503050406030204" pitchFamily="18" charset="0"/>
                                    <a:ea typeface="Cambria Math" panose="02040503050406030204" pitchFamily="18" charset="0"/>
                                  </a:rPr>
                                </m:ctrlPr>
                              </m:sSubPr>
                              <m:e>
                                <m:r>
                                  <a:rPr lang="en-AU" i="1">
                                    <a:latin typeface="Cambria Math" panose="02040503050406030204" pitchFamily="18" charset="0"/>
                                    <a:ea typeface="Cambria Math" panose="02040503050406030204" pitchFamily="18" charset="0"/>
                                  </a:rPr>
                                  <m:t>𝑓</m:t>
                                </m:r>
                              </m:e>
                              <m:sub>
                                <m:r>
                                  <a:rPr lang="en-AU" i="1">
                                    <a:latin typeface="Cambria Math" panose="02040503050406030204" pitchFamily="18" charset="0"/>
                                    <a:ea typeface="Cambria Math" panose="02040503050406030204" pitchFamily="18" charset="0"/>
                                  </a:rPr>
                                  <m:t>𝑤</m:t>
                                </m:r>
                                <m:r>
                                  <a:rPr lang="en-AU" i="1">
                                    <a:latin typeface="Cambria Math" panose="02040503050406030204" pitchFamily="18" charset="0"/>
                                    <a:ea typeface="Cambria Math" panose="02040503050406030204" pitchFamily="18" charset="0"/>
                                  </a:rPr>
                                  <m:t>,</m:t>
                                </m:r>
                                <m:r>
                                  <a:rPr lang="en-AU" i="1">
                                    <a:latin typeface="Cambria Math" panose="02040503050406030204" pitchFamily="18" charset="0"/>
                                    <a:ea typeface="Cambria Math" panose="02040503050406030204" pitchFamily="18" charset="0"/>
                                  </a:rPr>
                                  <m:t>𝑏</m:t>
                                </m:r>
                              </m:sub>
                            </m:sSub>
                            <m:d>
                              <m:dPr>
                                <m:ctrlPr>
                                  <a:rPr lang="en-AU" i="1">
                                    <a:latin typeface="Cambria Math" panose="02040503050406030204" pitchFamily="18" charset="0"/>
                                    <a:ea typeface="Cambria Math" panose="02040503050406030204" pitchFamily="18" charset="0"/>
                                  </a:rPr>
                                </m:ctrlPr>
                              </m:dPr>
                              <m:e>
                                <m:sSup>
                                  <m:sSupPr>
                                    <m:ctrlPr>
                                      <a:rPr lang="en-AU" i="1">
                                        <a:latin typeface="Cambria Math" panose="02040503050406030204" pitchFamily="18" charset="0"/>
                                        <a:ea typeface="Cambria Math" panose="02040503050406030204" pitchFamily="18" charset="0"/>
                                      </a:rPr>
                                    </m:ctrlPr>
                                  </m:sSupPr>
                                  <m:e>
                                    <m:r>
                                      <a:rPr lang="en-AU" i="1">
                                        <a:latin typeface="Cambria Math" panose="02040503050406030204" pitchFamily="18" charset="0"/>
                                        <a:ea typeface="Cambria Math" panose="02040503050406030204" pitchFamily="18" charset="0"/>
                                      </a:rPr>
                                      <m:t>𝑥</m:t>
                                    </m:r>
                                  </m:e>
                                  <m:sup>
                                    <m:r>
                                      <a:rPr lang="en-AU" i="1">
                                        <a:latin typeface="Cambria Math" panose="02040503050406030204" pitchFamily="18" charset="0"/>
                                        <a:ea typeface="Cambria Math" panose="02040503050406030204" pitchFamily="18" charset="0"/>
                                      </a:rPr>
                                      <m:t>𝑖</m:t>
                                    </m:r>
                                  </m:sup>
                                </m:sSup>
                              </m:e>
                            </m:d>
                            <m:r>
                              <a:rPr lang="en-AU" i="1">
                                <a:latin typeface="Cambria Math" panose="02040503050406030204" pitchFamily="18" charset="0"/>
                                <a:ea typeface="Cambria Math" panose="02040503050406030204" pitchFamily="18" charset="0"/>
                              </a:rPr>
                              <m:t>−</m:t>
                            </m:r>
                            <m:sSup>
                              <m:sSupPr>
                                <m:ctrlPr>
                                  <a:rPr lang="en-AU" i="1">
                                    <a:latin typeface="Cambria Math" panose="02040503050406030204" pitchFamily="18" charset="0"/>
                                    <a:ea typeface="Cambria Math" panose="02040503050406030204" pitchFamily="18" charset="0"/>
                                  </a:rPr>
                                </m:ctrlPr>
                              </m:sSupPr>
                              <m:e>
                                <m:r>
                                  <a:rPr lang="en-AU" i="1">
                                    <a:latin typeface="Cambria Math" panose="02040503050406030204" pitchFamily="18" charset="0"/>
                                    <a:ea typeface="Cambria Math" panose="02040503050406030204" pitchFamily="18" charset="0"/>
                                  </a:rPr>
                                  <m:t>𝑦</m:t>
                                </m:r>
                              </m:e>
                              <m:sup>
                                <m:r>
                                  <a:rPr lang="en-AU" i="1">
                                    <a:latin typeface="Cambria Math" panose="02040503050406030204" pitchFamily="18" charset="0"/>
                                    <a:ea typeface="Cambria Math" panose="02040503050406030204" pitchFamily="18" charset="0"/>
                                  </a:rPr>
                                  <m:t>𝑖</m:t>
                                </m:r>
                              </m:sup>
                            </m:sSup>
                          </m:e>
                        </m:d>
                      </m:e>
                    </m:nary>
                  </m:oMath>
                </a14:m>
                <a:endParaRPr lang="en-US" dirty="0"/>
              </a:p>
              <a:p>
                <a:pPr marL="0" indent="0">
                  <a:buNone/>
                </a:pPr>
                <a:r>
                  <a:rPr lang="en-US" dirty="0"/>
                  <a:t>   simultaneously update </a:t>
                </a:r>
                <a14:m>
                  <m:oMath xmlns:m="http://schemas.openxmlformats.org/officeDocument/2006/math">
                    <m:r>
                      <a:rPr lang="en-AU" b="0" i="1" smtClean="0">
                        <a:latin typeface="Cambria Math" panose="02040503050406030204" pitchFamily="18" charset="0"/>
                      </a:rPr>
                      <m:t>𝑤</m:t>
                    </m:r>
                    <m:r>
                      <a:rPr lang="en-AU" b="0" i="1" smtClean="0">
                        <a:latin typeface="Cambria Math" panose="02040503050406030204" pitchFamily="18" charset="0"/>
                      </a:rPr>
                      <m:t>, </m:t>
                    </m:r>
                    <m:r>
                      <a:rPr lang="en-AU" b="0" i="1" smtClean="0">
                        <a:latin typeface="Cambria Math" panose="02040503050406030204" pitchFamily="18" charset="0"/>
                      </a:rPr>
                      <m:t>𝑏</m:t>
                    </m:r>
                  </m:oMath>
                </a14:m>
                <a:endParaRPr lang="en-US" dirty="0"/>
              </a:p>
              <a:p>
                <a:pPr marL="0" indent="0">
                  <a:buNone/>
                </a:pPr>
                <a:r>
                  <a:rPr lang="en-US" dirty="0"/>
                  <a:t>}</a:t>
                </a:r>
              </a:p>
              <a:p>
                <a:pPr marL="0" indent="0">
                  <a:buNone/>
                </a:pPr>
                <a:r>
                  <a:rPr lang="en-US" dirty="0"/>
                  <a:t> </a:t>
                </a:r>
              </a:p>
            </p:txBody>
          </p:sp>
        </mc:Choice>
        <mc:Fallback>
          <p:sp>
            <p:nvSpPr>
              <p:cNvPr id="7" name="Content Placeholder 6">
                <a:extLst>
                  <a:ext uri="{FF2B5EF4-FFF2-40B4-BE49-F238E27FC236}">
                    <a16:creationId xmlns:a16="http://schemas.microsoft.com/office/drawing/2014/main" id="{0023E489-890D-89E3-5772-48D38FDF1CB6}"/>
                  </a:ext>
                </a:extLst>
              </p:cNvPr>
              <p:cNvSpPr>
                <a:spLocks noGrp="1" noRot="1" noChangeAspect="1" noMove="1" noResize="1" noEditPoints="1" noAdjustHandles="1" noChangeArrowheads="1" noChangeShapeType="1" noTextEdit="1"/>
              </p:cNvSpPr>
              <p:nvPr>
                <p:ph idx="1"/>
              </p:nvPr>
            </p:nvSpPr>
            <p:spPr>
              <a:xfrm>
                <a:off x="215154" y="1825625"/>
                <a:ext cx="5880846" cy="3391834"/>
              </a:xfrm>
              <a:blipFill>
                <a:blip r:embed="rId3"/>
                <a:stretch>
                  <a:fillRect l="-1720" t="-3358"/>
                </a:stretch>
              </a:blipFill>
            </p:spPr>
            <p:txBody>
              <a:bodyPr/>
              <a:lstStyle/>
              <a:p>
                <a:r>
                  <a:rPr lang="en-US">
                    <a:noFill/>
                  </a:rPr>
                  <a:t> </a:t>
                </a:r>
              </a:p>
            </p:txBody>
          </p:sp>
        </mc:Fallback>
      </mc:AlternateContent>
      <mc:AlternateContent xmlns:mc="http://schemas.openxmlformats.org/markup-compatibility/2006">
        <mc:Choice xmlns:a14="http://schemas.microsoft.com/office/drawing/2010/main" Requires="a14">
          <p:sp>
            <p:nvSpPr>
              <p:cNvPr id="8" name="Content Placeholder 6">
                <a:extLst>
                  <a:ext uri="{FF2B5EF4-FFF2-40B4-BE49-F238E27FC236}">
                    <a16:creationId xmlns:a16="http://schemas.microsoft.com/office/drawing/2014/main" id="{FE26A2A0-FBF8-2E22-C981-B027D8308564}"/>
                  </a:ext>
                </a:extLst>
              </p:cNvPr>
              <p:cNvSpPr txBox="1">
                <a:spLocks/>
              </p:cNvSpPr>
              <p:nvPr/>
            </p:nvSpPr>
            <p:spPr>
              <a:xfrm>
                <a:off x="5988424" y="1825625"/>
                <a:ext cx="6544213" cy="5453716"/>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14:m>
                  <m:oMath xmlns:m="http://schemas.openxmlformats.org/officeDocument/2006/math">
                    <m:r>
                      <a:rPr lang="en-AU" b="0" i="1" dirty="0" smtClean="0">
                        <a:latin typeface="Cambria Math" panose="02040503050406030204" pitchFamily="18" charset="0"/>
                      </a:rPr>
                      <m:t>𝑛</m:t>
                    </m:r>
                  </m:oMath>
                </a14:m>
                <a:r>
                  <a:rPr lang="en-US" dirty="0"/>
                  <a:t> features </a:t>
                </a:r>
                <a14:m>
                  <m:oMath xmlns:m="http://schemas.openxmlformats.org/officeDocument/2006/math">
                    <m:r>
                      <a:rPr lang="en-AU" i="1" dirty="0">
                        <a:latin typeface="Cambria Math" panose="02040503050406030204" pitchFamily="18" charset="0"/>
                      </a:rPr>
                      <m:t>𝑛</m:t>
                    </m:r>
                    <m:r>
                      <a:rPr lang="en-AU" b="0" i="1" dirty="0" smtClean="0">
                        <a:latin typeface="Cambria Math" panose="02040503050406030204" pitchFamily="18" charset="0"/>
                      </a:rPr>
                      <m:t>≥2</m:t>
                    </m:r>
                  </m:oMath>
                </a14:m>
                <a:endParaRPr lang="en-US" dirty="0"/>
              </a:p>
              <a:p>
                <a:pPr marL="0" indent="0">
                  <a:buNone/>
                </a:pPr>
                <a:r>
                  <a:rPr lang="en-US" sz="2400" dirty="0"/>
                  <a:t>repeat {</a:t>
                </a:r>
              </a:p>
              <a:p>
                <a:pPr marL="0" indent="0">
                  <a:buNone/>
                </a:pPr>
                <a:r>
                  <a:rPr lang="en-US" sz="2400" dirty="0"/>
                  <a:t>        </a:t>
                </a:r>
                <a14:m>
                  <m:oMath xmlns:m="http://schemas.openxmlformats.org/officeDocument/2006/math">
                    <m:r>
                      <a:rPr lang="en-AU" sz="2400" b="0" i="0" smtClean="0">
                        <a:latin typeface="Cambria Math" panose="02040503050406030204" pitchFamily="18" charset="0"/>
                        <a:ea typeface="Cambria Math" panose="02040503050406030204" pitchFamily="18" charset="0"/>
                      </a:rPr>
                      <m:t> </m:t>
                    </m:r>
                    <m:sSub>
                      <m:sSubPr>
                        <m:ctrlPr>
                          <a:rPr lang="en-AU" sz="2400">
                            <a:latin typeface="Cambria Math" panose="02040503050406030204" pitchFamily="18" charset="0"/>
                            <a:ea typeface="Cambria Math" panose="02040503050406030204" pitchFamily="18" charset="0"/>
                          </a:rPr>
                        </m:ctrlPr>
                      </m:sSubPr>
                      <m:e>
                        <m:r>
                          <m:rPr>
                            <m:sty m:val="p"/>
                          </m:rPr>
                          <a:rPr lang="en-AU" sz="2400">
                            <a:latin typeface="Cambria Math" panose="02040503050406030204" pitchFamily="18" charset="0"/>
                            <a:ea typeface="Cambria Math" panose="02040503050406030204" pitchFamily="18" charset="0"/>
                          </a:rPr>
                          <m:t>w</m:t>
                        </m:r>
                      </m:e>
                      <m:sub>
                        <m:r>
                          <a:rPr lang="en-AU" sz="2400" b="0" i="0" smtClean="0">
                            <a:latin typeface="Cambria Math" panose="02040503050406030204" pitchFamily="18" charset="0"/>
                            <a:ea typeface="Cambria Math" panose="02040503050406030204" pitchFamily="18" charset="0"/>
                          </a:rPr>
                          <m:t>1</m:t>
                        </m:r>
                      </m:sub>
                    </m:sSub>
                    <m:r>
                      <a:rPr lang="en-AU" sz="2400">
                        <a:latin typeface="Cambria Math" panose="02040503050406030204" pitchFamily="18" charset="0"/>
                        <a:ea typeface="Cambria Math" panose="02040503050406030204" pitchFamily="18" charset="0"/>
                      </a:rPr>
                      <m:t>=</m:t>
                    </m:r>
                    <m:sSub>
                      <m:sSubPr>
                        <m:ctrlPr>
                          <a:rPr lang="en-AU" sz="2400">
                            <a:latin typeface="Cambria Math" panose="02040503050406030204" pitchFamily="18" charset="0"/>
                            <a:ea typeface="Cambria Math" panose="02040503050406030204" pitchFamily="18" charset="0"/>
                          </a:rPr>
                        </m:ctrlPr>
                      </m:sSubPr>
                      <m:e>
                        <m:r>
                          <m:rPr>
                            <m:sty m:val="p"/>
                          </m:rPr>
                          <a:rPr lang="en-AU" sz="2400">
                            <a:latin typeface="Cambria Math" panose="02040503050406030204" pitchFamily="18" charset="0"/>
                            <a:ea typeface="Cambria Math" panose="02040503050406030204" pitchFamily="18" charset="0"/>
                          </a:rPr>
                          <m:t>w</m:t>
                        </m:r>
                      </m:e>
                      <m:sub>
                        <m:r>
                          <a:rPr lang="en-AU" sz="2400" b="0" i="0" smtClean="0">
                            <a:latin typeface="Cambria Math" panose="02040503050406030204" pitchFamily="18" charset="0"/>
                            <a:ea typeface="Cambria Math" panose="02040503050406030204" pitchFamily="18" charset="0"/>
                          </a:rPr>
                          <m:t>1</m:t>
                        </m:r>
                      </m:sub>
                    </m:sSub>
                    <m:r>
                      <a:rPr lang="en-AU" sz="2400">
                        <a:latin typeface="Cambria Math" panose="02040503050406030204" pitchFamily="18" charset="0"/>
                        <a:ea typeface="Cambria Math" panose="02040503050406030204" pitchFamily="18" charset="0"/>
                      </a:rPr>
                      <m:t>−</m:t>
                    </m:r>
                    <m:r>
                      <a:rPr lang="en-AU" sz="2400" i="1">
                        <a:latin typeface="Cambria Math" panose="02040503050406030204" pitchFamily="18" charset="0"/>
                        <a:ea typeface="Cambria Math" panose="02040503050406030204" pitchFamily="18" charset="0"/>
                      </a:rPr>
                      <m:t>𝛼</m:t>
                    </m:r>
                    <m:f>
                      <m:fPr>
                        <m:ctrlPr>
                          <a:rPr lang="en-AU" sz="2400" i="1">
                            <a:latin typeface="Cambria Math" panose="02040503050406030204" pitchFamily="18" charset="0"/>
                            <a:ea typeface="Cambria Math" panose="02040503050406030204" pitchFamily="18" charset="0"/>
                          </a:rPr>
                        </m:ctrlPr>
                      </m:fPr>
                      <m:num>
                        <m:r>
                          <a:rPr lang="en-AU" sz="2400" i="1">
                            <a:latin typeface="Cambria Math" panose="02040503050406030204" pitchFamily="18" charset="0"/>
                            <a:ea typeface="Cambria Math" panose="02040503050406030204" pitchFamily="18" charset="0"/>
                          </a:rPr>
                          <m:t>1</m:t>
                        </m:r>
                      </m:num>
                      <m:den>
                        <m:r>
                          <a:rPr lang="en-AU" sz="2400" i="1">
                            <a:latin typeface="Cambria Math" panose="02040503050406030204" pitchFamily="18" charset="0"/>
                            <a:ea typeface="Cambria Math" panose="02040503050406030204" pitchFamily="18" charset="0"/>
                          </a:rPr>
                          <m:t>𝑚</m:t>
                        </m:r>
                      </m:den>
                    </m:f>
                    <m:nary>
                      <m:naryPr>
                        <m:chr m:val="∑"/>
                        <m:ctrlPr>
                          <a:rPr lang="en-AU" sz="2400" i="1">
                            <a:latin typeface="Cambria Math" panose="02040503050406030204" pitchFamily="18" charset="0"/>
                            <a:ea typeface="Cambria Math" panose="02040503050406030204" pitchFamily="18" charset="0"/>
                          </a:rPr>
                        </m:ctrlPr>
                      </m:naryPr>
                      <m:sub>
                        <m:r>
                          <m:rPr>
                            <m:brk m:alnAt="23"/>
                          </m:rPr>
                          <a:rPr lang="en-AU" sz="2400" i="1">
                            <a:latin typeface="Cambria Math" panose="02040503050406030204" pitchFamily="18" charset="0"/>
                            <a:ea typeface="Cambria Math" panose="02040503050406030204" pitchFamily="18" charset="0"/>
                          </a:rPr>
                          <m:t>𝑖</m:t>
                        </m:r>
                        <m:r>
                          <m:rPr>
                            <m:brk m:alnAt="23"/>
                          </m:rPr>
                          <a:rPr lang="en-AU" sz="2400" i="1">
                            <a:latin typeface="Cambria Math" panose="02040503050406030204" pitchFamily="18" charset="0"/>
                            <a:ea typeface="Cambria Math" panose="02040503050406030204" pitchFamily="18" charset="0"/>
                          </a:rPr>
                          <m:t>=</m:t>
                        </m:r>
                        <m:r>
                          <m:rPr>
                            <m:brk m:alnAt="23"/>
                          </m:rPr>
                          <a:rPr lang="en-AU" sz="2400" i="1">
                            <a:latin typeface="Cambria Math" panose="02040503050406030204" pitchFamily="18" charset="0"/>
                            <a:ea typeface="Cambria Math" panose="02040503050406030204" pitchFamily="18" charset="0"/>
                          </a:rPr>
                          <m:t>1</m:t>
                        </m:r>
                      </m:sub>
                      <m:sup>
                        <m:r>
                          <a:rPr lang="en-AU" sz="2400" i="1">
                            <a:latin typeface="Cambria Math" panose="02040503050406030204" pitchFamily="18" charset="0"/>
                            <a:ea typeface="Cambria Math" panose="02040503050406030204" pitchFamily="18" charset="0"/>
                          </a:rPr>
                          <m:t>𝑚</m:t>
                        </m:r>
                      </m:sup>
                      <m:e>
                        <m:d>
                          <m:dPr>
                            <m:ctrlPr>
                              <a:rPr lang="en-AU" sz="2400" i="1">
                                <a:latin typeface="Cambria Math" panose="02040503050406030204" pitchFamily="18" charset="0"/>
                                <a:ea typeface="Cambria Math" panose="02040503050406030204" pitchFamily="18" charset="0"/>
                              </a:rPr>
                            </m:ctrlPr>
                          </m:dPr>
                          <m:e>
                            <m:sSub>
                              <m:sSubPr>
                                <m:ctrlPr>
                                  <a:rPr lang="en-AU" sz="2400" i="1">
                                    <a:latin typeface="Cambria Math" panose="02040503050406030204" pitchFamily="18" charset="0"/>
                                    <a:ea typeface="Cambria Math" panose="02040503050406030204" pitchFamily="18" charset="0"/>
                                  </a:rPr>
                                </m:ctrlPr>
                              </m:sSubPr>
                              <m:e>
                                <m:r>
                                  <a:rPr lang="en-AU" sz="2400" i="1">
                                    <a:latin typeface="Cambria Math" panose="02040503050406030204" pitchFamily="18" charset="0"/>
                                    <a:ea typeface="Cambria Math" panose="02040503050406030204" pitchFamily="18" charset="0"/>
                                  </a:rPr>
                                  <m:t>𝑓</m:t>
                                </m:r>
                              </m:e>
                              <m:sub>
                                <m:r>
                                  <a:rPr lang="en-AU" sz="2400" b="1" i="1" smtClean="0">
                                    <a:latin typeface="Cambria Math" panose="02040503050406030204" pitchFamily="18" charset="0"/>
                                    <a:ea typeface="Cambria Math" panose="02040503050406030204" pitchFamily="18" charset="0"/>
                                  </a:rPr>
                                  <m:t>𝑾</m:t>
                                </m:r>
                                <m:r>
                                  <a:rPr lang="en-AU" sz="2400" i="1">
                                    <a:latin typeface="Cambria Math" panose="02040503050406030204" pitchFamily="18" charset="0"/>
                                    <a:ea typeface="Cambria Math" panose="02040503050406030204" pitchFamily="18" charset="0"/>
                                  </a:rPr>
                                  <m:t>,</m:t>
                                </m:r>
                                <m:r>
                                  <a:rPr lang="en-AU" sz="2400" i="1">
                                    <a:latin typeface="Cambria Math" panose="02040503050406030204" pitchFamily="18" charset="0"/>
                                    <a:ea typeface="Cambria Math" panose="02040503050406030204" pitchFamily="18" charset="0"/>
                                  </a:rPr>
                                  <m:t>𝑏</m:t>
                                </m:r>
                              </m:sub>
                            </m:sSub>
                            <m:d>
                              <m:dPr>
                                <m:ctrlPr>
                                  <a:rPr lang="en-AU" sz="2400" i="1">
                                    <a:latin typeface="Cambria Math" panose="02040503050406030204" pitchFamily="18" charset="0"/>
                                    <a:ea typeface="Cambria Math" panose="02040503050406030204" pitchFamily="18" charset="0"/>
                                  </a:rPr>
                                </m:ctrlPr>
                              </m:dPr>
                              <m:e>
                                <m:sSup>
                                  <m:sSupPr>
                                    <m:ctrlPr>
                                      <a:rPr lang="en-AU" sz="2400" b="1" i="1">
                                        <a:latin typeface="Cambria Math" panose="02040503050406030204" pitchFamily="18" charset="0"/>
                                        <a:ea typeface="Cambria Math" panose="02040503050406030204" pitchFamily="18" charset="0"/>
                                      </a:rPr>
                                    </m:ctrlPr>
                                  </m:sSupPr>
                                  <m:e>
                                    <m:r>
                                      <a:rPr lang="en-AU" sz="2400" b="1" i="1">
                                        <a:latin typeface="Cambria Math" panose="02040503050406030204" pitchFamily="18" charset="0"/>
                                        <a:ea typeface="Cambria Math" panose="02040503050406030204" pitchFamily="18" charset="0"/>
                                      </a:rPr>
                                      <m:t>𝒙</m:t>
                                    </m:r>
                                  </m:e>
                                  <m:sup>
                                    <m:r>
                                      <a:rPr lang="en-AU" sz="2400" i="1">
                                        <a:latin typeface="Cambria Math" panose="02040503050406030204" pitchFamily="18" charset="0"/>
                                        <a:ea typeface="Cambria Math" panose="02040503050406030204" pitchFamily="18" charset="0"/>
                                      </a:rPr>
                                      <m:t>𝑖</m:t>
                                    </m:r>
                                  </m:sup>
                                </m:sSup>
                              </m:e>
                            </m:d>
                            <m:r>
                              <a:rPr lang="en-AU" sz="2400" i="1">
                                <a:latin typeface="Cambria Math" panose="02040503050406030204" pitchFamily="18" charset="0"/>
                                <a:ea typeface="Cambria Math" panose="02040503050406030204" pitchFamily="18" charset="0"/>
                              </a:rPr>
                              <m:t>−</m:t>
                            </m:r>
                            <m:sSup>
                              <m:sSupPr>
                                <m:ctrlPr>
                                  <a:rPr lang="en-AU" sz="2400" i="1">
                                    <a:latin typeface="Cambria Math" panose="02040503050406030204" pitchFamily="18" charset="0"/>
                                    <a:ea typeface="Cambria Math" panose="02040503050406030204" pitchFamily="18" charset="0"/>
                                  </a:rPr>
                                </m:ctrlPr>
                              </m:sSupPr>
                              <m:e>
                                <m:r>
                                  <a:rPr lang="en-AU" sz="2400" i="1">
                                    <a:latin typeface="Cambria Math" panose="02040503050406030204" pitchFamily="18" charset="0"/>
                                    <a:ea typeface="Cambria Math" panose="02040503050406030204" pitchFamily="18" charset="0"/>
                                  </a:rPr>
                                  <m:t>𝑦</m:t>
                                </m:r>
                              </m:e>
                              <m:sup>
                                <m:r>
                                  <a:rPr lang="en-AU" sz="2400" i="1">
                                    <a:latin typeface="Cambria Math" panose="02040503050406030204" pitchFamily="18" charset="0"/>
                                    <a:ea typeface="Cambria Math" panose="02040503050406030204" pitchFamily="18" charset="0"/>
                                  </a:rPr>
                                  <m:t>𝑖</m:t>
                                </m:r>
                              </m:sup>
                            </m:sSup>
                          </m:e>
                        </m:d>
                        <m:r>
                          <a:rPr lang="en-AU" sz="2400" i="1">
                            <a:latin typeface="Cambria Math" panose="02040503050406030204" pitchFamily="18" charset="0"/>
                            <a:ea typeface="Cambria Math" panose="02040503050406030204" pitchFamily="18" charset="0"/>
                          </a:rPr>
                          <m:t>∗</m:t>
                        </m:r>
                        <m:sSubSup>
                          <m:sSubSupPr>
                            <m:ctrlPr>
                              <a:rPr lang="en-AU" sz="2400" i="1">
                                <a:latin typeface="Cambria Math" panose="02040503050406030204" pitchFamily="18" charset="0"/>
                                <a:ea typeface="Cambria Math" panose="02040503050406030204" pitchFamily="18" charset="0"/>
                              </a:rPr>
                            </m:ctrlPr>
                          </m:sSubSupPr>
                          <m:e>
                            <m:r>
                              <a:rPr lang="en-AU" sz="2400" i="1">
                                <a:latin typeface="Cambria Math" panose="02040503050406030204" pitchFamily="18" charset="0"/>
                                <a:ea typeface="Cambria Math" panose="02040503050406030204" pitchFamily="18" charset="0"/>
                              </a:rPr>
                              <m:t>𝑥</m:t>
                            </m:r>
                          </m:e>
                          <m:sub>
                            <m:r>
                              <a:rPr lang="en-AU" sz="2400" b="0" i="1" smtClean="0">
                                <a:latin typeface="Cambria Math" panose="02040503050406030204" pitchFamily="18" charset="0"/>
                                <a:ea typeface="Cambria Math" panose="02040503050406030204" pitchFamily="18" charset="0"/>
                              </a:rPr>
                              <m:t>1</m:t>
                            </m:r>
                          </m:sub>
                          <m:sup>
                            <m:r>
                              <a:rPr lang="en-AU" sz="2400" i="1">
                                <a:latin typeface="Cambria Math" panose="02040503050406030204" pitchFamily="18" charset="0"/>
                                <a:ea typeface="Cambria Math" panose="02040503050406030204" pitchFamily="18" charset="0"/>
                              </a:rPr>
                              <m:t>𝑖</m:t>
                            </m:r>
                          </m:sup>
                        </m:sSubSup>
                      </m:e>
                    </m:nary>
                  </m:oMath>
                </a14:m>
                <a:endParaRPr lang="en-AU" sz="2400" i="1" dirty="0">
                  <a:latin typeface="Cambria Math" panose="02040503050406030204" pitchFamily="18" charset="0"/>
                  <a:ea typeface="Cambria Math" panose="02040503050406030204" pitchFamily="18" charset="0"/>
                </a:endParaRPr>
              </a:p>
              <a:p>
                <a:pPr marL="0" indent="0">
                  <a:buNone/>
                </a:pPr>
                <a:endParaRPr lang="en-AU" sz="2400" i="1" dirty="0">
                  <a:latin typeface="Cambria Math" panose="02040503050406030204" pitchFamily="18" charset="0"/>
                  <a:ea typeface="Cambria Math" panose="02040503050406030204" pitchFamily="18" charset="0"/>
                </a:endParaRPr>
              </a:p>
              <a:p>
                <a:pPr marL="0" indent="0">
                  <a:buNone/>
                </a:pPr>
                <a14:m>
                  <m:oMathPara xmlns:m="http://schemas.openxmlformats.org/officeDocument/2006/math">
                    <m:oMath>
                      <m:sSub>
                        <m:sSubPr>
                          <m:ctrlPr>
                            <a:rPr lang="en-AU" sz="2400">
                              <a:latin typeface="Cambria Math" panose="02040503050406030204" pitchFamily="18" charset="0"/>
                              <a:ea typeface="Cambria Math" panose="02040503050406030204" pitchFamily="18" charset="0"/>
                            </a:rPr>
                          </m:ctrlPr>
                        </m:sSubPr>
                        <m:e>
                          <m:r>
                            <m:rPr>
                              <m:sty m:val="p"/>
                            </m:rPr>
                            <a:rPr lang="en-AU" sz="2400">
                              <a:latin typeface="Cambria Math" panose="02040503050406030204" pitchFamily="18" charset="0"/>
                              <a:ea typeface="Cambria Math" panose="02040503050406030204" pitchFamily="18" charset="0"/>
                            </a:rPr>
                            <m:t>w</m:t>
                          </m:r>
                        </m:e>
                        <m:sub>
                          <m:r>
                            <m:rPr>
                              <m:sty m:val="p"/>
                            </m:rPr>
                            <a:rPr lang="en-AU" sz="2400" b="0" i="0" smtClean="0">
                              <a:latin typeface="Cambria Math" panose="02040503050406030204" pitchFamily="18" charset="0"/>
                              <a:ea typeface="Cambria Math" panose="02040503050406030204" pitchFamily="18" charset="0"/>
                            </a:rPr>
                            <m:t>n</m:t>
                          </m:r>
                        </m:sub>
                      </m:sSub>
                      <m:r>
                        <a:rPr lang="en-AU" sz="2400">
                          <a:latin typeface="Cambria Math" panose="02040503050406030204" pitchFamily="18" charset="0"/>
                          <a:ea typeface="Cambria Math" panose="02040503050406030204" pitchFamily="18" charset="0"/>
                        </a:rPr>
                        <m:t>=</m:t>
                      </m:r>
                      <m:sSub>
                        <m:sSubPr>
                          <m:ctrlPr>
                            <a:rPr lang="en-AU" sz="2400">
                              <a:latin typeface="Cambria Math" panose="02040503050406030204" pitchFamily="18" charset="0"/>
                              <a:ea typeface="Cambria Math" panose="02040503050406030204" pitchFamily="18" charset="0"/>
                            </a:rPr>
                          </m:ctrlPr>
                        </m:sSubPr>
                        <m:e>
                          <m:r>
                            <m:rPr>
                              <m:sty m:val="p"/>
                            </m:rPr>
                            <a:rPr lang="en-AU" sz="2400">
                              <a:latin typeface="Cambria Math" panose="02040503050406030204" pitchFamily="18" charset="0"/>
                              <a:ea typeface="Cambria Math" panose="02040503050406030204" pitchFamily="18" charset="0"/>
                            </a:rPr>
                            <m:t>w</m:t>
                          </m:r>
                        </m:e>
                        <m:sub>
                          <m:r>
                            <m:rPr>
                              <m:sty m:val="p"/>
                            </m:rPr>
                            <a:rPr lang="en-AU" sz="2400" b="0" i="0" smtClean="0">
                              <a:latin typeface="Cambria Math" panose="02040503050406030204" pitchFamily="18" charset="0"/>
                              <a:ea typeface="Cambria Math" panose="02040503050406030204" pitchFamily="18" charset="0"/>
                            </a:rPr>
                            <m:t>n</m:t>
                          </m:r>
                        </m:sub>
                      </m:sSub>
                      <m:r>
                        <a:rPr lang="en-AU" sz="2400">
                          <a:latin typeface="Cambria Math" panose="02040503050406030204" pitchFamily="18" charset="0"/>
                          <a:ea typeface="Cambria Math" panose="02040503050406030204" pitchFamily="18" charset="0"/>
                        </a:rPr>
                        <m:t>−</m:t>
                      </m:r>
                      <m:r>
                        <a:rPr lang="en-AU" sz="2400" i="1">
                          <a:latin typeface="Cambria Math" panose="02040503050406030204" pitchFamily="18" charset="0"/>
                          <a:ea typeface="Cambria Math" panose="02040503050406030204" pitchFamily="18" charset="0"/>
                        </a:rPr>
                        <m:t>𝛼</m:t>
                      </m:r>
                      <m:f>
                        <m:fPr>
                          <m:ctrlPr>
                            <a:rPr lang="en-AU" sz="2400" i="1">
                              <a:latin typeface="Cambria Math" panose="02040503050406030204" pitchFamily="18" charset="0"/>
                              <a:ea typeface="Cambria Math" panose="02040503050406030204" pitchFamily="18" charset="0"/>
                            </a:rPr>
                          </m:ctrlPr>
                        </m:fPr>
                        <m:num>
                          <m:r>
                            <a:rPr lang="en-AU" sz="2400" i="1">
                              <a:latin typeface="Cambria Math" panose="02040503050406030204" pitchFamily="18" charset="0"/>
                              <a:ea typeface="Cambria Math" panose="02040503050406030204" pitchFamily="18" charset="0"/>
                            </a:rPr>
                            <m:t>1</m:t>
                          </m:r>
                        </m:num>
                        <m:den>
                          <m:r>
                            <a:rPr lang="en-AU" sz="2400" i="1">
                              <a:latin typeface="Cambria Math" panose="02040503050406030204" pitchFamily="18" charset="0"/>
                              <a:ea typeface="Cambria Math" panose="02040503050406030204" pitchFamily="18" charset="0"/>
                            </a:rPr>
                            <m:t>𝑚</m:t>
                          </m:r>
                        </m:den>
                      </m:f>
                      <m:nary>
                        <m:naryPr>
                          <m:chr m:val="∑"/>
                          <m:ctrlPr>
                            <a:rPr lang="en-AU" sz="2400" i="1">
                              <a:latin typeface="Cambria Math" panose="02040503050406030204" pitchFamily="18" charset="0"/>
                              <a:ea typeface="Cambria Math" panose="02040503050406030204" pitchFamily="18" charset="0"/>
                            </a:rPr>
                          </m:ctrlPr>
                        </m:naryPr>
                        <m:sub>
                          <m:r>
                            <m:rPr>
                              <m:brk m:alnAt="23"/>
                            </m:rPr>
                            <a:rPr lang="en-AU" sz="2400" i="1">
                              <a:latin typeface="Cambria Math" panose="02040503050406030204" pitchFamily="18" charset="0"/>
                              <a:ea typeface="Cambria Math" panose="02040503050406030204" pitchFamily="18" charset="0"/>
                            </a:rPr>
                            <m:t>𝑖</m:t>
                          </m:r>
                          <m:r>
                            <m:rPr>
                              <m:brk m:alnAt="23"/>
                            </m:rPr>
                            <a:rPr lang="en-AU" sz="2400" i="1">
                              <a:latin typeface="Cambria Math" panose="02040503050406030204" pitchFamily="18" charset="0"/>
                              <a:ea typeface="Cambria Math" panose="02040503050406030204" pitchFamily="18" charset="0"/>
                            </a:rPr>
                            <m:t>=</m:t>
                          </m:r>
                          <m:r>
                            <m:rPr>
                              <m:brk m:alnAt="23"/>
                            </m:rPr>
                            <a:rPr lang="en-AU" sz="2400" i="1">
                              <a:latin typeface="Cambria Math" panose="02040503050406030204" pitchFamily="18" charset="0"/>
                              <a:ea typeface="Cambria Math" panose="02040503050406030204" pitchFamily="18" charset="0"/>
                            </a:rPr>
                            <m:t>1</m:t>
                          </m:r>
                        </m:sub>
                        <m:sup>
                          <m:r>
                            <a:rPr lang="en-AU" sz="2400" i="1">
                              <a:latin typeface="Cambria Math" panose="02040503050406030204" pitchFamily="18" charset="0"/>
                              <a:ea typeface="Cambria Math" panose="02040503050406030204" pitchFamily="18" charset="0"/>
                            </a:rPr>
                            <m:t>𝑚</m:t>
                          </m:r>
                        </m:sup>
                        <m:e>
                          <m:d>
                            <m:dPr>
                              <m:ctrlPr>
                                <a:rPr lang="en-AU" sz="2400" i="1">
                                  <a:latin typeface="Cambria Math" panose="02040503050406030204" pitchFamily="18" charset="0"/>
                                  <a:ea typeface="Cambria Math" panose="02040503050406030204" pitchFamily="18" charset="0"/>
                                </a:rPr>
                              </m:ctrlPr>
                            </m:dPr>
                            <m:e>
                              <m:sSub>
                                <m:sSubPr>
                                  <m:ctrlPr>
                                    <a:rPr lang="en-AU" sz="2400" i="1">
                                      <a:latin typeface="Cambria Math" panose="02040503050406030204" pitchFamily="18" charset="0"/>
                                      <a:ea typeface="Cambria Math" panose="02040503050406030204" pitchFamily="18" charset="0"/>
                                    </a:rPr>
                                  </m:ctrlPr>
                                </m:sSubPr>
                                <m:e>
                                  <m:r>
                                    <a:rPr lang="en-AU" sz="2400" i="1">
                                      <a:latin typeface="Cambria Math" panose="02040503050406030204" pitchFamily="18" charset="0"/>
                                      <a:ea typeface="Cambria Math" panose="02040503050406030204" pitchFamily="18" charset="0"/>
                                    </a:rPr>
                                    <m:t>𝑓</m:t>
                                  </m:r>
                                </m:e>
                                <m:sub>
                                  <m:r>
                                    <a:rPr lang="en-AU" sz="2400" b="1" i="1">
                                      <a:latin typeface="Cambria Math" panose="02040503050406030204" pitchFamily="18" charset="0"/>
                                      <a:ea typeface="Cambria Math" panose="02040503050406030204" pitchFamily="18" charset="0"/>
                                    </a:rPr>
                                    <m:t>𝑾</m:t>
                                  </m:r>
                                  <m:r>
                                    <a:rPr lang="en-AU" sz="2400" i="1">
                                      <a:latin typeface="Cambria Math" panose="02040503050406030204" pitchFamily="18" charset="0"/>
                                      <a:ea typeface="Cambria Math" panose="02040503050406030204" pitchFamily="18" charset="0"/>
                                    </a:rPr>
                                    <m:t>,</m:t>
                                  </m:r>
                                  <m:r>
                                    <a:rPr lang="en-AU" sz="2400" i="1">
                                      <a:latin typeface="Cambria Math" panose="02040503050406030204" pitchFamily="18" charset="0"/>
                                      <a:ea typeface="Cambria Math" panose="02040503050406030204" pitchFamily="18" charset="0"/>
                                    </a:rPr>
                                    <m:t>𝑏</m:t>
                                  </m:r>
                                </m:sub>
                              </m:sSub>
                              <m:d>
                                <m:dPr>
                                  <m:ctrlPr>
                                    <a:rPr lang="en-AU" sz="2400" b="1" i="1">
                                      <a:latin typeface="Cambria Math" panose="02040503050406030204" pitchFamily="18" charset="0"/>
                                      <a:ea typeface="Cambria Math" panose="02040503050406030204" pitchFamily="18" charset="0"/>
                                    </a:rPr>
                                  </m:ctrlPr>
                                </m:dPr>
                                <m:e>
                                  <m:sSup>
                                    <m:sSupPr>
                                      <m:ctrlPr>
                                        <a:rPr lang="en-AU" sz="2400" b="1" i="1">
                                          <a:latin typeface="Cambria Math" panose="02040503050406030204" pitchFamily="18" charset="0"/>
                                          <a:ea typeface="Cambria Math" panose="02040503050406030204" pitchFamily="18" charset="0"/>
                                        </a:rPr>
                                      </m:ctrlPr>
                                    </m:sSupPr>
                                    <m:e>
                                      <m:r>
                                        <a:rPr lang="en-AU" sz="2400" b="1" i="1">
                                          <a:latin typeface="Cambria Math" panose="02040503050406030204" pitchFamily="18" charset="0"/>
                                          <a:ea typeface="Cambria Math" panose="02040503050406030204" pitchFamily="18" charset="0"/>
                                        </a:rPr>
                                        <m:t>𝒙</m:t>
                                      </m:r>
                                    </m:e>
                                    <m:sup>
                                      <m:r>
                                        <a:rPr lang="en-AU" sz="2400" i="1">
                                          <a:latin typeface="Cambria Math" panose="02040503050406030204" pitchFamily="18" charset="0"/>
                                          <a:ea typeface="Cambria Math" panose="02040503050406030204" pitchFamily="18" charset="0"/>
                                        </a:rPr>
                                        <m:t>𝑖</m:t>
                                      </m:r>
                                    </m:sup>
                                  </m:sSup>
                                </m:e>
                              </m:d>
                              <m:r>
                                <a:rPr lang="en-AU" sz="2400" i="1">
                                  <a:latin typeface="Cambria Math" panose="02040503050406030204" pitchFamily="18" charset="0"/>
                                  <a:ea typeface="Cambria Math" panose="02040503050406030204" pitchFamily="18" charset="0"/>
                                </a:rPr>
                                <m:t>−</m:t>
                              </m:r>
                              <m:sSup>
                                <m:sSupPr>
                                  <m:ctrlPr>
                                    <a:rPr lang="en-AU" sz="2400" i="1">
                                      <a:latin typeface="Cambria Math" panose="02040503050406030204" pitchFamily="18" charset="0"/>
                                      <a:ea typeface="Cambria Math" panose="02040503050406030204" pitchFamily="18" charset="0"/>
                                    </a:rPr>
                                  </m:ctrlPr>
                                </m:sSupPr>
                                <m:e>
                                  <m:r>
                                    <a:rPr lang="en-AU" sz="2400" i="1">
                                      <a:latin typeface="Cambria Math" panose="02040503050406030204" pitchFamily="18" charset="0"/>
                                      <a:ea typeface="Cambria Math" panose="02040503050406030204" pitchFamily="18" charset="0"/>
                                    </a:rPr>
                                    <m:t>𝑦</m:t>
                                  </m:r>
                                </m:e>
                                <m:sup>
                                  <m:r>
                                    <a:rPr lang="en-AU" sz="2400" i="1">
                                      <a:latin typeface="Cambria Math" panose="02040503050406030204" pitchFamily="18" charset="0"/>
                                      <a:ea typeface="Cambria Math" panose="02040503050406030204" pitchFamily="18" charset="0"/>
                                    </a:rPr>
                                    <m:t>𝑖</m:t>
                                  </m:r>
                                </m:sup>
                              </m:sSup>
                            </m:e>
                          </m:d>
                          <m:r>
                            <a:rPr lang="en-AU" sz="2400" i="1">
                              <a:latin typeface="Cambria Math" panose="02040503050406030204" pitchFamily="18" charset="0"/>
                              <a:ea typeface="Cambria Math" panose="02040503050406030204" pitchFamily="18" charset="0"/>
                            </a:rPr>
                            <m:t>∗</m:t>
                          </m:r>
                          <m:sSubSup>
                            <m:sSubSupPr>
                              <m:ctrlPr>
                                <a:rPr lang="en-AU" sz="2400" i="1">
                                  <a:latin typeface="Cambria Math" panose="02040503050406030204" pitchFamily="18" charset="0"/>
                                  <a:ea typeface="Cambria Math" panose="02040503050406030204" pitchFamily="18" charset="0"/>
                                </a:rPr>
                              </m:ctrlPr>
                            </m:sSubSupPr>
                            <m:e>
                              <m:r>
                                <a:rPr lang="en-AU" sz="2400" i="1">
                                  <a:latin typeface="Cambria Math" panose="02040503050406030204" pitchFamily="18" charset="0"/>
                                  <a:ea typeface="Cambria Math" panose="02040503050406030204" pitchFamily="18" charset="0"/>
                                </a:rPr>
                                <m:t>𝑥</m:t>
                              </m:r>
                            </m:e>
                            <m:sub>
                              <m:r>
                                <a:rPr lang="en-AU" sz="2400" b="0" i="1" smtClean="0">
                                  <a:latin typeface="Cambria Math" panose="02040503050406030204" pitchFamily="18" charset="0"/>
                                  <a:ea typeface="Cambria Math" panose="02040503050406030204" pitchFamily="18" charset="0"/>
                                </a:rPr>
                                <m:t>𝑛</m:t>
                              </m:r>
                            </m:sub>
                            <m:sup>
                              <m:r>
                                <a:rPr lang="en-AU" sz="2400" i="1">
                                  <a:latin typeface="Cambria Math" panose="02040503050406030204" pitchFamily="18" charset="0"/>
                                  <a:ea typeface="Cambria Math" panose="02040503050406030204" pitchFamily="18" charset="0"/>
                                </a:rPr>
                                <m:t>𝑖</m:t>
                              </m:r>
                            </m:sup>
                          </m:sSubSup>
                        </m:e>
                      </m:nary>
                    </m:oMath>
                  </m:oMathPara>
                </a14:m>
                <a:endParaRPr lang="en-AU" sz="2400" dirty="0">
                  <a:ea typeface="Cambria Math" panose="02040503050406030204" pitchFamily="18" charset="0"/>
                </a:endParaRPr>
              </a:p>
              <a:p>
                <a:pPr marL="0" indent="0">
                  <a:buNone/>
                </a:pPr>
                <a:r>
                  <a:rPr lang="en-US" sz="2400" dirty="0"/>
                  <a:t>         </a:t>
                </a:r>
                <a14:m>
                  <m:oMath xmlns:m="http://schemas.openxmlformats.org/officeDocument/2006/math">
                    <m:r>
                      <a:rPr lang="en-AU" sz="2400">
                        <a:latin typeface="Cambria Math" panose="02040503050406030204" pitchFamily="18" charset="0"/>
                        <a:ea typeface="Cambria Math" panose="02040503050406030204" pitchFamily="18" charset="0"/>
                      </a:rPr>
                      <m:t> </m:t>
                    </m:r>
                    <m:r>
                      <m:rPr>
                        <m:sty m:val="p"/>
                      </m:rPr>
                      <a:rPr lang="en-AU" sz="2400">
                        <a:latin typeface="Cambria Math" panose="02040503050406030204" pitchFamily="18" charset="0"/>
                        <a:ea typeface="Cambria Math" panose="02040503050406030204" pitchFamily="18" charset="0"/>
                      </a:rPr>
                      <m:t>b</m:t>
                    </m:r>
                    <m:r>
                      <a:rPr lang="en-AU" sz="2400">
                        <a:latin typeface="Cambria Math" panose="02040503050406030204" pitchFamily="18" charset="0"/>
                        <a:ea typeface="Cambria Math" panose="02040503050406030204" pitchFamily="18" charset="0"/>
                      </a:rPr>
                      <m:t>=</m:t>
                    </m:r>
                    <m:r>
                      <m:rPr>
                        <m:sty m:val="p"/>
                      </m:rPr>
                      <a:rPr lang="en-AU" sz="2400">
                        <a:latin typeface="Cambria Math" panose="02040503050406030204" pitchFamily="18" charset="0"/>
                        <a:ea typeface="Cambria Math" panose="02040503050406030204" pitchFamily="18" charset="0"/>
                      </a:rPr>
                      <m:t>b</m:t>
                    </m:r>
                    <m:r>
                      <a:rPr lang="en-AU" sz="2400">
                        <a:latin typeface="Cambria Math" panose="02040503050406030204" pitchFamily="18" charset="0"/>
                        <a:ea typeface="Cambria Math" panose="02040503050406030204" pitchFamily="18" charset="0"/>
                      </a:rPr>
                      <m:t>−</m:t>
                    </m:r>
                    <m:r>
                      <a:rPr lang="en-AU" sz="2400" i="1">
                        <a:latin typeface="Cambria Math" panose="02040503050406030204" pitchFamily="18" charset="0"/>
                        <a:ea typeface="Cambria Math" panose="02040503050406030204" pitchFamily="18" charset="0"/>
                      </a:rPr>
                      <m:t>𝛼</m:t>
                    </m:r>
                    <m:f>
                      <m:fPr>
                        <m:ctrlPr>
                          <a:rPr lang="en-AU" sz="2400" i="1">
                            <a:latin typeface="Cambria Math" panose="02040503050406030204" pitchFamily="18" charset="0"/>
                            <a:ea typeface="Cambria Math" panose="02040503050406030204" pitchFamily="18" charset="0"/>
                          </a:rPr>
                        </m:ctrlPr>
                      </m:fPr>
                      <m:num>
                        <m:r>
                          <a:rPr lang="en-AU" sz="2400" i="1">
                            <a:latin typeface="Cambria Math" panose="02040503050406030204" pitchFamily="18" charset="0"/>
                            <a:ea typeface="Cambria Math" panose="02040503050406030204" pitchFamily="18" charset="0"/>
                          </a:rPr>
                          <m:t>1</m:t>
                        </m:r>
                      </m:num>
                      <m:den>
                        <m:r>
                          <a:rPr lang="en-AU" sz="2400" i="1">
                            <a:latin typeface="Cambria Math" panose="02040503050406030204" pitchFamily="18" charset="0"/>
                            <a:ea typeface="Cambria Math" panose="02040503050406030204" pitchFamily="18" charset="0"/>
                          </a:rPr>
                          <m:t>𝑚</m:t>
                        </m:r>
                      </m:den>
                    </m:f>
                    <m:nary>
                      <m:naryPr>
                        <m:chr m:val="∑"/>
                        <m:ctrlPr>
                          <a:rPr lang="en-AU" sz="2400" i="1">
                            <a:latin typeface="Cambria Math" panose="02040503050406030204" pitchFamily="18" charset="0"/>
                            <a:ea typeface="Cambria Math" panose="02040503050406030204" pitchFamily="18" charset="0"/>
                          </a:rPr>
                        </m:ctrlPr>
                      </m:naryPr>
                      <m:sub>
                        <m:r>
                          <m:rPr>
                            <m:brk m:alnAt="23"/>
                          </m:rPr>
                          <a:rPr lang="en-AU" sz="2400" i="1">
                            <a:latin typeface="Cambria Math" panose="02040503050406030204" pitchFamily="18" charset="0"/>
                            <a:ea typeface="Cambria Math" panose="02040503050406030204" pitchFamily="18" charset="0"/>
                          </a:rPr>
                          <m:t>𝑖</m:t>
                        </m:r>
                        <m:r>
                          <m:rPr>
                            <m:brk m:alnAt="23"/>
                          </m:rPr>
                          <a:rPr lang="en-AU" sz="2400" i="1">
                            <a:latin typeface="Cambria Math" panose="02040503050406030204" pitchFamily="18" charset="0"/>
                            <a:ea typeface="Cambria Math" panose="02040503050406030204" pitchFamily="18" charset="0"/>
                          </a:rPr>
                          <m:t>=</m:t>
                        </m:r>
                        <m:r>
                          <m:rPr>
                            <m:brk m:alnAt="23"/>
                          </m:rPr>
                          <a:rPr lang="en-AU" sz="2400" i="1">
                            <a:latin typeface="Cambria Math" panose="02040503050406030204" pitchFamily="18" charset="0"/>
                            <a:ea typeface="Cambria Math" panose="02040503050406030204" pitchFamily="18" charset="0"/>
                          </a:rPr>
                          <m:t>1</m:t>
                        </m:r>
                      </m:sub>
                      <m:sup>
                        <m:r>
                          <a:rPr lang="en-AU" sz="2400" i="1">
                            <a:latin typeface="Cambria Math" panose="02040503050406030204" pitchFamily="18" charset="0"/>
                            <a:ea typeface="Cambria Math" panose="02040503050406030204" pitchFamily="18" charset="0"/>
                          </a:rPr>
                          <m:t>𝑚</m:t>
                        </m:r>
                      </m:sup>
                      <m:e>
                        <m:d>
                          <m:dPr>
                            <m:ctrlPr>
                              <a:rPr lang="en-AU" sz="2400" i="1">
                                <a:latin typeface="Cambria Math" panose="02040503050406030204" pitchFamily="18" charset="0"/>
                                <a:ea typeface="Cambria Math" panose="02040503050406030204" pitchFamily="18" charset="0"/>
                              </a:rPr>
                            </m:ctrlPr>
                          </m:dPr>
                          <m:e>
                            <m:sSub>
                              <m:sSubPr>
                                <m:ctrlPr>
                                  <a:rPr lang="en-AU" sz="2400" i="1">
                                    <a:latin typeface="Cambria Math" panose="02040503050406030204" pitchFamily="18" charset="0"/>
                                    <a:ea typeface="Cambria Math" panose="02040503050406030204" pitchFamily="18" charset="0"/>
                                  </a:rPr>
                                </m:ctrlPr>
                              </m:sSubPr>
                              <m:e>
                                <m:r>
                                  <a:rPr lang="en-AU" sz="2400" i="1">
                                    <a:latin typeface="Cambria Math" panose="02040503050406030204" pitchFamily="18" charset="0"/>
                                    <a:ea typeface="Cambria Math" panose="02040503050406030204" pitchFamily="18" charset="0"/>
                                  </a:rPr>
                                  <m:t>𝑓</m:t>
                                </m:r>
                              </m:e>
                              <m:sub>
                                <m:r>
                                  <a:rPr lang="en-AU" sz="2400" b="0" i="1" smtClean="0">
                                    <a:latin typeface="Cambria Math" panose="02040503050406030204" pitchFamily="18" charset="0"/>
                                    <a:ea typeface="Cambria Math" panose="02040503050406030204" pitchFamily="18" charset="0"/>
                                  </a:rPr>
                                  <m:t>𝑊</m:t>
                                </m:r>
                                <m:r>
                                  <a:rPr lang="en-AU" sz="2400" i="1">
                                    <a:latin typeface="Cambria Math" panose="02040503050406030204" pitchFamily="18" charset="0"/>
                                    <a:ea typeface="Cambria Math" panose="02040503050406030204" pitchFamily="18" charset="0"/>
                                  </a:rPr>
                                  <m:t>,</m:t>
                                </m:r>
                                <m:r>
                                  <a:rPr lang="en-AU" sz="2400" i="1">
                                    <a:latin typeface="Cambria Math" panose="02040503050406030204" pitchFamily="18" charset="0"/>
                                    <a:ea typeface="Cambria Math" panose="02040503050406030204" pitchFamily="18" charset="0"/>
                                  </a:rPr>
                                  <m:t>𝑏</m:t>
                                </m:r>
                              </m:sub>
                            </m:sSub>
                            <m:d>
                              <m:dPr>
                                <m:ctrlPr>
                                  <a:rPr lang="en-AU" sz="2400" i="1">
                                    <a:latin typeface="Cambria Math" panose="02040503050406030204" pitchFamily="18" charset="0"/>
                                    <a:ea typeface="Cambria Math" panose="02040503050406030204" pitchFamily="18" charset="0"/>
                                  </a:rPr>
                                </m:ctrlPr>
                              </m:dPr>
                              <m:e>
                                <m:sSup>
                                  <m:sSupPr>
                                    <m:ctrlPr>
                                      <a:rPr lang="en-AU" sz="2400" b="1" i="1" smtClean="0">
                                        <a:latin typeface="Cambria Math" panose="02040503050406030204" pitchFamily="18" charset="0"/>
                                        <a:ea typeface="Cambria Math" panose="02040503050406030204" pitchFamily="18" charset="0"/>
                                      </a:rPr>
                                    </m:ctrlPr>
                                  </m:sSupPr>
                                  <m:e>
                                    <m:r>
                                      <a:rPr lang="en-AU" sz="2400" b="1" i="1" smtClean="0">
                                        <a:latin typeface="Cambria Math" panose="02040503050406030204" pitchFamily="18" charset="0"/>
                                        <a:ea typeface="Cambria Math" panose="02040503050406030204" pitchFamily="18" charset="0"/>
                                      </a:rPr>
                                      <m:t>𝒙</m:t>
                                    </m:r>
                                  </m:e>
                                  <m:sup>
                                    <m:r>
                                      <a:rPr lang="en-AU" sz="2400" i="1">
                                        <a:latin typeface="Cambria Math" panose="02040503050406030204" pitchFamily="18" charset="0"/>
                                        <a:ea typeface="Cambria Math" panose="02040503050406030204" pitchFamily="18" charset="0"/>
                                      </a:rPr>
                                      <m:t>𝑖</m:t>
                                    </m:r>
                                  </m:sup>
                                </m:sSup>
                              </m:e>
                            </m:d>
                            <m:r>
                              <a:rPr lang="en-AU" sz="2400" i="1">
                                <a:latin typeface="Cambria Math" panose="02040503050406030204" pitchFamily="18" charset="0"/>
                                <a:ea typeface="Cambria Math" panose="02040503050406030204" pitchFamily="18" charset="0"/>
                              </a:rPr>
                              <m:t>−</m:t>
                            </m:r>
                            <m:sSup>
                              <m:sSupPr>
                                <m:ctrlPr>
                                  <a:rPr lang="en-AU" sz="2400" i="1">
                                    <a:latin typeface="Cambria Math" panose="02040503050406030204" pitchFamily="18" charset="0"/>
                                    <a:ea typeface="Cambria Math" panose="02040503050406030204" pitchFamily="18" charset="0"/>
                                  </a:rPr>
                                </m:ctrlPr>
                              </m:sSupPr>
                              <m:e>
                                <m:r>
                                  <a:rPr lang="en-AU" sz="2400" i="1">
                                    <a:latin typeface="Cambria Math" panose="02040503050406030204" pitchFamily="18" charset="0"/>
                                    <a:ea typeface="Cambria Math" panose="02040503050406030204" pitchFamily="18" charset="0"/>
                                  </a:rPr>
                                  <m:t>𝑦</m:t>
                                </m:r>
                              </m:e>
                              <m:sup>
                                <m:r>
                                  <a:rPr lang="en-AU" sz="2400" i="1">
                                    <a:latin typeface="Cambria Math" panose="02040503050406030204" pitchFamily="18" charset="0"/>
                                    <a:ea typeface="Cambria Math" panose="02040503050406030204" pitchFamily="18" charset="0"/>
                                  </a:rPr>
                                  <m:t>𝑖</m:t>
                                </m:r>
                              </m:sup>
                            </m:sSup>
                          </m:e>
                        </m:d>
                      </m:e>
                    </m:nary>
                  </m:oMath>
                </a14:m>
                <a:endParaRPr lang="en-US" sz="2400" dirty="0"/>
              </a:p>
              <a:p>
                <a:pPr marL="0" indent="0">
                  <a:buNone/>
                </a:pPr>
                <a:r>
                  <a:rPr lang="en-US" sz="2400" dirty="0"/>
                  <a:t>          simultaneously update </a:t>
                </a:r>
                <a14:m>
                  <m:oMath xmlns:m="http://schemas.openxmlformats.org/officeDocument/2006/math">
                    <m:sSub>
                      <m:sSubPr>
                        <m:ctrlPr>
                          <a:rPr lang="en-AU" sz="2400" i="1">
                            <a:latin typeface="Cambria Math" panose="02040503050406030204" pitchFamily="18" charset="0"/>
                          </a:rPr>
                        </m:ctrlPr>
                      </m:sSubPr>
                      <m:e>
                        <m:r>
                          <a:rPr lang="en-AU" sz="2400" i="1">
                            <a:latin typeface="Cambria Math" panose="02040503050406030204" pitchFamily="18" charset="0"/>
                          </a:rPr>
                          <m:t>𝑤</m:t>
                        </m:r>
                      </m:e>
                      <m:sub>
                        <m:r>
                          <a:rPr lang="en-AU" sz="2400" b="0" i="1" smtClean="0">
                            <a:latin typeface="Cambria Math" panose="02040503050406030204" pitchFamily="18" charset="0"/>
                          </a:rPr>
                          <m:t>𝑖</m:t>
                        </m:r>
                      </m:sub>
                    </m:sSub>
                    <m:r>
                      <a:rPr lang="en-AU" sz="2400" i="1">
                        <a:latin typeface="Cambria Math" panose="02040503050406030204" pitchFamily="18" charset="0"/>
                      </a:rPr>
                      <m:t> </m:t>
                    </m:r>
                  </m:oMath>
                </a14:m>
                <a:r>
                  <a:rPr lang="en-US" sz="2400" dirty="0"/>
                  <a:t>(for </a:t>
                </a:r>
                <a14:m>
                  <m:oMath xmlns:m="http://schemas.openxmlformats.org/officeDocument/2006/math">
                    <m:r>
                      <a:rPr lang="en-AU" sz="2400" b="0" i="1" smtClean="0">
                        <a:latin typeface="Cambria Math" panose="02040503050406030204" pitchFamily="18" charset="0"/>
                      </a:rPr>
                      <m:t>𝑖</m:t>
                    </m:r>
                    <m:r>
                      <a:rPr lang="en-AU" sz="2400" b="0" i="1" smtClean="0">
                        <a:latin typeface="Cambria Math" panose="02040503050406030204" pitchFamily="18" charset="0"/>
                      </a:rPr>
                      <m:t>=1, …, </m:t>
                    </m:r>
                    <m:r>
                      <a:rPr lang="en-AU" sz="2400" b="0" i="1" smtClean="0">
                        <a:latin typeface="Cambria Math" panose="02040503050406030204" pitchFamily="18" charset="0"/>
                      </a:rPr>
                      <m:t>𝑛</m:t>
                    </m:r>
                  </m:oMath>
                </a14:m>
                <a:r>
                  <a:rPr lang="en-US" sz="2400" dirty="0"/>
                  <a:t>) and </a:t>
                </a:r>
                <a14:m>
                  <m:oMath xmlns:m="http://schemas.openxmlformats.org/officeDocument/2006/math">
                    <m:r>
                      <a:rPr lang="en-AU" sz="2400" i="1">
                        <a:latin typeface="Cambria Math" panose="02040503050406030204" pitchFamily="18" charset="0"/>
                      </a:rPr>
                      <m:t>𝑏</m:t>
                    </m:r>
                  </m:oMath>
                </a14:m>
                <a:endParaRPr lang="en-US" sz="2400" dirty="0"/>
              </a:p>
              <a:p>
                <a:pPr marL="0" indent="0">
                  <a:buNone/>
                </a:pPr>
                <a:r>
                  <a:rPr lang="en-US" sz="2400" dirty="0"/>
                  <a:t>}</a:t>
                </a:r>
              </a:p>
              <a:p>
                <a:pPr marL="0" indent="0">
                  <a:buNone/>
                </a:pPr>
                <a:r>
                  <a:rPr lang="en-US" dirty="0"/>
                  <a:t> </a:t>
                </a:r>
              </a:p>
              <a:p>
                <a:endParaRPr lang="en-US" dirty="0"/>
              </a:p>
            </p:txBody>
          </p:sp>
        </mc:Choice>
        <mc:Fallback>
          <p:sp>
            <p:nvSpPr>
              <p:cNvPr id="8" name="Content Placeholder 6">
                <a:extLst>
                  <a:ext uri="{FF2B5EF4-FFF2-40B4-BE49-F238E27FC236}">
                    <a16:creationId xmlns:a16="http://schemas.microsoft.com/office/drawing/2014/main" id="{FE26A2A0-FBF8-2E22-C981-B027D8308564}"/>
                  </a:ext>
                </a:extLst>
              </p:cNvPr>
              <p:cNvSpPr txBox="1">
                <a:spLocks noRot="1" noChangeAspect="1" noMove="1" noResize="1" noEditPoints="1" noAdjustHandles="1" noChangeArrowheads="1" noChangeShapeType="1" noTextEdit="1"/>
              </p:cNvSpPr>
              <p:nvPr/>
            </p:nvSpPr>
            <p:spPr>
              <a:xfrm>
                <a:off x="5988424" y="1825625"/>
                <a:ext cx="6544213" cy="5453716"/>
              </a:xfrm>
              <a:prstGeom prst="rect">
                <a:avLst/>
              </a:prstGeom>
              <a:blipFill>
                <a:blip r:embed="rId4"/>
                <a:stretch>
                  <a:fillRect l="-1550" t="-1856"/>
                </a:stretch>
              </a:blipFill>
            </p:spPr>
            <p:txBody>
              <a:bodyPr/>
              <a:lstStyle/>
              <a:p>
                <a:r>
                  <a:rPr lang="en-US">
                    <a:noFill/>
                  </a:rPr>
                  <a:t> </a:t>
                </a:r>
              </a:p>
            </p:txBody>
          </p:sp>
        </mc:Fallback>
      </mc:AlternateContent>
      <p:cxnSp>
        <p:nvCxnSpPr>
          <p:cNvPr id="10" name="Straight Connector 9">
            <a:extLst>
              <a:ext uri="{FF2B5EF4-FFF2-40B4-BE49-F238E27FC236}">
                <a16:creationId xmlns:a16="http://schemas.microsoft.com/office/drawing/2014/main" id="{5716625B-EB55-3153-B6CA-3CED93365A5E}"/>
              </a:ext>
            </a:extLst>
          </p:cNvPr>
          <p:cNvCxnSpPr>
            <a:cxnSpLocks/>
          </p:cNvCxnSpPr>
          <p:nvPr/>
        </p:nvCxnSpPr>
        <p:spPr>
          <a:xfrm>
            <a:off x="5916706" y="1690688"/>
            <a:ext cx="0" cy="5014912"/>
          </a:xfrm>
          <a:prstGeom prst="line">
            <a:avLst/>
          </a:prstGeom>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mc:Choice xmlns:p14="http://schemas.microsoft.com/office/powerpoint/2010/main" Requires="p14">
          <p:contentPart p14:bwMode="auto" r:id="rId5">
            <p14:nvContentPartPr>
              <p14:cNvPr id="12" name="Ink 11">
                <a:extLst>
                  <a:ext uri="{FF2B5EF4-FFF2-40B4-BE49-F238E27FC236}">
                    <a16:creationId xmlns:a16="http://schemas.microsoft.com/office/drawing/2014/main" id="{421329B2-EF82-F1A3-87FD-1551893B7875}"/>
                  </a:ext>
                </a:extLst>
              </p14:cNvPr>
              <p14:cNvContentPartPr/>
              <p14:nvPr/>
            </p14:nvContentPartPr>
            <p14:xfrm>
              <a:off x="6801296" y="3472468"/>
              <a:ext cx="360" cy="360"/>
            </p14:xfrm>
          </p:contentPart>
        </mc:Choice>
        <mc:Fallback>
          <p:pic>
            <p:nvPicPr>
              <p:cNvPr id="12" name="Ink 11">
                <a:extLst>
                  <a:ext uri="{FF2B5EF4-FFF2-40B4-BE49-F238E27FC236}">
                    <a16:creationId xmlns:a16="http://schemas.microsoft.com/office/drawing/2014/main" id="{421329B2-EF82-F1A3-87FD-1551893B7875}"/>
                  </a:ext>
                </a:extLst>
              </p:cNvPr>
              <p:cNvPicPr/>
              <p:nvPr/>
            </p:nvPicPr>
            <p:blipFill>
              <a:blip r:embed="rId6"/>
              <a:stretch>
                <a:fillRect/>
              </a:stretch>
            </p:blipFill>
            <p:spPr>
              <a:xfrm>
                <a:off x="6795176" y="3466348"/>
                <a:ext cx="12600" cy="12600"/>
              </a:xfrm>
              <a:prstGeom prst="rect">
                <a:avLst/>
              </a:prstGeom>
            </p:spPr>
          </p:pic>
        </mc:Fallback>
      </mc:AlternateContent>
      <p:grpSp>
        <p:nvGrpSpPr>
          <p:cNvPr id="23" name="Group 22">
            <a:extLst>
              <a:ext uri="{FF2B5EF4-FFF2-40B4-BE49-F238E27FC236}">
                <a16:creationId xmlns:a16="http://schemas.microsoft.com/office/drawing/2014/main" id="{66AC0219-BFB8-A4C7-7AF0-71909578478A}"/>
              </a:ext>
            </a:extLst>
          </p:cNvPr>
          <p:cNvGrpSpPr/>
          <p:nvPr/>
        </p:nvGrpSpPr>
        <p:grpSpPr>
          <a:xfrm>
            <a:off x="7219334" y="3352800"/>
            <a:ext cx="134472" cy="618562"/>
            <a:chOff x="2294963" y="5378823"/>
            <a:chExt cx="134472" cy="618562"/>
          </a:xfrm>
        </p:grpSpPr>
        <p:sp>
          <p:nvSpPr>
            <p:cNvPr id="18" name="Oval 17">
              <a:extLst>
                <a:ext uri="{FF2B5EF4-FFF2-40B4-BE49-F238E27FC236}">
                  <a16:creationId xmlns:a16="http://schemas.microsoft.com/office/drawing/2014/main" id="{8EAE5AFF-CBD8-7296-A2D2-88177CB5D39C}"/>
                </a:ext>
              </a:extLst>
            </p:cNvPr>
            <p:cNvSpPr/>
            <p:nvPr/>
          </p:nvSpPr>
          <p:spPr>
            <a:xfrm>
              <a:off x="2294963" y="5378823"/>
              <a:ext cx="125506" cy="161364"/>
            </a:xfrm>
            <a:prstGeom prst="ellipse">
              <a:avLst/>
            </a:prstGeom>
            <a:ln>
              <a:noFill/>
            </a:ln>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US"/>
            </a:p>
          </p:txBody>
        </p:sp>
        <p:sp>
          <p:nvSpPr>
            <p:cNvPr id="19" name="Oval 18">
              <a:extLst>
                <a:ext uri="{FF2B5EF4-FFF2-40B4-BE49-F238E27FC236}">
                  <a16:creationId xmlns:a16="http://schemas.microsoft.com/office/drawing/2014/main" id="{18725BD4-516B-DE49-B748-7C8E460BC217}"/>
                </a:ext>
              </a:extLst>
            </p:cNvPr>
            <p:cNvSpPr/>
            <p:nvPr/>
          </p:nvSpPr>
          <p:spPr>
            <a:xfrm>
              <a:off x="2303929" y="5836021"/>
              <a:ext cx="125506" cy="161364"/>
            </a:xfrm>
            <a:prstGeom prst="ellipse">
              <a:avLst/>
            </a:prstGeom>
            <a:ln>
              <a:noFill/>
            </a:ln>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US"/>
            </a:p>
          </p:txBody>
        </p:sp>
        <p:sp>
          <p:nvSpPr>
            <p:cNvPr id="22" name="Oval 21">
              <a:extLst>
                <a:ext uri="{FF2B5EF4-FFF2-40B4-BE49-F238E27FC236}">
                  <a16:creationId xmlns:a16="http://schemas.microsoft.com/office/drawing/2014/main" id="{F3BAEFB4-0406-1763-DA8D-94B4D4D6EF61}"/>
                </a:ext>
              </a:extLst>
            </p:cNvPr>
            <p:cNvSpPr/>
            <p:nvPr/>
          </p:nvSpPr>
          <p:spPr>
            <a:xfrm>
              <a:off x="2294967" y="5629838"/>
              <a:ext cx="125506" cy="161364"/>
            </a:xfrm>
            <a:prstGeom prst="ellipse">
              <a:avLst/>
            </a:prstGeom>
            <a:ln>
              <a:noFill/>
            </a:ln>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US"/>
            </a:p>
          </p:txBody>
        </p:sp>
      </p:grpSp>
    </p:spTree>
    <p:extLst>
      <p:ext uri="{BB962C8B-B14F-4D97-AF65-F5344CB8AC3E}">
        <p14:creationId xmlns:p14="http://schemas.microsoft.com/office/powerpoint/2010/main" val="71223958"/>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77C4429-301E-5845-77D1-F736410D8773}"/>
              </a:ext>
            </a:extLst>
          </p:cNvPr>
          <p:cNvSpPr>
            <a:spLocks noGrp="1"/>
          </p:cNvSpPr>
          <p:nvPr>
            <p:ph type="title"/>
          </p:nvPr>
        </p:nvSpPr>
        <p:spPr/>
        <p:txBody>
          <a:bodyPr/>
          <a:lstStyle/>
          <a:p>
            <a:r>
              <a:rPr lang="en-US" b="1" dirty="0"/>
              <a:t>Classification using linear model</a:t>
            </a:r>
          </a:p>
        </p:txBody>
      </p:sp>
      <mc:AlternateContent xmlns:mc="http://schemas.openxmlformats.org/markup-compatibility/2006">
        <mc:Choice xmlns:a14="http://schemas.microsoft.com/office/drawing/2010/main" Requires="a14">
          <p:sp>
            <p:nvSpPr>
              <p:cNvPr id="3" name="Content Placeholder 2">
                <a:extLst>
                  <a:ext uri="{FF2B5EF4-FFF2-40B4-BE49-F238E27FC236}">
                    <a16:creationId xmlns:a16="http://schemas.microsoft.com/office/drawing/2014/main" id="{6E7BE515-C8D9-26FE-0998-2B6605A0D6EF}"/>
                  </a:ext>
                </a:extLst>
              </p:cNvPr>
              <p:cNvSpPr>
                <a:spLocks noGrp="1"/>
              </p:cNvSpPr>
              <p:nvPr>
                <p:ph idx="1"/>
              </p:nvPr>
            </p:nvSpPr>
            <p:spPr>
              <a:xfrm>
                <a:off x="838200" y="1825625"/>
                <a:ext cx="6907306" cy="4351338"/>
              </a:xfrm>
            </p:spPr>
            <p:txBody>
              <a:bodyPr/>
              <a:lstStyle/>
              <a:p>
                <a:r>
                  <a:rPr lang="en-US" dirty="0"/>
                  <a:t>In classification, we want to predict the probability of an instance belonging to a class among a set of classes. E.g., a hand written digit being 0, or 1,…, or 9</a:t>
                </a:r>
              </a:p>
              <a:p>
                <a:r>
                  <a:rPr lang="en-US" dirty="0"/>
                  <a:t>Want output between 0 and 1. </a:t>
                </a:r>
              </a:p>
              <a:p>
                <a:r>
                  <a:rPr lang="en-US" dirty="0"/>
                  <a:t>Apply a function to convert the output of liner model between 0 and 1. </a:t>
                </a:r>
              </a:p>
              <a:p>
                <a:r>
                  <a:rPr lang="en-US" dirty="0"/>
                  <a:t>Classification model output: </a:t>
                </a:r>
                <a14:m>
                  <m:oMath xmlns:m="http://schemas.openxmlformats.org/officeDocument/2006/math">
                    <m:r>
                      <m:rPr>
                        <m:sty m:val="p"/>
                      </m:rPr>
                      <a:rPr lang="el-GR" i="1" smtClean="0">
                        <a:latin typeface="Cambria Math" panose="02040503050406030204" pitchFamily="18" charset="0"/>
                        <a:ea typeface="Cambria Math" panose="02040503050406030204" pitchFamily="18" charset="0"/>
                      </a:rPr>
                      <m:t>σ</m:t>
                    </m:r>
                    <m:d>
                      <m:dPr>
                        <m:ctrlPr>
                          <a:rPr lang="en-AU" i="1">
                            <a:latin typeface="Cambria Math" panose="02040503050406030204" pitchFamily="18" charset="0"/>
                            <a:ea typeface="Cambria Math" panose="02040503050406030204" pitchFamily="18" charset="0"/>
                          </a:rPr>
                        </m:ctrlPr>
                      </m:dPr>
                      <m:e>
                        <m:sSub>
                          <m:sSubPr>
                            <m:ctrlPr>
                              <a:rPr lang="en-AU" i="1">
                                <a:latin typeface="Cambria Math" panose="02040503050406030204" pitchFamily="18" charset="0"/>
                                <a:ea typeface="Cambria Math" panose="02040503050406030204" pitchFamily="18" charset="0"/>
                              </a:rPr>
                            </m:ctrlPr>
                          </m:sSubPr>
                          <m:e>
                            <m:r>
                              <a:rPr lang="en-AU" i="1">
                                <a:latin typeface="Cambria Math" panose="02040503050406030204" pitchFamily="18" charset="0"/>
                                <a:ea typeface="Cambria Math" panose="02040503050406030204" pitchFamily="18" charset="0"/>
                              </a:rPr>
                              <m:t>𝑓</m:t>
                            </m:r>
                          </m:e>
                          <m:sub>
                            <m:r>
                              <a:rPr lang="en-AU" i="1">
                                <a:latin typeface="Cambria Math" panose="02040503050406030204" pitchFamily="18" charset="0"/>
                                <a:ea typeface="Cambria Math" panose="02040503050406030204" pitchFamily="18" charset="0"/>
                              </a:rPr>
                              <m:t>𝑤</m:t>
                            </m:r>
                            <m:r>
                              <a:rPr lang="en-AU" i="1">
                                <a:latin typeface="Cambria Math" panose="02040503050406030204" pitchFamily="18" charset="0"/>
                                <a:ea typeface="Cambria Math" panose="02040503050406030204" pitchFamily="18" charset="0"/>
                              </a:rPr>
                              <m:t>,</m:t>
                            </m:r>
                            <m:r>
                              <a:rPr lang="en-AU" i="1">
                                <a:latin typeface="Cambria Math" panose="02040503050406030204" pitchFamily="18" charset="0"/>
                                <a:ea typeface="Cambria Math" panose="02040503050406030204" pitchFamily="18" charset="0"/>
                              </a:rPr>
                              <m:t>𝑏</m:t>
                            </m:r>
                          </m:sub>
                        </m:sSub>
                        <m:d>
                          <m:dPr>
                            <m:ctrlPr>
                              <a:rPr lang="en-AU" i="1">
                                <a:latin typeface="Cambria Math" panose="02040503050406030204" pitchFamily="18" charset="0"/>
                                <a:ea typeface="Cambria Math" panose="02040503050406030204" pitchFamily="18" charset="0"/>
                              </a:rPr>
                            </m:ctrlPr>
                          </m:dPr>
                          <m:e>
                            <m:sSup>
                              <m:sSupPr>
                                <m:ctrlPr>
                                  <a:rPr lang="en-AU" i="1">
                                    <a:latin typeface="Cambria Math" panose="02040503050406030204" pitchFamily="18" charset="0"/>
                                    <a:ea typeface="Cambria Math" panose="02040503050406030204" pitchFamily="18" charset="0"/>
                                  </a:rPr>
                                </m:ctrlPr>
                              </m:sSupPr>
                              <m:e>
                                <m:r>
                                  <a:rPr lang="en-AU" i="1">
                                    <a:latin typeface="Cambria Math" panose="02040503050406030204" pitchFamily="18" charset="0"/>
                                    <a:ea typeface="Cambria Math" panose="02040503050406030204" pitchFamily="18" charset="0"/>
                                  </a:rPr>
                                  <m:t>𝑥</m:t>
                                </m:r>
                              </m:e>
                              <m:sup>
                                <m:r>
                                  <a:rPr lang="en-AU" i="1">
                                    <a:latin typeface="Cambria Math" panose="02040503050406030204" pitchFamily="18" charset="0"/>
                                    <a:ea typeface="Cambria Math" panose="02040503050406030204" pitchFamily="18" charset="0"/>
                                  </a:rPr>
                                  <m:t>𝑖</m:t>
                                </m:r>
                              </m:sup>
                            </m:sSup>
                          </m:e>
                        </m:d>
                      </m:e>
                    </m:d>
                  </m:oMath>
                </a14:m>
                <a:endParaRPr lang="en-US" dirty="0"/>
              </a:p>
            </p:txBody>
          </p:sp>
        </mc:Choice>
        <mc:Fallback>
          <p:sp>
            <p:nvSpPr>
              <p:cNvPr id="3" name="Content Placeholder 2">
                <a:extLst>
                  <a:ext uri="{FF2B5EF4-FFF2-40B4-BE49-F238E27FC236}">
                    <a16:creationId xmlns:a16="http://schemas.microsoft.com/office/drawing/2014/main" id="{6E7BE515-C8D9-26FE-0998-2B6605A0D6EF}"/>
                  </a:ext>
                </a:extLst>
              </p:cNvPr>
              <p:cNvSpPr>
                <a:spLocks noGrp="1" noRot="1" noChangeAspect="1" noMove="1" noResize="1" noEditPoints="1" noAdjustHandles="1" noChangeArrowheads="1" noChangeShapeType="1" noTextEdit="1"/>
              </p:cNvSpPr>
              <p:nvPr>
                <p:ph idx="1"/>
              </p:nvPr>
            </p:nvSpPr>
            <p:spPr>
              <a:xfrm>
                <a:off x="838200" y="1825625"/>
                <a:ext cx="6907306" cy="4351338"/>
              </a:xfrm>
              <a:blipFill>
                <a:blip r:embed="rId2"/>
                <a:stretch>
                  <a:fillRect l="-1651" t="-2326"/>
                </a:stretch>
              </a:blipFill>
            </p:spPr>
            <p:txBody>
              <a:bodyPr/>
              <a:lstStyle/>
              <a:p>
                <a:r>
                  <a:rPr lang="en-US">
                    <a:noFill/>
                  </a:rPr>
                  <a:t> </a:t>
                </a:r>
              </a:p>
            </p:txBody>
          </p:sp>
        </mc:Fallback>
      </mc:AlternateContent>
      <p:pic>
        <p:nvPicPr>
          <p:cNvPr id="4" name="Picture 3" descr="Describe when to use logistic sigmoid, tanh, and Fourier as a basis function.  | Kaggle">
            <a:extLst>
              <a:ext uri="{FF2B5EF4-FFF2-40B4-BE49-F238E27FC236}">
                <a16:creationId xmlns:a16="http://schemas.microsoft.com/office/drawing/2014/main" id="{E28EEE63-73AB-484D-021A-F4A5FE7DBD79}"/>
              </a:ext>
            </a:extLst>
          </p:cNvPr>
          <p:cNvPicPr>
            <a:picLocks noChangeAspect="1"/>
          </p:cNvPicPr>
          <p:nvPr/>
        </p:nvPicPr>
        <p:blipFill>
          <a:blip r:embed="rId3"/>
          <a:stretch>
            <a:fillRect/>
          </a:stretch>
        </p:blipFill>
        <p:spPr>
          <a:xfrm>
            <a:off x="7802282" y="1489447"/>
            <a:ext cx="4389718" cy="3292289"/>
          </a:xfrm>
          <a:prstGeom prst="rect">
            <a:avLst/>
          </a:prstGeom>
        </p:spPr>
      </p:pic>
      <mc:AlternateContent xmlns:mc="http://schemas.openxmlformats.org/markup-compatibility/2006">
        <mc:Choice xmlns:a14="http://schemas.microsoft.com/office/drawing/2010/main" Requires="a14">
          <p:sp>
            <p:nvSpPr>
              <p:cNvPr id="5" name="TextBox 4">
                <a:extLst>
                  <a:ext uri="{FF2B5EF4-FFF2-40B4-BE49-F238E27FC236}">
                    <a16:creationId xmlns:a16="http://schemas.microsoft.com/office/drawing/2014/main" id="{65F12931-F3C9-DA9C-82C3-E31D405B5D3F}"/>
                  </a:ext>
                </a:extLst>
              </p:cNvPr>
              <p:cNvSpPr txBox="1"/>
              <p:nvPr/>
            </p:nvSpPr>
            <p:spPr>
              <a:xfrm>
                <a:off x="7952634" y="4787689"/>
                <a:ext cx="4239366" cy="1161728"/>
              </a:xfrm>
              <a:prstGeom prst="rect">
                <a:avLst/>
              </a:prstGeom>
              <a:noFill/>
            </p:spPr>
            <p:txBody>
              <a:bodyPr wrap="none" rtlCol="0">
                <a:spAutoFit/>
              </a:bodyPr>
              <a:lstStyle/>
              <a:p>
                <a:r>
                  <a:rPr lang="en-AU" sz="2400" dirty="0"/>
                  <a:t>outputs between 0 and 1</a:t>
                </a:r>
              </a:p>
              <a:p>
                <a14:m>
                  <m:oMathPara xmlns:m="http://schemas.openxmlformats.org/officeDocument/2006/math">
                    <m:oMath>
                      <m:r>
                        <a:rPr lang="en-AU" sz="2400" b="0" i="1" smtClean="0">
                          <a:latin typeface="Cambria Math" panose="02040503050406030204" pitchFamily="18" charset="0"/>
                        </a:rPr>
                        <m:t>𝑔</m:t>
                      </m:r>
                      <m:d>
                        <m:dPr>
                          <m:ctrlPr>
                            <a:rPr lang="en-AU" sz="2400" b="0" i="1" smtClean="0">
                              <a:latin typeface="Cambria Math" panose="02040503050406030204" pitchFamily="18" charset="0"/>
                            </a:rPr>
                          </m:ctrlPr>
                        </m:dPr>
                        <m:e>
                          <m:r>
                            <a:rPr lang="en-AU" sz="2400" b="0" i="1" smtClean="0">
                              <a:latin typeface="Cambria Math" panose="02040503050406030204" pitchFamily="18" charset="0"/>
                            </a:rPr>
                            <m:t>𝑧</m:t>
                          </m:r>
                        </m:e>
                      </m:d>
                      <m:r>
                        <a:rPr lang="en-AU" sz="2400" b="0" i="1" smtClean="0">
                          <a:latin typeface="Cambria Math" panose="02040503050406030204" pitchFamily="18" charset="0"/>
                        </a:rPr>
                        <m:t>=</m:t>
                      </m:r>
                      <m:f>
                        <m:fPr>
                          <m:ctrlPr>
                            <a:rPr lang="en-AU" sz="2400" b="0" i="1" smtClean="0">
                              <a:latin typeface="Cambria Math" panose="02040503050406030204" pitchFamily="18" charset="0"/>
                            </a:rPr>
                          </m:ctrlPr>
                        </m:fPr>
                        <m:num>
                          <m:r>
                            <a:rPr lang="en-AU" sz="2400" b="0" i="1" smtClean="0">
                              <a:latin typeface="Cambria Math" panose="02040503050406030204" pitchFamily="18" charset="0"/>
                            </a:rPr>
                            <m:t>1</m:t>
                          </m:r>
                        </m:num>
                        <m:den>
                          <m:r>
                            <a:rPr lang="en-AU" sz="2400" b="0" i="1" smtClean="0">
                              <a:latin typeface="Cambria Math" panose="02040503050406030204" pitchFamily="18" charset="0"/>
                            </a:rPr>
                            <m:t>1+</m:t>
                          </m:r>
                          <m:sSup>
                            <m:sSupPr>
                              <m:ctrlPr>
                                <a:rPr lang="en-AU" sz="2400" b="0" i="1" smtClean="0">
                                  <a:latin typeface="Cambria Math" panose="02040503050406030204" pitchFamily="18" charset="0"/>
                                </a:rPr>
                              </m:ctrlPr>
                            </m:sSupPr>
                            <m:e>
                              <m:r>
                                <a:rPr lang="en-AU" sz="2400" b="0" i="1" smtClean="0">
                                  <a:latin typeface="Cambria Math" panose="02040503050406030204" pitchFamily="18" charset="0"/>
                                </a:rPr>
                                <m:t>𝑒</m:t>
                              </m:r>
                            </m:e>
                            <m:sup>
                              <m:r>
                                <a:rPr lang="en-AU" sz="2400" b="0" i="1" smtClean="0">
                                  <a:latin typeface="Cambria Math" panose="02040503050406030204" pitchFamily="18" charset="0"/>
                                </a:rPr>
                                <m:t>−</m:t>
                              </m:r>
                              <m:r>
                                <a:rPr lang="en-AU" sz="2400" b="0" i="1" smtClean="0">
                                  <a:latin typeface="Cambria Math" panose="02040503050406030204" pitchFamily="18" charset="0"/>
                                </a:rPr>
                                <m:t>𝑧</m:t>
                              </m:r>
                            </m:sup>
                          </m:sSup>
                        </m:den>
                      </m:f>
                      <m:r>
                        <a:rPr lang="en-AU" sz="2400" b="0" i="1" smtClean="0">
                          <a:latin typeface="Cambria Math" panose="02040503050406030204" pitchFamily="18" charset="0"/>
                        </a:rPr>
                        <m:t>.  0&lt;</m:t>
                      </m:r>
                      <m:r>
                        <a:rPr lang="en-AU" sz="2400" b="0" i="1" smtClean="0">
                          <a:latin typeface="Cambria Math" panose="02040503050406030204" pitchFamily="18" charset="0"/>
                        </a:rPr>
                        <m:t>𝑔</m:t>
                      </m:r>
                      <m:d>
                        <m:dPr>
                          <m:ctrlPr>
                            <a:rPr lang="en-AU" sz="2400" b="0" i="1" smtClean="0">
                              <a:latin typeface="Cambria Math" panose="02040503050406030204" pitchFamily="18" charset="0"/>
                            </a:rPr>
                          </m:ctrlPr>
                        </m:dPr>
                        <m:e>
                          <m:r>
                            <a:rPr lang="en-AU" sz="2400" b="0" i="1" smtClean="0">
                              <a:latin typeface="Cambria Math" panose="02040503050406030204" pitchFamily="18" charset="0"/>
                            </a:rPr>
                            <m:t>𝑧</m:t>
                          </m:r>
                        </m:e>
                      </m:d>
                      <m:r>
                        <a:rPr lang="en-AU" sz="2400" b="0" i="1" smtClean="0">
                          <a:latin typeface="Cambria Math" panose="02040503050406030204" pitchFamily="18" charset="0"/>
                        </a:rPr>
                        <m:t>&lt;1</m:t>
                      </m:r>
                    </m:oMath>
                  </m:oMathPara>
                </a14:m>
                <a:endParaRPr lang="en-US" sz="2400" dirty="0"/>
              </a:p>
            </p:txBody>
          </p:sp>
        </mc:Choice>
        <mc:Fallback>
          <p:sp>
            <p:nvSpPr>
              <p:cNvPr id="5" name="TextBox 4">
                <a:extLst>
                  <a:ext uri="{FF2B5EF4-FFF2-40B4-BE49-F238E27FC236}">
                    <a16:creationId xmlns:a16="http://schemas.microsoft.com/office/drawing/2014/main" id="{65F12931-F3C9-DA9C-82C3-E31D405B5D3F}"/>
                  </a:ext>
                </a:extLst>
              </p:cNvPr>
              <p:cNvSpPr txBox="1">
                <a:spLocks noRot="1" noChangeAspect="1" noMove="1" noResize="1" noEditPoints="1" noAdjustHandles="1" noChangeArrowheads="1" noChangeShapeType="1" noTextEdit="1"/>
              </p:cNvSpPr>
              <p:nvPr/>
            </p:nvSpPr>
            <p:spPr>
              <a:xfrm>
                <a:off x="7952634" y="4787689"/>
                <a:ext cx="4239366" cy="1161728"/>
              </a:xfrm>
              <a:prstGeom prst="rect">
                <a:avLst/>
              </a:prstGeom>
              <a:blipFill>
                <a:blip r:embed="rId4"/>
                <a:stretch>
                  <a:fillRect l="-2388" t="-4301" b="-4301"/>
                </a:stretch>
              </a:blipFill>
            </p:spPr>
            <p:txBody>
              <a:bodyPr/>
              <a:lstStyle/>
              <a:p>
                <a:r>
                  <a:rPr lang="en-US">
                    <a:noFill/>
                  </a:rPr>
                  <a:t> </a:t>
                </a:r>
              </a:p>
            </p:txBody>
          </p:sp>
        </mc:Fallback>
      </mc:AlternateContent>
    </p:spTree>
    <p:extLst>
      <p:ext uri="{BB962C8B-B14F-4D97-AF65-F5344CB8AC3E}">
        <p14:creationId xmlns:p14="http://schemas.microsoft.com/office/powerpoint/2010/main" val="1390095653"/>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2149D16-B03B-E6CB-1C52-5009C999F666}"/>
              </a:ext>
            </a:extLst>
          </p:cNvPr>
          <p:cNvSpPr>
            <a:spLocks noGrp="1"/>
          </p:cNvSpPr>
          <p:nvPr>
            <p:ph type="title"/>
          </p:nvPr>
        </p:nvSpPr>
        <p:spPr/>
        <p:txBody>
          <a:bodyPr/>
          <a:lstStyle/>
          <a:p>
            <a:r>
              <a:rPr lang="en-US" b="1" dirty="0"/>
              <a:t>Loss function</a:t>
            </a:r>
          </a:p>
        </p:txBody>
      </p:sp>
      <mc:AlternateContent xmlns:mc="http://schemas.openxmlformats.org/markup-compatibility/2006">
        <mc:Choice xmlns:a14="http://schemas.microsoft.com/office/drawing/2010/main" Requires="a14">
          <p:sp>
            <p:nvSpPr>
              <p:cNvPr id="3" name="Content Placeholder 2">
                <a:extLst>
                  <a:ext uri="{FF2B5EF4-FFF2-40B4-BE49-F238E27FC236}">
                    <a16:creationId xmlns:a16="http://schemas.microsoft.com/office/drawing/2014/main" id="{65F1D0C4-0D5C-F506-235E-2F10EB49D00C}"/>
                  </a:ext>
                </a:extLst>
              </p:cNvPr>
              <p:cNvSpPr>
                <a:spLocks noGrp="1"/>
              </p:cNvSpPr>
              <p:nvPr>
                <p:ph idx="1"/>
              </p:nvPr>
            </p:nvSpPr>
            <p:spPr/>
            <p:txBody>
              <a:bodyPr/>
              <a:lstStyle/>
              <a:p>
                <a:r>
                  <a:rPr lang="en-US" dirty="0"/>
                  <a:t>Since the output is no longer a number, we need to change the loss function. </a:t>
                </a:r>
              </a:p>
              <a:p>
                <a14:m>
                  <m:oMath xmlns:m="http://schemas.openxmlformats.org/officeDocument/2006/math">
                    <m:r>
                      <a:rPr lang="en-US" i="1" dirty="0" smtClean="0">
                        <a:latin typeface="Cambria Math" panose="02040503050406030204" pitchFamily="18" charset="0"/>
                        <a:ea typeface="Cambria Math" panose="02040503050406030204" pitchFamily="18" charset="0"/>
                      </a:rPr>
                      <m:t>ℒ</m:t>
                    </m:r>
                    <m:d>
                      <m:dPr>
                        <m:ctrlPr>
                          <a:rPr lang="en-US" i="1" dirty="0">
                            <a:latin typeface="Cambria Math" panose="02040503050406030204" pitchFamily="18" charset="0"/>
                          </a:rPr>
                        </m:ctrlPr>
                      </m:dPr>
                      <m:e>
                        <m:sSub>
                          <m:sSubPr>
                            <m:ctrlPr>
                              <a:rPr lang="en-US" i="1" dirty="0">
                                <a:latin typeface="Cambria Math" panose="02040503050406030204" pitchFamily="18" charset="0"/>
                              </a:rPr>
                            </m:ctrlPr>
                          </m:sSubPr>
                          <m:e>
                            <m:r>
                              <a:rPr lang="en-US" i="1" dirty="0">
                                <a:latin typeface="Cambria Math" panose="02040503050406030204" pitchFamily="18" charset="0"/>
                              </a:rPr>
                              <m:t>𝑓</m:t>
                            </m:r>
                          </m:e>
                          <m:sub>
                            <m:r>
                              <a:rPr lang="en-US" i="1" dirty="0">
                                <a:latin typeface="Cambria Math" panose="02040503050406030204" pitchFamily="18" charset="0"/>
                              </a:rPr>
                              <m:t>𝑤</m:t>
                            </m:r>
                            <m:r>
                              <a:rPr lang="en-US" i="0" dirty="0">
                                <a:latin typeface="Cambria Math" panose="02040503050406030204" pitchFamily="18" charset="0"/>
                              </a:rPr>
                              <m:t>,</m:t>
                            </m:r>
                            <m:r>
                              <a:rPr lang="en-US" i="1" dirty="0">
                                <a:latin typeface="Cambria Math" panose="02040503050406030204" pitchFamily="18" charset="0"/>
                              </a:rPr>
                              <m:t>𝑏</m:t>
                            </m:r>
                          </m:sub>
                        </m:sSub>
                        <m:d>
                          <m:dPr>
                            <m:ctrlPr>
                              <a:rPr lang="en-US" i="1" dirty="0">
                                <a:latin typeface="Cambria Math" panose="02040503050406030204" pitchFamily="18" charset="0"/>
                              </a:rPr>
                            </m:ctrlPr>
                          </m:dPr>
                          <m:e>
                            <m:r>
                              <a:rPr lang="en-US" i="1" dirty="0">
                                <a:latin typeface="Cambria Math" panose="02040503050406030204" pitchFamily="18" charset="0"/>
                              </a:rPr>
                              <m:t>𝑥</m:t>
                            </m:r>
                          </m:e>
                        </m:d>
                        <m:r>
                          <a:rPr lang="en-US" i="0" dirty="0">
                            <a:latin typeface="Cambria Math" panose="02040503050406030204" pitchFamily="18" charset="0"/>
                          </a:rPr>
                          <m:t>,</m:t>
                        </m:r>
                        <m:r>
                          <a:rPr lang="en-US" i="1" dirty="0">
                            <a:latin typeface="Cambria Math" panose="02040503050406030204" pitchFamily="18" charset="0"/>
                          </a:rPr>
                          <m:t>𝑦</m:t>
                        </m:r>
                      </m:e>
                    </m:d>
                    <m:r>
                      <a:rPr lang="en-US" i="0" dirty="0">
                        <a:latin typeface="Cambria Math" panose="02040503050406030204" pitchFamily="18" charset="0"/>
                      </a:rPr>
                      <m:t>=</m:t>
                    </m:r>
                    <m:d>
                      <m:dPr>
                        <m:begChr m:val="{"/>
                        <m:endChr m:val=""/>
                        <m:ctrlPr>
                          <a:rPr lang="en-US" i="1" dirty="0">
                            <a:latin typeface="Cambria Math" panose="02040503050406030204" pitchFamily="18" charset="0"/>
                          </a:rPr>
                        </m:ctrlPr>
                      </m:dPr>
                      <m:e>
                        <m:m>
                          <m:mPr>
                            <m:mcs>
                              <m:mc>
                                <m:mcPr>
                                  <m:count m:val="2"/>
                                  <m:mcJc m:val="center"/>
                                </m:mcPr>
                              </m:mc>
                            </m:mcs>
                            <m:ctrlPr>
                              <a:rPr lang="en-US" i="1" dirty="0">
                                <a:latin typeface="Cambria Math" panose="02040503050406030204" pitchFamily="18" charset="0"/>
                              </a:rPr>
                            </m:ctrlPr>
                          </m:mPr>
                          <m:mr>
                            <m:e>
                              <m:r>
                                <a:rPr lang="en-US" i="0" dirty="0">
                                  <a:latin typeface="Cambria Math" panose="02040503050406030204" pitchFamily="18" charset="0"/>
                                </a:rPr>
                                <m:t>−</m:t>
                              </m:r>
                              <m:func>
                                <m:funcPr>
                                  <m:ctrlPr>
                                    <a:rPr lang="en-US" i="0" dirty="0">
                                      <a:latin typeface="Cambria Math" panose="02040503050406030204" pitchFamily="18" charset="0"/>
                                    </a:rPr>
                                  </m:ctrlPr>
                                </m:funcPr>
                                <m:fName>
                                  <m:r>
                                    <m:rPr>
                                      <m:sty m:val="p"/>
                                    </m:rPr>
                                    <a:rPr lang="en-US" i="0" dirty="0">
                                      <a:latin typeface="Cambria Math" panose="02040503050406030204" pitchFamily="18" charset="0"/>
                                    </a:rPr>
                                    <m:t>log</m:t>
                                  </m:r>
                                </m:fName>
                                <m:e>
                                  <m:d>
                                    <m:dPr>
                                      <m:ctrlPr>
                                        <a:rPr lang="en-US" i="1" dirty="0">
                                          <a:latin typeface="Cambria Math" panose="02040503050406030204" pitchFamily="18" charset="0"/>
                                        </a:rPr>
                                      </m:ctrlPr>
                                    </m:dPr>
                                    <m:e>
                                      <m:sSub>
                                        <m:sSubPr>
                                          <m:ctrlPr>
                                            <a:rPr lang="en-US" i="1" dirty="0">
                                              <a:latin typeface="Cambria Math" panose="02040503050406030204" pitchFamily="18" charset="0"/>
                                            </a:rPr>
                                          </m:ctrlPr>
                                        </m:sSubPr>
                                        <m:e>
                                          <m:r>
                                            <a:rPr lang="en-US" i="1" dirty="0">
                                              <a:latin typeface="Cambria Math" panose="02040503050406030204" pitchFamily="18" charset="0"/>
                                            </a:rPr>
                                            <m:t>𝑓</m:t>
                                          </m:r>
                                        </m:e>
                                        <m:sub>
                                          <m:r>
                                            <a:rPr lang="en-US" i="1" dirty="0">
                                              <a:latin typeface="Cambria Math" panose="02040503050406030204" pitchFamily="18" charset="0"/>
                                            </a:rPr>
                                            <m:t>𝑤</m:t>
                                          </m:r>
                                          <m:r>
                                            <a:rPr lang="en-US" i="0" dirty="0">
                                              <a:latin typeface="Cambria Math" panose="02040503050406030204" pitchFamily="18" charset="0"/>
                                            </a:rPr>
                                            <m:t>,</m:t>
                                          </m:r>
                                          <m:r>
                                            <a:rPr lang="en-US" i="1" dirty="0">
                                              <a:latin typeface="Cambria Math" panose="02040503050406030204" pitchFamily="18" charset="0"/>
                                            </a:rPr>
                                            <m:t>𝑏</m:t>
                                          </m:r>
                                        </m:sub>
                                      </m:sSub>
                                      <m:d>
                                        <m:dPr>
                                          <m:ctrlPr>
                                            <a:rPr lang="en-US" i="1" dirty="0">
                                              <a:latin typeface="Cambria Math" panose="02040503050406030204" pitchFamily="18" charset="0"/>
                                            </a:rPr>
                                          </m:ctrlPr>
                                        </m:dPr>
                                        <m:e>
                                          <m:r>
                                            <a:rPr lang="en-US" i="1" dirty="0">
                                              <a:latin typeface="Cambria Math" panose="02040503050406030204" pitchFamily="18" charset="0"/>
                                            </a:rPr>
                                            <m:t>𝑥</m:t>
                                          </m:r>
                                        </m:e>
                                      </m:d>
                                    </m:e>
                                  </m:d>
                                </m:e>
                              </m:func>
                            </m:e>
                            <m:e>
                              <m:r>
                                <m:rPr>
                                  <m:nor/>
                                </m:rPr>
                                <a:rPr lang="en-US" i="0" dirty="0">
                                  <a:latin typeface="Cambria Math" panose="02040503050406030204" pitchFamily="18" charset="0"/>
                                </a:rPr>
                                <m:t>if </m:t>
                              </m:r>
                              <m:r>
                                <a:rPr lang="en-US" i="1" dirty="0">
                                  <a:latin typeface="Cambria Math" panose="02040503050406030204" pitchFamily="18" charset="0"/>
                                </a:rPr>
                                <m:t>𝑦</m:t>
                              </m:r>
                              <m:r>
                                <a:rPr lang="en-US" i="0" dirty="0">
                                  <a:latin typeface="Cambria Math" panose="02040503050406030204" pitchFamily="18" charset="0"/>
                                </a:rPr>
                                <m:t>=1</m:t>
                              </m:r>
                            </m:e>
                          </m:mr>
                          <m:mr>
                            <m:e>
                              <m:r>
                                <a:rPr lang="en-US" i="0" dirty="0">
                                  <a:latin typeface="Cambria Math" panose="02040503050406030204" pitchFamily="18" charset="0"/>
                                </a:rPr>
                                <m:t>−</m:t>
                              </m:r>
                              <m:func>
                                <m:funcPr>
                                  <m:ctrlPr>
                                    <a:rPr lang="en-US" i="0" dirty="0">
                                      <a:latin typeface="Cambria Math" panose="02040503050406030204" pitchFamily="18" charset="0"/>
                                    </a:rPr>
                                  </m:ctrlPr>
                                </m:funcPr>
                                <m:fName>
                                  <m:r>
                                    <m:rPr>
                                      <m:sty m:val="p"/>
                                    </m:rPr>
                                    <a:rPr lang="en-US" i="0" dirty="0">
                                      <a:latin typeface="Cambria Math" panose="02040503050406030204" pitchFamily="18" charset="0"/>
                                    </a:rPr>
                                    <m:t>log</m:t>
                                  </m:r>
                                </m:fName>
                                <m:e>
                                  <m:d>
                                    <m:dPr>
                                      <m:ctrlPr>
                                        <a:rPr lang="en-US" i="0" dirty="0">
                                          <a:latin typeface="Cambria Math" panose="02040503050406030204" pitchFamily="18" charset="0"/>
                                        </a:rPr>
                                      </m:ctrlPr>
                                    </m:dPr>
                                    <m:e>
                                      <m:r>
                                        <a:rPr lang="en-US" i="0" dirty="0">
                                          <a:latin typeface="Cambria Math" panose="02040503050406030204" pitchFamily="18" charset="0"/>
                                        </a:rPr>
                                        <m:t>1−</m:t>
                                      </m:r>
                                      <m:sSub>
                                        <m:sSubPr>
                                          <m:ctrlPr>
                                            <a:rPr lang="en-US" i="1" dirty="0">
                                              <a:latin typeface="Cambria Math" panose="02040503050406030204" pitchFamily="18" charset="0"/>
                                            </a:rPr>
                                          </m:ctrlPr>
                                        </m:sSubPr>
                                        <m:e>
                                          <m:r>
                                            <a:rPr lang="en-US" i="1" dirty="0">
                                              <a:latin typeface="Cambria Math" panose="02040503050406030204" pitchFamily="18" charset="0"/>
                                            </a:rPr>
                                            <m:t>𝑓</m:t>
                                          </m:r>
                                        </m:e>
                                        <m:sub>
                                          <m:r>
                                            <a:rPr lang="en-US" i="1" dirty="0">
                                              <a:latin typeface="Cambria Math" panose="02040503050406030204" pitchFamily="18" charset="0"/>
                                            </a:rPr>
                                            <m:t>𝑤</m:t>
                                          </m:r>
                                          <m:r>
                                            <a:rPr lang="en-US" i="0" dirty="0">
                                              <a:latin typeface="Cambria Math" panose="02040503050406030204" pitchFamily="18" charset="0"/>
                                            </a:rPr>
                                            <m:t>,</m:t>
                                          </m:r>
                                          <m:r>
                                            <a:rPr lang="en-US" i="1" dirty="0">
                                              <a:latin typeface="Cambria Math" panose="02040503050406030204" pitchFamily="18" charset="0"/>
                                            </a:rPr>
                                            <m:t>𝑏</m:t>
                                          </m:r>
                                        </m:sub>
                                      </m:sSub>
                                      <m:d>
                                        <m:dPr>
                                          <m:ctrlPr>
                                            <a:rPr lang="en-US" i="1" dirty="0">
                                              <a:latin typeface="Cambria Math" panose="02040503050406030204" pitchFamily="18" charset="0"/>
                                            </a:rPr>
                                          </m:ctrlPr>
                                        </m:dPr>
                                        <m:e>
                                          <m:r>
                                            <a:rPr lang="en-US" i="1" dirty="0">
                                              <a:latin typeface="Cambria Math" panose="02040503050406030204" pitchFamily="18" charset="0"/>
                                            </a:rPr>
                                            <m:t>𝑥</m:t>
                                          </m:r>
                                        </m:e>
                                      </m:d>
                                    </m:e>
                                  </m:d>
                                </m:e>
                              </m:func>
                            </m:e>
                            <m:e>
                              <m:r>
                                <m:rPr>
                                  <m:nor/>
                                </m:rPr>
                                <a:rPr lang="en-US" i="0" dirty="0">
                                  <a:latin typeface="Cambria Math" panose="02040503050406030204" pitchFamily="18" charset="0"/>
                                </a:rPr>
                                <m:t>if </m:t>
                              </m:r>
                              <m:r>
                                <a:rPr lang="en-US" i="1" dirty="0">
                                  <a:latin typeface="Cambria Math" panose="02040503050406030204" pitchFamily="18" charset="0"/>
                                </a:rPr>
                                <m:t>𝑦</m:t>
                              </m:r>
                              <m:r>
                                <a:rPr lang="en-US" i="0" dirty="0">
                                  <a:latin typeface="Cambria Math" panose="02040503050406030204" pitchFamily="18" charset="0"/>
                                </a:rPr>
                                <m:t>=0</m:t>
                              </m:r>
                            </m:e>
                          </m:mr>
                        </m:m>
                      </m:e>
                    </m:d>
                  </m:oMath>
                </a14:m>
                <a:endParaRPr lang="en-US" dirty="0"/>
              </a:p>
              <a:p>
                <a14:m>
                  <m:oMath xmlns:m="http://schemas.openxmlformats.org/officeDocument/2006/math">
                    <m:r>
                      <a:rPr lang="en-US" i="1" dirty="0">
                        <a:latin typeface="Cambria Math" panose="02040503050406030204" pitchFamily="18" charset="0"/>
                        <a:ea typeface="Cambria Math" panose="02040503050406030204" pitchFamily="18" charset="0"/>
                      </a:rPr>
                      <m:t>ℒ</m:t>
                    </m:r>
                    <m:d>
                      <m:dPr>
                        <m:ctrlPr>
                          <a:rPr lang="en-US" i="1" dirty="0">
                            <a:latin typeface="Cambria Math" panose="02040503050406030204" pitchFamily="18" charset="0"/>
                          </a:rPr>
                        </m:ctrlPr>
                      </m:dPr>
                      <m:e>
                        <m:sSub>
                          <m:sSubPr>
                            <m:ctrlPr>
                              <a:rPr lang="en-US" i="1" dirty="0">
                                <a:latin typeface="Cambria Math" panose="02040503050406030204" pitchFamily="18" charset="0"/>
                              </a:rPr>
                            </m:ctrlPr>
                          </m:sSubPr>
                          <m:e>
                            <m:r>
                              <a:rPr lang="en-US" i="1" dirty="0">
                                <a:latin typeface="Cambria Math" panose="02040503050406030204" pitchFamily="18" charset="0"/>
                              </a:rPr>
                              <m:t>𝑓</m:t>
                            </m:r>
                          </m:e>
                          <m:sub>
                            <m:r>
                              <a:rPr lang="en-US" i="1" dirty="0">
                                <a:latin typeface="Cambria Math" panose="02040503050406030204" pitchFamily="18" charset="0"/>
                              </a:rPr>
                              <m:t>𝑤</m:t>
                            </m:r>
                            <m:r>
                              <a:rPr lang="en-US" dirty="0">
                                <a:latin typeface="Cambria Math" panose="02040503050406030204" pitchFamily="18" charset="0"/>
                              </a:rPr>
                              <m:t>,</m:t>
                            </m:r>
                            <m:r>
                              <a:rPr lang="en-US" i="1" dirty="0">
                                <a:latin typeface="Cambria Math" panose="02040503050406030204" pitchFamily="18" charset="0"/>
                              </a:rPr>
                              <m:t>𝑏</m:t>
                            </m:r>
                          </m:sub>
                        </m:sSub>
                        <m:d>
                          <m:dPr>
                            <m:ctrlPr>
                              <a:rPr lang="en-US" i="1" dirty="0">
                                <a:latin typeface="Cambria Math" panose="02040503050406030204" pitchFamily="18" charset="0"/>
                              </a:rPr>
                            </m:ctrlPr>
                          </m:dPr>
                          <m:e>
                            <m:r>
                              <a:rPr lang="en-US" i="1" dirty="0">
                                <a:latin typeface="Cambria Math" panose="02040503050406030204" pitchFamily="18" charset="0"/>
                              </a:rPr>
                              <m:t>𝑥</m:t>
                            </m:r>
                          </m:e>
                        </m:d>
                        <m:r>
                          <a:rPr lang="en-US" dirty="0">
                            <a:latin typeface="Cambria Math" panose="02040503050406030204" pitchFamily="18" charset="0"/>
                          </a:rPr>
                          <m:t>,</m:t>
                        </m:r>
                        <m:r>
                          <a:rPr lang="en-US" i="1" dirty="0">
                            <a:latin typeface="Cambria Math" panose="02040503050406030204" pitchFamily="18" charset="0"/>
                          </a:rPr>
                          <m:t>𝑦</m:t>
                        </m:r>
                      </m:e>
                    </m:d>
                    <m:r>
                      <a:rPr lang="en-AU" b="0" i="1" dirty="0" smtClean="0">
                        <a:latin typeface="Cambria Math" panose="02040503050406030204" pitchFamily="18" charset="0"/>
                      </a:rPr>
                      <m:t>=−</m:t>
                    </m:r>
                    <m:r>
                      <a:rPr lang="en-AU" b="0" i="1" dirty="0" smtClean="0">
                        <a:latin typeface="Cambria Math" panose="02040503050406030204" pitchFamily="18" charset="0"/>
                      </a:rPr>
                      <m:t>𝑦</m:t>
                    </m:r>
                    <m:r>
                      <a:rPr lang="en-AU" b="0" i="1" dirty="0" smtClean="0">
                        <a:latin typeface="Cambria Math" panose="02040503050406030204" pitchFamily="18" charset="0"/>
                      </a:rPr>
                      <m:t> </m:t>
                    </m:r>
                    <m:func>
                      <m:funcPr>
                        <m:ctrlPr>
                          <a:rPr lang="en-AU" b="0" i="0" dirty="0" smtClean="0">
                            <a:latin typeface="Cambria Math" panose="02040503050406030204" pitchFamily="18" charset="0"/>
                          </a:rPr>
                        </m:ctrlPr>
                      </m:funcPr>
                      <m:fName>
                        <m:r>
                          <m:rPr>
                            <m:sty m:val="p"/>
                          </m:rPr>
                          <a:rPr lang="en-AU" b="0" i="0" dirty="0" smtClean="0">
                            <a:latin typeface="Cambria Math" panose="02040503050406030204" pitchFamily="18" charset="0"/>
                          </a:rPr>
                          <m:t>log</m:t>
                        </m:r>
                      </m:fName>
                      <m:e>
                        <m:d>
                          <m:dPr>
                            <m:ctrlPr>
                              <a:rPr lang="en-US" i="1" dirty="0">
                                <a:latin typeface="Cambria Math" panose="02040503050406030204" pitchFamily="18" charset="0"/>
                              </a:rPr>
                            </m:ctrlPr>
                          </m:dPr>
                          <m:e>
                            <m:sSub>
                              <m:sSubPr>
                                <m:ctrlPr>
                                  <a:rPr lang="en-US" i="1" dirty="0">
                                    <a:latin typeface="Cambria Math" panose="02040503050406030204" pitchFamily="18" charset="0"/>
                                  </a:rPr>
                                </m:ctrlPr>
                              </m:sSubPr>
                              <m:e>
                                <m:r>
                                  <a:rPr lang="en-US" i="1" dirty="0">
                                    <a:latin typeface="Cambria Math" panose="02040503050406030204" pitchFamily="18" charset="0"/>
                                  </a:rPr>
                                  <m:t>𝑓</m:t>
                                </m:r>
                              </m:e>
                              <m:sub>
                                <m:r>
                                  <a:rPr lang="en-US" i="1" dirty="0">
                                    <a:latin typeface="Cambria Math" panose="02040503050406030204" pitchFamily="18" charset="0"/>
                                  </a:rPr>
                                  <m:t>𝑤</m:t>
                                </m:r>
                                <m:r>
                                  <a:rPr lang="en-US" dirty="0">
                                    <a:latin typeface="Cambria Math" panose="02040503050406030204" pitchFamily="18" charset="0"/>
                                  </a:rPr>
                                  <m:t>,</m:t>
                                </m:r>
                                <m:r>
                                  <a:rPr lang="en-US" i="1" dirty="0">
                                    <a:latin typeface="Cambria Math" panose="02040503050406030204" pitchFamily="18" charset="0"/>
                                  </a:rPr>
                                  <m:t>𝑏</m:t>
                                </m:r>
                              </m:sub>
                            </m:sSub>
                            <m:d>
                              <m:dPr>
                                <m:ctrlPr>
                                  <a:rPr lang="en-US" i="1" dirty="0">
                                    <a:latin typeface="Cambria Math" panose="02040503050406030204" pitchFamily="18" charset="0"/>
                                  </a:rPr>
                                </m:ctrlPr>
                              </m:dPr>
                              <m:e>
                                <m:r>
                                  <a:rPr lang="en-US" i="1" dirty="0">
                                    <a:latin typeface="Cambria Math" panose="02040503050406030204" pitchFamily="18" charset="0"/>
                                  </a:rPr>
                                  <m:t>𝑥</m:t>
                                </m:r>
                              </m:e>
                            </m:d>
                          </m:e>
                        </m:d>
                      </m:e>
                    </m:func>
                    <m:r>
                      <a:rPr lang="en-AU" b="0" i="1" dirty="0" smtClean="0">
                        <a:latin typeface="Cambria Math" panose="02040503050406030204" pitchFamily="18" charset="0"/>
                      </a:rPr>
                      <m:t>−</m:t>
                    </m:r>
                    <m:d>
                      <m:dPr>
                        <m:ctrlPr>
                          <a:rPr lang="en-AU" b="0" i="1" dirty="0" smtClean="0">
                            <a:latin typeface="Cambria Math" panose="02040503050406030204" pitchFamily="18" charset="0"/>
                          </a:rPr>
                        </m:ctrlPr>
                      </m:dPr>
                      <m:e>
                        <m:r>
                          <a:rPr lang="en-AU" b="0" i="1" dirty="0" smtClean="0">
                            <a:latin typeface="Cambria Math" panose="02040503050406030204" pitchFamily="18" charset="0"/>
                          </a:rPr>
                          <m:t>1−</m:t>
                        </m:r>
                        <m:r>
                          <a:rPr lang="en-AU" b="0" i="1" dirty="0" smtClean="0">
                            <a:latin typeface="Cambria Math" panose="02040503050406030204" pitchFamily="18" charset="0"/>
                          </a:rPr>
                          <m:t>𝑦</m:t>
                        </m:r>
                      </m:e>
                    </m:d>
                    <m:func>
                      <m:funcPr>
                        <m:ctrlPr>
                          <a:rPr lang="en-AU" dirty="0">
                            <a:latin typeface="Cambria Math" panose="02040503050406030204" pitchFamily="18" charset="0"/>
                          </a:rPr>
                        </m:ctrlPr>
                      </m:funcPr>
                      <m:fName>
                        <m:r>
                          <m:rPr>
                            <m:sty m:val="p"/>
                          </m:rPr>
                          <a:rPr lang="en-AU" dirty="0">
                            <a:latin typeface="Cambria Math" panose="02040503050406030204" pitchFamily="18" charset="0"/>
                          </a:rPr>
                          <m:t>log</m:t>
                        </m:r>
                      </m:fName>
                      <m:e>
                        <m:d>
                          <m:dPr>
                            <m:ctrlPr>
                              <a:rPr lang="en-AU" b="0" i="1" dirty="0" smtClean="0">
                                <a:latin typeface="Cambria Math" panose="02040503050406030204" pitchFamily="18" charset="0"/>
                              </a:rPr>
                            </m:ctrlPr>
                          </m:dPr>
                          <m:e>
                            <m:r>
                              <a:rPr lang="en-AU" b="0" i="1" dirty="0" smtClean="0">
                                <a:latin typeface="Cambria Math" panose="02040503050406030204" pitchFamily="18" charset="0"/>
                              </a:rPr>
                              <m:t>1−</m:t>
                            </m:r>
                            <m:sSub>
                              <m:sSubPr>
                                <m:ctrlPr>
                                  <a:rPr lang="en-US" i="1" dirty="0">
                                    <a:latin typeface="Cambria Math" panose="02040503050406030204" pitchFamily="18" charset="0"/>
                                  </a:rPr>
                                </m:ctrlPr>
                              </m:sSubPr>
                              <m:e>
                                <m:r>
                                  <a:rPr lang="en-US" i="1" dirty="0">
                                    <a:latin typeface="Cambria Math" panose="02040503050406030204" pitchFamily="18" charset="0"/>
                                  </a:rPr>
                                  <m:t>𝑓</m:t>
                                </m:r>
                              </m:e>
                              <m:sub>
                                <m:r>
                                  <a:rPr lang="en-US" i="1" dirty="0">
                                    <a:latin typeface="Cambria Math" panose="02040503050406030204" pitchFamily="18" charset="0"/>
                                  </a:rPr>
                                  <m:t>𝑤</m:t>
                                </m:r>
                                <m:r>
                                  <a:rPr lang="en-US" dirty="0">
                                    <a:latin typeface="Cambria Math" panose="02040503050406030204" pitchFamily="18" charset="0"/>
                                  </a:rPr>
                                  <m:t>,</m:t>
                                </m:r>
                                <m:r>
                                  <a:rPr lang="en-US" i="1" dirty="0">
                                    <a:latin typeface="Cambria Math" panose="02040503050406030204" pitchFamily="18" charset="0"/>
                                  </a:rPr>
                                  <m:t>𝑏</m:t>
                                </m:r>
                              </m:sub>
                            </m:sSub>
                            <m:d>
                              <m:dPr>
                                <m:ctrlPr>
                                  <a:rPr lang="en-US" i="1" dirty="0">
                                    <a:latin typeface="Cambria Math" panose="02040503050406030204" pitchFamily="18" charset="0"/>
                                  </a:rPr>
                                </m:ctrlPr>
                              </m:dPr>
                              <m:e>
                                <m:r>
                                  <a:rPr lang="en-US" i="1" dirty="0">
                                    <a:latin typeface="Cambria Math" panose="02040503050406030204" pitchFamily="18" charset="0"/>
                                  </a:rPr>
                                  <m:t>𝑥</m:t>
                                </m:r>
                              </m:e>
                            </m:d>
                          </m:e>
                        </m:d>
                      </m:e>
                    </m:func>
                  </m:oMath>
                </a14:m>
                <a:endParaRPr lang="en-US" dirty="0"/>
              </a:p>
            </p:txBody>
          </p:sp>
        </mc:Choice>
        <mc:Fallback>
          <p:sp>
            <p:nvSpPr>
              <p:cNvPr id="3" name="Content Placeholder 2">
                <a:extLst>
                  <a:ext uri="{FF2B5EF4-FFF2-40B4-BE49-F238E27FC236}">
                    <a16:creationId xmlns:a16="http://schemas.microsoft.com/office/drawing/2014/main" id="{65F1D0C4-0D5C-F506-235E-2F10EB49D00C}"/>
                  </a:ext>
                </a:extLst>
              </p:cNvPr>
              <p:cNvSpPr>
                <a:spLocks noGrp="1" noRot="1" noChangeAspect="1" noMove="1" noResize="1" noEditPoints="1" noAdjustHandles="1" noChangeArrowheads="1" noChangeShapeType="1" noTextEdit="1"/>
              </p:cNvSpPr>
              <p:nvPr>
                <p:ph idx="1"/>
              </p:nvPr>
            </p:nvSpPr>
            <p:spPr>
              <a:blipFill>
                <a:blip r:embed="rId2"/>
                <a:stretch>
                  <a:fillRect l="-3016" t="-67151" b="-77326"/>
                </a:stretch>
              </a:blipFill>
            </p:spPr>
            <p:txBody>
              <a:bodyPr/>
              <a:lstStyle/>
              <a:p>
                <a:r>
                  <a:rPr lang="en-US">
                    <a:noFill/>
                  </a:rPr>
                  <a:t> </a:t>
                </a:r>
              </a:p>
            </p:txBody>
          </p:sp>
        </mc:Fallback>
      </mc:AlternateContent>
    </p:spTree>
    <p:extLst>
      <p:ext uri="{BB962C8B-B14F-4D97-AF65-F5344CB8AC3E}">
        <p14:creationId xmlns:p14="http://schemas.microsoft.com/office/powerpoint/2010/main" val="1430173679"/>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8DDE5D1-AF35-53A2-1CCA-20000374F3BF}"/>
              </a:ext>
            </a:extLst>
          </p:cNvPr>
          <p:cNvSpPr>
            <a:spLocks noGrp="1"/>
          </p:cNvSpPr>
          <p:nvPr>
            <p:ph type="title"/>
          </p:nvPr>
        </p:nvSpPr>
        <p:spPr/>
        <p:txBody>
          <a:bodyPr/>
          <a:lstStyle/>
          <a:p>
            <a:r>
              <a:rPr lang="en-US" b="1" dirty="0"/>
              <a:t>Gradient descent</a:t>
            </a:r>
          </a:p>
        </p:txBody>
      </p:sp>
      <mc:AlternateContent xmlns:mc="http://schemas.openxmlformats.org/markup-compatibility/2006">
        <mc:Choice xmlns:a14="http://schemas.microsoft.com/office/drawing/2010/main" Requires="a14">
          <p:sp>
            <p:nvSpPr>
              <p:cNvPr id="3" name="Content Placeholder 2">
                <a:extLst>
                  <a:ext uri="{FF2B5EF4-FFF2-40B4-BE49-F238E27FC236}">
                    <a16:creationId xmlns:a16="http://schemas.microsoft.com/office/drawing/2014/main" id="{9F6D9A26-2194-C6DE-186E-A72770131F54}"/>
                  </a:ext>
                </a:extLst>
              </p:cNvPr>
              <p:cNvSpPr>
                <a:spLocks noGrp="1"/>
              </p:cNvSpPr>
              <p:nvPr>
                <p:ph idx="1"/>
              </p:nvPr>
            </p:nvSpPr>
            <p:spPr/>
            <p:txBody>
              <a:bodyPr/>
              <a:lstStyle/>
              <a:p>
                <a:pPr marL="0" indent="0">
                  <a:buNone/>
                </a:pPr>
                <a:r>
                  <a:rPr lang="en-US" dirty="0"/>
                  <a:t>repeat {</a:t>
                </a:r>
              </a:p>
              <a:p>
                <a:pPr marL="0" indent="0">
                  <a:buNone/>
                </a:pPr>
                <a:r>
                  <a:rPr lang="en-US" dirty="0"/>
                  <a:t>   </a:t>
                </a:r>
                <a14:m>
                  <m:oMath xmlns:m="http://schemas.openxmlformats.org/officeDocument/2006/math">
                    <m:r>
                      <m:rPr>
                        <m:sty m:val="p"/>
                      </m:rPr>
                      <a:rPr lang="en-AU">
                        <a:latin typeface="Cambria Math" panose="02040503050406030204" pitchFamily="18" charset="0"/>
                        <a:ea typeface="Cambria Math" panose="02040503050406030204" pitchFamily="18" charset="0"/>
                      </a:rPr>
                      <m:t>w</m:t>
                    </m:r>
                    <m:r>
                      <a:rPr lang="en-AU">
                        <a:latin typeface="Cambria Math" panose="02040503050406030204" pitchFamily="18" charset="0"/>
                        <a:ea typeface="Cambria Math" panose="02040503050406030204" pitchFamily="18" charset="0"/>
                      </a:rPr>
                      <m:t>=</m:t>
                    </m:r>
                    <m:r>
                      <m:rPr>
                        <m:sty m:val="p"/>
                      </m:rPr>
                      <a:rPr lang="en-AU">
                        <a:latin typeface="Cambria Math" panose="02040503050406030204" pitchFamily="18" charset="0"/>
                        <a:ea typeface="Cambria Math" panose="02040503050406030204" pitchFamily="18" charset="0"/>
                      </a:rPr>
                      <m:t>w</m:t>
                    </m:r>
                    <m:r>
                      <a:rPr lang="en-AU">
                        <a:latin typeface="Cambria Math" panose="02040503050406030204" pitchFamily="18" charset="0"/>
                        <a:ea typeface="Cambria Math" panose="02040503050406030204" pitchFamily="18" charset="0"/>
                      </a:rPr>
                      <m:t>−</m:t>
                    </m:r>
                    <m:r>
                      <a:rPr lang="en-AU" i="1">
                        <a:latin typeface="Cambria Math" panose="02040503050406030204" pitchFamily="18" charset="0"/>
                        <a:ea typeface="Cambria Math" panose="02040503050406030204" pitchFamily="18" charset="0"/>
                      </a:rPr>
                      <m:t>𝛼</m:t>
                    </m:r>
                    <m:f>
                      <m:fPr>
                        <m:ctrlPr>
                          <a:rPr lang="en-AU" i="1">
                            <a:latin typeface="Cambria Math" panose="02040503050406030204" pitchFamily="18" charset="0"/>
                            <a:ea typeface="Cambria Math" panose="02040503050406030204" pitchFamily="18" charset="0"/>
                          </a:rPr>
                        </m:ctrlPr>
                      </m:fPr>
                      <m:num>
                        <m:r>
                          <a:rPr lang="en-AU" i="1">
                            <a:latin typeface="Cambria Math" panose="02040503050406030204" pitchFamily="18" charset="0"/>
                            <a:ea typeface="Cambria Math" panose="02040503050406030204" pitchFamily="18" charset="0"/>
                          </a:rPr>
                          <m:t>1</m:t>
                        </m:r>
                      </m:num>
                      <m:den>
                        <m:r>
                          <a:rPr lang="en-AU" i="1">
                            <a:latin typeface="Cambria Math" panose="02040503050406030204" pitchFamily="18" charset="0"/>
                            <a:ea typeface="Cambria Math" panose="02040503050406030204" pitchFamily="18" charset="0"/>
                          </a:rPr>
                          <m:t>𝑚</m:t>
                        </m:r>
                      </m:den>
                    </m:f>
                    <m:nary>
                      <m:naryPr>
                        <m:chr m:val="∑"/>
                        <m:ctrlPr>
                          <a:rPr lang="en-AU" i="1">
                            <a:latin typeface="Cambria Math" panose="02040503050406030204" pitchFamily="18" charset="0"/>
                            <a:ea typeface="Cambria Math" panose="02040503050406030204" pitchFamily="18" charset="0"/>
                          </a:rPr>
                        </m:ctrlPr>
                      </m:naryPr>
                      <m:sub>
                        <m:r>
                          <m:rPr>
                            <m:brk m:alnAt="23"/>
                          </m:rPr>
                          <a:rPr lang="en-AU" i="1">
                            <a:latin typeface="Cambria Math" panose="02040503050406030204" pitchFamily="18" charset="0"/>
                            <a:ea typeface="Cambria Math" panose="02040503050406030204" pitchFamily="18" charset="0"/>
                          </a:rPr>
                          <m:t>𝑖</m:t>
                        </m:r>
                        <m:r>
                          <m:rPr>
                            <m:brk m:alnAt="23"/>
                          </m:rPr>
                          <a:rPr lang="en-AU" i="1">
                            <a:latin typeface="Cambria Math" panose="02040503050406030204" pitchFamily="18" charset="0"/>
                            <a:ea typeface="Cambria Math" panose="02040503050406030204" pitchFamily="18" charset="0"/>
                          </a:rPr>
                          <m:t>=</m:t>
                        </m:r>
                        <m:r>
                          <m:rPr>
                            <m:brk m:alnAt="23"/>
                          </m:rPr>
                          <a:rPr lang="en-AU" i="1">
                            <a:latin typeface="Cambria Math" panose="02040503050406030204" pitchFamily="18" charset="0"/>
                            <a:ea typeface="Cambria Math" panose="02040503050406030204" pitchFamily="18" charset="0"/>
                          </a:rPr>
                          <m:t>1</m:t>
                        </m:r>
                      </m:sub>
                      <m:sup>
                        <m:r>
                          <a:rPr lang="en-AU" i="1">
                            <a:latin typeface="Cambria Math" panose="02040503050406030204" pitchFamily="18" charset="0"/>
                            <a:ea typeface="Cambria Math" panose="02040503050406030204" pitchFamily="18" charset="0"/>
                          </a:rPr>
                          <m:t>𝑚</m:t>
                        </m:r>
                      </m:sup>
                      <m:e>
                        <m:d>
                          <m:dPr>
                            <m:ctrlPr>
                              <a:rPr lang="en-AU" i="1">
                                <a:latin typeface="Cambria Math" panose="02040503050406030204" pitchFamily="18" charset="0"/>
                                <a:ea typeface="Cambria Math" panose="02040503050406030204" pitchFamily="18" charset="0"/>
                              </a:rPr>
                            </m:ctrlPr>
                          </m:dPr>
                          <m:e>
                            <m:sSub>
                              <m:sSubPr>
                                <m:ctrlPr>
                                  <a:rPr lang="en-AU" i="1">
                                    <a:latin typeface="Cambria Math" panose="02040503050406030204" pitchFamily="18" charset="0"/>
                                    <a:ea typeface="Cambria Math" panose="02040503050406030204" pitchFamily="18" charset="0"/>
                                  </a:rPr>
                                </m:ctrlPr>
                              </m:sSubPr>
                              <m:e>
                                <m:r>
                                  <a:rPr lang="en-AU" i="1">
                                    <a:latin typeface="Cambria Math" panose="02040503050406030204" pitchFamily="18" charset="0"/>
                                    <a:ea typeface="Cambria Math" panose="02040503050406030204" pitchFamily="18" charset="0"/>
                                  </a:rPr>
                                  <m:t>𝑓</m:t>
                                </m:r>
                              </m:e>
                              <m:sub>
                                <m:r>
                                  <a:rPr lang="en-AU" i="1">
                                    <a:latin typeface="Cambria Math" panose="02040503050406030204" pitchFamily="18" charset="0"/>
                                    <a:ea typeface="Cambria Math" panose="02040503050406030204" pitchFamily="18" charset="0"/>
                                  </a:rPr>
                                  <m:t>𝑤</m:t>
                                </m:r>
                                <m:r>
                                  <a:rPr lang="en-AU" i="1">
                                    <a:latin typeface="Cambria Math" panose="02040503050406030204" pitchFamily="18" charset="0"/>
                                    <a:ea typeface="Cambria Math" panose="02040503050406030204" pitchFamily="18" charset="0"/>
                                  </a:rPr>
                                  <m:t>,</m:t>
                                </m:r>
                                <m:r>
                                  <a:rPr lang="en-AU" i="1">
                                    <a:latin typeface="Cambria Math" panose="02040503050406030204" pitchFamily="18" charset="0"/>
                                    <a:ea typeface="Cambria Math" panose="02040503050406030204" pitchFamily="18" charset="0"/>
                                  </a:rPr>
                                  <m:t>𝑏</m:t>
                                </m:r>
                              </m:sub>
                            </m:sSub>
                            <m:d>
                              <m:dPr>
                                <m:ctrlPr>
                                  <a:rPr lang="en-AU" i="1">
                                    <a:latin typeface="Cambria Math" panose="02040503050406030204" pitchFamily="18" charset="0"/>
                                    <a:ea typeface="Cambria Math" panose="02040503050406030204" pitchFamily="18" charset="0"/>
                                  </a:rPr>
                                </m:ctrlPr>
                              </m:dPr>
                              <m:e>
                                <m:sSup>
                                  <m:sSupPr>
                                    <m:ctrlPr>
                                      <a:rPr lang="en-AU" i="1">
                                        <a:latin typeface="Cambria Math" panose="02040503050406030204" pitchFamily="18" charset="0"/>
                                        <a:ea typeface="Cambria Math" panose="02040503050406030204" pitchFamily="18" charset="0"/>
                                      </a:rPr>
                                    </m:ctrlPr>
                                  </m:sSupPr>
                                  <m:e>
                                    <m:r>
                                      <a:rPr lang="en-AU" i="1">
                                        <a:latin typeface="Cambria Math" panose="02040503050406030204" pitchFamily="18" charset="0"/>
                                        <a:ea typeface="Cambria Math" panose="02040503050406030204" pitchFamily="18" charset="0"/>
                                      </a:rPr>
                                      <m:t>𝑥</m:t>
                                    </m:r>
                                  </m:e>
                                  <m:sup>
                                    <m:r>
                                      <a:rPr lang="en-AU" i="1">
                                        <a:latin typeface="Cambria Math" panose="02040503050406030204" pitchFamily="18" charset="0"/>
                                        <a:ea typeface="Cambria Math" panose="02040503050406030204" pitchFamily="18" charset="0"/>
                                      </a:rPr>
                                      <m:t>𝑖</m:t>
                                    </m:r>
                                  </m:sup>
                                </m:sSup>
                              </m:e>
                            </m:d>
                            <m:r>
                              <a:rPr lang="en-AU" i="1">
                                <a:latin typeface="Cambria Math" panose="02040503050406030204" pitchFamily="18" charset="0"/>
                                <a:ea typeface="Cambria Math" panose="02040503050406030204" pitchFamily="18" charset="0"/>
                              </a:rPr>
                              <m:t>−</m:t>
                            </m:r>
                            <m:sSup>
                              <m:sSupPr>
                                <m:ctrlPr>
                                  <a:rPr lang="en-AU" i="1">
                                    <a:latin typeface="Cambria Math" panose="02040503050406030204" pitchFamily="18" charset="0"/>
                                    <a:ea typeface="Cambria Math" panose="02040503050406030204" pitchFamily="18" charset="0"/>
                                  </a:rPr>
                                </m:ctrlPr>
                              </m:sSupPr>
                              <m:e>
                                <m:r>
                                  <a:rPr lang="en-AU" i="1">
                                    <a:latin typeface="Cambria Math" panose="02040503050406030204" pitchFamily="18" charset="0"/>
                                    <a:ea typeface="Cambria Math" panose="02040503050406030204" pitchFamily="18" charset="0"/>
                                  </a:rPr>
                                  <m:t>𝑦</m:t>
                                </m:r>
                              </m:e>
                              <m:sup>
                                <m:r>
                                  <a:rPr lang="en-AU" i="1">
                                    <a:latin typeface="Cambria Math" panose="02040503050406030204" pitchFamily="18" charset="0"/>
                                    <a:ea typeface="Cambria Math" panose="02040503050406030204" pitchFamily="18" charset="0"/>
                                  </a:rPr>
                                  <m:t>𝑖</m:t>
                                </m:r>
                              </m:sup>
                            </m:sSup>
                          </m:e>
                        </m:d>
                        <m:r>
                          <a:rPr lang="en-AU" i="1">
                            <a:latin typeface="Cambria Math" panose="02040503050406030204" pitchFamily="18" charset="0"/>
                            <a:ea typeface="Cambria Math" panose="02040503050406030204" pitchFamily="18" charset="0"/>
                          </a:rPr>
                          <m:t>∗</m:t>
                        </m:r>
                        <m:sSup>
                          <m:sSupPr>
                            <m:ctrlPr>
                              <a:rPr lang="en-AU" i="1">
                                <a:latin typeface="Cambria Math" panose="02040503050406030204" pitchFamily="18" charset="0"/>
                                <a:ea typeface="Cambria Math" panose="02040503050406030204" pitchFamily="18" charset="0"/>
                              </a:rPr>
                            </m:ctrlPr>
                          </m:sSupPr>
                          <m:e>
                            <m:r>
                              <a:rPr lang="en-AU" i="1">
                                <a:latin typeface="Cambria Math" panose="02040503050406030204" pitchFamily="18" charset="0"/>
                                <a:ea typeface="Cambria Math" panose="02040503050406030204" pitchFamily="18" charset="0"/>
                              </a:rPr>
                              <m:t>𝑥</m:t>
                            </m:r>
                          </m:e>
                          <m:sup>
                            <m:r>
                              <a:rPr lang="en-AU" i="1">
                                <a:latin typeface="Cambria Math" panose="02040503050406030204" pitchFamily="18" charset="0"/>
                                <a:ea typeface="Cambria Math" panose="02040503050406030204" pitchFamily="18" charset="0"/>
                              </a:rPr>
                              <m:t>𝑖</m:t>
                            </m:r>
                          </m:sup>
                        </m:sSup>
                      </m:e>
                    </m:nary>
                  </m:oMath>
                </a14:m>
                <a:endParaRPr lang="en-AU" dirty="0">
                  <a:ea typeface="Cambria Math" panose="02040503050406030204" pitchFamily="18" charset="0"/>
                </a:endParaRPr>
              </a:p>
              <a:p>
                <a:pPr marL="0" indent="0">
                  <a:buNone/>
                </a:pPr>
                <a:r>
                  <a:rPr lang="en-US" dirty="0"/>
                  <a:t>  </a:t>
                </a:r>
                <a14:m>
                  <m:oMath xmlns:m="http://schemas.openxmlformats.org/officeDocument/2006/math">
                    <m:r>
                      <a:rPr lang="en-AU">
                        <a:latin typeface="Cambria Math" panose="02040503050406030204" pitchFamily="18" charset="0"/>
                        <a:ea typeface="Cambria Math" panose="02040503050406030204" pitchFamily="18" charset="0"/>
                      </a:rPr>
                      <m:t> </m:t>
                    </m:r>
                    <m:r>
                      <m:rPr>
                        <m:sty m:val="p"/>
                      </m:rPr>
                      <a:rPr lang="en-AU">
                        <a:latin typeface="Cambria Math" panose="02040503050406030204" pitchFamily="18" charset="0"/>
                        <a:ea typeface="Cambria Math" panose="02040503050406030204" pitchFamily="18" charset="0"/>
                      </a:rPr>
                      <m:t>b</m:t>
                    </m:r>
                    <m:r>
                      <a:rPr lang="en-AU">
                        <a:latin typeface="Cambria Math" panose="02040503050406030204" pitchFamily="18" charset="0"/>
                        <a:ea typeface="Cambria Math" panose="02040503050406030204" pitchFamily="18" charset="0"/>
                      </a:rPr>
                      <m:t>=</m:t>
                    </m:r>
                    <m:r>
                      <m:rPr>
                        <m:sty m:val="p"/>
                      </m:rPr>
                      <a:rPr lang="en-AU">
                        <a:latin typeface="Cambria Math" panose="02040503050406030204" pitchFamily="18" charset="0"/>
                        <a:ea typeface="Cambria Math" panose="02040503050406030204" pitchFamily="18" charset="0"/>
                      </a:rPr>
                      <m:t>b</m:t>
                    </m:r>
                    <m:r>
                      <a:rPr lang="en-AU">
                        <a:latin typeface="Cambria Math" panose="02040503050406030204" pitchFamily="18" charset="0"/>
                        <a:ea typeface="Cambria Math" panose="02040503050406030204" pitchFamily="18" charset="0"/>
                      </a:rPr>
                      <m:t>−</m:t>
                    </m:r>
                    <m:r>
                      <a:rPr lang="en-AU" i="1">
                        <a:latin typeface="Cambria Math" panose="02040503050406030204" pitchFamily="18" charset="0"/>
                        <a:ea typeface="Cambria Math" panose="02040503050406030204" pitchFamily="18" charset="0"/>
                      </a:rPr>
                      <m:t>𝛼</m:t>
                    </m:r>
                    <m:f>
                      <m:fPr>
                        <m:ctrlPr>
                          <a:rPr lang="en-AU" i="1">
                            <a:latin typeface="Cambria Math" panose="02040503050406030204" pitchFamily="18" charset="0"/>
                            <a:ea typeface="Cambria Math" panose="02040503050406030204" pitchFamily="18" charset="0"/>
                          </a:rPr>
                        </m:ctrlPr>
                      </m:fPr>
                      <m:num>
                        <m:r>
                          <a:rPr lang="en-AU" i="1">
                            <a:latin typeface="Cambria Math" panose="02040503050406030204" pitchFamily="18" charset="0"/>
                            <a:ea typeface="Cambria Math" panose="02040503050406030204" pitchFamily="18" charset="0"/>
                          </a:rPr>
                          <m:t>1</m:t>
                        </m:r>
                      </m:num>
                      <m:den>
                        <m:r>
                          <a:rPr lang="en-AU" i="1">
                            <a:latin typeface="Cambria Math" panose="02040503050406030204" pitchFamily="18" charset="0"/>
                            <a:ea typeface="Cambria Math" panose="02040503050406030204" pitchFamily="18" charset="0"/>
                          </a:rPr>
                          <m:t>𝑚</m:t>
                        </m:r>
                      </m:den>
                    </m:f>
                    <m:nary>
                      <m:naryPr>
                        <m:chr m:val="∑"/>
                        <m:ctrlPr>
                          <a:rPr lang="en-AU" i="1">
                            <a:latin typeface="Cambria Math" panose="02040503050406030204" pitchFamily="18" charset="0"/>
                            <a:ea typeface="Cambria Math" panose="02040503050406030204" pitchFamily="18" charset="0"/>
                          </a:rPr>
                        </m:ctrlPr>
                      </m:naryPr>
                      <m:sub>
                        <m:r>
                          <m:rPr>
                            <m:brk m:alnAt="23"/>
                          </m:rPr>
                          <a:rPr lang="en-AU" i="1">
                            <a:latin typeface="Cambria Math" panose="02040503050406030204" pitchFamily="18" charset="0"/>
                            <a:ea typeface="Cambria Math" panose="02040503050406030204" pitchFamily="18" charset="0"/>
                          </a:rPr>
                          <m:t>𝑖</m:t>
                        </m:r>
                        <m:r>
                          <m:rPr>
                            <m:brk m:alnAt="23"/>
                          </m:rPr>
                          <a:rPr lang="en-AU" i="1">
                            <a:latin typeface="Cambria Math" panose="02040503050406030204" pitchFamily="18" charset="0"/>
                            <a:ea typeface="Cambria Math" panose="02040503050406030204" pitchFamily="18" charset="0"/>
                          </a:rPr>
                          <m:t>=</m:t>
                        </m:r>
                        <m:r>
                          <m:rPr>
                            <m:brk m:alnAt="23"/>
                          </m:rPr>
                          <a:rPr lang="en-AU" i="1">
                            <a:latin typeface="Cambria Math" panose="02040503050406030204" pitchFamily="18" charset="0"/>
                            <a:ea typeface="Cambria Math" panose="02040503050406030204" pitchFamily="18" charset="0"/>
                          </a:rPr>
                          <m:t>1</m:t>
                        </m:r>
                      </m:sub>
                      <m:sup>
                        <m:r>
                          <a:rPr lang="en-AU" i="1">
                            <a:latin typeface="Cambria Math" panose="02040503050406030204" pitchFamily="18" charset="0"/>
                            <a:ea typeface="Cambria Math" panose="02040503050406030204" pitchFamily="18" charset="0"/>
                          </a:rPr>
                          <m:t>𝑚</m:t>
                        </m:r>
                      </m:sup>
                      <m:e>
                        <m:d>
                          <m:dPr>
                            <m:ctrlPr>
                              <a:rPr lang="en-AU" i="1">
                                <a:latin typeface="Cambria Math" panose="02040503050406030204" pitchFamily="18" charset="0"/>
                                <a:ea typeface="Cambria Math" panose="02040503050406030204" pitchFamily="18" charset="0"/>
                              </a:rPr>
                            </m:ctrlPr>
                          </m:dPr>
                          <m:e>
                            <m:sSub>
                              <m:sSubPr>
                                <m:ctrlPr>
                                  <a:rPr lang="en-AU" i="1">
                                    <a:latin typeface="Cambria Math" panose="02040503050406030204" pitchFamily="18" charset="0"/>
                                    <a:ea typeface="Cambria Math" panose="02040503050406030204" pitchFamily="18" charset="0"/>
                                  </a:rPr>
                                </m:ctrlPr>
                              </m:sSubPr>
                              <m:e>
                                <m:r>
                                  <a:rPr lang="en-AU" i="1">
                                    <a:latin typeface="Cambria Math" panose="02040503050406030204" pitchFamily="18" charset="0"/>
                                    <a:ea typeface="Cambria Math" panose="02040503050406030204" pitchFamily="18" charset="0"/>
                                  </a:rPr>
                                  <m:t>𝑓</m:t>
                                </m:r>
                              </m:e>
                              <m:sub>
                                <m:r>
                                  <a:rPr lang="en-AU" i="1">
                                    <a:latin typeface="Cambria Math" panose="02040503050406030204" pitchFamily="18" charset="0"/>
                                    <a:ea typeface="Cambria Math" panose="02040503050406030204" pitchFamily="18" charset="0"/>
                                  </a:rPr>
                                  <m:t>𝑤</m:t>
                                </m:r>
                                <m:r>
                                  <a:rPr lang="en-AU" i="1">
                                    <a:latin typeface="Cambria Math" panose="02040503050406030204" pitchFamily="18" charset="0"/>
                                    <a:ea typeface="Cambria Math" panose="02040503050406030204" pitchFamily="18" charset="0"/>
                                  </a:rPr>
                                  <m:t>,</m:t>
                                </m:r>
                                <m:r>
                                  <a:rPr lang="en-AU" i="1">
                                    <a:latin typeface="Cambria Math" panose="02040503050406030204" pitchFamily="18" charset="0"/>
                                    <a:ea typeface="Cambria Math" panose="02040503050406030204" pitchFamily="18" charset="0"/>
                                  </a:rPr>
                                  <m:t>𝑏</m:t>
                                </m:r>
                              </m:sub>
                            </m:sSub>
                            <m:d>
                              <m:dPr>
                                <m:ctrlPr>
                                  <a:rPr lang="en-AU" i="1">
                                    <a:latin typeface="Cambria Math" panose="02040503050406030204" pitchFamily="18" charset="0"/>
                                    <a:ea typeface="Cambria Math" panose="02040503050406030204" pitchFamily="18" charset="0"/>
                                  </a:rPr>
                                </m:ctrlPr>
                              </m:dPr>
                              <m:e>
                                <m:sSup>
                                  <m:sSupPr>
                                    <m:ctrlPr>
                                      <a:rPr lang="en-AU" i="1">
                                        <a:latin typeface="Cambria Math" panose="02040503050406030204" pitchFamily="18" charset="0"/>
                                        <a:ea typeface="Cambria Math" panose="02040503050406030204" pitchFamily="18" charset="0"/>
                                      </a:rPr>
                                    </m:ctrlPr>
                                  </m:sSupPr>
                                  <m:e>
                                    <m:r>
                                      <a:rPr lang="en-AU" i="1">
                                        <a:latin typeface="Cambria Math" panose="02040503050406030204" pitchFamily="18" charset="0"/>
                                        <a:ea typeface="Cambria Math" panose="02040503050406030204" pitchFamily="18" charset="0"/>
                                      </a:rPr>
                                      <m:t>𝑥</m:t>
                                    </m:r>
                                  </m:e>
                                  <m:sup>
                                    <m:r>
                                      <a:rPr lang="en-AU" i="1">
                                        <a:latin typeface="Cambria Math" panose="02040503050406030204" pitchFamily="18" charset="0"/>
                                        <a:ea typeface="Cambria Math" panose="02040503050406030204" pitchFamily="18" charset="0"/>
                                      </a:rPr>
                                      <m:t>𝑖</m:t>
                                    </m:r>
                                  </m:sup>
                                </m:sSup>
                              </m:e>
                            </m:d>
                            <m:r>
                              <a:rPr lang="en-AU" i="1">
                                <a:latin typeface="Cambria Math" panose="02040503050406030204" pitchFamily="18" charset="0"/>
                                <a:ea typeface="Cambria Math" panose="02040503050406030204" pitchFamily="18" charset="0"/>
                              </a:rPr>
                              <m:t>−</m:t>
                            </m:r>
                            <m:sSup>
                              <m:sSupPr>
                                <m:ctrlPr>
                                  <a:rPr lang="en-AU" i="1">
                                    <a:latin typeface="Cambria Math" panose="02040503050406030204" pitchFamily="18" charset="0"/>
                                    <a:ea typeface="Cambria Math" panose="02040503050406030204" pitchFamily="18" charset="0"/>
                                  </a:rPr>
                                </m:ctrlPr>
                              </m:sSupPr>
                              <m:e>
                                <m:r>
                                  <a:rPr lang="en-AU" i="1">
                                    <a:latin typeface="Cambria Math" panose="02040503050406030204" pitchFamily="18" charset="0"/>
                                    <a:ea typeface="Cambria Math" panose="02040503050406030204" pitchFamily="18" charset="0"/>
                                  </a:rPr>
                                  <m:t>𝑦</m:t>
                                </m:r>
                              </m:e>
                              <m:sup>
                                <m:r>
                                  <a:rPr lang="en-AU" i="1">
                                    <a:latin typeface="Cambria Math" panose="02040503050406030204" pitchFamily="18" charset="0"/>
                                    <a:ea typeface="Cambria Math" panose="02040503050406030204" pitchFamily="18" charset="0"/>
                                  </a:rPr>
                                  <m:t>𝑖</m:t>
                                </m:r>
                              </m:sup>
                            </m:sSup>
                          </m:e>
                        </m:d>
                      </m:e>
                    </m:nary>
                  </m:oMath>
                </a14:m>
                <a:endParaRPr lang="en-US" dirty="0"/>
              </a:p>
              <a:p>
                <a:pPr marL="0" indent="0">
                  <a:buNone/>
                </a:pPr>
                <a:r>
                  <a:rPr lang="en-US" dirty="0"/>
                  <a:t>   simultaneously update </a:t>
                </a:r>
                <a14:m>
                  <m:oMath xmlns:m="http://schemas.openxmlformats.org/officeDocument/2006/math">
                    <m:r>
                      <a:rPr lang="en-AU" i="1">
                        <a:latin typeface="Cambria Math" panose="02040503050406030204" pitchFamily="18" charset="0"/>
                      </a:rPr>
                      <m:t>𝑤</m:t>
                    </m:r>
                    <m:r>
                      <a:rPr lang="en-AU" i="1">
                        <a:latin typeface="Cambria Math" panose="02040503050406030204" pitchFamily="18" charset="0"/>
                      </a:rPr>
                      <m:t>, </m:t>
                    </m:r>
                    <m:r>
                      <a:rPr lang="en-AU" i="1">
                        <a:latin typeface="Cambria Math" panose="02040503050406030204" pitchFamily="18" charset="0"/>
                      </a:rPr>
                      <m:t>𝑏</m:t>
                    </m:r>
                  </m:oMath>
                </a14:m>
                <a:endParaRPr lang="en-US" dirty="0"/>
              </a:p>
              <a:p>
                <a:pPr marL="0" indent="0">
                  <a:buNone/>
                </a:pPr>
                <a:r>
                  <a:rPr lang="en-US" dirty="0"/>
                  <a:t>}</a:t>
                </a:r>
              </a:p>
              <a:p>
                <a:r>
                  <a:rPr lang="en-US" dirty="0"/>
                  <a:t>Same as linear regression.  Remember, </a:t>
                </a:r>
                <a14:m>
                  <m:oMath xmlns:m="http://schemas.openxmlformats.org/officeDocument/2006/math">
                    <m:sSub>
                      <m:sSubPr>
                        <m:ctrlPr>
                          <a:rPr lang="en-AU" i="1">
                            <a:latin typeface="Cambria Math" panose="02040503050406030204" pitchFamily="18" charset="0"/>
                            <a:ea typeface="Cambria Math" panose="02040503050406030204" pitchFamily="18" charset="0"/>
                          </a:rPr>
                        </m:ctrlPr>
                      </m:sSubPr>
                      <m:e>
                        <m:r>
                          <a:rPr lang="en-AU" i="1">
                            <a:latin typeface="Cambria Math" panose="02040503050406030204" pitchFamily="18" charset="0"/>
                            <a:ea typeface="Cambria Math" panose="02040503050406030204" pitchFamily="18" charset="0"/>
                          </a:rPr>
                          <m:t>𝑓</m:t>
                        </m:r>
                      </m:e>
                      <m:sub>
                        <m:r>
                          <a:rPr lang="en-AU" i="1">
                            <a:latin typeface="Cambria Math" panose="02040503050406030204" pitchFamily="18" charset="0"/>
                            <a:ea typeface="Cambria Math" panose="02040503050406030204" pitchFamily="18" charset="0"/>
                          </a:rPr>
                          <m:t>𝑤</m:t>
                        </m:r>
                        <m:r>
                          <a:rPr lang="en-AU" i="1">
                            <a:latin typeface="Cambria Math" panose="02040503050406030204" pitchFamily="18" charset="0"/>
                            <a:ea typeface="Cambria Math" panose="02040503050406030204" pitchFamily="18" charset="0"/>
                          </a:rPr>
                          <m:t>,</m:t>
                        </m:r>
                        <m:r>
                          <a:rPr lang="en-AU" i="1">
                            <a:latin typeface="Cambria Math" panose="02040503050406030204" pitchFamily="18" charset="0"/>
                            <a:ea typeface="Cambria Math" panose="02040503050406030204" pitchFamily="18" charset="0"/>
                          </a:rPr>
                          <m:t>𝑏</m:t>
                        </m:r>
                      </m:sub>
                    </m:sSub>
                    <m:d>
                      <m:dPr>
                        <m:ctrlPr>
                          <a:rPr lang="en-AU" i="1">
                            <a:latin typeface="Cambria Math" panose="02040503050406030204" pitchFamily="18" charset="0"/>
                            <a:ea typeface="Cambria Math" panose="02040503050406030204" pitchFamily="18" charset="0"/>
                          </a:rPr>
                        </m:ctrlPr>
                      </m:dPr>
                      <m:e>
                        <m:sSup>
                          <m:sSupPr>
                            <m:ctrlPr>
                              <a:rPr lang="en-AU" i="1">
                                <a:latin typeface="Cambria Math" panose="02040503050406030204" pitchFamily="18" charset="0"/>
                                <a:ea typeface="Cambria Math" panose="02040503050406030204" pitchFamily="18" charset="0"/>
                              </a:rPr>
                            </m:ctrlPr>
                          </m:sSupPr>
                          <m:e>
                            <m:r>
                              <a:rPr lang="en-AU" i="1">
                                <a:latin typeface="Cambria Math" panose="02040503050406030204" pitchFamily="18" charset="0"/>
                                <a:ea typeface="Cambria Math" panose="02040503050406030204" pitchFamily="18" charset="0"/>
                              </a:rPr>
                              <m:t>𝑥</m:t>
                            </m:r>
                          </m:e>
                          <m:sup>
                            <m:r>
                              <a:rPr lang="en-AU" i="1">
                                <a:latin typeface="Cambria Math" panose="02040503050406030204" pitchFamily="18" charset="0"/>
                                <a:ea typeface="Cambria Math" panose="02040503050406030204" pitchFamily="18" charset="0"/>
                              </a:rPr>
                              <m:t>𝑖</m:t>
                            </m:r>
                          </m:sup>
                        </m:sSup>
                      </m:e>
                    </m:d>
                    <m:r>
                      <a:rPr lang="en-AU" b="0" i="1" smtClean="0">
                        <a:latin typeface="Cambria Math" panose="02040503050406030204" pitchFamily="18" charset="0"/>
                        <a:ea typeface="Cambria Math" panose="02040503050406030204" pitchFamily="18" charset="0"/>
                      </a:rPr>
                      <m:t>=</m:t>
                    </m:r>
                    <m:f>
                      <m:fPr>
                        <m:ctrlPr>
                          <a:rPr lang="en-AU" b="0" i="1" smtClean="0">
                            <a:latin typeface="Cambria Math" panose="02040503050406030204" pitchFamily="18" charset="0"/>
                            <a:ea typeface="Cambria Math" panose="02040503050406030204" pitchFamily="18" charset="0"/>
                          </a:rPr>
                        </m:ctrlPr>
                      </m:fPr>
                      <m:num>
                        <m:r>
                          <a:rPr lang="en-AU" b="0" i="1" smtClean="0">
                            <a:latin typeface="Cambria Math" panose="02040503050406030204" pitchFamily="18" charset="0"/>
                            <a:ea typeface="Cambria Math" panose="02040503050406030204" pitchFamily="18" charset="0"/>
                          </a:rPr>
                          <m:t>1</m:t>
                        </m:r>
                      </m:num>
                      <m:den>
                        <m:r>
                          <a:rPr lang="en-AU" b="0" i="1" smtClean="0">
                            <a:latin typeface="Cambria Math" panose="02040503050406030204" pitchFamily="18" charset="0"/>
                            <a:ea typeface="Cambria Math" panose="02040503050406030204" pitchFamily="18" charset="0"/>
                          </a:rPr>
                          <m:t>1+</m:t>
                        </m:r>
                        <m:sSup>
                          <m:sSupPr>
                            <m:ctrlPr>
                              <a:rPr lang="en-AU" b="0" i="1" smtClean="0">
                                <a:latin typeface="Cambria Math" panose="02040503050406030204" pitchFamily="18" charset="0"/>
                                <a:ea typeface="Cambria Math" panose="02040503050406030204" pitchFamily="18" charset="0"/>
                              </a:rPr>
                            </m:ctrlPr>
                          </m:sSupPr>
                          <m:e>
                            <m:r>
                              <a:rPr lang="en-AU" b="0" i="1" smtClean="0">
                                <a:latin typeface="Cambria Math" panose="02040503050406030204" pitchFamily="18" charset="0"/>
                                <a:ea typeface="Cambria Math" panose="02040503050406030204" pitchFamily="18" charset="0"/>
                              </a:rPr>
                              <m:t>𝑒</m:t>
                            </m:r>
                          </m:e>
                          <m:sup>
                            <m:r>
                              <a:rPr lang="en-AU" b="0" i="1" smtClean="0">
                                <a:latin typeface="Cambria Math" panose="02040503050406030204" pitchFamily="18" charset="0"/>
                                <a:ea typeface="Cambria Math" panose="02040503050406030204" pitchFamily="18" charset="0"/>
                              </a:rPr>
                              <m:t>−(</m:t>
                            </m:r>
                            <m:r>
                              <a:rPr lang="en-AU" b="0" i="1" smtClean="0">
                                <a:latin typeface="Cambria Math" panose="02040503050406030204" pitchFamily="18" charset="0"/>
                                <a:ea typeface="Cambria Math" panose="02040503050406030204" pitchFamily="18" charset="0"/>
                              </a:rPr>
                              <m:t>𝑤𝑥</m:t>
                            </m:r>
                            <m:r>
                              <a:rPr lang="en-AU" b="0" i="1" smtClean="0">
                                <a:latin typeface="Cambria Math" panose="02040503050406030204" pitchFamily="18" charset="0"/>
                                <a:ea typeface="Cambria Math" panose="02040503050406030204" pitchFamily="18" charset="0"/>
                              </a:rPr>
                              <m:t>+</m:t>
                            </m:r>
                            <m:r>
                              <a:rPr lang="en-AU" b="0" i="1" smtClean="0">
                                <a:latin typeface="Cambria Math" panose="02040503050406030204" pitchFamily="18" charset="0"/>
                                <a:ea typeface="Cambria Math" panose="02040503050406030204" pitchFamily="18" charset="0"/>
                              </a:rPr>
                              <m:t>𝑏</m:t>
                            </m:r>
                            <m:r>
                              <a:rPr lang="en-AU" b="0" i="1" smtClean="0">
                                <a:latin typeface="Cambria Math" panose="02040503050406030204" pitchFamily="18" charset="0"/>
                                <a:ea typeface="Cambria Math" panose="02040503050406030204" pitchFamily="18" charset="0"/>
                              </a:rPr>
                              <m:t>)</m:t>
                            </m:r>
                          </m:sup>
                        </m:sSup>
                      </m:den>
                    </m:f>
                  </m:oMath>
                </a14:m>
                <a:endParaRPr lang="en-US" dirty="0"/>
              </a:p>
            </p:txBody>
          </p:sp>
        </mc:Choice>
        <mc:Fallback>
          <p:sp>
            <p:nvSpPr>
              <p:cNvPr id="3" name="Content Placeholder 2">
                <a:extLst>
                  <a:ext uri="{FF2B5EF4-FFF2-40B4-BE49-F238E27FC236}">
                    <a16:creationId xmlns:a16="http://schemas.microsoft.com/office/drawing/2014/main" id="{9F6D9A26-2194-C6DE-186E-A72770131F54}"/>
                  </a:ext>
                </a:extLst>
              </p:cNvPr>
              <p:cNvSpPr>
                <a:spLocks noGrp="1" noRot="1" noChangeAspect="1" noMove="1" noResize="1" noEditPoints="1" noAdjustHandles="1" noChangeArrowheads="1" noChangeShapeType="1" noTextEdit="1"/>
              </p:cNvSpPr>
              <p:nvPr>
                <p:ph idx="1"/>
              </p:nvPr>
            </p:nvSpPr>
            <p:spPr>
              <a:blipFill>
                <a:blip r:embed="rId2"/>
                <a:stretch>
                  <a:fillRect l="-1206" t="-2907"/>
                </a:stretch>
              </a:blipFill>
            </p:spPr>
            <p:txBody>
              <a:bodyPr/>
              <a:lstStyle/>
              <a:p>
                <a:r>
                  <a:rPr lang="en-US">
                    <a:noFill/>
                  </a:rPr>
                  <a:t> </a:t>
                </a:r>
              </a:p>
            </p:txBody>
          </p:sp>
        </mc:Fallback>
      </mc:AlternateContent>
    </p:spTree>
    <p:extLst>
      <p:ext uri="{BB962C8B-B14F-4D97-AF65-F5344CB8AC3E}">
        <p14:creationId xmlns:p14="http://schemas.microsoft.com/office/powerpoint/2010/main" val="1132075063"/>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E16F4DE-F188-B79C-E6C6-277E742C8108}"/>
              </a:ext>
            </a:extLst>
          </p:cNvPr>
          <p:cNvSpPr>
            <a:spLocks noGrp="1"/>
          </p:cNvSpPr>
          <p:nvPr>
            <p:ph type="title"/>
          </p:nvPr>
        </p:nvSpPr>
        <p:spPr/>
        <p:txBody>
          <a:bodyPr/>
          <a:lstStyle/>
          <a:p>
            <a:r>
              <a:rPr lang="en-US" b="1" dirty="0"/>
              <a:t>Practical 2: logistic regression walkthrough </a:t>
            </a:r>
          </a:p>
        </p:txBody>
      </p:sp>
      <p:sp>
        <p:nvSpPr>
          <p:cNvPr id="3" name="Content Placeholder 2">
            <a:extLst>
              <a:ext uri="{FF2B5EF4-FFF2-40B4-BE49-F238E27FC236}">
                <a16:creationId xmlns:a16="http://schemas.microsoft.com/office/drawing/2014/main" id="{7552E141-C3BA-286B-7070-05D27E76BA24}"/>
              </a:ext>
            </a:extLst>
          </p:cNvPr>
          <p:cNvSpPr>
            <a:spLocks noGrp="1"/>
          </p:cNvSpPr>
          <p:nvPr>
            <p:ph idx="1"/>
          </p:nvPr>
        </p:nvSpPr>
        <p:spPr/>
        <p:txBody>
          <a:bodyPr/>
          <a:lstStyle/>
          <a:p>
            <a:r>
              <a:rPr lang="en-AU" dirty="0">
                <a:hlinkClick r:id="rId2"/>
              </a:rPr>
              <a:t>https://www.kaggle.com/code/zahidbd/lecture6-nb1-2</a:t>
            </a:r>
            <a:endParaRPr lang="en-AU" dirty="0"/>
          </a:p>
          <a:p>
            <a:endParaRPr lang="en-US" dirty="0"/>
          </a:p>
        </p:txBody>
      </p:sp>
    </p:spTree>
    <p:extLst>
      <p:ext uri="{BB962C8B-B14F-4D97-AF65-F5344CB8AC3E}">
        <p14:creationId xmlns:p14="http://schemas.microsoft.com/office/powerpoint/2010/main" val="2382034210"/>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02C2964-1D6D-0281-B280-E36B150AC187}"/>
              </a:ext>
            </a:extLst>
          </p:cNvPr>
          <p:cNvSpPr>
            <a:spLocks noGrp="1"/>
          </p:cNvSpPr>
          <p:nvPr>
            <p:ph type="title"/>
          </p:nvPr>
        </p:nvSpPr>
        <p:spPr>
          <a:xfrm>
            <a:off x="838200" y="394940"/>
            <a:ext cx="10515600" cy="1325563"/>
          </a:xfrm>
        </p:spPr>
        <p:txBody>
          <a:bodyPr/>
          <a:lstStyle/>
          <a:p>
            <a:r>
              <a:rPr lang="en-US" b="1" dirty="0">
                <a:latin typeface="Cambria" pitchFamily="34" charset="0"/>
                <a:ea typeface="Cambria" pitchFamily="34" charset="-122"/>
                <a:cs typeface="Cambria" pitchFamily="34" charset="-120"/>
              </a:rPr>
              <a:t>Validation &amp; Cross-Validation</a:t>
            </a:r>
            <a:endParaRPr lang="en-US" dirty="0"/>
          </a:p>
        </p:txBody>
      </p:sp>
      <p:sp>
        <p:nvSpPr>
          <p:cNvPr id="6" name="Shape 3">
            <a:extLst>
              <a:ext uri="{FF2B5EF4-FFF2-40B4-BE49-F238E27FC236}">
                <a16:creationId xmlns:a16="http://schemas.microsoft.com/office/drawing/2014/main" id="{A144C529-4B9A-3C4D-30F7-69EF9F65A3DE}"/>
              </a:ext>
            </a:extLst>
          </p:cNvPr>
          <p:cNvSpPr/>
          <p:nvPr/>
        </p:nvSpPr>
        <p:spPr>
          <a:xfrm>
            <a:off x="534352" y="1657344"/>
            <a:ext cx="4608576" cy="777240"/>
          </a:xfrm>
          <a:prstGeom prst="roundRect">
            <a:avLst>
              <a:gd name="adj" fmla="val 5882"/>
            </a:avLst>
          </a:prstGeom>
          <a:solidFill>
            <a:srgbClr val="0B3D62"/>
          </a:solidFill>
          <a:ln/>
        </p:spPr>
        <p:txBody>
          <a:bodyPr/>
          <a:lstStyle/>
          <a:p>
            <a:endParaRPr lang="en-US" dirty="0"/>
          </a:p>
        </p:txBody>
      </p:sp>
      <p:sp>
        <p:nvSpPr>
          <p:cNvPr id="7" name="Text 4">
            <a:extLst>
              <a:ext uri="{FF2B5EF4-FFF2-40B4-BE49-F238E27FC236}">
                <a16:creationId xmlns:a16="http://schemas.microsoft.com/office/drawing/2014/main" id="{23B04B29-CEA6-0621-74A0-FA68DA38C2F0}"/>
              </a:ext>
            </a:extLst>
          </p:cNvPr>
          <p:cNvSpPr/>
          <p:nvPr/>
        </p:nvSpPr>
        <p:spPr>
          <a:xfrm>
            <a:off x="534352" y="1657344"/>
            <a:ext cx="4608576" cy="777240"/>
          </a:xfrm>
          <a:prstGeom prst="rect">
            <a:avLst/>
          </a:prstGeom>
          <a:noFill/>
          <a:ln/>
        </p:spPr>
        <p:txBody>
          <a:bodyPr wrap="square" rtlCol="0" anchor="ctr"/>
          <a:lstStyle/>
          <a:p>
            <a:pPr marL="0" indent="0" algn="ctr">
              <a:buNone/>
            </a:pPr>
            <a:r>
              <a:rPr lang="en-US" b="1" dirty="0">
                <a:solidFill>
                  <a:srgbClr val="FFFFFF"/>
                </a:solidFill>
                <a:latin typeface="Calibri" pitchFamily="34" charset="0"/>
                <a:ea typeface="Calibri" pitchFamily="34" charset="-122"/>
                <a:cs typeface="Calibri" pitchFamily="34" charset="-120"/>
              </a:rPr>
              <a:t>Training set (~80%)</a:t>
            </a:r>
            <a:endParaRPr lang="en-US" dirty="0"/>
          </a:p>
        </p:txBody>
      </p:sp>
      <p:sp>
        <p:nvSpPr>
          <p:cNvPr id="8" name="Shape 5">
            <a:extLst>
              <a:ext uri="{FF2B5EF4-FFF2-40B4-BE49-F238E27FC236}">
                <a16:creationId xmlns:a16="http://schemas.microsoft.com/office/drawing/2014/main" id="{EFA7554F-E214-5685-586D-B9BB0DB8DDDD}"/>
              </a:ext>
            </a:extLst>
          </p:cNvPr>
          <p:cNvSpPr/>
          <p:nvPr/>
        </p:nvSpPr>
        <p:spPr>
          <a:xfrm>
            <a:off x="5142928" y="1657344"/>
            <a:ext cx="3072384" cy="777240"/>
          </a:xfrm>
          <a:prstGeom prst="roundRect">
            <a:avLst>
              <a:gd name="adj" fmla="val 5882"/>
            </a:avLst>
          </a:prstGeom>
          <a:solidFill>
            <a:srgbClr val="1C7293"/>
          </a:solidFill>
          <a:ln/>
        </p:spPr>
      </p:sp>
      <p:sp>
        <p:nvSpPr>
          <p:cNvPr id="9" name="Text 6">
            <a:extLst>
              <a:ext uri="{FF2B5EF4-FFF2-40B4-BE49-F238E27FC236}">
                <a16:creationId xmlns:a16="http://schemas.microsoft.com/office/drawing/2014/main" id="{A6A6B184-D253-4341-1C26-4266AD227454}"/>
              </a:ext>
            </a:extLst>
          </p:cNvPr>
          <p:cNvSpPr/>
          <p:nvPr/>
        </p:nvSpPr>
        <p:spPr>
          <a:xfrm>
            <a:off x="5142928" y="1657344"/>
            <a:ext cx="3072384" cy="777240"/>
          </a:xfrm>
          <a:prstGeom prst="rect">
            <a:avLst/>
          </a:prstGeom>
          <a:noFill/>
          <a:ln/>
        </p:spPr>
        <p:txBody>
          <a:bodyPr wrap="square" rtlCol="0" anchor="ctr"/>
          <a:lstStyle/>
          <a:p>
            <a:pPr marL="0" indent="0" algn="ctr">
              <a:buNone/>
            </a:pPr>
            <a:r>
              <a:rPr lang="en-US" b="1" dirty="0">
                <a:solidFill>
                  <a:srgbClr val="FFFFFF"/>
                </a:solidFill>
                <a:latin typeface="Calibri" pitchFamily="34" charset="0"/>
                <a:ea typeface="Calibri" pitchFamily="34" charset="-122"/>
                <a:cs typeface="Calibri" pitchFamily="34" charset="-120"/>
              </a:rPr>
              <a:t>Validation set (~20%)</a:t>
            </a:r>
            <a:endParaRPr lang="en-US" dirty="0"/>
          </a:p>
        </p:txBody>
      </p:sp>
      <p:sp>
        <p:nvSpPr>
          <p:cNvPr id="10" name="Shape 7">
            <a:extLst>
              <a:ext uri="{FF2B5EF4-FFF2-40B4-BE49-F238E27FC236}">
                <a16:creationId xmlns:a16="http://schemas.microsoft.com/office/drawing/2014/main" id="{72E8A8D3-C011-0CC8-7A00-A049D681FDB4}"/>
              </a:ext>
            </a:extLst>
          </p:cNvPr>
          <p:cNvSpPr/>
          <p:nvPr/>
        </p:nvSpPr>
        <p:spPr>
          <a:xfrm>
            <a:off x="8443912" y="1657344"/>
            <a:ext cx="2286000" cy="777240"/>
          </a:xfrm>
          <a:prstGeom prst="roundRect">
            <a:avLst>
              <a:gd name="adj" fmla="val 5882"/>
            </a:avLst>
          </a:prstGeom>
          <a:solidFill>
            <a:srgbClr val="E8871E"/>
          </a:solidFill>
          <a:ln/>
        </p:spPr>
      </p:sp>
      <p:sp>
        <p:nvSpPr>
          <p:cNvPr id="11" name="Text 8">
            <a:extLst>
              <a:ext uri="{FF2B5EF4-FFF2-40B4-BE49-F238E27FC236}">
                <a16:creationId xmlns:a16="http://schemas.microsoft.com/office/drawing/2014/main" id="{57811463-0BBB-4147-BD3E-2528681379CB}"/>
              </a:ext>
            </a:extLst>
          </p:cNvPr>
          <p:cNvSpPr/>
          <p:nvPr/>
        </p:nvSpPr>
        <p:spPr>
          <a:xfrm>
            <a:off x="8443912" y="1657344"/>
            <a:ext cx="2286000" cy="777240"/>
          </a:xfrm>
          <a:prstGeom prst="rect">
            <a:avLst/>
          </a:prstGeom>
          <a:noFill/>
          <a:ln/>
        </p:spPr>
        <p:txBody>
          <a:bodyPr wrap="square" rtlCol="0" anchor="ctr"/>
          <a:lstStyle/>
          <a:p>
            <a:pPr marL="0" indent="0" algn="ctr">
              <a:buNone/>
            </a:pPr>
            <a:r>
              <a:rPr lang="en-US" b="1" dirty="0">
                <a:solidFill>
                  <a:srgbClr val="FFFFFF"/>
                </a:solidFill>
                <a:latin typeface="Calibri" pitchFamily="34" charset="0"/>
                <a:ea typeface="Calibri" pitchFamily="34" charset="-122"/>
                <a:cs typeface="Calibri" pitchFamily="34" charset="-120"/>
              </a:rPr>
              <a:t>Test set</a:t>
            </a:r>
            <a:endParaRPr lang="en-US" dirty="0"/>
          </a:p>
        </p:txBody>
      </p:sp>
      <p:sp>
        <p:nvSpPr>
          <p:cNvPr id="12" name="Text 9">
            <a:extLst>
              <a:ext uri="{FF2B5EF4-FFF2-40B4-BE49-F238E27FC236}">
                <a16:creationId xmlns:a16="http://schemas.microsoft.com/office/drawing/2014/main" id="{23A8B6B4-BC77-BF73-8E6B-F6850FC3B69B}"/>
              </a:ext>
            </a:extLst>
          </p:cNvPr>
          <p:cNvSpPr/>
          <p:nvPr/>
        </p:nvSpPr>
        <p:spPr>
          <a:xfrm>
            <a:off x="534352" y="2526024"/>
            <a:ext cx="7680960" cy="320040"/>
          </a:xfrm>
          <a:prstGeom prst="rect">
            <a:avLst/>
          </a:prstGeom>
          <a:noFill/>
          <a:ln/>
        </p:spPr>
        <p:txBody>
          <a:bodyPr wrap="square" rtlCol="0" anchor="ctr"/>
          <a:lstStyle/>
          <a:p>
            <a:pPr marL="0" indent="0">
              <a:buNone/>
            </a:pPr>
            <a:r>
              <a:rPr lang="en-US" dirty="0">
                <a:latin typeface="Calibri" pitchFamily="34" charset="0"/>
                <a:ea typeface="Calibri" pitchFamily="34" charset="-122"/>
                <a:cs typeface="Calibri" pitchFamily="34" charset="-120"/>
              </a:rPr>
              <a:t>Held out from the original “training data” pool</a:t>
            </a:r>
            <a:endParaRPr lang="en-US" dirty="0"/>
          </a:p>
        </p:txBody>
      </p:sp>
      <p:sp>
        <p:nvSpPr>
          <p:cNvPr id="13" name="Text 10">
            <a:extLst>
              <a:ext uri="{FF2B5EF4-FFF2-40B4-BE49-F238E27FC236}">
                <a16:creationId xmlns:a16="http://schemas.microsoft.com/office/drawing/2014/main" id="{B7636234-3011-7529-C233-D9B1329BA45B}"/>
              </a:ext>
            </a:extLst>
          </p:cNvPr>
          <p:cNvSpPr/>
          <p:nvPr/>
        </p:nvSpPr>
        <p:spPr>
          <a:xfrm>
            <a:off x="8443912" y="3368998"/>
            <a:ext cx="2286000" cy="457200"/>
          </a:xfrm>
          <a:prstGeom prst="rect">
            <a:avLst/>
          </a:prstGeom>
          <a:noFill/>
          <a:ln/>
        </p:spPr>
        <p:txBody>
          <a:bodyPr wrap="square" rtlCol="0" anchor="ctr"/>
          <a:lstStyle/>
          <a:p>
            <a:pPr marL="0" indent="0">
              <a:buNone/>
            </a:pPr>
            <a:r>
              <a:rPr lang="en-US" sz="1100" dirty="0">
                <a:solidFill>
                  <a:srgbClr val="5B6B7A"/>
                </a:solidFill>
                <a:latin typeface="Calibri" pitchFamily="34" charset="0"/>
                <a:ea typeface="Calibri" pitchFamily="34" charset="-122"/>
                <a:cs typeface="Calibri" pitchFamily="34" charset="-120"/>
              </a:rPr>
              <a:t>Never touched until the very end</a:t>
            </a:r>
            <a:endParaRPr lang="en-US" sz="1100" dirty="0"/>
          </a:p>
        </p:txBody>
      </p:sp>
      <p:sp>
        <p:nvSpPr>
          <p:cNvPr id="14" name="Text 11">
            <a:extLst>
              <a:ext uri="{FF2B5EF4-FFF2-40B4-BE49-F238E27FC236}">
                <a16:creationId xmlns:a16="http://schemas.microsoft.com/office/drawing/2014/main" id="{D6F442FC-C26A-3452-07CA-7DFB8BF31E27}"/>
              </a:ext>
            </a:extLst>
          </p:cNvPr>
          <p:cNvSpPr/>
          <p:nvPr/>
        </p:nvSpPr>
        <p:spPr>
          <a:xfrm>
            <a:off x="534352" y="3291840"/>
            <a:ext cx="7680960" cy="2194560"/>
          </a:xfrm>
          <a:prstGeom prst="rect">
            <a:avLst/>
          </a:prstGeom>
          <a:noFill/>
          <a:ln/>
        </p:spPr>
        <p:txBody>
          <a:bodyPr wrap="square" rtlCol="0" anchor="t"/>
          <a:lstStyle/>
          <a:p>
            <a:pPr marL="228600" indent="-228600">
              <a:lnSpc>
                <a:spcPct val="115000"/>
              </a:lnSpc>
              <a:spcAft>
                <a:spcPts val="1200"/>
              </a:spcAft>
              <a:buSzPct val="100000"/>
              <a:buChar char="•"/>
            </a:pPr>
            <a:r>
              <a:rPr lang="en-US" sz="2000" b="1" dirty="0">
                <a:solidFill>
                  <a:srgbClr val="1B2733"/>
                </a:solidFill>
                <a:latin typeface="Calibri" pitchFamily="34" charset="0"/>
                <a:ea typeface="Calibri" pitchFamily="34" charset="-122"/>
                <a:cs typeface="Calibri" pitchFamily="34" charset="-120"/>
              </a:rPr>
              <a:t>Validation set</a:t>
            </a:r>
            <a:r>
              <a:rPr lang="en-US" sz="2000" dirty="0">
                <a:solidFill>
                  <a:srgbClr val="1B2733"/>
                </a:solidFill>
                <a:latin typeface="Calibri" pitchFamily="34" charset="0"/>
                <a:ea typeface="Calibri" pitchFamily="34" charset="-122"/>
                <a:cs typeface="Calibri" pitchFamily="34" charset="-120"/>
              </a:rPr>
              <a:t>: used to select hyperparameters — its error slightly underestimates true generalization error</a:t>
            </a:r>
            <a:endParaRPr lang="en-US" sz="2000" dirty="0"/>
          </a:p>
          <a:p>
            <a:pPr marL="228600" indent="-228600">
              <a:lnSpc>
                <a:spcPct val="115000"/>
              </a:lnSpc>
              <a:spcAft>
                <a:spcPts val="1200"/>
              </a:spcAft>
              <a:buSzPct val="100000"/>
              <a:buChar char="•"/>
            </a:pPr>
            <a:r>
              <a:rPr lang="en-US" sz="2000" dirty="0">
                <a:solidFill>
                  <a:srgbClr val="1B2733"/>
                </a:solidFill>
                <a:latin typeface="Calibri" pitchFamily="34" charset="0"/>
                <a:ea typeface="Calibri" pitchFamily="34" charset="-122"/>
                <a:cs typeface="Calibri" pitchFamily="34" charset="-120"/>
              </a:rPr>
              <a:t>T</a:t>
            </a:r>
            <a:r>
              <a:rPr lang="en-US" sz="2000" b="1" dirty="0">
                <a:solidFill>
                  <a:srgbClr val="1B2733"/>
                </a:solidFill>
                <a:latin typeface="Calibri" pitchFamily="34" charset="0"/>
                <a:ea typeface="Calibri" pitchFamily="34" charset="-122"/>
                <a:cs typeface="Calibri" pitchFamily="34" charset="-120"/>
              </a:rPr>
              <a:t>est set</a:t>
            </a:r>
            <a:r>
              <a:rPr lang="en-US" sz="2000" dirty="0">
                <a:solidFill>
                  <a:srgbClr val="1B2733"/>
                </a:solidFill>
                <a:latin typeface="Calibri" pitchFamily="34" charset="0"/>
                <a:ea typeface="Calibri" pitchFamily="34" charset="-122"/>
                <a:cs typeface="Calibri" pitchFamily="34" charset="-120"/>
              </a:rPr>
              <a:t>: touched exactly once, after all tuning, to report final generalization error</a:t>
            </a:r>
            <a:endParaRPr lang="en-US" sz="2000" dirty="0"/>
          </a:p>
        </p:txBody>
      </p:sp>
      <p:sp>
        <p:nvSpPr>
          <p:cNvPr id="15" name="Shape 12">
            <a:extLst>
              <a:ext uri="{FF2B5EF4-FFF2-40B4-BE49-F238E27FC236}">
                <a16:creationId xmlns:a16="http://schemas.microsoft.com/office/drawing/2014/main" id="{ECC728DA-7723-83DF-F85C-48493A2FB024}"/>
              </a:ext>
            </a:extLst>
          </p:cNvPr>
          <p:cNvSpPr/>
          <p:nvPr/>
        </p:nvSpPr>
        <p:spPr>
          <a:xfrm>
            <a:off x="8386761" y="3052384"/>
            <a:ext cx="3063240" cy="3657600"/>
          </a:xfrm>
          <a:prstGeom prst="roundRect">
            <a:avLst>
              <a:gd name="adj" fmla="val 2687"/>
            </a:avLst>
          </a:prstGeom>
          <a:solidFill>
            <a:srgbClr val="F4F7FA"/>
          </a:solidFill>
          <a:ln w="12700">
            <a:solidFill>
              <a:srgbClr val="F4F7FA"/>
            </a:solidFill>
            <a:prstDash val="solid"/>
          </a:ln>
          <a:effectLst>
            <a:outerShdw blurRad="76200" dist="25400" dir="5400000" algn="bl" rotWithShape="0">
              <a:srgbClr val="000000">
                <a:alpha val="8000"/>
              </a:srgbClr>
            </a:outerShdw>
          </a:effectLst>
        </p:spPr>
      </p:sp>
      <p:sp>
        <p:nvSpPr>
          <p:cNvPr id="16" name="Text 13">
            <a:extLst>
              <a:ext uri="{FF2B5EF4-FFF2-40B4-BE49-F238E27FC236}">
                <a16:creationId xmlns:a16="http://schemas.microsoft.com/office/drawing/2014/main" id="{30F5D427-4252-0EA2-9686-5E19E3CBAF50}"/>
              </a:ext>
            </a:extLst>
          </p:cNvPr>
          <p:cNvSpPr/>
          <p:nvPr/>
        </p:nvSpPr>
        <p:spPr>
          <a:xfrm>
            <a:off x="8386760" y="2678049"/>
            <a:ext cx="3028951" cy="457200"/>
          </a:xfrm>
          <a:prstGeom prst="rect">
            <a:avLst/>
          </a:prstGeom>
          <a:noFill/>
          <a:ln/>
        </p:spPr>
        <p:txBody>
          <a:bodyPr wrap="square" rtlCol="0" anchor="ctr"/>
          <a:lstStyle/>
          <a:p>
            <a:pPr marL="0" indent="0" algn="ctr">
              <a:buNone/>
            </a:pPr>
            <a:r>
              <a:rPr lang="en-US" sz="1400" b="1" dirty="0">
                <a:latin typeface="Cambria" pitchFamily="34" charset="0"/>
                <a:ea typeface="Cambria" pitchFamily="34" charset="-122"/>
                <a:cs typeface="Cambria" pitchFamily="34" charset="-120"/>
              </a:rPr>
              <a:t>k-Fold Cross-Validation</a:t>
            </a:r>
            <a:endParaRPr lang="en-US" sz="1400" dirty="0"/>
          </a:p>
        </p:txBody>
      </p:sp>
      <p:sp>
        <p:nvSpPr>
          <p:cNvPr id="17" name="Shape 14">
            <a:extLst>
              <a:ext uri="{FF2B5EF4-FFF2-40B4-BE49-F238E27FC236}">
                <a16:creationId xmlns:a16="http://schemas.microsoft.com/office/drawing/2014/main" id="{6E01A99E-6AFB-A971-DA32-61B513F1977A}"/>
              </a:ext>
            </a:extLst>
          </p:cNvPr>
          <p:cNvSpPr/>
          <p:nvPr/>
        </p:nvSpPr>
        <p:spPr>
          <a:xfrm>
            <a:off x="8763952" y="3186118"/>
            <a:ext cx="420624" cy="420624"/>
          </a:xfrm>
          <a:prstGeom prst="rect">
            <a:avLst/>
          </a:prstGeom>
          <a:solidFill>
            <a:srgbClr val="E8871E"/>
          </a:solidFill>
          <a:ln w="12700">
            <a:solidFill>
              <a:srgbClr val="FFFFFF"/>
            </a:solidFill>
            <a:prstDash val="solid"/>
          </a:ln>
        </p:spPr>
      </p:sp>
      <p:sp>
        <p:nvSpPr>
          <p:cNvPr id="18" name="Shape 15">
            <a:extLst>
              <a:ext uri="{FF2B5EF4-FFF2-40B4-BE49-F238E27FC236}">
                <a16:creationId xmlns:a16="http://schemas.microsoft.com/office/drawing/2014/main" id="{53FA7E0E-A1BC-1E33-284C-5EF0C6980597}"/>
              </a:ext>
            </a:extLst>
          </p:cNvPr>
          <p:cNvSpPr/>
          <p:nvPr/>
        </p:nvSpPr>
        <p:spPr>
          <a:xfrm>
            <a:off x="9221152" y="3186118"/>
            <a:ext cx="420624" cy="420624"/>
          </a:xfrm>
          <a:prstGeom prst="rect">
            <a:avLst/>
          </a:prstGeom>
          <a:solidFill>
            <a:srgbClr val="1C7293">
              <a:alpha val="45000"/>
            </a:srgbClr>
          </a:solidFill>
          <a:ln w="12700">
            <a:solidFill>
              <a:srgbClr val="FFFFFF"/>
            </a:solidFill>
            <a:prstDash val="solid"/>
          </a:ln>
        </p:spPr>
      </p:sp>
      <p:sp>
        <p:nvSpPr>
          <p:cNvPr id="19" name="Shape 16">
            <a:extLst>
              <a:ext uri="{FF2B5EF4-FFF2-40B4-BE49-F238E27FC236}">
                <a16:creationId xmlns:a16="http://schemas.microsoft.com/office/drawing/2014/main" id="{FC5F1E93-5B45-7468-233A-467B7A1FB32B}"/>
              </a:ext>
            </a:extLst>
          </p:cNvPr>
          <p:cNvSpPr/>
          <p:nvPr/>
        </p:nvSpPr>
        <p:spPr>
          <a:xfrm>
            <a:off x="9678352" y="3186118"/>
            <a:ext cx="420624" cy="420624"/>
          </a:xfrm>
          <a:prstGeom prst="rect">
            <a:avLst/>
          </a:prstGeom>
          <a:solidFill>
            <a:srgbClr val="1C7293">
              <a:alpha val="45000"/>
            </a:srgbClr>
          </a:solidFill>
          <a:ln w="12700">
            <a:solidFill>
              <a:srgbClr val="FFFFFF"/>
            </a:solidFill>
            <a:prstDash val="solid"/>
          </a:ln>
        </p:spPr>
      </p:sp>
      <p:sp>
        <p:nvSpPr>
          <p:cNvPr id="20" name="Shape 17">
            <a:extLst>
              <a:ext uri="{FF2B5EF4-FFF2-40B4-BE49-F238E27FC236}">
                <a16:creationId xmlns:a16="http://schemas.microsoft.com/office/drawing/2014/main" id="{C14EBA8A-9218-8B95-6147-075E850F7440}"/>
              </a:ext>
            </a:extLst>
          </p:cNvPr>
          <p:cNvSpPr/>
          <p:nvPr/>
        </p:nvSpPr>
        <p:spPr>
          <a:xfrm>
            <a:off x="10135552" y="3186118"/>
            <a:ext cx="420624" cy="420624"/>
          </a:xfrm>
          <a:prstGeom prst="rect">
            <a:avLst/>
          </a:prstGeom>
          <a:solidFill>
            <a:srgbClr val="1C7293">
              <a:alpha val="45000"/>
            </a:srgbClr>
          </a:solidFill>
          <a:ln w="12700">
            <a:solidFill>
              <a:srgbClr val="FFFFFF"/>
            </a:solidFill>
            <a:prstDash val="solid"/>
          </a:ln>
        </p:spPr>
      </p:sp>
      <p:sp>
        <p:nvSpPr>
          <p:cNvPr id="21" name="Shape 18">
            <a:extLst>
              <a:ext uri="{FF2B5EF4-FFF2-40B4-BE49-F238E27FC236}">
                <a16:creationId xmlns:a16="http://schemas.microsoft.com/office/drawing/2014/main" id="{831A963F-C9E1-5956-CC0C-F820A4BEC3AC}"/>
              </a:ext>
            </a:extLst>
          </p:cNvPr>
          <p:cNvSpPr/>
          <p:nvPr/>
        </p:nvSpPr>
        <p:spPr>
          <a:xfrm>
            <a:off x="10592752" y="3186118"/>
            <a:ext cx="420624" cy="420624"/>
          </a:xfrm>
          <a:prstGeom prst="rect">
            <a:avLst/>
          </a:prstGeom>
          <a:solidFill>
            <a:srgbClr val="1C7293">
              <a:alpha val="45000"/>
            </a:srgbClr>
          </a:solidFill>
          <a:ln w="12700">
            <a:solidFill>
              <a:srgbClr val="FFFFFF"/>
            </a:solidFill>
            <a:prstDash val="solid"/>
          </a:ln>
        </p:spPr>
      </p:sp>
      <p:sp>
        <p:nvSpPr>
          <p:cNvPr id="22" name="Shape 19">
            <a:extLst>
              <a:ext uri="{FF2B5EF4-FFF2-40B4-BE49-F238E27FC236}">
                <a16:creationId xmlns:a16="http://schemas.microsoft.com/office/drawing/2014/main" id="{47E92177-6331-D8C3-3FA0-9CA5A377F02A}"/>
              </a:ext>
            </a:extLst>
          </p:cNvPr>
          <p:cNvSpPr/>
          <p:nvPr/>
        </p:nvSpPr>
        <p:spPr>
          <a:xfrm>
            <a:off x="8763952" y="3753046"/>
            <a:ext cx="420624" cy="420624"/>
          </a:xfrm>
          <a:prstGeom prst="rect">
            <a:avLst/>
          </a:prstGeom>
          <a:solidFill>
            <a:srgbClr val="1C7293">
              <a:alpha val="45000"/>
            </a:srgbClr>
          </a:solidFill>
          <a:ln w="12700">
            <a:solidFill>
              <a:srgbClr val="FFFFFF"/>
            </a:solidFill>
            <a:prstDash val="solid"/>
          </a:ln>
        </p:spPr>
      </p:sp>
      <p:sp>
        <p:nvSpPr>
          <p:cNvPr id="23" name="Shape 20">
            <a:extLst>
              <a:ext uri="{FF2B5EF4-FFF2-40B4-BE49-F238E27FC236}">
                <a16:creationId xmlns:a16="http://schemas.microsoft.com/office/drawing/2014/main" id="{98D556E6-D2ED-1802-4132-F4AB6E3C332A}"/>
              </a:ext>
            </a:extLst>
          </p:cNvPr>
          <p:cNvSpPr/>
          <p:nvPr/>
        </p:nvSpPr>
        <p:spPr>
          <a:xfrm>
            <a:off x="9221152" y="3753046"/>
            <a:ext cx="420624" cy="420624"/>
          </a:xfrm>
          <a:prstGeom prst="rect">
            <a:avLst/>
          </a:prstGeom>
          <a:solidFill>
            <a:srgbClr val="E8871E"/>
          </a:solidFill>
          <a:ln w="12700">
            <a:solidFill>
              <a:srgbClr val="FFFFFF"/>
            </a:solidFill>
            <a:prstDash val="solid"/>
          </a:ln>
        </p:spPr>
      </p:sp>
      <p:sp>
        <p:nvSpPr>
          <p:cNvPr id="24" name="Shape 21">
            <a:extLst>
              <a:ext uri="{FF2B5EF4-FFF2-40B4-BE49-F238E27FC236}">
                <a16:creationId xmlns:a16="http://schemas.microsoft.com/office/drawing/2014/main" id="{A1C8B907-BC21-4E18-D6C5-87A1B3F4528E}"/>
              </a:ext>
            </a:extLst>
          </p:cNvPr>
          <p:cNvSpPr/>
          <p:nvPr/>
        </p:nvSpPr>
        <p:spPr>
          <a:xfrm>
            <a:off x="9678352" y="3753046"/>
            <a:ext cx="420624" cy="420624"/>
          </a:xfrm>
          <a:prstGeom prst="rect">
            <a:avLst/>
          </a:prstGeom>
          <a:solidFill>
            <a:srgbClr val="1C7293">
              <a:alpha val="45000"/>
            </a:srgbClr>
          </a:solidFill>
          <a:ln w="12700">
            <a:solidFill>
              <a:srgbClr val="FFFFFF"/>
            </a:solidFill>
            <a:prstDash val="solid"/>
          </a:ln>
        </p:spPr>
      </p:sp>
      <p:sp>
        <p:nvSpPr>
          <p:cNvPr id="25" name="Shape 22">
            <a:extLst>
              <a:ext uri="{FF2B5EF4-FFF2-40B4-BE49-F238E27FC236}">
                <a16:creationId xmlns:a16="http://schemas.microsoft.com/office/drawing/2014/main" id="{535467A7-A3C1-FCDB-41D4-FD1715EAA3BE}"/>
              </a:ext>
            </a:extLst>
          </p:cNvPr>
          <p:cNvSpPr/>
          <p:nvPr/>
        </p:nvSpPr>
        <p:spPr>
          <a:xfrm>
            <a:off x="10135552" y="3753046"/>
            <a:ext cx="420624" cy="420624"/>
          </a:xfrm>
          <a:prstGeom prst="rect">
            <a:avLst/>
          </a:prstGeom>
          <a:solidFill>
            <a:srgbClr val="1C7293">
              <a:alpha val="45000"/>
            </a:srgbClr>
          </a:solidFill>
          <a:ln w="12700">
            <a:solidFill>
              <a:srgbClr val="FFFFFF"/>
            </a:solidFill>
            <a:prstDash val="solid"/>
          </a:ln>
        </p:spPr>
      </p:sp>
      <p:sp>
        <p:nvSpPr>
          <p:cNvPr id="26" name="Shape 23">
            <a:extLst>
              <a:ext uri="{FF2B5EF4-FFF2-40B4-BE49-F238E27FC236}">
                <a16:creationId xmlns:a16="http://schemas.microsoft.com/office/drawing/2014/main" id="{6FB98D82-5402-B025-E0FD-906BD9999163}"/>
              </a:ext>
            </a:extLst>
          </p:cNvPr>
          <p:cNvSpPr/>
          <p:nvPr/>
        </p:nvSpPr>
        <p:spPr>
          <a:xfrm>
            <a:off x="10592752" y="3753046"/>
            <a:ext cx="420624" cy="420624"/>
          </a:xfrm>
          <a:prstGeom prst="rect">
            <a:avLst/>
          </a:prstGeom>
          <a:solidFill>
            <a:srgbClr val="1C7293">
              <a:alpha val="45000"/>
            </a:srgbClr>
          </a:solidFill>
          <a:ln w="12700">
            <a:solidFill>
              <a:srgbClr val="FFFFFF"/>
            </a:solidFill>
            <a:prstDash val="solid"/>
          </a:ln>
        </p:spPr>
      </p:sp>
      <p:sp>
        <p:nvSpPr>
          <p:cNvPr id="27" name="Shape 24">
            <a:extLst>
              <a:ext uri="{FF2B5EF4-FFF2-40B4-BE49-F238E27FC236}">
                <a16:creationId xmlns:a16="http://schemas.microsoft.com/office/drawing/2014/main" id="{8F0D7CE1-F562-A4BF-60AD-D618889D452D}"/>
              </a:ext>
            </a:extLst>
          </p:cNvPr>
          <p:cNvSpPr/>
          <p:nvPr/>
        </p:nvSpPr>
        <p:spPr>
          <a:xfrm>
            <a:off x="8763952" y="4319974"/>
            <a:ext cx="420624" cy="420624"/>
          </a:xfrm>
          <a:prstGeom prst="rect">
            <a:avLst/>
          </a:prstGeom>
          <a:solidFill>
            <a:srgbClr val="1C7293">
              <a:alpha val="45000"/>
            </a:srgbClr>
          </a:solidFill>
          <a:ln w="12700">
            <a:solidFill>
              <a:srgbClr val="FFFFFF"/>
            </a:solidFill>
            <a:prstDash val="solid"/>
          </a:ln>
        </p:spPr>
      </p:sp>
      <p:sp>
        <p:nvSpPr>
          <p:cNvPr id="28" name="Shape 25">
            <a:extLst>
              <a:ext uri="{FF2B5EF4-FFF2-40B4-BE49-F238E27FC236}">
                <a16:creationId xmlns:a16="http://schemas.microsoft.com/office/drawing/2014/main" id="{298DF1D9-E133-71AF-BE42-BFA580C82B72}"/>
              </a:ext>
            </a:extLst>
          </p:cNvPr>
          <p:cNvSpPr/>
          <p:nvPr/>
        </p:nvSpPr>
        <p:spPr>
          <a:xfrm>
            <a:off x="9221152" y="4319974"/>
            <a:ext cx="420624" cy="420624"/>
          </a:xfrm>
          <a:prstGeom prst="rect">
            <a:avLst/>
          </a:prstGeom>
          <a:solidFill>
            <a:srgbClr val="1C7293">
              <a:alpha val="45000"/>
            </a:srgbClr>
          </a:solidFill>
          <a:ln w="12700">
            <a:solidFill>
              <a:srgbClr val="FFFFFF"/>
            </a:solidFill>
            <a:prstDash val="solid"/>
          </a:ln>
        </p:spPr>
      </p:sp>
      <p:sp>
        <p:nvSpPr>
          <p:cNvPr id="29" name="Shape 26">
            <a:extLst>
              <a:ext uri="{FF2B5EF4-FFF2-40B4-BE49-F238E27FC236}">
                <a16:creationId xmlns:a16="http://schemas.microsoft.com/office/drawing/2014/main" id="{A2128A1F-B8FE-E304-3B41-31CF275C6C33}"/>
              </a:ext>
            </a:extLst>
          </p:cNvPr>
          <p:cNvSpPr/>
          <p:nvPr/>
        </p:nvSpPr>
        <p:spPr>
          <a:xfrm>
            <a:off x="9678352" y="4319974"/>
            <a:ext cx="420624" cy="420624"/>
          </a:xfrm>
          <a:prstGeom prst="rect">
            <a:avLst/>
          </a:prstGeom>
          <a:solidFill>
            <a:srgbClr val="E8871E"/>
          </a:solidFill>
          <a:ln w="12700">
            <a:solidFill>
              <a:srgbClr val="FFFFFF"/>
            </a:solidFill>
            <a:prstDash val="solid"/>
          </a:ln>
        </p:spPr>
      </p:sp>
      <p:sp>
        <p:nvSpPr>
          <p:cNvPr id="30" name="Shape 27">
            <a:extLst>
              <a:ext uri="{FF2B5EF4-FFF2-40B4-BE49-F238E27FC236}">
                <a16:creationId xmlns:a16="http://schemas.microsoft.com/office/drawing/2014/main" id="{C8F9123C-884D-32A8-FBF5-BC26AA6DB02C}"/>
              </a:ext>
            </a:extLst>
          </p:cNvPr>
          <p:cNvSpPr/>
          <p:nvPr/>
        </p:nvSpPr>
        <p:spPr>
          <a:xfrm>
            <a:off x="10135552" y="4319974"/>
            <a:ext cx="420624" cy="420624"/>
          </a:xfrm>
          <a:prstGeom prst="rect">
            <a:avLst/>
          </a:prstGeom>
          <a:solidFill>
            <a:srgbClr val="1C7293">
              <a:alpha val="45000"/>
            </a:srgbClr>
          </a:solidFill>
          <a:ln w="12700">
            <a:solidFill>
              <a:srgbClr val="FFFFFF"/>
            </a:solidFill>
            <a:prstDash val="solid"/>
          </a:ln>
        </p:spPr>
      </p:sp>
      <p:sp>
        <p:nvSpPr>
          <p:cNvPr id="31" name="Shape 28">
            <a:extLst>
              <a:ext uri="{FF2B5EF4-FFF2-40B4-BE49-F238E27FC236}">
                <a16:creationId xmlns:a16="http://schemas.microsoft.com/office/drawing/2014/main" id="{C3540D2E-E484-7DCF-86C9-C28679359EA8}"/>
              </a:ext>
            </a:extLst>
          </p:cNvPr>
          <p:cNvSpPr/>
          <p:nvPr/>
        </p:nvSpPr>
        <p:spPr>
          <a:xfrm>
            <a:off x="10592752" y="4319974"/>
            <a:ext cx="420624" cy="420624"/>
          </a:xfrm>
          <a:prstGeom prst="rect">
            <a:avLst/>
          </a:prstGeom>
          <a:solidFill>
            <a:srgbClr val="1C7293">
              <a:alpha val="45000"/>
            </a:srgbClr>
          </a:solidFill>
          <a:ln w="12700">
            <a:solidFill>
              <a:srgbClr val="FFFFFF"/>
            </a:solidFill>
            <a:prstDash val="solid"/>
          </a:ln>
        </p:spPr>
      </p:sp>
      <p:sp>
        <p:nvSpPr>
          <p:cNvPr id="32" name="Shape 29">
            <a:extLst>
              <a:ext uri="{FF2B5EF4-FFF2-40B4-BE49-F238E27FC236}">
                <a16:creationId xmlns:a16="http://schemas.microsoft.com/office/drawing/2014/main" id="{454C6C26-B163-52DD-4B03-C289030D789E}"/>
              </a:ext>
            </a:extLst>
          </p:cNvPr>
          <p:cNvSpPr/>
          <p:nvPr/>
        </p:nvSpPr>
        <p:spPr>
          <a:xfrm>
            <a:off x="8763952" y="4886902"/>
            <a:ext cx="420624" cy="420624"/>
          </a:xfrm>
          <a:prstGeom prst="rect">
            <a:avLst/>
          </a:prstGeom>
          <a:solidFill>
            <a:srgbClr val="1C7293">
              <a:alpha val="45000"/>
            </a:srgbClr>
          </a:solidFill>
          <a:ln w="12700">
            <a:solidFill>
              <a:srgbClr val="FFFFFF"/>
            </a:solidFill>
            <a:prstDash val="solid"/>
          </a:ln>
        </p:spPr>
      </p:sp>
      <p:sp>
        <p:nvSpPr>
          <p:cNvPr id="33" name="Shape 30">
            <a:extLst>
              <a:ext uri="{FF2B5EF4-FFF2-40B4-BE49-F238E27FC236}">
                <a16:creationId xmlns:a16="http://schemas.microsoft.com/office/drawing/2014/main" id="{5C719AF1-2BAC-B039-9E07-515A1D99600D}"/>
              </a:ext>
            </a:extLst>
          </p:cNvPr>
          <p:cNvSpPr/>
          <p:nvPr/>
        </p:nvSpPr>
        <p:spPr>
          <a:xfrm>
            <a:off x="9221152" y="4886902"/>
            <a:ext cx="420624" cy="420624"/>
          </a:xfrm>
          <a:prstGeom prst="rect">
            <a:avLst/>
          </a:prstGeom>
          <a:solidFill>
            <a:srgbClr val="1C7293">
              <a:alpha val="45000"/>
            </a:srgbClr>
          </a:solidFill>
          <a:ln w="12700">
            <a:solidFill>
              <a:srgbClr val="FFFFFF"/>
            </a:solidFill>
            <a:prstDash val="solid"/>
          </a:ln>
        </p:spPr>
      </p:sp>
      <p:sp>
        <p:nvSpPr>
          <p:cNvPr id="34" name="Shape 31">
            <a:extLst>
              <a:ext uri="{FF2B5EF4-FFF2-40B4-BE49-F238E27FC236}">
                <a16:creationId xmlns:a16="http://schemas.microsoft.com/office/drawing/2014/main" id="{CB528783-5B97-7044-FD9E-127A42C88DF5}"/>
              </a:ext>
            </a:extLst>
          </p:cNvPr>
          <p:cNvSpPr/>
          <p:nvPr/>
        </p:nvSpPr>
        <p:spPr>
          <a:xfrm>
            <a:off x="9678352" y="4886902"/>
            <a:ext cx="420624" cy="420624"/>
          </a:xfrm>
          <a:prstGeom prst="rect">
            <a:avLst/>
          </a:prstGeom>
          <a:solidFill>
            <a:srgbClr val="1C7293">
              <a:alpha val="45000"/>
            </a:srgbClr>
          </a:solidFill>
          <a:ln w="12700">
            <a:solidFill>
              <a:srgbClr val="FFFFFF"/>
            </a:solidFill>
            <a:prstDash val="solid"/>
          </a:ln>
        </p:spPr>
      </p:sp>
      <p:sp>
        <p:nvSpPr>
          <p:cNvPr id="35" name="Shape 32">
            <a:extLst>
              <a:ext uri="{FF2B5EF4-FFF2-40B4-BE49-F238E27FC236}">
                <a16:creationId xmlns:a16="http://schemas.microsoft.com/office/drawing/2014/main" id="{27C672BF-A906-9D4C-B3F0-9A3FE323D1F9}"/>
              </a:ext>
            </a:extLst>
          </p:cNvPr>
          <p:cNvSpPr/>
          <p:nvPr/>
        </p:nvSpPr>
        <p:spPr>
          <a:xfrm>
            <a:off x="10135552" y="4886902"/>
            <a:ext cx="420624" cy="420624"/>
          </a:xfrm>
          <a:prstGeom prst="rect">
            <a:avLst/>
          </a:prstGeom>
          <a:solidFill>
            <a:srgbClr val="E8871E"/>
          </a:solidFill>
          <a:ln w="12700">
            <a:solidFill>
              <a:srgbClr val="FFFFFF"/>
            </a:solidFill>
            <a:prstDash val="solid"/>
          </a:ln>
        </p:spPr>
      </p:sp>
      <p:sp>
        <p:nvSpPr>
          <p:cNvPr id="36" name="Shape 33">
            <a:extLst>
              <a:ext uri="{FF2B5EF4-FFF2-40B4-BE49-F238E27FC236}">
                <a16:creationId xmlns:a16="http://schemas.microsoft.com/office/drawing/2014/main" id="{B92F6C82-1AE6-EEF5-9A41-6D49E3BA3BB7}"/>
              </a:ext>
            </a:extLst>
          </p:cNvPr>
          <p:cNvSpPr/>
          <p:nvPr/>
        </p:nvSpPr>
        <p:spPr>
          <a:xfrm>
            <a:off x="10592752" y="4886902"/>
            <a:ext cx="420624" cy="420624"/>
          </a:xfrm>
          <a:prstGeom prst="rect">
            <a:avLst/>
          </a:prstGeom>
          <a:solidFill>
            <a:srgbClr val="1C7293">
              <a:alpha val="45000"/>
            </a:srgbClr>
          </a:solidFill>
          <a:ln w="12700">
            <a:solidFill>
              <a:srgbClr val="FFFFFF"/>
            </a:solidFill>
            <a:prstDash val="solid"/>
          </a:ln>
        </p:spPr>
      </p:sp>
      <p:sp>
        <p:nvSpPr>
          <p:cNvPr id="37" name="Shape 34">
            <a:extLst>
              <a:ext uri="{FF2B5EF4-FFF2-40B4-BE49-F238E27FC236}">
                <a16:creationId xmlns:a16="http://schemas.microsoft.com/office/drawing/2014/main" id="{DD5FF67B-A9B2-560F-7348-C23EB2A2E7EA}"/>
              </a:ext>
            </a:extLst>
          </p:cNvPr>
          <p:cNvSpPr/>
          <p:nvPr/>
        </p:nvSpPr>
        <p:spPr>
          <a:xfrm>
            <a:off x="8763952" y="5453830"/>
            <a:ext cx="420624" cy="420624"/>
          </a:xfrm>
          <a:prstGeom prst="rect">
            <a:avLst/>
          </a:prstGeom>
          <a:solidFill>
            <a:srgbClr val="1C7293">
              <a:alpha val="45000"/>
            </a:srgbClr>
          </a:solidFill>
          <a:ln w="12700">
            <a:solidFill>
              <a:srgbClr val="FFFFFF"/>
            </a:solidFill>
            <a:prstDash val="solid"/>
          </a:ln>
        </p:spPr>
      </p:sp>
      <p:sp>
        <p:nvSpPr>
          <p:cNvPr id="38" name="Shape 35">
            <a:extLst>
              <a:ext uri="{FF2B5EF4-FFF2-40B4-BE49-F238E27FC236}">
                <a16:creationId xmlns:a16="http://schemas.microsoft.com/office/drawing/2014/main" id="{EEBAF620-C9C5-868D-7735-E95025E976C6}"/>
              </a:ext>
            </a:extLst>
          </p:cNvPr>
          <p:cNvSpPr/>
          <p:nvPr/>
        </p:nvSpPr>
        <p:spPr>
          <a:xfrm>
            <a:off x="9221152" y="5453830"/>
            <a:ext cx="420624" cy="420624"/>
          </a:xfrm>
          <a:prstGeom prst="rect">
            <a:avLst/>
          </a:prstGeom>
          <a:solidFill>
            <a:srgbClr val="1C7293">
              <a:alpha val="45000"/>
            </a:srgbClr>
          </a:solidFill>
          <a:ln w="12700">
            <a:solidFill>
              <a:srgbClr val="FFFFFF"/>
            </a:solidFill>
            <a:prstDash val="solid"/>
          </a:ln>
        </p:spPr>
      </p:sp>
      <p:sp>
        <p:nvSpPr>
          <p:cNvPr id="39" name="Shape 36">
            <a:extLst>
              <a:ext uri="{FF2B5EF4-FFF2-40B4-BE49-F238E27FC236}">
                <a16:creationId xmlns:a16="http://schemas.microsoft.com/office/drawing/2014/main" id="{F936E8AD-5844-73D6-2EB3-E49D1BF406C3}"/>
              </a:ext>
            </a:extLst>
          </p:cNvPr>
          <p:cNvSpPr/>
          <p:nvPr/>
        </p:nvSpPr>
        <p:spPr>
          <a:xfrm>
            <a:off x="9678352" y="5453830"/>
            <a:ext cx="420624" cy="420624"/>
          </a:xfrm>
          <a:prstGeom prst="rect">
            <a:avLst/>
          </a:prstGeom>
          <a:solidFill>
            <a:srgbClr val="1C7293">
              <a:alpha val="45000"/>
            </a:srgbClr>
          </a:solidFill>
          <a:ln w="12700">
            <a:solidFill>
              <a:srgbClr val="FFFFFF"/>
            </a:solidFill>
            <a:prstDash val="solid"/>
          </a:ln>
        </p:spPr>
      </p:sp>
      <p:sp>
        <p:nvSpPr>
          <p:cNvPr id="40" name="Shape 37">
            <a:extLst>
              <a:ext uri="{FF2B5EF4-FFF2-40B4-BE49-F238E27FC236}">
                <a16:creationId xmlns:a16="http://schemas.microsoft.com/office/drawing/2014/main" id="{B61341AE-CB6B-986C-78DE-43D13F0BDFD4}"/>
              </a:ext>
            </a:extLst>
          </p:cNvPr>
          <p:cNvSpPr/>
          <p:nvPr/>
        </p:nvSpPr>
        <p:spPr>
          <a:xfrm>
            <a:off x="10135552" y="5453830"/>
            <a:ext cx="420624" cy="420624"/>
          </a:xfrm>
          <a:prstGeom prst="rect">
            <a:avLst/>
          </a:prstGeom>
          <a:solidFill>
            <a:srgbClr val="1C7293">
              <a:alpha val="45000"/>
            </a:srgbClr>
          </a:solidFill>
          <a:ln w="12700">
            <a:solidFill>
              <a:srgbClr val="FFFFFF"/>
            </a:solidFill>
            <a:prstDash val="solid"/>
          </a:ln>
        </p:spPr>
      </p:sp>
      <p:sp>
        <p:nvSpPr>
          <p:cNvPr id="41" name="Shape 38">
            <a:extLst>
              <a:ext uri="{FF2B5EF4-FFF2-40B4-BE49-F238E27FC236}">
                <a16:creationId xmlns:a16="http://schemas.microsoft.com/office/drawing/2014/main" id="{CB33C686-A16C-58C1-BEAE-CB26D1C83944}"/>
              </a:ext>
            </a:extLst>
          </p:cNvPr>
          <p:cNvSpPr/>
          <p:nvPr/>
        </p:nvSpPr>
        <p:spPr>
          <a:xfrm>
            <a:off x="10592752" y="5453830"/>
            <a:ext cx="420624" cy="420624"/>
          </a:xfrm>
          <a:prstGeom prst="rect">
            <a:avLst/>
          </a:prstGeom>
          <a:solidFill>
            <a:srgbClr val="E8871E"/>
          </a:solidFill>
          <a:ln w="12700">
            <a:solidFill>
              <a:srgbClr val="FFFFFF"/>
            </a:solidFill>
            <a:prstDash val="solid"/>
          </a:ln>
        </p:spPr>
      </p:sp>
      <p:sp>
        <p:nvSpPr>
          <p:cNvPr id="42" name="Text 39">
            <a:extLst>
              <a:ext uri="{FF2B5EF4-FFF2-40B4-BE49-F238E27FC236}">
                <a16:creationId xmlns:a16="http://schemas.microsoft.com/office/drawing/2014/main" id="{6B5CAA4F-2103-FC91-7C92-04720867B004}"/>
              </a:ext>
            </a:extLst>
          </p:cNvPr>
          <p:cNvSpPr/>
          <p:nvPr/>
        </p:nvSpPr>
        <p:spPr>
          <a:xfrm>
            <a:off x="8666796" y="6066478"/>
            <a:ext cx="2748916" cy="572066"/>
          </a:xfrm>
          <a:prstGeom prst="rect">
            <a:avLst/>
          </a:prstGeom>
          <a:noFill/>
          <a:ln/>
        </p:spPr>
        <p:txBody>
          <a:bodyPr wrap="square" rtlCol="0" anchor="ctr"/>
          <a:lstStyle/>
          <a:p>
            <a:pPr marL="0" indent="0">
              <a:buNone/>
            </a:pPr>
            <a:r>
              <a:rPr lang="en-US" sz="1200" dirty="0">
                <a:latin typeface="Calibri" pitchFamily="34" charset="0"/>
                <a:ea typeface="Calibri" pitchFamily="34" charset="-122"/>
                <a:cs typeface="Calibri" pitchFamily="34" charset="-120"/>
              </a:rPr>
              <a:t>Each fold takes a turn as the test split; results are averaged — makes efficient use of small datasets.</a:t>
            </a:r>
            <a:endParaRPr lang="en-US" sz="1200" dirty="0"/>
          </a:p>
        </p:txBody>
      </p:sp>
    </p:spTree>
    <p:extLst>
      <p:ext uri="{BB962C8B-B14F-4D97-AF65-F5344CB8AC3E}">
        <p14:creationId xmlns:p14="http://schemas.microsoft.com/office/powerpoint/2010/main" val="2914649841"/>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DC8720E-6A03-D7DF-433F-B46FCF1717F4}"/>
              </a:ext>
            </a:extLst>
          </p:cNvPr>
          <p:cNvSpPr>
            <a:spLocks noGrp="1"/>
          </p:cNvSpPr>
          <p:nvPr>
            <p:ph type="title"/>
          </p:nvPr>
        </p:nvSpPr>
        <p:spPr/>
        <p:txBody>
          <a:bodyPr/>
          <a:lstStyle/>
          <a:p>
            <a:r>
              <a:rPr lang="en-US" b="1" dirty="0"/>
              <a:t>Practical 3: Image classification using logistic regression</a:t>
            </a:r>
          </a:p>
        </p:txBody>
      </p:sp>
      <p:sp>
        <p:nvSpPr>
          <p:cNvPr id="3" name="Content Placeholder 2">
            <a:extLst>
              <a:ext uri="{FF2B5EF4-FFF2-40B4-BE49-F238E27FC236}">
                <a16:creationId xmlns:a16="http://schemas.microsoft.com/office/drawing/2014/main" id="{8A982247-2E77-25BA-6DAB-B7EBF70EF175}"/>
              </a:ext>
            </a:extLst>
          </p:cNvPr>
          <p:cNvSpPr>
            <a:spLocks noGrp="1"/>
          </p:cNvSpPr>
          <p:nvPr>
            <p:ph idx="1"/>
          </p:nvPr>
        </p:nvSpPr>
        <p:spPr/>
        <p:txBody>
          <a:bodyPr/>
          <a:lstStyle/>
          <a:p>
            <a:r>
              <a:rPr lang="en-AU" dirty="0">
                <a:hlinkClick r:id="rId2"/>
              </a:rPr>
              <a:t>https://www.kaggle.com/code/zahidbd/lecture6-nb2</a:t>
            </a:r>
            <a:endParaRPr lang="en-AU" dirty="0"/>
          </a:p>
          <a:p>
            <a:endParaRPr lang="en-US" dirty="0"/>
          </a:p>
        </p:txBody>
      </p:sp>
    </p:spTree>
    <p:extLst>
      <p:ext uri="{BB962C8B-B14F-4D97-AF65-F5344CB8AC3E}">
        <p14:creationId xmlns:p14="http://schemas.microsoft.com/office/powerpoint/2010/main" val="150709275"/>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8DB81C9-0A22-0157-1144-28B1BA73A43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FC1A941-137C-2013-A61A-F652AA8FE645}"/>
              </a:ext>
            </a:extLst>
          </p:cNvPr>
          <p:cNvSpPr>
            <a:spLocks noGrp="1"/>
          </p:cNvSpPr>
          <p:nvPr>
            <p:ph type="title"/>
          </p:nvPr>
        </p:nvSpPr>
        <p:spPr/>
        <p:txBody>
          <a:bodyPr/>
          <a:lstStyle/>
          <a:p>
            <a:r>
              <a:rPr lang="en-US" dirty="0"/>
              <a:t>Reading</a:t>
            </a:r>
          </a:p>
        </p:txBody>
      </p:sp>
      <p:sp>
        <p:nvSpPr>
          <p:cNvPr id="3" name="Content Placeholder 2">
            <a:extLst>
              <a:ext uri="{FF2B5EF4-FFF2-40B4-BE49-F238E27FC236}">
                <a16:creationId xmlns:a16="http://schemas.microsoft.com/office/drawing/2014/main" id="{8FC2AC0B-64AA-4C68-C86C-F1FC2414AB11}"/>
              </a:ext>
            </a:extLst>
          </p:cNvPr>
          <p:cNvSpPr>
            <a:spLocks noGrp="1"/>
          </p:cNvSpPr>
          <p:nvPr>
            <p:ph idx="1"/>
          </p:nvPr>
        </p:nvSpPr>
        <p:spPr>
          <a:xfrm>
            <a:off x="838200" y="1300766"/>
            <a:ext cx="10515600" cy="5303234"/>
          </a:xfrm>
        </p:spPr>
        <p:txBody>
          <a:bodyPr>
            <a:normAutofit/>
          </a:bodyPr>
          <a:lstStyle/>
          <a:p>
            <a:r>
              <a:rPr lang="en-AU" sz="2400" dirty="0"/>
              <a:t>Deep learning book</a:t>
            </a:r>
          </a:p>
          <a:p>
            <a:pPr lvl="1"/>
            <a:r>
              <a:rPr lang="en-AU" dirty="0"/>
              <a:t>Chapter 5: </a:t>
            </a:r>
            <a:r>
              <a:rPr lang="en-AU" dirty="0">
                <a:hlinkClick r:id="rId3"/>
              </a:rPr>
              <a:t>https://www.deeplearningbook.org/contents/ml.html</a:t>
            </a:r>
            <a:endParaRPr lang="en-AU" dirty="0"/>
          </a:p>
          <a:p>
            <a:pPr lvl="1"/>
            <a:r>
              <a:rPr lang="en-AU" dirty="0"/>
              <a:t>Sections: 5.1, 5.2 (skip 5.2.1). 5.3, 5.4.4, 5.9</a:t>
            </a:r>
          </a:p>
          <a:p>
            <a:pPr lvl="1"/>
            <a:endParaRPr lang="en-AU" sz="1600" dirty="0"/>
          </a:p>
          <a:p>
            <a:r>
              <a:rPr lang="en-AU" sz="2400" dirty="0"/>
              <a:t>Andrew Ng YT:</a:t>
            </a:r>
          </a:p>
          <a:p>
            <a:pPr lvl="1"/>
            <a:r>
              <a:rPr lang="en-AU" sz="2000" dirty="0">
                <a:hlinkClick r:id="rId4"/>
              </a:rPr>
              <a:t>https://www.youtube.com/watch?v=peNRqkfukYY&amp;list=PLkDaE6sCZn6FNC6YRfRQc_FbeQrF8BwGI&amp;index=12</a:t>
            </a:r>
          </a:p>
          <a:p>
            <a:pPr lvl="1"/>
            <a:r>
              <a:rPr lang="en-AU" sz="2000" dirty="0">
                <a:hlinkClick r:id="rId4"/>
              </a:rPr>
              <a:t>https://www.youtube.com/watch?v=bFNz2u0hl9E&amp;list=PLkDaE6sCZn6FNC6YRfRQc_FbeQrF8BwGI&amp;index=13</a:t>
            </a:r>
            <a:endParaRPr lang="en-AU" sz="2000" dirty="0"/>
          </a:p>
          <a:p>
            <a:pPr lvl="1"/>
            <a:endParaRPr lang="en-AU" sz="2000" dirty="0"/>
          </a:p>
          <a:p>
            <a:r>
              <a:rPr lang="en-AU" sz="2400" b="1" dirty="0"/>
              <a:t>Note books:</a:t>
            </a:r>
          </a:p>
          <a:p>
            <a:pPr lvl="1"/>
            <a:r>
              <a:rPr lang="en-AU" sz="2000" dirty="0">
                <a:hlinkClick r:id="rId5"/>
              </a:rPr>
              <a:t>https://www.kaggle.com/code/zahidbd/lecture6-nb1</a:t>
            </a:r>
            <a:endParaRPr lang="en-AU" sz="2000" dirty="0"/>
          </a:p>
          <a:p>
            <a:pPr lvl="1"/>
            <a:r>
              <a:rPr lang="en-AU" sz="2000" dirty="0">
                <a:hlinkClick r:id="rId6"/>
              </a:rPr>
              <a:t>https://www.kaggle.com/code/zahidbd/lecture6-nb1-2</a:t>
            </a:r>
            <a:endParaRPr lang="en-AU" sz="2000" dirty="0"/>
          </a:p>
          <a:p>
            <a:pPr lvl="1"/>
            <a:r>
              <a:rPr lang="en-AU" sz="2000" dirty="0">
                <a:hlinkClick r:id="rId7"/>
              </a:rPr>
              <a:t>https://www.kaggle.com/code/zahidbd/lecture6-nb2</a:t>
            </a:r>
            <a:endParaRPr lang="en-AU" sz="2000" dirty="0"/>
          </a:p>
          <a:p>
            <a:pPr lvl="1"/>
            <a:endParaRPr lang="en-AU" sz="2000" dirty="0"/>
          </a:p>
          <a:p>
            <a:pPr lvl="1"/>
            <a:endParaRPr lang="en-AU" sz="1600" dirty="0"/>
          </a:p>
        </p:txBody>
      </p:sp>
    </p:spTree>
    <p:extLst>
      <p:ext uri="{BB962C8B-B14F-4D97-AF65-F5344CB8AC3E}">
        <p14:creationId xmlns:p14="http://schemas.microsoft.com/office/powerpoint/2010/main" val="4132124588"/>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
  <TotalTime>10639</TotalTime>
  <Words>1268</Words>
  <Application>Microsoft Macintosh PowerPoint</Application>
  <PresentationFormat>Widescreen</PresentationFormat>
  <Paragraphs>163</Paragraphs>
  <Slides>21</Slides>
  <Notes>12</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21</vt:i4>
      </vt:variant>
    </vt:vector>
  </HeadingPairs>
  <TitlesOfParts>
    <vt:vector size="28" baseType="lpstr">
      <vt:lpstr>Arial</vt:lpstr>
      <vt:lpstr>Calibri</vt:lpstr>
      <vt:lpstr>Calibri Light</vt:lpstr>
      <vt:lpstr>Cambria</vt:lpstr>
      <vt:lpstr>Cambria Math</vt:lpstr>
      <vt:lpstr>Courier New</vt:lpstr>
      <vt:lpstr>Office Theme</vt:lpstr>
      <vt:lpstr>COMPUTER VISION</vt:lpstr>
      <vt:lpstr>Steps in Training</vt:lpstr>
      <vt:lpstr>Linear regression</vt:lpstr>
      <vt:lpstr>Notations </vt:lpstr>
      <vt:lpstr>Notations </vt:lpstr>
      <vt:lpstr>Cost function intuition</vt:lpstr>
      <vt:lpstr>Parameter update rules</vt:lpstr>
      <vt:lpstr>Parameter update rules</vt:lpstr>
      <vt:lpstr>Weight updates in models: Gradient Descent </vt:lpstr>
      <vt:lpstr>Practical 1</vt:lpstr>
      <vt:lpstr>Underfitting and Overfitting in Polynomial Estimation</vt:lpstr>
      <vt:lpstr>Generalization and capacity</vt:lpstr>
      <vt:lpstr>Gradient Descent for Multiple Regression</vt:lpstr>
      <vt:lpstr>Multiple Regression for m instances (batched)</vt:lpstr>
      <vt:lpstr>Classification using linear model</vt:lpstr>
      <vt:lpstr>Loss function</vt:lpstr>
      <vt:lpstr>Gradient descent</vt:lpstr>
      <vt:lpstr>Practical 2: logistic regression walkthrough </vt:lpstr>
      <vt:lpstr>Validation &amp; Cross-Validation</vt:lpstr>
      <vt:lpstr>Practical 3: Image classification using logistic regression</vt:lpstr>
      <vt:lpstr>Reading</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Md Zahidul Islam</dc:creator>
  <cp:lastModifiedBy>Md Zahidul Islam</cp:lastModifiedBy>
  <cp:revision>369</cp:revision>
  <dcterms:created xsi:type="dcterms:W3CDTF">2026-08-04T00:11:14Z</dcterms:created>
  <dcterms:modified xsi:type="dcterms:W3CDTF">2026-08-26T06:59:47Z</dcterms:modified>
</cp:coreProperties>
</file>