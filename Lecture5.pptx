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6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1" r:id="rId6"/>
    <p:sldId id="262" r:id="rId7"/>
    <p:sldId id="298" r:id="rId8"/>
    <p:sldId id="264" r:id="rId9"/>
    <p:sldId id="299" r:id="rId10"/>
    <p:sldId id="29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12"/>
    <p:restoredTop sz="67891"/>
  </p:normalViewPr>
  <p:slideViewPr>
    <p:cSldViewPr snapToGrid="0">
      <p:cViewPr varScale="1">
        <p:scale>
          <a:sx n="80" d="100"/>
          <a:sy n="80" d="100"/>
        </p:scale>
        <p:origin x="1752" y="184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69E75-2F2A-4340-80BD-3C270EF90E93}" type="datetimeFigureOut">
              <a:rPr lang="en-US" smtClean="0"/>
              <a:t>8/24/26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A5E430-97AE-C04C-BB4B-47DC21A04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297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B5A2-0CD2-3E7C-F03B-CD10003DD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55386-3CD4-EC30-1E22-2B4B9695C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6C1B9-A913-C72D-6B29-7BE66BA305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D5F6B-F802-7E74-AD28-AF56D1B60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A5E430-97AE-C04C-BB4B-47DC21A043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33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54B33-49AB-59B7-1D49-F06B02442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F7E09E-5D29-5F98-F32E-F61A4517A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06D32-676F-FF93-322F-ADD30683F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B9C56-011D-C04C-43DD-B154BDB938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A5E430-97AE-C04C-BB4B-47DC21A043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2532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A5E430-97AE-C04C-BB4B-47DC21A043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17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10ABA-4290-90CD-CC55-F20491E40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F24B89-364B-EE61-91C7-B9F06B42CD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F63DC-9861-DCAD-6ABF-69C738D52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14E29-F2F6-0C59-6484-F3A7E29D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CAEEB-1E1D-36B5-14CA-0489A1229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2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AF66E-2238-2945-30ED-0D5D903A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16DA5-3118-31B7-4826-91DCF9749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64AF0-DB24-1918-D680-D607CC937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8A90F-2980-A2E6-466C-5402C1FC4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68EC3-A8B5-7BBB-739B-70BA6D09F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5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7C189-E67A-DEEB-8B84-7C335EFE0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4ED7FA-A772-AA86-E957-C377B2176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76E92-A603-E836-46A2-21459F703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73A2D-7527-2749-6AC2-791551C5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646D8-F5E0-55C9-DFA9-AE038A78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23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4EC26-3DD7-E942-7FD3-AD4642215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AE2B3-6415-0C9F-2B63-AAD8FE7CB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4849E-962A-A5CF-1EFF-A5D9F6D2D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A4F206-C4C3-7740-140B-91013CDD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950921-80EB-4B2D-95C6-1C999B360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F45F9-5E9B-8C6E-6D1D-0A82EC8FE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694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95D9A-3AD0-657C-C3CB-A50C2397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496E7-6FDA-8F23-1869-AFDF16E7D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1602A-B874-4D33-8037-C166D9D32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8C1A-755F-F467-FB5F-2740E9A8A6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968491-33EA-3F5E-3142-9D822916CD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F0A4D-B479-3C8E-68BA-F49180D7D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EA6669-6B95-0CBE-1D95-890C54EE8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4083EE-4D9B-D81A-FD71-5D6A16DD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772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6E9B-AD06-B997-1AE7-3073AFF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726203-6C54-59B6-ADFE-EA8A4741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E622D-800D-BD21-04BE-E0E9D2C39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3FC2C-3FA0-9A58-0F7D-02622CA35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367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F2467D-6BE5-9E50-E767-5B64065B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DD547-4603-D852-B1B3-A5C380C67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6508D-341E-E5BD-C22D-E2BF3A6A6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79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61ED0-75A3-6E0F-3006-4E70B9C7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213C3-01A6-E614-D555-D3BC4C59D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C72D1-C96F-3382-A48C-F0612B299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90C82-959E-DF3F-38A5-159F3E4EE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69977-4322-D261-2170-1A0B6CD76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B5F3-686B-5E91-86E8-81B85A122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304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30422-F15A-4C2C-3C8A-BB5AFE652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3BD814-F5EA-2E89-F8F7-F916825568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345475-4926-2118-0A8D-7E5E64E202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CE74AE-202B-63F1-CC92-B6A0B149A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385DEF-4986-D816-B5EC-52508C747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C0EB8-9FF8-3665-DFC3-2A23C436C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4349C-55F4-8DD2-B5B3-F25C3269E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61ACD-3ECA-19BE-9063-F5AAB3BE80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46CB2-8338-345D-B066-B1D7BFD27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EA996-1CE2-090B-003F-5B7EB5205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362C-DC52-130E-3EDD-CFC6E2487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68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7662E-7958-3ADE-A998-F33C75EF65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6EE86-C6DB-34C8-839F-4C05EA0D8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B12CF-5E36-6937-CC03-FD4DAFCCF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A791FE-5CDC-76E7-1D6A-CFFC7D502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481ADC-D743-398A-851E-E742E36C1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7831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9942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32BC51-9F87-6890-45C0-643E6F552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906F5-F306-E89C-5151-AA5BF69AA1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B21F-4F09-4E1F-433A-CF40F62B9D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909DE-CA0F-77A5-6135-84F8389D9B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56ADA-A62D-616A-836C-0D9BA5F7E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7" r:id="rId1"/>
    <p:sldLayoutId id="2147483848" r:id="rId2"/>
    <p:sldLayoutId id="2147483849" r:id="rId3"/>
    <p:sldLayoutId id="2147483850" r:id="rId4"/>
    <p:sldLayoutId id="2147483851" r:id="rId5"/>
    <p:sldLayoutId id="2147483852" r:id="rId6"/>
    <p:sldLayoutId id="2147483853" r:id="rId7"/>
    <p:sldLayoutId id="2147483854" r:id="rId8"/>
    <p:sldLayoutId id="2147483855" r:id="rId9"/>
    <p:sldLayoutId id="2147483856" r:id="rId10"/>
    <p:sldLayoutId id="2147483857" r:id="rId11"/>
    <p:sldLayoutId id="214748385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book.org/contents/ml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89241-48AD-583C-9840-CDD40301C0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F2094C-5F63-31E5-6117-5B63798264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4</a:t>
            </a:r>
          </a:p>
          <a:p>
            <a:r>
              <a:rPr lang="en-US" dirty="0"/>
              <a:t>Lecture 5 (17/08/2026)</a:t>
            </a:r>
          </a:p>
          <a:p>
            <a:r>
              <a:rPr lang="en-US" dirty="0"/>
              <a:t>0714 02 CSE 4239</a:t>
            </a:r>
          </a:p>
        </p:txBody>
      </p:sp>
    </p:spTree>
    <p:extLst>
      <p:ext uri="{BB962C8B-B14F-4D97-AF65-F5344CB8AC3E}">
        <p14:creationId xmlns:p14="http://schemas.microsoft.com/office/powerpoint/2010/main" val="3060475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ea typeface="Cambria" pitchFamily="34" charset="-122"/>
                <a:cs typeface="Cambria" pitchFamily="34" charset="-120"/>
              </a:rPr>
              <a:t>Seven Ideas That Set Up Deep Learning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63677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Learning Algorithms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947672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Task T, Performance P, Experience 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91640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32320" y="1636776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Capacity &amp; Generalization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0" y="1947672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Underfitting, overfitting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862072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62072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8072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Estimators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118104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Bias, variance, consistency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46520" y="2862072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862072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32320" y="28072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MLE &amp; Bayesian Inference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32320" y="3118104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Maximum likelihood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032504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032504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397764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Classic Algorithms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4288536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Logistic regression, SVMs, kernels, PCA, k-means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46520" y="4032504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4032504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32320" y="397764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Stochastic Gradient Descent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0" y="4288536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Scaling optimization to huge datasets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202936"/>
            <a:ext cx="502920" cy="502920"/>
          </a:xfrm>
          <a:prstGeom prst="ellipse">
            <a:avLst/>
          </a:prstGeom>
          <a:solidFill>
            <a:schemeClr val="bg2">
              <a:lumMod val="75000"/>
            </a:schemeClr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202936"/>
            <a:ext cx="502920" cy="5029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5148072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ea typeface="Cambria" pitchFamily="34" charset="-122"/>
                <a:cs typeface="Cambria" pitchFamily="34" charset="-120"/>
              </a:rPr>
              <a:t>Why Deep Learning?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34440" y="5458968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ea typeface="Calibri" pitchFamily="34" charset="-122"/>
                <a:cs typeface="Calibri" pitchFamily="34" charset="-120"/>
              </a:rPr>
              <a:t>Curse of dimensionality &amp; manifold learning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“Learns from experience E…”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10512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program is said to learn from experience E with respect to a class of tasks T and performance measure P, if its performance at tasks in T, as measured by P, improves with experience E.  — Mitchell (1997)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35204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337560"/>
            <a:ext cx="640080" cy="640080"/>
          </a:xfrm>
          <a:prstGeom prst="ellipse">
            <a:avLst/>
          </a:prstGeom>
          <a:solidFill>
            <a:srgbClr val="0B3D6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337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45262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does: classify, regress, transcribe, translate…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43400" y="3063240"/>
            <a:ext cx="35204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333756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3337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17720" y="45262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quantitative measure — accuracy, error rate, log-likelihood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138160" y="3063240"/>
            <a:ext cx="35204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3337560"/>
            <a:ext cx="640080" cy="64008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3337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4114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8412480" y="45262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the algorithm is allowed to see while learning</a:t>
            </a:r>
            <a:endParaRPr lang="en-US" sz="2000" dirty="0"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/>
              <p:nvPr/>
            </p:nvSpPr>
            <p:spPr>
              <a:xfrm>
                <a:off x="548640" y="658368"/>
                <a:ext cx="11064240" cy="8229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3200" b="1" dirty="0">
                    <a:solidFill>
                      <a:sysClr val="windowText" lastClr="000000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Many Tasks Reduce to a Function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" pitchFamily="34" charset="-122"/>
                        <a:cs typeface="Cambria" pitchFamily="34" charset="-120"/>
                      </a:rPr>
                      <m:t>𝒇</m:t>
                    </m:r>
                    <m:r>
                      <a:rPr lang="en-US" sz="3200" b="1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" pitchFamily="34" charset="-122"/>
                        <a:cs typeface="Cambria" pitchFamily="34" charset="-12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" pitchFamily="34" charset="-122"/>
                        <a:cs typeface="Cambria" pitchFamily="34" charset="-120"/>
                      </a:rPr>
                      <m:t>𝒙</m:t>
                    </m:r>
                    <m:r>
                      <a:rPr lang="en-US" sz="3200" b="1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" pitchFamily="34" charset="-122"/>
                        <a:cs typeface="Cambria" pitchFamily="34" charset="-120"/>
                      </a:rPr>
                      <m:t>)</m:t>
                    </m:r>
                  </m:oMath>
                </a14:m>
                <a:endParaRPr lang="en-US" sz="32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658368"/>
                <a:ext cx="11064240" cy="822960"/>
              </a:xfrm>
              <a:prstGeom prst="rect">
                <a:avLst/>
              </a:prstGeom>
              <a:blipFill>
                <a:blip r:embed="rId3"/>
                <a:stretch>
                  <a:fillRect l="-1376" t="-1060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hape 2"/>
          <p:cNvSpPr/>
          <p:nvPr/>
        </p:nvSpPr>
        <p:spPr>
          <a:xfrm>
            <a:off x="548640" y="169164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562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B3D6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29514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713232" y="2624328"/>
                <a:ext cx="2340864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𝑓</m:t>
                    </m:r>
                    <m:r>
                      <a:rPr lang="en-AU" sz="16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: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ℝ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ⁿ→{1,…,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𝑘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}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e.g. object recognition</a:t>
                </a:r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32" y="2624328"/>
                <a:ext cx="2340864" cy="777240"/>
              </a:xfrm>
              <a:prstGeom prst="rect">
                <a:avLst/>
              </a:prstGeom>
              <a:blipFill>
                <a:blip r:embed="rId4"/>
                <a:stretch>
                  <a:fillRect l="-1622" t="-161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3355848" y="169164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0440" y="18562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229514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3520440" y="2624328"/>
                <a:ext cx="2340864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𝑓</m:t>
                    </m:r>
                    <m:r>
                      <a:rPr lang="en-AU" sz="16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: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ℝ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ⁿ→</m:t>
                    </m:r>
                    <m:r>
                      <a:rPr lang="en-US" sz="160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ℝ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e.g. predicting a price</a:t>
                </a:r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0440" y="2624328"/>
                <a:ext cx="2340864" cy="777240"/>
              </a:xfrm>
              <a:prstGeom prst="rect">
                <a:avLst/>
              </a:prstGeom>
              <a:blipFill>
                <a:blip r:embed="rId5"/>
                <a:stretch>
                  <a:fillRect l="-1622" t="-1613" r="-324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6163056" y="169164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27648" y="18562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B3D62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27648" y="229514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Transcription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327648" y="2624328"/>
            <a:ext cx="23408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input → discrete text (OCR, speech)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970264" y="169164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34856" y="18562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134856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34856" y="229514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Translation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34856" y="2624328"/>
            <a:ext cx="23408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sequence → symbol sequence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221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B3D62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426110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3232" y="4590288"/>
            <a:ext cx="23408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a vector with internal structure (parsing)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55848" y="365760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20440" y="38221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3520440" y="38221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0440" y="426110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3520440" y="4590288"/>
            <a:ext cx="23408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atypical events, e.g. fraud detection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163056" y="365760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27648" y="38221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B3D62"/>
          </a:solidFill>
          <a:ln/>
        </p:spPr>
      </p:sp>
      <p:sp>
        <p:nvSpPr>
          <p:cNvPr id="36" name="Text 34"/>
          <p:cNvSpPr/>
          <p:nvPr/>
        </p:nvSpPr>
        <p:spPr>
          <a:xfrm>
            <a:off x="6327648" y="38221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27648" y="426110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Synthesis &amp; Sampling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6327648" y="4590288"/>
            <a:ext cx="23408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new examples resembling training data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970264" y="365760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134856" y="382219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41" name="Text 39"/>
          <p:cNvSpPr/>
          <p:nvPr/>
        </p:nvSpPr>
        <p:spPr>
          <a:xfrm>
            <a:off x="9134856" y="38221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134856" y="426110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Density Estimation</a:t>
            </a:r>
            <a:endParaRPr lang="en-US" sz="160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41"/>
              <p:cNvSpPr/>
              <p:nvPr/>
            </p:nvSpPr>
            <p:spPr>
              <a:xfrm>
                <a:off x="9134856" y="4590288"/>
                <a:ext cx="2340864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r>
                  <a:rPr lang="en-US" sz="1600" dirty="0">
                    <a:solidFill>
                      <a:sysClr val="windowText" lastClr="0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AU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1600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model</m:t>
                        </m:r>
                        <m:r>
                          <a:rPr lang="en-AU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 </m:t>
                        </m:r>
                      </m:sub>
                    </m:sSub>
                    <m:r>
                      <a:rPr lang="en-AU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AU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  <m:r>
                      <a:rPr lang="en-AU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itself,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16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AU" sz="16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1600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model</m:t>
                        </m:r>
                      </m:sub>
                    </m:sSub>
                    <m:r>
                      <a:rPr lang="en-AU" sz="160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≈</m:t>
                    </m:r>
                    <m:sSub>
                      <m:sSubPr>
                        <m:ctrlPr>
                          <a:rPr lang="en-AU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AU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1600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data</m:t>
                        </m:r>
                      </m:sub>
                    </m:sSub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3" name="Text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856" y="4590288"/>
                <a:ext cx="2340864" cy="777240"/>
              </a:xfrm>
              <a:prstGeom prst="rect">
                <a:avLst/>
              </a:prstGeom>
              <a:blipFill>
                <a:blip r:embed="rId6"/>
                <a:stretch>
                  <a:fillRect l="-1622" t="-161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P, and What E the Model Sees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480560"/>
          </a:xfrm>
          <a:prstGeom prst="roundRect">
            <a:avLst>
              <a:gd name="adj" fmla="val 1837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Measure, P</a:t>
            </a:r>
            <a:endParaRPr lang="en-US" sz="1700" dirty="0">
              <a:solidFill>
                <a:sysClr val="windowText" lastClr="00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/ transcription → accuracy or error rate (0–1 loss)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estimation → average log-probability assigned to examples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evaluated on a held-out test set — not the training data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P is often ambiguous: whole-sequence accuracy vs. partial credit? small errors vs. rare large ones?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4480560"/>
          </a:xfrm>
          <a:prstGeom prst="roundRect">
            <a:avLst>
              <a:gd name="adj" fmla="val 1837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ysClr val="windowText" lastClr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Experience, E: Supervised vs. Unsupervised</a:t>
            </a:r>
            <a:endParaRPr lang="en-US" sz="170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6492240" y="2377440"/>
                <a:ext cx="4846320" cy="35661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228600" indent="-228600">
                  <a:lnSpc>
                    <a:spcPct val="115000"/>
                  </a:lnSpc>
                  <a:spcAft>
                    <a:spcPts val="14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B27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Unsupervised: dataset of features only — learn </a:t>
                </a:r>
                <a14:m>
                  <m:oMath xmlns:m="http://schemas.openxmlformats.org/officeDocument/2006/math"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𝑝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1B27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or its structure (clustering, density estimation)</a:t>
                </a:r>
                <a:endParaRPr lang="en-US" dirty="0"/>
              </a:p>
              <a:p>
                <a:pPr marL="228600" indent="-228600">
                  <a:lnSpc>
                    <a:spcPct val="115000"/>
                  </a:lnSpc>
                  <a:spcAft>
                    <a:spcPts val="14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B27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Supervised: each example has a label/target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1B27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learn </a:t>
                </a:r>
                <a14:m>
                  <m:oMath xmlns:m="http://schemas.openxmlformats.org/officeDocument/2006/math"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𝑝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𝑦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endParaRPr lang="en-US" dirty="0"/>
              </a:p>
              <a:p>
                <a:pPr marL="228600" indent="-228600">
                  <a:lnSpc>
                    <a:spcPct val="115000"/>
                  </a:lnSpc>
                  <a:spcAft>
                    <a:spcPts val="14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B27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Not a rigid split: chain rule lets you convert one into the other, </a:t>
                </a:r>
                <a14:m>
                  <m:oMath xmlns:m="http://schemas.openxmlformats.org/officeDocument/2006/math"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𝑝</m:t>
                    </m:r>
                    <m:d>
                      <m:dPr>
                        <m:ctrlP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𝑥</m:t>
                        </m:r>
                      </m:e>
                    </m:d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</m:t>
                    </m:r>
                    <m:r>
                      <m:rPr>
                        <m:sty m:val="p"/>
                      </m:rPr>
                      <a:rPr lang="el-GR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Π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 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𝑝</m:t>
                    </m:r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(</m:t>
                    </m:r>
                    <m:sSub>
                      <m:sSubPr>
                        <m:ctrlP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𝑥</m:t>
                        </m:r>
                      </m:e>
                      <m:sub>
                        <m: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|</m:t>
                    </m:r>
                    <m:sSub>
                      <m:sSubPr>
                        <m:ctrlP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𝑥</m:t>
                        </m:r>
                      </m:e>
                      <m:sub>
                        <m: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&lt;</m:t>
                        </m:r>
                        <m:r>
                          <a:rPr lang="en-AU" b="0" i="1" smtClean="0">
                            <a:solidFill>
                              <a:srgbClr val="1B27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  <m:r>
                      <a:rPr lang="en-AU" b="0" i="1" smtClean="0">
                        <a:solidFill>
                          <a:srgbClr val="1B27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itchFamily="34" charset="-120"/>
                      </a:rPr>
                      <m:t>)</m:t>
                    </m:r>
                  </m:oMath>
                </a14:m>
                <a:endParaRPr lang="en-US" dirty="0"/>
              </a:p>
              <a:p>
                <a:pPr marL="228600" indent="-228600">
                  <a:lnSpc>
                    <a:spcPct val="115000"/>
                  </a:lnSpc>
                  <a:spcAft>
                    <a:spcPts val="14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B27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Reinforcement learning: agent interacts with an environment (beyond this chapter)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2377440"/>
                <a:ext cx="4846320" cy="3566160"/>
              </a:xfrm>
              <a:prstGeom prst="rect">
                <a:avLst/>
              </a:prstGeom>
              <a:blipFill>
                <a:blip r:embed="rId3"/>
                <a:stretch>
                  <a:fillRect l="-1047" r="-209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Linear Regression: A Minimal Learning Algorithm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Cost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822960" y="2331720"/>
                <a:ext cx="4846320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dirty="0"/>
                  <a:t>Prediction: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ŷ =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ᵀ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 (+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dirty="0"/>
                  <a:t>Loss (MSE):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𝑴𝑺𝑬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AU" b="1" i="1" dirty="0" smtClean="0">
                            <a:latin typeface="Cambria Math" panose="02040503050406030204" pitchFamily="18" charset="0"/>
                          </a:rPr>
                          <m:t>𝒎</m:t>
                        </m:r>
                      </m:den>
                    </m:f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‖ŷ −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‖²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dirty="0"/>
                  <a:t>Closed-form solution: 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ᵀ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)⁻¹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ᵀ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331720"/>
                <a:ext cx="4846320" cy="1737360"/>
              </a:xfrm>
              <a:prstGeom prst="rect">
                <a:avLst/>
              </a:prstGeom>
              <a:blipFill>
                <a:blip r:embed="rId3"/>
                <a:stretch>
                  <a:fillRect l="-104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6217920" y="1691640"/>
            <a:ext cx="539496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8E1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Recipe Preview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6492240" y="2331720"/>
                <a:ext cx="4846320" cy="36576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228600" indent="-228600">
                  <a:lnSpc>
                    <a:spcPct val="115000"/>
                  </a:lnSpc>
                  <a:spcAft>
                    <a:spcPts val="1200"/>
                  </a:spcAft>
                  <a:buSzPct val="100000"/>
                  <a:buChar char="•"/>
                </a:pPr>
                <a:r>
                  <a:rPr lang="en-US" sz="16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Dataset</a:t>
                </a: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𝑋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pairs</a:t>
                </a:r>
                <a:endParaRPr lang="en-US" sz="1600" dirty="0"/>
              </a:p>
              <a:p>
                <a:pPr marL="228600" indent="-228600">
                  <a:lnSpc>
                    <a:spcPct val="115000"/>
                  </a:lnSpc>
                  <a:spcAft>
                    <a:spcPts val="1200"/>
                  </a:spcAft>
                  <a:buSzPct val="100000"/>
                  <a:buChar char="•"/>
                </a:pPr>
                <a:r>
                  <a:rPr lang="en-US" sz="16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Model</a:t>
                </a: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ᵀ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(+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𝑏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 </m:t>
                    </m:r>
                  </m:oMath>
                </a14:m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— a hypothesis space of linear functions</a:t>
                </a:r>
                <a:endParaRPr lang="en-US" sz="1600" dirty="0"/>
              </a:p>
              <a:p>
                <a:pPr marL="228600" indent="-228600">
                  <a:lnSpc>
                    <a:spcPct val="115000"/>
                  </a:lnSpc>
                  <a:spcAft>
                    <a:spcPts val="1200"/>
                  </a:spcAft>
                  <a:buSzPct val="100000"/>
                  <a:buChar char="•"/>
                </a:pPr>
                <a:r>
                  <a:rPr lang="en-US" sz="16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Cost function</a:t>
                </a: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mean squared error on training data</a:t>
                </a:r>
                <a:endParaRPr lang="en-US" sz="1600" dirty="0"/>
              </a:p>
              <a:p>
                <a:pPr marL="228600" indent="-228600">
                  <a:lnSpc>
                    <a:spcPct val="115000"/>
                  </a:lnSpc>
                  <a:spcAft>
                    <a:spcPts val="1200"/>
                  </a:spcAft>
                  <a:buSzPct val="100000"/>
                  <a:buChar char="•"/>
                </a:pPr>
                <a:r>
                  <a:rPr lang="en-US" sz="16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Optimizer</a:t>
                </a: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solve for zero gradient in closed form</a:t>
                </a:r>
                <a:endParaRPr lang="en-US" sz="1600" dirty="0"/>
              </a:p>
              <a:p>
                <a:pPr marL="228600" indent="-228600">
                  <a:lnSpc>
                    <a:spcPct val="115000"/>
                  </a:lnSpc>
                  <a:spcAft>
                    <a:spcPts val="1200"/>
                  </a:spcAft>
                  <a:buSzPct val="100000"/>
                  <a:buChar char="•"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Adding weight decay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𝜆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𝑤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ᵀ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𝑤</m:t>
                    </m:r>
                  </m:oMath>
                </a14:m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trades training fit for smaller weights — our first taste of regularization</a:t>
                </a:r>
                <a:endParaRPr lang="en-US" sz="16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2240" y="2331720"/>
                <a:ext cx="4846320" cy="3657600"/>
              </a:xfrm>
              <a:prstGeom prst="rect">
                <a:avLst/>
              </a:prstGeom>
              <a:blipFill>
                <a:blip r:embed="rId4"/>
                <a:stretch>
                  <a:fillRect l="-7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9D985-868F-3980-6D48-A26BF98F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E849-F552-C045-0829-E6808D08D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Linear regression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2A4F9ED-B35A-9546-BF81-81E9856E62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37684" y="1690688"/>
            <a:ext cx="7872833" cy="38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91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Training Error Is Not the Goal — Test Error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39" y="1737359"/>
            <a:ext cx="5486399" cy="47791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Training error: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computed and minimized on the training set — this alone is just optimization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(test) error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expected error on new, unseen inputs from the same data-generating distribution</a:t>
            </a:r>
            <a:endParaRPr lang="en-US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i.i.d. assumptions: train &amp; test examples are independent and identically distributed, drawn from data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Two levers control performance: </a:t>
            </a:r>
          </a:p>
          <a:p>
            <a:pPr marL="685800" lvl="1" indent="-228600"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(1) make training error small, </a:t>
            </a:r>
          </a:p>
          <a:p>
            <a:pPr marL="685800" lvl="1" indent="-228600"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(2) keep the train–test gap small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126480" y="173736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0" y="19202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Two Failure Modes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4231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95160" y="23774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Underfitting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95160" y="2715768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Model can't even fit the training data — capacity too low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400800" y="3794760"/>
            <a:ext cx="457200" cy="45720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95160" y="37490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95160" y="4087368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Model memorizes training quirks that don't generalize — capacity too high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00800" y="49834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Capacity</a:t>
            </a: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informally, the range of functions a model can represent — controlled by the hypothesis space (e.g. polynomial degree).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D2E73-2480-76FB-35A3-8367E72DD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69A2A-28E1-DEE9-E236-9693B1459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U" b="1" dirty="0"/>
              <a:t>Underfitting and Overfitting in Polynomial Estimation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ADF2C5D-3E73-E242-9899-BC4995DC45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39880" y="1995433"/>
            <a:ext cx="7889254" cy="3712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98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B81C9-0A22-0157-1144-28B1BA73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1A941-137C-2013-A61A-F652AA8FE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2AC0B-64AA-4C68-C86C-F1FC2414A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766"/>
            <a:ext cx="10515600" cy="5303234"/>
          </a:xfrm>
        </p:spPr>
        <p:txBody>
          <a:bodyPr>
            <a:normAutofit/>
          </a:bodyPr>
          <a:lstStyle/>
          <a:p>
            <a:r>
              <a:rPr lang="en-AU" sz="2000" dirty="0"/>
              <a:t>Deep learning book</a:t>
            </a:r>
          </a:p>
          <a:p>
            <a:pPr lvl="1"/>
            <a:r>
              <a:rPr lang="en-AU" sz="1600" dirty="0"/>
              <a:t>Chapter 5: </a:t>
            </a:r>
            <a:r>
              <a:rPr lang="en-AU" sz="1600" dirty="0">
                <a:hlinkClick r:id="rId3"/>
              </a:rPr>
              <a:t>https://www.deeplearningbook.org/contents/ml.html</a:t>
            </a:r>
            <a:endParaRPr lang="en-AU" sz="1600" dirty="0"/>
          </a:p>
          <a:p>
            <a:pPr lvl="1"/>
            <a:endParaRPr lang="en-AU" sz="1600" dirty="0"/>
          </a:p>
          <a:p>
            <a:endParaRPr lang="en-AU" sz="2000" dirty="0"/>
          </a:p>
          <a:p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4132124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7863</TotalTime>
  <Words>730</Words>
  <Application>Microsoft Macintosh PowerPoint</Application>
  <PresentationFormat>Widescreen</PresentationFormat>
  <Paragraphs>114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</vt:lpstr>
      <vt:lpstr>Cambria Math</vt:lpstr>
      <vt:lpstr>Office Theme</vt:lpstr>
      <vt:lpstr>COMPUTER VISION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Linear regression</vt:lpstr>
      <vt:lpstr>PowerPoint Presentation</vt:lpstr>
      <vt:lpstr>Underfitting and Overfitting in Polynomial Estimation</vt:lpstr>
      <vt:lpstr>Reading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Zahidul Islam</dc:creator>
  <cp:lastModifiedBy>Md Zahidul Islam</cp:lastModifiedBy>
  <cp:revision>311</cp:revision>
  <dcterms:created xsi:type="dcterms:W3CDTF">2026-08-04T00:11:14Z</dcterms:created>
  <dcterms:modified xsi:type="dcterms:W3CDTF">2026-08-24T08:45:07Z</dcterms:modified>
</cp:coreProperties>
</file>