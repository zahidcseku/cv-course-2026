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6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1" r:id="rId6"/>
    <p:sldId id="262" r:id="rId7"/>
    <p:sldId id="298" r:id="rId8"/>
    <p:sldId id="264" r:id="rId9"/>
    <p:sldId id="299" r:id="rId10"/>
    <p:sldId id="300" r:id="rId11"/>
    <p:sldId id="301" r:id="rId12"/>
    <p:sldId id="274" r:id="rId13"/>
    <p:sldId id="275" r:id="rId14"/>
    <p:sldId id="29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36"/>
    <p:restoredTop sz="67978"/>
  </p:normalViewPr>
  <p:slideViewPr>
    <p:cSldViewPr snapToGrid="0">
      <p:cViewPr>
        <p:scale>
          <a:sx n="90" d="100"/>
          <a:sy n="90" d="100"/>
        </p:scale>
        <p:origin x="424" y="144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69E75-2F2A-4340-80BD-3C270EF90E93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5E430-97AE-C04C-BB4B-47DC21A04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9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1B5A2-0CD2-3E7C-F03B-CD10003DD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55386-3CD4-EC30-1E22-2B4B9695C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6C1B9-A913-C72D-6B29-7BE66BA30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D5F6B-F802-7E74-AD28-AF56D1B60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33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54B33-49AB-59B7-1D49-F06B02442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7E09E-5D29-5F98-F32E-F61A4517A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506D32-676F-FF93-322F-ADD30683F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B9C56-011D-C04C-43DD-B154BDB93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2532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 zone: both errors high</a:t>
            </a:r>
            <a:endParaRPr lang="en-US" sz="10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zone: gap between train &amp; generalization error widens</a:t>
            </a:r>
            <a:endParaRPr lang="en-US" sz="10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Lunch theorem: averaged over all possible tasks, no algorithm beats any other — we must pick a capacity fit to the task</a:t>
            </a:r>
            <a:endParaRPr lang="en-US" sz="10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87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781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17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10ABA-4290-90CD-CC55-F20491E40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24B89-364B-EE61-91C7-B9F06B42C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F63DC-9861-DCAD-6ABF-69C738D52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14E29-F2F6-0C59-6484-F3A7E29D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CAEEB-1E1D-36B5-14CA-0489A1229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20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F66E-2238-2945-30ED-0D5D903A9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16DA5-3118-31B7-4826-91DCF9749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64AF0-DB24-1918-D680-D607CC93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8A90F-2980-A2E6-466C-5402C1FC4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68EC3-A8B5-7BBB-739B-70BA6D09F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85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7C189-E67A-DEEB-8B84-7C335EFE0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ED7FA-A772-AA86-E957-C377B2176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76E92-A603-E836-46A2-21459F703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73A2D-7527-2749-6AC2-791551C54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646D8-F5E0-55C9-DFA9-AE038A78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2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4EC26-3DD7-E942-7FD3-AD4642215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AE2B3-6415-0C9F-2B63-AAD8FE7C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4849E-962A-A5CF-1EFF-A5D9F6D2D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4F206-C4C3-7740-140B-91013CDD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50921-80EB-4B2D-95C6-1C999B360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F45F9-5E9B-8C6E-6D1D-0A82EC8F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694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95D9A-3AD0-657C-C3CB-A50C23979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496E7-6FDA-8F23-1869-AFDF16E7D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1602A-B874-4D33-8037-C166D9D32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8C1A-755F-F467-FB5F-2740E9A8A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968491-33EA-3F5E-3142-9D822916C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F0A4D-B479-3C8E-68BA-F49180D7D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EA6669-6B95-0CBE-1D95-890C54EE8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4083EE-4D9B-D81A-FD71-5D6A16DDF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77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E6E9B-AD06-B997-1AE7-3073AFFCB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726203-6C54-59B6-ADFE-EA8A4741E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E622D-800D-BD21-04BE-E0E9D2C3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3FC2C-3FA0-9A58-0F7D-02622CA35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367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F2467D-6BE5-9E50-E767-5B64065B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5DD547-4603-D852-B1B3-A5C380C67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6508D-341E-E5BD-C22D-E2BF3A6A6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79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61ED0-75A3-6E0F-3006-4E70B9C79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213C3-01A6-E614-D555-D3BC4C59D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C72D1-C96F-3382-A48C-F0612B299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90C82-959E-DF3F-38A5-159F3E4EE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69977-4322-D261-2170-1A0B6CD76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B5F3-686B-5E91-86E8-81B85A122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304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0422-F15A-4C2C-3C8A-BB5AFE652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3BD814-F5EA-2E89-F8F7-F91682556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45475-4926-2118-0A8D-7E5E64E20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E74AE-202B-63F1-CC92-B6A0B149A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85DEF-4986-D816-B5EC-52508C747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C0EB8-9FF8-3665-DFC3-2A23C436C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349C-55F4-8DD2-B5B3-F25C3269E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61ACD-3ECA-19BE-9063-F5AAB3BE8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46CB2-8338-345D-B066-B1D7BFD27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EA996-1CE2-090B-003F-5B7EB5205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D362C-DC52-130E-3EDD-CFC6E2487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6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A7662E-7958-3ADE-A998-F33C75EF6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26EE86-C6DB-34C8-839F-4C05EA0D8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B12CF-5E36-6937-CC03-FD4DAFCC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791FE-5CDC-76E7-1D6A-CFFC7D502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81ADC-D743-398A-851E-E742E36C1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7831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94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2BC51-9F87-6890-45C0-643E6F552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906F5-F306-E89C-5151-AA5BF69AA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6B21F-4F09-4E1F-433A-CF40F62B9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909DE-CA0F-77A5-6135-84F8389D9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56ADA-A62D-616A-836C-0D9BA5F7E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eplearningbook.org/contents/ml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9241-48AD-583C-9840-CDD40301C0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COMPUTER 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2094C-5F63-31E5-6117-5B63798264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4</a:t>
            </a:r>
          </a:p>
          <a:p>
            <a:r>
              <a:rPr lang="en-US" dirty="0"/>
              <a:t>Lecture 5 (17/08/2026)</a:t>
            </a:r>
          </a:p>
          <a:p>
            <a:r>
              <a:rPr lang="en-US" dirty="0"/>
              <a:t>0714 02 CSE 4239</a:t>
            </a:r>
          </a:p>
        </p:txBody>
      </p:sp>
    </p:spTree>
    <p:extLst>
      <p:ext uri="{BB962C8B-B14F-4D97-AF65-F5344CB8AC3E}">
        <p14:creationId xmlns:p14="http://schemas.microsoft.com/office/powerpoint/2010/main" val="3060475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ea typeface="Cambria" pitchFamily="34" charset="-122"/>
                <a:cs typeface="Cambria" pitchFamily="34" charset="-120"/>
              </a:rPr>
              <a:t>Seven Ideas That Set Up Deep Learning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chemeClr val="bg2">
              <a:lumMod val="75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3677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ea typeface="Cambria" pitchFamily="34" charset="-122"/>
                <a:cs typeface="Cambria" pitchFamily="34" charset="-120"/>
              </a:rPr>
              <a:t>Learning Algorithms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94767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Task T, Performance P, Experience 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chemeClr val="bg2">
              <a:lumMod val="75000"/>
            </a:schemeClr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691640"/>
            <a:ext cx="502920" cy="50292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0" y="163677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ea typeface="Cambria" pitchFamily="34" charset="-122"/>
                <a:cs typeface="Cambria" pitchFamily="34" charset="-120"/>
              </a:rPr>
              <a:t>Capacity &amp; Generalization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0" y="194767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Underfitting, overfitting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862072"/>
            <a:ext cx="502920" cy="502920"/>
          </a:xfrm>
          <a:prstGeom prst="ellipse">
            <a:avLst/>
          </a:prstGeom>
          <a:solidFill>
            <a:schemeClr val="bg2">
              <a:lumMod val="75000"/>
            </a:scheme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62072"/>
            <a:ext cx="502920" cy="50292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80720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ea typeface="Cambria" pitchFamily="34" charset="-122"/>
                <a:cs typeface="Cambria" pitchFamily="34" charset="-120"/>
              </a:rPr>
              <a:t>Estimators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11810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Bias, variance, consistency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46520" y="2862072"/>
            <a:ext cx="502920" cy="502920"/>
          </a:xfrm>
          <a:prstGeom prst="ellipse">
            <a:avLst/>
          </a:prstGeom>
          <a:solidFill>
            <a:schemeClr val="bg2">
              <a:lumMod val="75000"/>
            </a:schemeClr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862072"/>
            <a:ext cx="502920" cy="50292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280720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ea typeface="Cambria" pitchFamily="34" charset="-122"/>
                <a:cs typeface="Cambria" pitchFamily="34" charset="-120"/>
              </a:rPr>
              <a:t>MLE &amp; Bayesian Inference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0" y="311810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Maximum likelihood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032504"/>
            <a:ext cx="502920" cy="502920"/>
          </a:xfrm>
          <a:prstGeom prst="ellipse">
            <a:avLst/>
          </a:prstGeom>
          <a:solidFill>
            <a:schemeClr val="bg2">
              <a:lumMod val="75000"/>
            </a:schemeClr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32504"/>
            <a:ext cx="502920" cy="50292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3977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ea typeface="Cambria" pitchFamily="34" charset="-122"/>
                <a:cs typeface="Cambria" pitchFamily="34" charset="-120"/>
              </a:rPr>
              <a:t>Classic Algorithms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428853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Logistic regression, SVMs, kernels, PCA, k-means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46520" y="4032504"/>
            <a:ext cx="502920" cy="502920"/>
          </a:xfrm>
          <a:prstGeom prst="ellipse">
            <a:avLst/>
          </a:prstGeom>
          <a:solidFill>
            <a:schemeClr val="bg2">
              <a:lumMod val="75000"/>
            </a:schemeClr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4032504"/>
            <a:ext cx="502920" cy="50292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2320" y="3977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ea typeface="Cambria" pitchFamily="34" charset="-122"/>
                <a:cs typeface="Cambria" pitchFamily="34" charset="-120"/>
              </a:rPr>
              <a:t>Stochastic Gradient Descent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32320" y="428853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Scaling optimization to huge datasets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5202936"/>
            <a:ext cx="502920" cy="502920"/>
          </a:xfrm>
          <a:prstGeom prst="ellipse">
            <a:avLst/>
          </a:prstGeom>
          <a:solidFill>
            <a:schemeClr val="bg2">
              <a:lumMod val="75000"/>
            </a:schemeClr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202936"/>
            <a:ext cx="502920" cy="50292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34440" y="514807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ea typeface="Cambria" pitchFamily="34" charset="-122"/>
                <a:cs typeface="Cambria" pitchFamily="34" charset="-120"/>
              </a:rPr>
              <a:t>Why Deep Learning?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34440" y="545896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Curse of dimensionality &amp; manifold learning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“Learns from experience E…”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10512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program is said to learn from experience E with respect to a class of tasks T and performance measure P, if its performance at tasks in T, as measured by P, improves with experience E.  — Mitchell (1997)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337560"/>
            <a:ext cx="640080" cy="64008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ysClr val="windowText" lastClr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800" dirty="0">
              <a:solidFill>
                <a:sysClr val="windowText" lastClr="00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does: classify, regress, transcribe, translate…</a:t>
            </a:r>
            <a:endParaRPr lang="en-US" sz="2000" dirty="0">
              <a:solidFill>
                <a:sysClr val="windowText" lastClr="00000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43400" y="306324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3337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41148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ysClr val="windowText" lastClr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800" dirty="0">
              <a:solidFill>
                <a:sysClr val="windowText" lastClr="00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17720" y="45262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quantitative measure — accuracy, error rate, log-likelihood</a:t>
            </a:r>
            <a:endParaRPr lang="en-US" sz="2000" dirty="0">
              <a:solidFill>
                <a:sysClr val="windowText" lastClr="00000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38160" y="306324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3337560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41148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ysClr val="windowText" lastClr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1800" dirty="0">
              <a:solidFill>
                <a:sysClr val="windowText" lastClr="00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12480" y="45262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the algorithm is allowed to see while learning</a:t>
            </a:r>
            <a:endParaRPr lang="en-US" sz="2000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1"/>
              <p:cNvSpPr/>
              <p:nvPr/>
            </p:nvSpPr>
            <p:spPr>
              <a:xfrm>
                <a:off x="548640" y="658368"/>
                <a:ext cx="11064240" cy="8229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3200" b="1" dirty="0">
                    <a:solidFill>
                      <a:sysClr val="windowText" lastClr="000000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Many Tasks Reduce to a Function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𝒇</m:t>
                    </m:r>
                    <m:r>
                      <a:rPr lang="en-US" sz="3200" b="1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(</m:t>
                    </m:r>
                    <m:r>
                      <a:rPr lang="en-US" sz="3200" b="1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𝒙</m:t>
                    </m:r>
                    <m:r>
                      <a:rPr lang="en-US" sz="3200" b="1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)</m:t>
                    </m:r>
                  </m:oMath>
                </a14:m>
                <a:endParaRPr lang="en-US" sz="32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3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658368"/>
                <a:ext cx="11064240" cy="822960"/>
              </a:xfrm>
              <a:prstGeom prst="rect">
                <a:avLst/>
              </a:prstGeom>
              <a:blipFill>
                <a:blip r:embed="rId3"/>
                <a:stretch>
                  <a:fillRect l="-1376" t="-106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548640" y="1691640"/>
            <a:ext cx="267004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562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295144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ysClr val="windowText" lastClr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60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713232" y="2624328"/>
                <a:ext cx="2340864" cy="77724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𝑓</m:t>
                    </m:r>
                    <m:r>
                      <a:rPr lang="en-AU" sz="16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:</m:t>
                    </m:r>
                    <m:r>
                      <a:rPr lang="en-US" sz="16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ℝ</m:t>
                    </m:r>
                    <m:r>
                      <a:rPr lang="en-US" sz="16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ⁿ→{</m:t>
                    </m:r>
                    <m:r>
                      <a:rPr lang="en-US" sz="16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1,…,</m:t>
                    </m:r>
                    <m:r>
                      <a:rPr lang="en-US" sz="16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𝑘</m:t>
                    </m:r>
                    <m:r>
                      <a:rPr lang="en-US" sz="16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}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; e.g. object recognition</a:t>
                </a:r>
                <a:endParaRPr lang="en-US" sz="16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32" y="2624328"/>
                <a:ext cx="2340864" cy="777240"/>
              </a:xfrm>
              <a:prstGeom prst="rect">
                <a:avLst/>
              </a:prstGeom>
              <a:blipFill>
                <a:blip r:embed="rId4"/>
                <a:stretch>
                  <a:fillRect l="-1622" t="-161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3355848" y="1691640"/>
            <a:ext cx="267004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8562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295144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ysClr val="windowText" lastClr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60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11"/>
              <p:cNvSpPr/>
              <p:nvPr/>
            </p:nvSpPr>
            <p:spPr>
              <a:xfrm>
                <a:off x="3520440" y="2624328"/>
                <a:ext cx="2340864" cy="77724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𝑓</m:t>
                    </m:r>
                    <m:r>
                      <a:rPr lang="en-AU" sz="16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:</m:t>
                    </m:r>
                    <m:r>
                      <a:rPr lang="en-US" sz="16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ℝ</m:t>
                    </m:r>
                    <m:r>
                      <a:rPr lang="en-US" sz="16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ⁿ→</m:t>
                    </m:r>
                    <m:r>
                      <a:rPr lang="en-US" sz="16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ℝ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; e.g. predicting a price</a:t>
                </a:r>
                <a:endParaRPr lang="en-US" sz="16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440" y="2624328"/>
                <a:ext cx="2340864" cy="777240"/>
              </a:xfrm>
              <a:prstGeom prst="rect">
                <a:avLst/>
              </a:prstGeom>
              <a:blipFill>
                <a:blip r:embed="rId5"/>
                <a:stretch>
                  <a:fillRect l="-1622" t="-1613" r="-324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6163056" y="1691640"/>
            <a:ext cx="267004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27648" y="18562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62"/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7648" y="2295144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ysClr val="windowText" lastClr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Transcription</a:t>
            </a:r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27648" y="2624328"/>
            <a:ext cx="23408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input → discrete text (OCR, speech)</a:t>
            </a:r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970264" y="1691640"/>
            <a:ext cx="267004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34856" y="18562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134856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34856" y="2295144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ysClr val="windowText" lastClr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Translation</a:t>
            </a:r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34856" y="2624328"/>
            <a:ext cx="23408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sequence → symbol sequence</a:t>
            </a:r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67004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38221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62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822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" y="4261104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ysClr val="windowText" lastClr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</a:t>
            </a:r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13232" y="4590288"/>
            <a:ext cx="23408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vector with internal structure (parsing)</a:t>
            </a:r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355848" y="3657600"/>
            <a:ext cx="267004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20440" y="38221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3822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20440" y="4261104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ysClr val="windowText" lastClr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</a:t>
            </a:r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3520440" y="4590288"/>
            <a:ext cx="23408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atypical events, e.g. fraud detection</a:t>
            </a:r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163056" y="3657600"/>
            <a:ext cx="267004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27648" y="38221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3D62"/>
          </a:solidFill>
          <a:ln/>
        </p:spPr>
      </p:sp>
      <p:sp>
        <p:nvSpPr>
          <p:cNvPr id="36" name="Text 34"/>
          <p:cNvSpPr/>
          <p:nvPr/>
        </p:nvSpPr>
        <p:spPr>
          <a:xfrm>
            <a:off x="6327648" y="3822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27648" y="4261104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ysClr val="windowText" lastClr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Sampling</a:t>
            </a:r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27648" y="4590288"/>
            <a:ext cx="23408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new examples resembling training data</a:t>
            </a:r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970264" y="3657600"/>
            <a:ext cx="267004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34856" y="38221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9134856" y="3822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134856" y="4261104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ysClr val="windowText" lastClr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Density Estimation</a:t>
            </a:r>
            <a:endParaRPr lang="en-US" sz="160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 41"/>
              <p:cNvSpPr/>
              <p:nvPr/>
            </p:nvSpPr>
            <p:spPr>
              <a:xfrm>
                <a:off x="9134856" y="4590288"/>
                <a:ext cx="2340864" cy="77724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r>
                  <a:rPr lang="en-US" sz="1600" dirty="0">
                    <a:solidFill>
                      <a:sysClr val="windowText" lastClr="00000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Learn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AU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1600" b="0" i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model</m:t>
                        </m:r>
                        <m:r>
                          <a:rPr lang="en-AU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</m:sub>
                    </m:sSub>
                    <m:r>
                      <a:rPr lang="en-AU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en-AU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𝑥</m:t>
                    </m:r>
                    <m:r>
                      <a:rPr lang="en-AU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itself, 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AU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1600" b="0" i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model</m:t>
                        </m:r>
                      </m:sub>
                    </m:sSub>
                    <m:r>
                      <a:rPr lang="en-AU" sz="160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itchFamily="34" charset="-120"/>
                      </a:rPr>
                      <m:t>≈</m:t>
                    </m:r>
                    <m:sSub>
                      <m:sSubPr>
                        <m:ctrlPr>
                          <a:rPr lang="en-AU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AU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1600" b="0" i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data</m:t>
                        </m:r>
                      </m:sub>
                    </m:sSub>
                  </m:oMath>
                </a14:m>
                <a:endParaRPr lang="en-US" sz="16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43" name="Text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4856" y="4590288"/>
                <a:ext cx="2340864" cy="777240"/>
              </a:xfrm>
              <a:prstGeom prst="rect">
                <a:avLst/>
              </a:prstGeom>
              <a:blipFill>
                <a:blip r:embed="rId6"/>
                <a:stretch>
                  <a:fillRect l="-1622" t="-161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ysClr val="windowText" lastClr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P, and What E the Model Sees</a:t>
            </a:r>
            <a:endParaRPr lang="en-US" sz="3200" dirty="0">
              <a:solidFill>
                <a:sysClr val="windowText" lastClr="00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ysClr val="windowText" lastClr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Measure, P</a:t>
            </a:r>
            <a:endParaRPr lang="en-US" sz="1700" dirty="0">
              <a:solidFill>
                <a:sysClr val="windowText" lastClr="00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/ transcription → accuracy or error rate (0–1 loss)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estimation → average log-probability assigned to examples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evaluated on a held-out test set — not the training data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P is often ambiguous: whole-sequence accuracy vs. partial credit? small errors vs. rare large ones?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ysClr val="windowText" lastClr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Experience, E: Supervised vs. Unsupervised</a:t>
            </a:r>
            <a:endParaRPr lang="en-US" sz="170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6492240" y="2377440"/>
                <a:ext cx="4846320" cy="35661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228600" indent="-228600">
                  <a:lnSpc>
                    <a:spcPct val="115000"/>
                  </a:lnSpc>
                  <a:spcAft>
                    <a:spcPts val="1400"/>
                  </a:spcAft>
                  <a:buSzPct val="100000"/>
                  <a:buChar char="•"/>
                </a:pPr>
                <a:r>
                  <a:rPr lang="en-US" dirty="0">
                    <a:solidFill>
                      <a:srgbClr val="1B27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Unsupervised: dataset of features only — learn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1B27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𝑝</m:t>
                    </m:r>
                    <m:r>
                      <a:rPr lang="en-AU" b="0" i="1" smtClean="0">
                        <a:solidFill>
                          <a:srgbClr val="1B27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en-AU" b="0" i="1" smtClean="0">
                        <a:solidFill>
                          <a:srgbClr val="1B27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𝑥</m:t>
                    </m:r>
                    <m:r>
                      <a:rPr lang="en-AU" b="0" i="1" smtClean="0">
                        <a:solidFill>
                          <a:srgbClr val="1B27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1B27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or its structure (clustering, density estimation)</a:t>
                </a:r>
                <a:endParaRPr lang="en-US" dirty="0"/>
              </a:p>
              <a:p>
                <a:pPr marL="228600" indent="-228600">
                  <a:lnSpc>
                    <a:spcPct val="115000"/>
                  </a:lnSpc>
                  <a:spcAft>
                    <a:spcPts val="1400"/>
                  </a:spcAft>
                  <a:buSzPct val="100000"/>
                  <a:buChar char="•"/>
                </a:pPr>
                <a:r>
                  <a:rPr lang="en-US" dirty="0">
                    <a:solidFill>
                      <a:srgbClr val="1B27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Supervised: each example has a label/target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B27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1B27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— learn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1B27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𝑝</m:t>
                    </m:r>
                    <m:r>
                      <a:rPr lang="en-AU" b="0" i="1" smtClean="0">
                        <a:solidFill>
                          <a:srgbClr val="1B27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en-AU" b="0" i="1" smtClean="0">
                        <a:solidFill>
                          <a:srgbClr val="1B27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𝑦</m:t>
                    </m:r>
                    <m:r>
                      <a:rPr lang="en-AU" b="0" i="1" smtClean="0">
                        <a:solidFill>
                          <a:srgbClr val="1B27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|</m:t>
                    </m:r>
                    <m:r>
                      <a:rPr lang="en-AU" b="0" i="1" smtClean="0">
                        <a:solidFill>
                          <a:srgbClr val="1B27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𝑥</m:t>
                    </m:r>
                    <m:r>
                      <a:rPr lang="en-AU" b="0" i="1" smtClean="0">
                        <a:solidFill>
                          <a:srgbClr val="1B27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</m:t>
                    </m:r>
                  </m:oMath>
                </a14:m>
                <a:endParaRPr lang="en-US" dirty="0"/>
              </a:p>
              <a:p>
                <a:pPr marL="228600" indent="-228600">
                  <a:lnSpc>
                    <a:spcPct val="115000"/>
                  </a:lnSpc>
                  <a:spcAft>
                    <a:spcPts val="1400"/>
                  </a:spcAft>
                  <a:buSzPct val="100000"/>
                  <a:buChar char="•"/>
                </a:pPr>
                <a:r>
                  <a:rPr lang="en-US" dirty="0">
                    <a:solidFill>
                      <a:srgbClr val="1B27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Not a rigid split: chain rule lets you convert one into the other,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1B27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𝑝</m:t>
                    </m:r>
                    <m:d>
                      <m:dPr>
                        <m:ctrlPr>
                          <a:rPr lang="en-AU" b="0" i="1" smtClean="0">
                            <a:solidFill>
                              <a:srgbClr val="1B2733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en-AU" b="0" i="1" smtClean="0">
                            <a:solidFill>
                              <a:srgbClr val="1B2733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𝑥</m:t>
                        </m:r>
                      </m:e>
                    </m:d>
                    <m:r>
                      <a:rPr lang="en-AU" b="0" i="1" smtClean="0">
                        <a:solidFill>
                          <a:srgbClr val="1B2733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r>
                      <m:rPr>
                        <m:sty m:val="p"/>
                      </m:rPr>
                      <a:rPr lang="el-GR" b="0" i="1" smtClean="0">
                        <a:solidFill>
                          <a:srgbClr val="1B273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itchFamily="34" charset="-120"/>
                      </a:rPr>
                      <m:t>Π</m:t>
                    </m:r>
                    <m:r>
                      <a:rPr lang="en-AU" b="0" i="1" smtClean="0">
                        <a:solidFill>
                          <a:srgbClr val="1B273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itchFamily="34" charset="-120"/>
                      </a:rPr>
                      <m:t> </m:t>
                    </m:r>
                    <m:r>
                      <a:rPr lang="en-AU" b="0" i="1" smtClean="0">
                        <a:solidFill>
                          <a:srgbClr val="1B273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itchFamily="34" charset="-120"/>
                      </a:rPr>
                      <m:t>𝑝</m:t>
                    </m:r>
                    <m:r>
                      <a:rPr lang="en-AU" b="0" i="1" smtClean="0">
                        <a:solidFill>
                          <a:srgbClr val="1B273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itchFamily="34" charset="-120"/>
                      </a:rPr>
                      <m:t>(</m:t>
                    </m:r>
                    <m:sSub>
                      <m:sSubPr>
                        <m:ctrlPr>
                          <a:rPr lang="en-AU" b="0" i="1" smtClean="0">
                            <a:solidFill>
                              <a:srgbClr val="1B27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AU" b="0" i="1" smtClean="0">
                            <a:solidFill>
                              <a:srgbClr val="1B27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𝑥</m:t>
                        </m:r>
                      </m:e>
                      <m:sub>
                        <m:r>
                          <a:rPr lang="en-AU" b="0" i="1" smtClean="0">
                            <a:solidFill>
                              <a:srgbClr val="1B27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𝑖</m:t>
                        </m:r>
                      </m:sub>
                    </m:sSub>
                    <m:r>
                      <a:rPr lang="en-AU" b="0" i="1" smtClean="0">
                        <a:solidFill>
                          <a:srgbClr val="1B273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itchFamily="34" charset="-120"/>
                      </a:rPr>
                      <m:t>|</m:t>
                    </m:r>
                    <m:sSub>
                      <m:sSubPr>
                        <m:ctrlPr>
                          <a:rPr lang="en-AU" b="0" i="1" smtClean="0">
                            <a:solidFill>
                              <a:srgbClr val="1B27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AU" b="0" i="1" smtClean="0">
                            <a:solidFill>
                              <a:srgbClr val="1B27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𝑥</m:t>
                        </m:r>
                      </m:e>
                      <m:sub>
                        <m:r>
                          <a:rPr lang="en-AU" b="0" i="1" smtClean="0">
                            <a:solidFill>
                              <a:srgbClr val="1B27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&lt;</m:t>
                        </m:r>
                        <m:r>
                          <a:rPr lang="en-AU" b="0" i="1" smtClean="0">
                            <a:solidFill>
                              <a:srgbClr val="1B27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𝑖</m:t>
                        </m:r>
                      </m:sub>
                    </m:sSub>
                    <m:r>
                      <a:rPr lang="en-AU" b="0" i="1" smtClean="0">
                        <a:solidFill>
                          <a:srgbClr val="1B273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itchFamily="34" charset="-120"/>
                      </a:rPr>
                      <m:t>)</m:t>
                    </m:r>
                  </m:oMath>
                </a14:m>
                <a:endParaRPr lang="en-US" dirty="0"/>
              </a:p>
              <a:p>
                <a:pPr marL="228600" indent="-228600">
                  <a:lnSpc>
                    <a:spcPct val="115000"/>
                  </a:lnSpc>
                  <a:spcAft>
                    <a:spcPts val="1400"/>
                  </a:spcAft>
                  <a:buSzPct val="100000"/>
                  <a:buChar char="•"/>
                </a:pPr>
                <a:r>
                  <a:rPr lang="en-US" dirty="0">
                    <a:solidFill>
                      <a:srgbClr val="1B27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Reinforcement learning: agent interacts with an environment (beyond this chapter)</a:t>
                </a:r>
                <a:endParaRPr lang="en-US" dirty="0"/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240" y="2377440"/>
                <a:ext cx="4846320" cy="3566160"/>
              </a:xfrm>
              <a:prstGeom prst="rect">
                <a:avLst/>
              </a:prstGeom>
              <a:blipFill>
                <a:blip r:embed="rId3"/>
                <a:stretch>
                  <a:fillRect l="-1047" r="-209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Regression: A Minimal Learning Algorithm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Cost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/>
              <p:nvPr/>
            </p:nvSpPr>
            <p:spPr>
              <a:xfrm>
                <a:off x="822960" y="2331720"/>
                <a:ext cx="4846320" cy="17373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Prediction: 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ŷ =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ᵀ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 (+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Loss (MSE): 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𝑴𝑺𝑬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𝒎</m:t>
                        </m:r>
                      </m:den>
                    </m:f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‖ŷ −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‖²</m:t>
                    </m:r>
                  </m:oMath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Closed-form solution: 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ᵀ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)⁻¹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ᵀ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</a:p>
            </p:txBody>
          </p:sp>
        </mc:Choice>
        <mc:Fallback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2331720"/>
                <a:ext cx="4846320" cy="1737360"/>
              </a:xfrm>
              <a:prstGeom prst="rect">
                <a:avLst/>
              </a:prstGeom>
              <a:blipFill>
                <a:blip r:embed="rId3"/>
                <a:stretch>
                  <a:fillRect l="-104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6217920" y="169164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874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Recipe Preview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6492240" y="2331720"/>
                <a:ext cx="4846320" cy="36576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228600" indent="-228600">
                  <a:lnSpc>
                    <a:spcPct val="115000"/>
                  </a:lnSpc>
                  <a:spcAft>
                    <a:spcPts val="1200"/>
                  </a:spcAft>
                  <a:buSzPct val="100000"/>
                  <a:buChar char="•"/>
                </a:pPr>
                <a:r>
                  <a:rPr lang="en-US" sz="1600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Dataset</a:t>
                </a:r>
                <a:r>
                  <a:rPr lang="en-US" sz="16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𝑋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𝑦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</m:t>
                    </m:r>
                  </m:oMath>
                </a14:m>
                <a:r>
                  <a:rPr lang="en-US" sz="16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pairs</a:t>
                </a:r>
                <a:endParaRPr lang="en-US" sz="1600" dirty="0"/>
              </a:p>
              <a:p>
                <a:pPr marL="228600" indent="-228600">
                  <a:lnSpc>
                    <a:spcPct val="115000"/>
                  </a:lnSpc>
                  <a:spcAft>
                    <a:spcPts val="1200"/>
                  </a:spcAft>
                  <a:buSzPct val="100000"/>
                  <a:buChar char="•"/>
                </a:pPr>
                <a:r>
                  <a:rPr lang="en-US" sz="1600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Model</a:t>
                </a:r>
                <a:r>
                  <a:rPr lang="en-US" sz="16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𝑤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ᵀ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𝑥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(+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𝑏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 </m:t>
                    </m:r>
                  </m:oMath>
                </a14:m>
                <a:r>
                  <a:rPr lang="en-US" sz="16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— a hypothesis space of linear functions</a:t>
                </a:r>
                <a:endParaRPr lang="en-US" sz="1600" dirty="0"/>
              </a:p>
              <a:p>
                <a:pPr marL="228600" indent="-228600">
                  <a:lnSpc>
                    <a:spcPct val="115000"/>
                  </a:lnSpc>
                  <a:spcAft>
                    <a:spcPts val="1200"/>
                  </a:spcAft>
                  <a:buSzPct val="100000"/>
                  <a:buChar char="•"/>
                </a:pPr>
                <a:r>
                  <a:rPr lang="en-US" sz="1600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Cost function</a:t>
                </a:r>
                <a:r>
                  <a:rPr lang="en-US" sz="16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mean squared error on training data</a:t>
                </a:r>
                <a:endParaRPr lang="en-US" sz="1600" dirty="0"/>
              </a:p>
              <a:p>
                <a:pPr marL="228600" indent="-228600">
                  <a:lnSpc>
                    <a:spcPct val="115000"/>
                  </a:lnSpc>
                  <a:spcAft>
                    <a:spcPts val="1200"/>
                  </a:spcAft>
                  <a:buSzPct val="100000"/>
                  <a:buChar char="•"/>
                </a:pPr>
                <a:r>
                  <a:rPr lang="en-US" sz="1600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Optimizer</a:t>
                </a:r>
                <a:r>
                  <a:rPr lang="en-US" sz="16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solve for zero gradient in closed form</a:t>
                </a:r>
                <a:endParaRPr lang="en-US" sz="1600" dirty="0"/>
              </a:p>
              <a:p>
                <a:pPr marL="228600" indent="-228600">
                  <a:lnSpc>
                    <a:spcPct val="115000"/>
                  </a:lnSpc>
                  <a:spcAft>
                    <a:spcPts val="1200"/>
                  </a:spcAft>
                  <a:buSzPct val="100000"/>
                  <a:buChar char="•"/>
                </a:pPr>
                <a:r>
                  <a:rPr lang="en-US" sz="16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Adding weight decay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𝜆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𝑤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ᵀ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𝑤</m:t>
                    </m:r>
                  </m:oMath>
                </a14:m>
                <a:r>
                  <a:rPr lang="en-US" sz="16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trades training fit for smaller weights — our first taste of regularization</a:t>
                </a:r>
                <a:endParaRPr lang="en-US" sz="1600" dirty="0"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240" y="2331720"/>
                <a:ext cx="4846320" cy="3657600"/>
              </a:xfrm>
              <a:prstGeom prst="rect">
                <a:avLst/>
              </a:prstGeom>
              <a:blipFill>
                <a:blip r:embed="rId4"/>
                <a:stretch>
                  <a:fillRect l="-78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9D985-868F-3980-6D48-A26BF98FD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1E849-F552-C045-0829-E6808D08D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regression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2A4F9ED-B35A-9546-BF81-81E9856E62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37684" y="1690688"/>
            <a:ext cx="7872833" cy="383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91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Training Error Is Not the Goal — Test Error 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39" y="1737359"/>
            <a:ext cx="5486399" cy="47791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Training error: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computed and minimized on the training set — this alone is just optimization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(test) error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expected error on new, unseen inputs from the same data-generating distribution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i.i.d. assumptions: train &amp; test examples are independent and identically distributed, drawn from data</a:t>
            </a:r>
            <a:endParaRPr lang="en-US" dirty="0"/>
          </a:p>
          <a:p>
            <a:pPr marL="228600" indent="-2286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Two levers control performance: </a:t>
            </a:r>
          </a:p>
          <a:p>
            <a:pPr marL="685800" lvl="1" indent="-2286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(1) make training error small, </a:t>
            </a:r>
          </a:p>
          <a:p>
            <a:pPr marL="685800" lvl="1" indent="-2286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(2) keep the train–test gap small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126480" y="173736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0" y="1920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Two Failure Modes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2423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95160" y="2377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95160" y="271576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 can't even fit the training data — capacity too low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400800" y="379476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95160" y="3749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408736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 memorizes training quirks that don't generalize — capacity too high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00800" y="49834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informally, the range of functions a model can represent — controlled by the hypothesis space (e.g. polynomial degree).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D2E73-2480-76FB-35A3-8367E72DD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69A2A-28E1-DEE9-E236-9693B1459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b="1" dirty="0"/>
              <a:t>Underfitting and Overfitting in Polynomial Estimation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ADF2C5D-3E73-E242-9899-BC4995DC45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39880" y="1995433"/>
            <a:ext cx="7889254" cy="371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98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3211-ABF9-267E-BA58-A45834ADA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Generalization and capacity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7CB404-6572-E450-F2E6-F1374CAD48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38397" y="1788760"/>
            <a:ext cx="8315205" cy="400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879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C2964-1D6D-0281-B280-E36B150A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4940"/>
            <a:ext cx="10515600" cy="1325563"/>
          </a:xfrm>
        </p:spPr>
        <p:txBody>
          <a:bodyPr/>
          <a:lstStyle/>
          <a:p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Cross-Validation</a:t>
            </a:r>
            <a:endParaRPr lang="en-US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144C529-4B9A-3C4D-30F7-69EF9F65A3DE}"/>
              </a:ext>
            </a:extLst>
          </p:cNvPr>
          <p:cNvSpPr/>
          <p:nvPr/>
        </p:nvSpPr>
        <p:spPr>
          <a:xfrm>
            <a:off x="534352" y="1657344"/>
            <a:ext cx="4608576" cy="777240"/>
          </a:xfrm>
          <a:prstGeom prst="roundRect">
            <a:avLst>
              <a:gd name="adj" fmla="val 5882"/>
            </a:avLst>
          </a:prstGeom>
          <a:solidFill>
            <a:srgbClr val="0B3D6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3B04B29-CEA6-0621-74A0-FA68DA38C2F0}"/>
              </a:ext>
            </a:extLst>
          </p:cNvPr>
          <p:cNvSpPr/>
          <p:nvPr/>
        </p:nvSpPr>
        <p:spPr>
          <a:xfrm>
            <a:off x="534352" y="1657344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(~80%)</a:t>
            </a:r>
            <a:endParaRPr lang="en-US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FA7554F-E214-5685-586D-B9BB0DB8DDDD}"/>
              </a:ext>
            </a:extLst>
          </p:cNvPr>
          <p:cNvSpPr/>
          <p:nvPr/>
        </p:nvSpPr>
        <p:spPr>
          <a:xfrm>
            <a:off x="5142928" y="1657344"/>
            <a:ext cx="3072384" cy="77724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6A6B184-D253-4341-1C26-4266AD227454}"/>
              </a:ext>
            </a:extLst>
          </p:cNvPr>
          <p:cNvSpPr/>
          <p:nvPr/>
        </p:nvSpPr>
        <p:spPr>
          <a:xfrm>
            <a:off x="5142928" y="1657344"/>
            <a:ext cx="30723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 (~20%)</a:t>
            </a:r>
            <a:endParaRPr lang="en-US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2E8A8D3-C011-0CC8-7A00-A049D681FDB4}"/>
              </a:ext>
            </a:extLst>
          </p:cNvPr>
          <p:cNvSpPr/>
          <p:nvPr/>
        </p:nvSpPr>
        <p:spPr>
          <a:xfrm>
            <a:off x="8443912" y="1657344"/>
            <a:ext cx="2286000" cy="777240"/>
          </a:xfrm>
          <a:prstGeom prst="roundRect">
            <a:avLst>
              <a:gd name="adj" fmla="val 5882"/>
            </a:avLst>
          </a:prstGeom>
          <a:solidFill>
            <a:srgbClr val="E8871E"/>
          </a:solidFill>
          <a:ln/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7811463-0BBB-4147-BD3E-2528681379CB}"/>
              </a:ext>
            </a:extLst>
          </p:cNvPr>
          <p:cNvSpPr/>
          <p:nvPr/>
        </p:nvSpPr>
        <p:spPr>
          <a:xfrm>
            <a:off x="8443912" y="1657344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3A8B6B4-BC77-BF73-8E6B-F6850FC3B69B}"/>
              </a:ext>
            </a:extLst>
          </p:cNvPr>
          <p:cNvSpPr/>
          <p:nvPr/>
        </p:nvSpPr>
        <p:spPr>
          <a:xfrm>
            <a:off x="534352" y="252602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Held out from the original “training data” pool</a:t>
            </a:r>
            <a:endParaRPr lang="en-US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7636234-3011-7529-C233-D9B1329BA45B}"/>
              </a:ext>
            </a:extLst>
          </p:cNvPr>
          <p:cNvSpPr/>
          <p:nvPr/>
        </p:nvSpPr>
        <p:spPr>
          <a:xfrm>
            <a:off x="8443912" y="336899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touched until the very end</a:t>
            </a:r>
            <a:endParaRPr lang="en-US" sz="11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6F442FC-C26A-3452-07CA-7DFB8BF31E27}"/>
              </a:ext>
            </a:extLst>
          </p:cNvPr>
          <p:cNvSpPr/>
          <p:nvPr/>
        </p:nvSpPr>
        <p:spPr>
          <a:xfrm>
            <a:off x="534352" y="329184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</a:t>
            </a: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used to select hyperparameters — its error slightly underestimates true generalization error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2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set</a:t>
            </a: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touched exactly once, after all tuning, to report final generalization error</a:t>
            </a:r>
            <a:endParaRPr lang="en-US" sz="20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ECC728DA-7723-83DF-F85C-48493A2FB024}"/>
              </a:ext>
            </a:extLst>
          </p:cNvPr>
          <p:cNvSpPr/>
          <p:nvPr/>
        </p:nvSpPr>
        <p:spPr>
          <a:xfrm>
            <a:off x="8386761" y="3052384"/>
            <a:ext cx="3063240" cy="3657600"/>
          </a:xfrm>
          <a:prstGeom prst="roundRect">
            <a:avLst>
              <a:gd name="adj" fmla="val 268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0F5D427-4252-0EA2-9686-5E19E3CBAF50}"/>
              </a:ext>
            </a:extLst>
          </p:cNvPr>
          <p:cNvSpPr/>
          <p:nvPr/>
        </p:nvSpPr>
        <p:spPr>
          <a:xfrm>
            <a:off x="8386760" y="2678049"/>
            <a:ext cx="30289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k-Fold Cross-Validation</a:t>
            </a:r>
            <a:endParaRPr lang="en-US" sz="14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6E01A99E-6AFB-A971-DA32-61B513F1977A}"/>
              </a:ext>
            </a:extLst>
          </p:cNvPr>
          <p:cNvSpPr/>
          <p:nvPr/>
        </p:nvSpPr>
        <p:spPr>
          <a:xfrm>
            <a:off x="8763952" y="3186118"/>
            <a:ext cx="420624" cy="420624"/>
          </a:xfrm>
          <a:prstGeom prst="rect">
            <a:avLst/>
          </a:prstGeom>
          <a:solidFill>
            <a:srgbClr val="E887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53FA7E0E-A1BC-1E33-284C-5EF0C6980597}"/>
              </a:ext>
            </a:extLst>
          </p:cNvPr>
          <p:cNvSpPr/>
          <p:nvPr/>
        </p:nvSpPr>
        <p:spPr>
          <a:xfrm>
            <a:off x="9221152" y="3186118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FC5F1E93-5B45-7468-233A-467B7A1FB32B}"/>
              </a:ext>
            </a:extLst>
          </p:cNvPr>
          <p:cNvSpPr/>
          <p:nvPr/>
        </p:nvSpPr>
        <p:spPr>
          <a:xfrm>
            <a:off x="9678352" y="3186118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14EBA8A-9218-8B95-6147-075E850F7440}"/>
              </a:ext>
            </a:extLst>
          </p:cNvPr>
          <p:cNvSpPr/>
          <p:nvPr/>
        </p:nvSpPr>
        <p:spPr>
          <a:xfrm>
            <a:off x="10135552" y="3186118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831A963F-C9E1-5956-CC0C-F820A4BEC3AC}"/>
              </a:ext>
            </a:extLst>
          </p:cNvPr>
          <p:cNvSpPr/>
          <p:nvPr/>
        </p:nvSpPr>
        <p:spPr>
          <a:xfrm>
            <a:off x="10592752" y="3186118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47E92177-6331-D8C3-3FA0-9CA5A377F02A}"/>
              </a:ext>
            </a:extLst>
          </p:cNvPr>
          <p:cNvSpPr/>
          <p:nvPr/>
        </p:nvSpPr>
        <p:spPr>
          <a:xfrm>
            <a:off x="8763952" y="3753046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98D556E6-D2ED-1802-4132-F4AB6E3C332A}"/>
              </a:ext>
            </a:extLst>
          </p:cNvPr>
          <p:cNvSpPr/>
          <p:nvPr/>
        </p:nvSpPr>
        <p:spPr>
          <a:xfrm>
            <a:off x="9221152" y="3753046"/>
            <a:ext cx="420624" cy="420624"/>
          </a:xfrm>
          <a:prstGeom prst="rect">
            <a:avLst/>
          </a:prstGeom>
          <a:solidFill>
            <a:srgbClr val="E887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A1C8B907-BC21-4E18-D6C5-87A1B3F4528E}"/>
              </a:ext>
            </a:extLst>
          </p:cNvPr>
          <p:cNvSpPr/>
          <p:nvPr/>
        </p:nvSpPr>
        <p:spPr>
          <a:xfrm>
            <a:off x="9678352" y="3753046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535467A7-A3C1-FCDB-41D4-FD1715EAA3BE}"/>
              </a:ext>
            </a:extLst>
          </p:cNvPr>
          <p:cNvSpPr/>
          <p:nvPr/>
        </p:nvSpPr>
        <p:spPr>
          <a:xfrm>
            <a:off x="10135552" y="3753046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6FB98D82-5402-B025-E0FD-906BD9999163}"/>
              </a:ext>
            </a:extLst>
          </p:cNvPr>
          <p:cNvSpPr/>
          <p:nvPr/>
        </p:nvSpPr>
        <p:spPr>
          <a:xfrm>
            <a:off x="10592752" y="3753046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8F0D7CE1-F562-A4BF-60AD-D618889D452D}"/>
              </a:ext>
            </a:extLst>
          </p:cNvPr>
          <p:cNvSpPr/>
          <p:nvPr/>
        </p:nvSpPr>
        <p:spPr>
          <a:xfrm>
            <a:off x="8763952" y="4319974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298DF1D9-E133-71AF-BE42-BFA580C82B72}"/>
              </a:ext>
            </a:extLst>
          </p:cNvPr>
          <p:cNvSpPr/>
          <p:nvPr/>
        </p:nvSpPr>
        <p:spPr>
          <a:xfrm>
            <a:off x="9221152" y="4319974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A2128A1F-B8FE-E304-3B41-31CF275C6C33}"/>
              </a:ext>
            </a:extLst>
          </p:cNvPr>
          <p:cNvSpPr/>
          <p:nvPr/>
        </p:nvSpPr>
        <p:spPr>
          <a:xfrm>
            <a:off x="9678352" y="4319974"/>
            <a:ext cx="420624" cy="420624"/>
          </a:xfrm>
          <a:prstGeom prst="rect">
            <a:avLst/>
          </a:prstGeom>
          <a:solidFill>
            <a:srgbClr val="E887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C8F9123C-884D-32A8-FBF5-BC26AA6DB02C}"/>
              </a:ext>
            </a:extLst>
          </p:cNvPr>
          <p:cNvSpPr/>
          <p:nvPr/>
        </p:nvSpPr>
        <p:spPr>
          <a:xfrm>
            <a:off x="10135552" y="4319974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C3540D2E-E484-7DCF-86C9-C28679359EA8}"/>
              </a:ext>
            </a:extLst>
          </p:cNvPr>
          <p:cNvSpPr/>
          <p:nvPr/>
        </p:nvSpPr>
        <p:spPr>
          <a:xfrm>
            <a:off x="10592752" y="4319974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454C6C26-B163-52DD-4B03-C289030D789E}"/>
              </a:ext>
            </a:extLst>
          </p:cNvPr>
          <p:cNvSpPr/>
          <p:nvPr/>
        </p:nvSpPr>
        <p:spPr>
          <a:xfrm>
            <a:off x="8763952" y="4886902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5C719AF1-2BAC-B039-9E07-515A1D99600D}"/>
              </a:ext>
            </a:extLst>
          </p:cNvPr>
          <p:cNvSpPr/>
          <p:nvPr/>
        </p:nvSpPr>
        <p:spPr>
          <a:xfrm>
            <a:off x="9221152" y="4886902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CB528783-5B97-7044-FD9E-127A42C88DF5}"/>
              </a:ext>
            </a:extLst>
          </p:cNvPr>
          <p:cNvSpPr/>
          <p:nvPr/>
        </p:nvSpPr>
        <p:spPr>
          <a:xfrm>
            <a:off x="9678352" y="4886902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27C672BF-A906-9D4C-B3F0-9A3FE323D1F9}"/>
              </a:ext>
            </a:extLst>
          </p:cNvPr>
          <p:cNvSpPr/>
          <p:nvPr/>
        </p:nvSpPr>
        <p:spPr>
          <a:xfrm>
            <a:off x="10135552" y="4886902"/>
            <a:ext cx="420624" cy="420624"/>
          </a:xfrm>
          <a:prstGeom prst="rect">
            <a:avLst/>
          </a:prstGeom>
          <a:solidFill>
            <a:srgbClr val="E887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B92F6C82-1AE6-EEF5-9A41-6D49E3BA3BB7}"/>
              </a:ext>
            </a:extLst>
          </p:cNvPr>
          <p:cNvSpPr/>
          <p:nvPr/>
        </p:nvSpPr>
        <p:spPr>
          <a:xfrm>
            <a:off x="10592752" y="4886902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DD5FF67B-A9B2-560F-7348-C23EB2A2E7EA}"/>
              </a:ext>
            </a:extLst>
          </p:cNvPr>
          <p:cNvSpPr/>
          <p:nvPr/>
        </p:nvSpPr>
        <p:spPr>
          <a:xfrm>
            <a:off x="8763952" y="5453830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EEBAF620-C9C5-868D-7735-E95025E976C6}"/>
              </a:ext>
            </a:extLst>
          </p:cNvPr>
          <p:cNvSpPr/>
          <p:nvPr/>
        </p:nvSpPr>
        <p:spPr>
          <a:xfrm>
            <a:off x="9221152" y="5453830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F936E8AD-5844-73D6-2EB3-E49D1BF406C3}"/>
              </a:ext>
            </a:extLst>
          </p:cNvPr>
          <p:cNvSpPr/>
          <p:nvPr/>
        </p:nvSpPr>
        <p:spPr>
          <a:xfrm>
            <a:off x="9678352" y="5453830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B61341AE-CB6B-986C-78DE-43D13F0BDFD4}"/>
              </a:ext>
            </a:extLst>
          </p:cNvPr>
          <p:cNvSpPr/>
          <p:nvPr/>
        </p:nvSpPr>
        <p:spPr>
          <a:xfrm>
            <a:off x="10135552" y="5453830"/>
            <a:ext cx="420624" cy="420624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CB33C686-A16C-58C1-BEAE-CB26D1C83944}"/>
              </a:ext>
            </a:extLst>
          </p:cNvPr>
          <p:cNvSpPr/>
          <p:nvPr/>
        </p:nvSpPr>
        <p:spPr>
          <a:xfrm>
            <a:off x="10592752" y="5453830"/>
            <a:ext cx="420624" cy="420624"/>
          </a:xfrm>
          <a:prstGeom prst="rect">
            <a:avLst/>
          </a:prstGeom>
          <a:solidFill>
            <a:srgbClr val="E887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6B5CAA4F-2103-FC91-7C92-04720867B004}"/>
              </a:ext>
            </a:extLst>
          </p:cNvPr>
          <p:cNvSpPr/>
          <p:nvPr/>
        </p:nvSpPr>
        <p:spPr>
          <a:xfrm>
            <a:off x="8666796" y="6066478"/>
            <a:ext cx="2748916" cy="572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Each fold takes a turn as the test split; results are averaged — makes efficient use of small datasets.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14649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MAXIMUM LIKELIHOOD ESTIMATION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1"/>
              <p:cNvSpPr/>
              <p:nvPr/>
            </p:nvSpPr>
            <p:spPr>
              <a:xfrm>
                <a:off x="548640" y="658368"/>
                <a:ext cx="11064240" cy="8229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3200" b="1" dirty="0"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Pick the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𝜽</m:t>
                    </m:r>
                  </m:oMath>
                </a14:m>
                <a:r>
                  <a:rPr lang="en-US" sz="3200" b="1" dirty="0"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 That Makes the Data Most Probable</a:t>
                </a:r>
                <a:endParaRPr lang="en-US" sz="3200" dirty="0"/>
              </a:p>
            </p:txBody>
          </p:sp>
        </mc:Choice>
        <mc:Fallback>
          <p:sp>
            <p:nvSpPr>
              <p:cNvPr id="3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658368"/>
                <a:ext cx="11064240" cy="822960"/>
              </a:xfrm>
              <a:prstGeom prst="rect">
                <a:avLst/>
              </a:prstGeom>
              <a:blipFill>
                <a:blip r:embed="rId3"/>
                <a:stretch>
                  <a:fillRect l="-1376" t="-106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548640" y="173736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The Estimator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Products of many probabilities underflow numerically → take the log; argmax is unchanged</a:t>
            </a:r>
            <a:endParaRPr lang="en-US" sz="2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minimizing the negative log-likelihood (NLL)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Interpretation: Minimizing KL Divergence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MLE ≡ minimizing D_KL(p̂_data ‖ p_model) — making the model distribution match the empirical data distribution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minimizing cross-entropy between the empirical and model distributions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is exactly the cross-entropy between the empirical distribution and a Gaussian model — this is why linear regression's MSE cost is principled, not arbitrary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AAAB9B-690D-5277-B728-596D4BC57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325497"/>
            <a:ext cx="3681659" cy="6177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MLE?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MLE Is (Asymptotically) the Best Estimator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577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Consistency: under two conditions, θ_ML → true θ as m → ∞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(1) the true distribution p_data lies inside the model family p_model(·;θ)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(2) p_data corresponds to exactly one value of θ (identifiability)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efficiency: among consistent estimators, MLE achieves the lowest possible MSE as m grows — the Cramér–Rao lower bound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takeaway: MLE is the default choice for machine learning; add regularization (e.g. weight decay) when m is too small and overfitting appears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92240" y="1783080"/>
            <a:ext cx="5120640" cy="4297680"/>
          </a:xfrm>
          <a:prstGeom prst="roundRect">
            <a:avLst>
              <a:gd name="adj" fmla="val 191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 = MLE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0" y="242316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 | x as 𝒩(y; ŷ(x;w), σ²). Maximizing the resulting conditional log-likelihood with respect to w is algebraically identical to minimizing MSE_train.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766560" y="3840480"/>
            <a:ext cx="457200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40233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MSE “just works” — it's maximum likelihood in disguise, under a Gaussian noise assumption.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B81C9-0A22-0157-1144-28B1BA73A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A941-137C-2013-A61A-F652AA8FE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2AC0B-64AA-4C68-C86C-F1FC2414A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0766"/>
            <a:ext cx="10515600" cy="5303234"/>
          </a:xfrm>
        </p:spPr>
        <p:txBody>
          <a:bodyPr>
            <a:normAutofit/>
          </a:bodyPr>
          <a:lstStyle/>
          <a:p>
            <a:r>
              <a:rPr lang="en-AU" sz="2000" dirty="0"/>
              <a:t>Deep learning book</a:t>
            </a:r>
          </a:p>
          <a:p>
            <a:pPr lvl="1"/>
            <a:r>
              <a:rPr lang="en-AU" sz="1600" dirty="0"/>
              <a:t>Chapter 5: </a:t>
            </a:r>
            <a:r>
              <a:rPr lang="en-AU" sz="1600" dirty="0">
                <a:hlinkClick r:id="rId3"/>
              </a:rPr>
              <a:t>https://www.deeplearningbook.org/contents/ml.html</a:t>
            </a:r>
            <a:endParaRPr lang="en-AU" sz="1600" dirty="0"/>
          </a:p>
          <a:p>
            <a:pPr lvl="1"/>
            <a:endParaRPr lang="en-AU" sz="1600" dirty="0"/>
          </a:p>
          <a:p>
            <a:endParaRPr lang="en-AU" sz="2000" dirty="0"/>
          </a:p>
          <a:p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413212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7863</TotalTime>
  <Words>1150</Words>
  <Application>Microsoft Macintosh PowerPoint</Application>
  <PresentationFormat>Widescreen</PresentationFormat>
  <Paragraphs>153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Cambria Math</vt:lpstr>
      <vt:lpstr>Office Theme</vt:lpstr>
      <vt:lpstr>COMPUTER 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Linear regression</vt:lpstr>
      <vt:lpstr>PowerPoint Presentation</vt:lpstr>
      <vt:lpstr>Underfitting and Overfitting in Polynomial Estimation</vt:lpstr>
      <vt:lpstr>Generalization and capacity</vt:lpstr>
      <vt:lpstr>Validation &amp; Cross-Validation</vt:lpstr>
      <vt:lpstr>PowerPoint Presentation</vt:lpstr>
      <vt:lpstr>PowerPoint Presentation</vt:lpstr>
      <vt:lpstr>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Zahidul Islam</dc:creator>
  <cp:lastModifiedBy>Md Zahidul Islam</cp:lastModifiedBy>
  <cp:revision>308</cp:revision>
  <dcterms:created xsi:type="dcterms:W3CDTF">2026-08-04T00:11:14Z</dcterms:created>
  <dcterms:modified xsi:type="dcterms:W3CDTF">2026-08-17T05:31:47Z</dcterms:modified>
</cp:coreProperties>
</file>