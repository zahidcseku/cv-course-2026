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32"/>
  </p:notesMasterIdLst>
  <p:sldIdLst>
    <p:sldId id="256" r:id="rId2"/>
    <p:sldId id="296" r:id="rId3"/>
    <p:sldId id="297" r:id="rId4"/>
    <p:sldId id="300" r:id="rId5"/>
    <p:sldId id="301" r:id="rId6"/>
    <p:sldId id="302" r:id="rId7"/>
    <p:sldId id="303" r:id="rId8"/>
    <p:sldId id="304" r:id="rId9"/>
    <p:sldId id="298" r:id="rId10"/>
    <p:sldId id="299" r:id="rId11"/>
    <p:sldId id="306" r:id="rId12"/>
    <p:sldId id="308" r:id="rId13"/>
    <p:sldId id="309" r:id="rId14"/>
    <p:sldId id="307" r:id="rId15"/>
    <p:sldId id="310" r:id="rId16"/>
    <p:sldId id="311" r:id="rId17"/>
    <p:sldId id="312" r:id="rId18"/>
    <p:sldId id="314" r:id="rId19"/>
    <p:sldId id="313" r:id="rId20"/>
    <p:sldId id="315" r:id="rId21"/>
    <p:sldId id="316" r:id="rId22"/>
    <p:sldId id="317" r:id="rId23"/>
    <p:sldId id="318" r:id="rId24"/>
    <p:sldId id="319" r:id="rId25"/>
    <p:sldId id="320" r:id="rId26"/>
    <p:sldId id="321" r:id="rId27"/>
    <p:sldId id="322" r:id="rId28"/>
    <p:sldId id="323" r:id="rId29"/>
    <p:sldId id="324" r:id="rId30"/>
    <p:sldId id="32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B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18"/>
    <p:restoredTop sz="81615"/>
  </p:normalViewPr>
  <p:slideViewPr>
    <p:cSldViewPr snapToGrid="0">
      <p:cViewPr>
        <p:scale>
          <a:sx n="113" d="100"/>
          <a:sy n="113" d="100"/>
        </p:scale>
        <p:origin x="1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4</a:t>
            </a:fld>
            <a:endParaRPr lang="en-US"/>
          </a:p>
        </p:txBody>
      </p:sp>
    </p:spTree>
    <p:extLst>
      <p:ext uri="{BB962C8B-B14F-4D97-AF65-F5344CB8AC3E}">
        <p14:creationId xmlns:p14="http://schemas.microsoft.com/office/powerpoint/2010/main" val="1405818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822DC-B089-6F03-4B61-310EA7376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D85C6-5C0F-2BF8-DE1B-2A6BBDA61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D2583-7444-1C45-DA59-A80EFA1ED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559CAB-35A1-40C5-5EA6-8822D3F21FA4}"/>
              </a:ext>
            </a:extLst>
          </p:cNvPr>
          <p:cNvSpPr>
            <a:spLocks noGrp="1"/>
          </p:cNvSpPr>
          <p:nvPr>
            <p:ph type="sldNum" sz="quarter" idx="5"/>
          </p:nvPr>
        </p:nvSpPr>
        <p:spPr/>
        <p:txBody>
          <a:bodyPr/>
          <a:lstStyle/>
          <a:p>
            <a:fld id="{21A5E430-97AE-C04C-BB4B-47DC21A043A5}" type="slidenum">
              <a:rPr lang="en-US" smtClean="0"/>
              <a:t>5</a:t>
            </a:fld>
            <a:endParaRPr lang="en-US"/>
          </a:p>
        </p:txBody>
      </p:sp>
    </p:spTree>
    <p:extLst>
      <p:ext uri="{BB962C8B-B14F-4D97-AF65-F5344CB8AC3E}">
        <p14:creationId xmlns:p14="http://schemas.microsoft.com/office/powerpoint/2010/main" val="2744283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5156-1272-D24B-323E-5C0ECBE87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B669A-4A6C-E081-3451-C5A7C469D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DCE35-A0D8-EEB7-C998-868676438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ABE522-B4FE-8AC7-707E-63F3D89464EF}"/>
              </a:ext>
            </a:extLst>
          </p:cNvPr>
          <p:cNvSpPr>
            <a:spLocks noGrp="1"/>
          </p:cNvSpPr>
          <p:nvPr>
            <p:ph type="sldNum" sz="quarter" idx="5"/>
          </p:nvPr>
        </p:nvSpPr>
        <p:spPr/>
        <p:txBody>
          <a:bodyPr/>
          <a:lstStyle/>
          <a:p>
            <a:fld id="{21A5E430-97AE-C04C-BB4B-47DC21A043A5}" type="slidenum">
              <a:rPr lang="en-US" smtClean="0"/>
              <a:t>6</a:t>
            </a:fld>
            <a:endParaRPr lang="en-US"/>
          </a:p>
        </p:txBody>
      </p:sp>
    </p:spTree>
    <p:extLst>
      <p:ext uri="{BB962C8B-B14F-4D97-AF65-F5344CB8AC3E}">
        <p14:creationId xmlns:p14="http://schemas.microsoft.com/office/powerpoint/2010/main" val="3669190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15DA3-D3F1-937B-91E0-DAA098327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C7293-EDED-EC44-E12A-27DC17D8F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0E9E9-234C-4D2C-7410-DCA1C624C2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EF4110-C0DD-9332-50D9-618F0C8901EE}"/>
              </a:ext>
            </a:extLst>
          </p:cNvPr>
          <p:cNvSpPr>
            <a:spLocks noGrp="1"/>
          </p:cNvSpPr>
          <p:nvPr>
            <p:ph type="sldNum" sz="quarter" idx="5"/>
          </p:nvPr>
        </p:nvSpPr>
        <p:spPr/>
        <p:txBody>
          <a:bodyPr/>
          <a:lstStyle/>
          <a:p>
            <a:fld id="{21A5E430-97AE-C04C-BB4B-47DC21A043A5}" type="slidenum">
              <a:rPr lang="en-US" smtClean="0"/>
              <a:t>7</a:t>
            </a:fld>
            <a:endParaRPr lang="en-US"/>
          </a:p>
        </p:txBody>
      </p:sp>
    </p:spTree>
    <p:extLst>
      <p:ext uri="{BB962C8B-B14F-4D97-AF65-F5344CB8AC3E}">
        <p14:creationId xmlns:p14="http://schemas.microsoft.com/office/powerpoint/2010/main" val="1008715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 this is the so-called perspective projection equation </a:t>
            </a:r>
          </a:p>
          <a:p>
            <a:pPr lvl="0"/>
            <a:r>
              <a:rPr lang="en-AU" dirty="0"/>
              <a:t>- we're going to see is that even though we're working with a very simple camera reference system here even modern camera still exhibit this basic perspective projection equation.</a:t>
            </a:r>
          </a:p>
          <a:p>
            <a:r>
              <a:rPr lang="en-US" dirty="0"/>
              <a:t>- Let’s see a quick demo.</a:t>
            </a:r>
          </a:p>
        </p:txBody>
      </p:sp>
      <p:sp>
        <p:nvSpPr>
          <p:cNvPr id="4" name="Slide Number Placeholder 3"/>
          <p:cNvSpPr>
            <a:spLocks noGrp="1"/>
          </p:cNvSpPr>
          <p:nvPr>
            <p:ph type="sldNum" sz="quarter" idx="5"/>
          </p:nvPr>
        </p:nvSpPr>
        <p:spPr/>
        <p:txBody>
          <a:bodyPr/>
          <a:lstStyle/>
          <a:p>
            <a:fld id="{21A5E430-97AE-C04C-BB4B-47DC21A043A5}" type="slidenum">
              <a:rPr lang="en-US" smtClean="0"/>
              <a:t>11</a:t>
            </a:fld>
            <a:endParaRPr lang="en-US"/>
          </a:p>
        </p:txBody>
      </p:sp>
    </p:spTree>
    <p:extLst>
      <p:ext uri="{BB962C8B-B14F-4D97-AF65-F5344CB8AC3E}">
        <p14:creationId xmlns:p14="http://schemas.microsoft.com/office/powerpoint/2010/main" val="757902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virtual image is not inverted and strictly equivalent to the actual one. </a:t>
            </a:r>
            <a:endParaRPr lang="en-US" dirty="0"/>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12</a:t>
            </a:fld>
            <a:endParaRPr lang="en-US"/>
          </a:p>
        </p:txBody>
      </p:sp>
    </p:spTree>
    <p:extLst>
      <p:ext uri="{BB962C8B-B14F-4D97-AF65-F5344CB8AC3E}">
        <p14:creationId xmlns:p14="http://schemas.microsoft.com/office/powerpoint/2010/main" val="1159338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 far objects appear smaller than close ones: The</a:t>
            </a:r>
          </a:p>
          <a:p>
            <a:r>
              <a:rPr lang="en-AU" sz="1200" kern="1200" dirty="0">
                <a:solidFill>
                  <a:schemeClr val="tx1"/>
                </a:solidFill>
                <a:effectLst/>
                <a:latin typeface="+mn-lt"/>
                <a:ea typeface="+mn-ea"/>
                <a:cs typeface="+mn-cs"/>
              </a:rPr>
              <a:t>distance d from the pinhole O to the plane containing C is half the distance from O to the</a:t>
            </a:r>
          </a:p>
          <a:p>
            <a:r>
              <a:rPr lang="en-AU" sz="1200" kern="1200" dirty="0">
                <a:solidFill>
                  <a:schemeClr val="tx1"/>
                </a:solidFill>
                <a:effectLst/>
                <a:latin typeface="+mn-lt"/>
                <a:ea typeface="+mn-ea"/>
                <a:cs typeface="+mn-cs"/>
              </a:rPr>
              <a:t>plane containing A and B;</a:t>
            </a:r>
          </a:p>
          <a:p>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 the images b and c </a:t>
            </a:r>
            <a:r>
              <a:rPr lang="en-AU" sz="1200" kern="1200" dirty="0" err="1">
                <a:solidFill>
                  <a:schemeClr val="tx1"/>
                </a:solidFill>
                <a:effectLst/>
                <a:latin typeface="+mn-lt"/>
                <a:ea typeface="+mn-ea"/>
                <a:cs typeface="+mn-cs"/>
              </a:rPr>
              <a:t>xof</a:t>
            </a:r>
            <a:r>
              <a:rPr lang="en-AU" sz="1200" kern="1200" dirty="0">
                <a:solidFill>
                  <a:schemeClr val="tx1"/>
                </a:solidFill>
                <a:effectLst/>
                <a:latin typeface="+mn-lt"/>
                <a:ea typeface="+mn-ea"/>
                <a:cs typeface="+mn-cs"/>
              </a:rPr>
              <a:t> the posts B and C have the same height, but A and C are really half the size of B</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13</a:t>
            </a:fld>
            <a:endParaRPr lang="en-US"/>
          </a:p>
        </p:txBody>
      </p:sp>
    </p:spTree>
    <p:extLst>
      <p:ext uri="{BB962C8B-B14F-4D97-AF65-F5344CB8AC3E}">
        <p14:creationId xmlns:p14="http://schemas.microsoft.com/office/powerpoint/2010/main" val="938110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14</a:t>
            </a:fld>
            <a:endParaRPr lang="en-US"/>
          </a:p>
        </p:txBody>
      </p:sp>
    </p:spTree>
    <p:extLst>
      <p:ext uri="{BB962C8B-B14F-4D97-AF65-F5344CB8AC3E}">
        <p14:creationId xmlns:p14="http://schemas.microsoft.com/office/powerpoint/2010/main" val="1509764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C4C4-EEF3-A669-ED9B-EBC638A0B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804BA-9C2D-ED01-3639-FA918D8BD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DCEEC-5662-355B-8C63-85B91FE7F6C0}"/>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the images of parallel lines intersect at the horizon. </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another well-known eﬀect: the projections of two parallel lines lying in some plane </a:t>
            </a:r>
            <a:r>
              <a:rPr lang="en-AU" sz="1200" kern="1200" dirty="0" err="1">
                <a:solidFill>
                  <a:schemeClr val="tx1"/>
                </a:solidFill>
                <a:effectLst/>
                <a:latin typeface="+mn-lt"/>
                <a:ea typeface="+mn-ea"/>
                <a:cs typeface="+mn-cs"/>
              </a:rPr>
              <a:t>Φ</a:t>
            </a:r>
            <a:r>
              <a:rPr lang="en-AU" sz="1200" kern="1200" dirty="0">
                <a:solidFill>
                  <a:schemeClr val="tx1"/>
                </a:solidFill>
                <a:effectLst/>
                <a:latin typeface="+mn-lt"/>
                <a:ea typeface="+mn-ea"/>
                <a:cs typeface="+mn-cs"/>
              </a:rPr>
              <a:t> appear to converge on a horizon line h formed by the intersection of the image</a:t>
            </a:r>
          </a:p>
          <a:p>
            <a:r>
              <a:rPr lang="en-AU" sz="1200" kern="1200" dirty="0">
                <a:solidFill>
                  <a:schemeClr val="tx1"/>
                </a:solidFill>
                <a:effectLst/>
                <a:latin typeface="+mn-lt"/>
                <a:ea typeface="+mn-ea"/>
                <a:cs typeface="+mn-cs"/>
              </a:rPr>
              <a:t>plane </a:t>
            </a:r>
            <a:r>
              <a:rPr lang="en-AU" sz="1200" kern="1200" dirty="0" err="1">
                <a:solidFill>
                  <a:schemeClr val="tx1"/>
                </a:solidFill>
                <a:effectLst/>
                <a:latin typeface="+mn-lt"/>
                <a:ea typeface="+mn-ea"/>
                <a:cs typeface="+mn-cs"/>
              </a:rPr>
              <a:t>Π</a:t>
            </a:r>
            <a:r>
              <a:rPr lang="en-AU" sz="1200" kern="1200" dirty="0">
                <a:solidFill>
                  <a:schemeClr val="tx1"/>
                </a:solidFill>
                <a:effectLst/>
                <a:latin typeface="+mn-lt"/>
                <a:ea typeface="+mn-ea"/>
                <a:cs typeface="+mn-cs"/>
              </a:rPr>
              <a:t> with the plane parallel to </a:t>
            </a:r>
            <a:r>
              <a:rPr lang="en-AU" sz="1200" kern="1200" dirty="0" err="1">
                <a:solidFill>
                  <a:schemeClr val="tx1"/>
                </a:solidFill>
                <a:effectLst/>
                <a:latin typeface="+mn-lt"/>
                <a:ea typeface="+mn-ea"/>
                <a:cs typeface="+mn-cs"/>
              </a:rPr>
              <a:t>Φ</a:t>
            </a:r>
            <a:r>
              <a:rPr lang="en-AU" sz="1200" kern="1200" dirty="0">
                <a:solidFill>
                  <a:schemeClr val="tx1"/>
                </a:solidFill>
                <a:effectLst/>
                <a:latin typeface="+mn-lt"/>
                <a:ea typeface="+mn-ea"/>
                <a:cs typeface="+mn-cs"/>
              </a:rPr>
              <a:t> and passing through the pinhole. </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Note that the line L parallel to </a:t>
            </a:r>
            <a:r>
              <a:rPr lang="en-AU" sz="1200" kern="1200" dirty="0" err="1">
                <a:solidFill>
                  <a:schemeClr val="tx1"/>
                </a:solidFill>
                <a:effectLst/>
                <a:latin typeface="+mn-lt"/>
                <a:ea typeface="+mn-ea"/>
                <a:cs typeface="+mn-cs"/>
              </a:rPr>
              <a:t>Π</a:t>
            </a:r>
            <a:r>
              <a:rPr lang="en-AU" sz="1200" kern="1200" dirty="0">
                <a:solidFill>
                  <a:schemeClr val="tx1"/>
                </a:solidFill>
                <a:effectLst/>
                <a:latin typeface="+mn-lt"/>
                <a:ea typeface="+mn-ea"/>
                <a:cs typeface="+mn-cs"/>
              </a:rPr>
              <a:t> in </a:t>
            </a:r>
            <a:r>
              <a:rPr lang="en-AU" sz="1200" kern="1200" dirty="0" err="1">
                <a:solidFill>
                  <a:schemeClr val="tx1"/>
                </a:solidFill>
                <a:effectLst/>
                <a:latin typeface="+mn-lt"/>
                <a:ea typeface="+mn-ea"/>
                <a:cs typeface="+mn-cs"/>
              </a:rPr>
              <a:t>Φ</a:t>
            </a:r>
            <a:r>
              <a:rPr lang="en-AU" sz="1200" kern="1200" dirty="0">
                <a:solidFill>
                  <a:schemeClr val="tx1"/>
                </a:solidFill>
                <a:effectLst/>
                <a:latin typeface="+mn-lt"/>
                <a:ea typeface="+mn-ea"/>
                <a:cs typeface="+mn-cs"/>
              </a:rPr>
              <a:t> has no image at all.</a:t>
            </a:r>
          </a:p>
          <a:p>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Note that the image plane </a:t>
            </a:r>
            <a:r>
              <a:rPr lang="en-AU" sz="1200" kern="1200" dirty="0" err="1">
                <a:solidFill>
                  <a:schemeClr val="tx1"/>
                </a:solidFill>
                <a:effectLst/>
                <a:latin typeface="+mn-lt"/>
                <a:ea typeface="+mn-ea"/>
                <a:cs typeface="+mn-cs"/>
              </a:rPr>
              <a:t>Π</a:t>
            </a:r>
            <a:r>
              <a:rPr lang="en-AU" sz="1200" kern="1200" dirty="0">
                <a:solidFill>
                  <a:schemeClr val="tx1"/>
                </a:solidFill>
                <a:effectLst/>
                <a:latin typeface="+mn-lt"/>
                <a:ea typeface="+mn-ea"/>
                <a:cs typeface="+mn-cs"/>
              </a:rPr>
              <a:t> is behind the pinhole in (a) (physical retina), and in front of it in (b) (virtual image plane). Most of</a:t>
            </a:r>
          </a:p>
          <a:p>
            <a:r>
              <a:rPr lang="en-AU" sz="1200" kern="1200" dirty="0">
                <a:solidFill>
                  <a:schemeClr val="tx1"/>
                </a:solidFill>
                <a:effectLst/>
                <a:latin typeface="+mn-lt"/>
                <a:ea typeface="+mn-ea"/>
                <a:cs typeface="+mn-cs"/>
              </a:rPr>
              <a:t>the diagrams in this chapter and in the rest of this book will feature the physical image plane, but a virtual one will also be used when appropriate, as in (b).</a:t>
            </a:r>
          </a:p>
          <a:p>
            <a:endParaRPr lang="en-US" dirty="0"/>
          </a:p>
        </p:txBody>
      </p:sp>
      <p:sp>
        <p:nvSpPr>
          <p:cNvPr id="4" name="Slide Number Placeholder 3">
            <a:extLst>
              <a:ext uri="{FF2B5EF4-FFF2-40B4-BE49-F238E27FC236}">
                <a16:creationId xmlns:a16="http://schemas.microsoft.com/office/drawing/2014/main" id="{B3F36B92-9A9B-11DF-525C-35CB9E75E363}"/>
              </a:ext>
            </a:extLst>
          </p:cNvPr>
          <p:cNvSpPr>
            <a:spLocks noGrp="1"/>
          </p:cNvSpPr>
          <p:nvPr>
            <p:ph type="sldNum" sz="quarter" idx="5"/>
          </p:nvPr>
        </p:nvSpPr>
        <p:spPr/>
        <p:txBody>
          <a:bodyPr/>
          <a:lstStyle/>
          <a:p>
            <a:fld id="{21A5E430-97AE-C04C-BB4B-47DC21A043A5}" type="slidenum">
              <a:rPr lang="en-US" smtClean="0"/>
              <a:t>15</a:t>
            </a:fld>
            <a:endParaRPr lang="en-US"/>
          </a:p>
        </p:txBody>
      </p:sp>
    </p:spTree>
    <p:extLst>
      <p:ext uri="{BB962C8B-B14F-4D97-AF65-F5344CB8AC3E}">
        <p14:creationId xmlns:p14="http://schemas.microsoft.com/office/powerpoint/2010/main" val="4090289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As the aperture size increases, the number of light rays that passes through the barrier consequently increases. </a:t>
            </a:r>
          </a:p>
          <a:p>
            <a:r>
              <a:rPr lang="en-AU" sz="1200" kern="1200" dirty="0">
                <a:solidFill>
                  <a:schemeClr val="tx1"/>
                </a:solidFill>
                <a:effectLst/>
                <a:latin typeface="+mn-lt"/>
                <a:ea typeface="+mn-ea"/>
                <a:cs typeface="+mn-cs"/>
              </a:rPr>
              <a:t>With more light rays passing through, then each point on the film may be aﬀected by light rays from multiple points in 3D space, blurring the image. </a:t>
            </a:r>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16</a:t>
            </a:fld>
            <a:endParaRPr lang="en-US"/>
          </a:p>
        </p:txBody>
      </p:sp>
    </p:spTree>
    <p:extLst>
      <p:ext uri="{BB962C8B-B14F-4D97-AF65-F5344CB8AC3E}">
        <p14:creationId xmlns:p14="http://schemas.microsoft.com/office/powerpoint/2010/main" val="3088500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Although we may be inclined to try to make the aperture as small as possible, recall that a smaller aperture size causes less light rays to pass through, resulting in crisper but</a:t>
            </a:r>
          </a:p>
          <a:p>
            <a:r>
              <a:rPr lang="en-AU" sz="1200" kern="1200" dirty="0">
                <a:solidFill>
                  <a:schemeClr val="tx1"/>
                </a:solidFill>
                <a:effectLst/>
                <a:latin typeface="+mn-lt"/>
                <a:ea typeface="+mn-ea"/>
                <a:cs typeface="+mn-cs"/>
              </a:rPr>
              <a:t>darker images.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17</a:t>
            </a:fld>
            <a:endParaRPr lang="en-US"/>
          </a:p>
        </p:txBody>
      </p:sp>
    </p:spTree>
    <p:extLst>
      <p:ext uri="{BB962C8B-B14F-4D97-AF65-F5344CB8AC3E}">
        <p14:creationId xmlns:p14="http://schemas.microsoft.com/office/powerpoint/2010/main" val="1807374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Thus, what is the eﬀect of varying aperture size?</a:t>
            </a:r>
          </a:p>
          <a:p>
            <a:r>
              <a:rPr lang="en-AU" sz="1200" kern="1200" dirty="0">
                <a:solidFill>
                  <a:schemeClr val="tx1"/>
                </a:solidFill>
                <a:effectLst/>
                <a:latin typeface="+mn-lt"/>
                <a:ea typeface="+mn-ea"/>
                <a:cs typeface="+mn-cs"/>
              </a:rPr>
              <a:t>The eﬀects of aperture size on the image. As the aperture size decreases, the image gets sharper, but darker.</a:t>
            </a:r>
            <a:endParaRPr lang="en-AU" dirty="0"/>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18</a:t>
            </a:fld>
            <a:endParaRPr lang="en-US"/>
          </a:p>
        </p:txBody>
      </p:sp>
    </p:spTree>
    <p:extLst>
      <p:ext uri="{BB962C8B-B14F-4D97-AF65-F5344CB8AC3E}">
        <p14:creationId xmlns:p14="http://schemas.microsoft.com/office/powerpoint/2010/main" val="3351711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Then why blurry in pinhole when multiple rays enters the hole?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19</a:t>
            </a:fld>
            <a:endParaRPr lang="en-US"/>
          </a:p>
        </p:txBody>
      </p:sp>
    </p:spTree>
    <p:extLst>
      <p:ext uri="{BB962C8B-B14F-4D97-AF65-F5344CB8AC3E}">
        <p14:creationId xmlns:p14="http://schemas.microsoft.com/office/powerpoint/2010/main" val="204907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dirty="0"/>
              <a:t>The point where multiple rays converge to a point, we call it the focus point. </a:t>
            </a:r>
          </a:p>
          <a:p>
            <a:pPr lvl="0"/>
            <a:r>
              <a:rPr lang="en-AU" dirty="0"/>
              <a:t>The plane containing the focus point is called the optical axis. </a:t>
            </a:r>
          </a:p>
          <a:p>
            <a:pPr lvl="0"/>
            <a:r>
              <a:rPr lang="en-AU" dirty="0"/>
              <a:t>The plane (containing the focus point i.e., the optical axis) perpendicular to the optical axis is called the focal plane. </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20</a:t>
            </a:fld>
            <a:endParaRPr lang="en-US"/>
          </a:p>
        </p:txBody>
      </p:sp>
    </p:spTree>
    <p:extLst>
      <p:ext uri="{BB962C8B-B14F-4D97-AF65-F5344CB8AC3E}">
        <p14:creationId xmlns:p14="http://schemas.microsoft.com/office/powerpoint/2010/main" val="1033957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 setup of a simple lens model. Notice how the rays of the top point on the tree converge nicely on the film. However, a point at a diﬀerent distance away from the lens results in rays not converging perfectly on the film.</a:t>
            </a:r>
          </a:p>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21</a:t>
            </a:fld>
            <a:endParaRPr lang="en-US"/>
          </a:p>
        </p:txBody>
      </p:sp>
    </p:spTree>
    <p:extLst>
      <p:ext uri="{BB962C8B-B14F-4D97-AF65-F5344CB8AC3E}">
        <p14:creationId xmlns:p14="http://schemas.microsoft.com/office/powerpoint/2010/main" val="2102963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23</a:t>
            </a:fld>
            <a:endParaRPr lang="en-US"/>
          </a:p>
        </p:txBody>
      </p:sp>
    </p:spTree>
    <p:extLst>
      <p:ext uri="{BB962C8B-B14F-4D97-AF65-F5344CB8AC3E}">
        <p14:creationId xmlns:p14="http://schemas.microsoft.com/office/powerpoint/2010/main" val="233394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2A2B5-6E33-8EE8-9362-739CD75E0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4A6EC-79AA-90BA-856B-24F902E37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87426-A94C-2E6B-1769-0A0924A536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1260BF-31A8-D0D7-9CDD-D59851E01E42}"/>
              </a:ext>
            </a:extLst>
          </p:cNvPr>
          <p:cNvSpPr>
            <a:spLocks noGrp="1"/>
          </p:cNvSpPr>
          <p:nvPr>
            <p:ph type="sldNum" sz="quarter" idx="5"/>
          </p:nvPr>
        </p:nvSpPr>
        <p:spPr/>
        <p:txBody>
          <a:bodyPr/>
          <a:lstStyle/>
          <a:p>
            <a:fld id="{21A5E430-97AE-C04C-BB4B-47DC21A043A5}" type="slidenum">
              <a:rPr lang="en-US" smtClean="0"/>
              <a:t>24</a:t>
            </a:fld>
            <a:endParaRPr lang="en-US"/>
          </a:p>
        </p:txBody>
      </p:sp>
    </p:spTree>
    <p:extLst>
      <p:ext uri="{BB962C8B-B14F-4D97-AF65-F5344CB8AC3E}">
        <p14:creationId xmlns:p14="http://schemas.microsoft.com/office/powerpoint/2010/main" val="3396047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409CA-3A20-FBA6-8710-23E6A9AC4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75B66-79C2-0F54-B273-BD0710B37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8B518-2F39-BB6F-C3E4-1140271DC8EC}"/>
              </a:ext>
            </a:extLst>
          </p:cNvPr>
          <p:cNvSpPr>
            <a:spLocks noGrp="1"/>
          </p:cNvSpPr>
          <p:nvPr>
            <p:ph type="body" idx="1"/>
          </p:nvPr>
        </p:nvSpPr>
        <p:spPr/>
        <p:txBody>
          <a:bodyPr/>
          <a:lstStyle/>
          <a:p>
            <a:r>
              <a:rPr lang="en-AU" sz="1200" b="0" kern="1200" dirty="0">
                <a:solidFill>
                  <a:schemeClr val="tx1"/>
                </a:solidFill>
                <a:effectLst/>
                <a:latin typeface="+mn-lt"/>
                <a:ea typeface="+mn-ea"/>
                <a:cs typeface="+mn-cs"/>
              </a:rPr>
              <a:t>that </a:t>
            </a:r>
            <a:r>
              <a:rPr lang="en-AU" sz="1200" b="0" kern="1200" dirty="0" err="1">
                <a:solidFill>
                  <a:schemeClr val="tx1"/>
                </a:solidFill>
                <a:effectLst/>
                <a:latin typeface="+mn-lt"/>
                <a:ea typeface="+mn-ea"/>
                <a:cs typeface="+mn-cs"/>
              </a:rPr>
              <a:t>Center</a:t>
            </a:r>
            <a:r>
              <a:rPr lang="en-AU" sz="1200" b="0" kern="1200" dirty="0">
                <a:solidFill>
                  <a:schemeClr val="tx1"/>
                </a:solidFill>
                <a:effectLst/>
                <a:latin typeface="+mn-lt"/>
                <a:ea typeface="+mn-ea"/>
                <a:cs typeface="+mn-cs"/>
              </a:rPr>
              <a:t> Ray that is going through the </a:t>
            </a:r>
            <a:r>
              <a:rPr lang="en-AU" sz="1200" b="0" kern="1200" dirty="0" err="1">
                <a:solidFill>
                  <a:schemeClr val="tx1"/>
                </a:solidFill>
                <a:effectLst/>
                <a:latin typeface="+mn-lt"/>
                <a:ea typeface="+mn-ea"/>
                <a:cs typeface="+mn-cs"/>
              </a:rPr>
              <a:t>center</a:t>
            </a:r>
            <a:r>
              <a:rPr lang="en-AU" sz="1200" b="0" kern="1200" dirty="0">
                <a:solidFill>
                  <a:schemeClr val="tx1"/>
                </a:solidFill>
                <a:effectLst/>
                <a:latin typeface="+mn-lt"/>
                <a:ea typeface="+mn-ea"/>
                <a:cs typeface="+mn-cs"/>
              </a:rPr>
              <a:t> is going to project to –f*x/z same old perspective projection equations</a:t>
            </a:r>
          </a:p>
          <a:p>
            <a:endParaRPr lang="en-AU" sz="1200" b="0" kern="1200" dirty="0">
              <a:solidFill>
                <a:schemeClr val="tx1"/>
              </a:solidFill>
              <a:effectLst/>
              <a:latin typeface="+mn-lt"/>
              <a:ea typeface="+mn-ea"/>
              <a:cs typeface="+mn-cs"/>
            </a:endParaRPr>
          </a:p>
          <a:p>
            <a:r>
              <a:rPr lang="en-AU" sz="1200" b="0" kern="1200" dirty="0">
                <a:solidFill>
                  <a:schemeClr val="tx1"/>
                </a:solidFill>
                <a:effectLst/>
                <a:latin typeface="+mn-lt"/>
                <a:ea typeface="+mn-ea"/>
                <a:cs typeface="+mn-cs"/>
              </a:rPr>
              <a:t>We now have to deal with the case when the point in world is closer and further how much is it going to get blurred and how can we quantify that.  </a:t>
            </a:r>
          </a:p>
          <a:p>
            <a:endParaRPr lang="en-US" dirty="0"/>
          </a:p>
          <a:p>
            <a:r>
              <a:rPr lang="en-AU" sz="1200" b="0" kern="1200" dirty="0">
                <a:solidFill>
                  <a:schemeClr val="tx1"/>
                </a:solidFill>
                <a:effectLst/>
                <a:latin typeface="+mn-lt"/>
                <a:ea typeface="+mn-ea"/>
                <a:cs typeface="+mn-cs"/>
              </a:rPr>
              <a:t>We are going to now Define the</a:t>
            </a:r>
          </a:p>
          <a:p>
            <a:r>
              <a:rPr lang="en-AU" sz="1200" b="0" kern="1200" dirty="0">
                <a:solidFill>
                  <a:schemeClr val="tx1"/>
                </a:solidFill>
                <a:effectLst/>
                <a:latin typeface="+mn-lt"/>
                <a:ea typeface="+mn-ea"/>
                <a:cs typeface="+mn-cs"/>
              </a:rPr>
              <a:t>focal length of the lens to be little F</a:t>
            </a:r>
          </a:p>
          <a:p>
            <a:r>
              <a:rPr lang="en-AU" sz="1200" b="0" kern="1200" dirty="0">
                <a:solidFill>
                  <a:schemeClr val="tx1"/>
                </a:solidFill>
                <a:effectLst/>
                <a:latin typeface="+mn-lt"/>
                <a:ea typeface="+mn-ea"/>
                <a:cs typeface="+mn-cs"/>
              </a:rPr>
              <a:t>so it's no longer the lens to sensor</a:t>
            </a:r>
          </a:p>
          <a:p>
            <a:r>
              <a:rPr lang="en-AU" sz="1200" b="0" kern="1200" dirty="0">
                <a:solidFill>
                  <a:schemeClr val="tx1"/>
                </a:solidFill>
                <a:effectLst/>
                <a:latin typeface="+mn-lt"/>
                <a:ea typeface="+mn-ea"/>
                <a:cs typeface="+mn-cs"/>
              </a:rPr>
              <a:t>distance it's the focal length which has</a:t>
            </a:r>
          </a:p>
          <a:p>
            <a:r>
              <a:rPr lang="en-AU" sz="1200" b="0" kern="1200" dirty="0">
                <a:solidFill>
                  <a:schemeClr val="tx1"/>
                </a:solidFill>
                <a:effectLst/>
                <a:latin typeface="+mn-lt"/>
                <a:ea typeface="+mn-ea"/>
                <a:cs typeface="+mn-cs"/>
              </a:rPr>
              <a:t>to do with this bending property that</a:t>
            </a:r>
          </a:p>
          <a:p>
            <a:endParaRPr lang="en-US" dirty="0"/>
          </a:p>
        </p:txBody>
      </p:sp>
      <p:sp>
        <p:nvSpPr>
          <p:cNvPr id="4" name="Slide Number Placeholder 3">
            <a:extLst>
              <a:ext uri="{FF2B5EF4-FFF2-40B4-BE49-F238E27FC236}">
                <a16:creationId xmlns:a16="http://schemas.microsoft.com/office/drawing/2014/main" id="{8CE3B1C9-280A-ED83-A9C5-0D818E209F8C}"/>
              </a:ext>
            </a:extLst>
          </p:cNvPr>
          <p:cNvSpPr>
            <a:spLocks noGrp="1"/>
          </p:cNvSpPr>
          <p:nvPr>
            <p:ph type="sldNum" sz="quarter" idx="5"/>
          </p:nvPr>
        </p:nvSpPr>
        <p:spPr/>
        <p:txBody>
          <a:bodyPr/>
          <a:lstStyle/>
          <a:p>
            <a:fld id="{21A5E430-97AE-C04C-BB4B-47DC21A043A5}" type="slidenum">
              <a:rPr lang="en-US" smtClean="0"/>
              <a:t>25</a:t>
            </a:fld>
            <a:endParaRPr lang="en-US"/>
          </a:p>
        </p:txBody>
      </p:sp>
    </p:spTree>
    <p:extLst>
      <p:ext uri="{BB962C8B-B14F-4D97-AF65-F5344CB8AC3E}">
        <p14:creationId xmlns:p14="http://schemas.microsoft.com/office/powerpoint/2010/main" val="2684078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05D04-600F-0CC6-9140-E255A6D29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3DD6E-BAE9-720F-63EA-466C5C3D8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C3610-33AC-BB2D-98A4-DD648577A1A2}"/>
              </a:ext>
            </a:extLst>
          </p:cNvPr>
          <p:cNvSpPr>
            <a:spLocks noGrp="1"/>
          </p:cNvSpPr>
          <p:nvPr>
            <p:ph type="body" idx="1"/>
          </p:nvPr>
        </p:nvSpPr>
        <p:spPr/>
        <p:txBody>
          <a:bodyPr/>
          <a:lstStyle/>
          <a:p>
            <a:r>
              <a:rPr lang="en-AU" sz="1200" b="0" kern="1200" dirty="0">
                <a:solidFill>
                  <a:schemeClr val="tx1"/>
                </a:solidFill>
                <a:effectLst/>
                <a:latin typeface="+mn-lt"/>
                <a:ea typeface="+mn-ea"/>
                <a:cs typeface="+mn-cs"/>
              </a:rPr>
              <a:t>that </a:t>
            </a:r>
            <a:r>
              <a:rPr lang="en-AU" sz="1200" b="0" kern="1200" dirty="0" err="1">
                <a:solidFill>
                  <a:schemeClr val="tx1"/>
                </a:solidFill>
                <a:effectLst/>
                <a:latin typeface="+mn-lt"/>
                <a:ea typeface="+mn-ea"/>
                <a:cs typeface="+mn-cs"/>
              </a:rPr>
              <a:t>Center</a:t>
            </a:r>
            <a:r>
              <a:rPr lang="en-AU" sz="1200" b="0" kern="1200" dirty="0">
                <a:solidFill>
                  <a:schemeClr val="tx1"/>
                </a:solidFill>
                <a:effectLst/>
                <a:latin typeface="+mn-lt"/>
                <a:ea typeface="+mn-ea"/>
                <a:cs typeface="+mn-cs"/>
              </a:rPr>
              <a:t> Ray that is going through the </a:t>
            </a:r>
            <a:r>
              <a:rPr lang="en-AU" sz="1200" b="0" kern="1200" dirty="0" err="1">
                <a:solidFill>
                  <a:schemeClr val="tx1"/>
                </a:solidFill>
                <a:effectLst/>
                <a:latin typeface="+mn-lt"/>
                <a:ea typeface="+mn-ea"/>
                <a:cs typeface="+mn-cs"/>
              </a:rPr>
              <a:t>center</a:t>
            </a:r>
            <a:r>
              <a:rPr lang="en-AU" sz="1200" b="0" kern="1200" dirty="0">
                <a:solidFill>
                  <a:schemeClr val="tx1"/>
                </a:solidFill>
                <a:effectLst/>
                <a:latin typeface="+mn-lt"/>
                <a:ea typeface="+mn-ea"/>
                <a:cs typeface="+mn-cs"/>
              </a:rPr>
              <a:t> is going to project to –f*x/z same old perspective projection equations</a:t>
            </a:r>
          </a:p>
          <a:p>
            <a:endParaRPr lang="en-AU" sz="1200" b="0" kern="1200" dirty="0">
              <a:solidFill>
                <a:schemeClr val="tx1"/>
              </a:solidFill>
              <a:effectLst/>
              <a:latin typeface="+mn-lt"/>
              <a:ea typeface="+mn-ea"/>
              <a:cs typeface="+mn-cs"/>
            </a:endParaRPr>
          </a:p>
          <a:p>
            <a:r>
              <a:rPr lang="en-AU" sz="1200" b="0" kern="1200" dirty="0">
                <a:solidFill>
                  <a:schemeClr val="tx1"/>
                </a:solidFill>
                <a:effectLst/>
                <a:latin typeface="+mn-lt"/>
                <a:ea typeface="+mn-ea"/>
                <a:cs typeface="+mn-cs"/>
              </a:rPr>
              <a:t>- We now have to deal with the case when the point in world is closer or further, how much is it going to get blurred? and how can we quantify that?</a:t>
            </a:r>
          </a:p>
          <a:p>
            <a:endParaRPr lang="en-US" dirty="0"/>
          </a:p>
          <a:p>
            <a:pPr marL="171450" indent="-171450">
              <a:buFontTx/>
              <a:buChar char="-"/>
            </a:pPr>
            <a:r>
              <a:rPr lang="en-US" dirty="0"/>
              <a:t>Focal length: </a:t>
            </a:r>
            <a:r>
              <a:rPr lang="en-AU" sz="1200" b="0" kern="1200" dirty="0">
                <a:solidFill>
                  <a:schemeClr val="tx1"/>
                </a:solidFill>
                <a:effectLst/>
                <a:latin typeface="+mn-lt"/>
                <a:ea typeface="+mn-ea"/>
                <a:cs typeface="+mn-cs"/>
              </a:rPr>
              <a:t>take a point in world that is the same height as the height of the lens and the Ray that is going to move straight and the ray that is going to bend and where it crosses the optical axis is defined as the focal length of the lens you can do this in the opposite direction too.</a:t>
            </a:r>
          </a:p>
          <a:p>
            <a:r>
              <a:rPr lang="en-AU" sz="1200" b="0" kern="1200" dirty="0">
                <a:solidFill>
                  <a:schemeClr val="tx1"/>
                </a:solidFill>
                <a:effectLst/>
                <a:latin typeface="+mn-lt"/>
                <a:ea typeface="+mn-ea"/>
                <a:cs typeface="+mn-cs"/>
              </a:rPr>
              <a:t>-  Focal length is related to the bending properties of the lens.</a:t>
            </a:r>
          </a:p>
          <a:p>
            <a:pPr marL="171450" indent="-171450">
              <a:buFontTx/>
              <a:buChar char="-"/>
            </a:pPr>
            <a:r>
              <a:rPr lang="en-AU" sz="1200" b="0" kern="1200" dirty="0">
                <a:solidFill>
                  <a:schemeClr val="tx1"/>
                </a:solidFill>
                <a:effectLst/>
                <a:latin typeface="+mn-lt"/>
                <a:ea typeface="+mn-ea"/>
                <a:cs typeface="+mn-cs"/>
              </a:rPr>
              <a:t>Now we need two things to define our camera the lens:</a:t>
            </a:r>
          </a:p>
          <a:p>
            <a:pPr marL="628650" lvl="1" indent="-171450">
              <a:buFontTx/>
              <a:buChar char="-"/>
            </a:pPr>
            <a:r>
              <a:rPr lang="en-AU" sz="1200" b="0" kern="1200" dirty="0">
                <a:solidFill>
                  <a:schemeClr val="tx1"/>
                </a:solidFill>
                <a:effectLst/>
                <a:latin typeface="+mn-lt"/>
                <a:ea typeface="+mn-ea"/>
                <a:cs typeface="+mn-cs"/>
              </a:rPr>
              <a:t>to sensor (image plane) distance d </a:t>
            </a:r>
          </a:p>
          <a:p>
            <a:pPr marL="628650" lvl="1" indent="-171450">
              <a:buFontTx/>
              <a:buChar char="-"/>
            </a:pPr>
            <a:r>
              <a:rPr lang="en-AU" sz="1200" b="0" kern="1200" dirty="0">
                <a:solidFill>
                  <a:schemeClr val="tx1"/>
                </a:solidFill>
                <a:effectLst/>
                <a:latin typeface="+mn-lt"/>
                <a:ea typeface="+mn-ea"/>
                <a:cs typeface="+mn-cs"/>
              </a:rPr>
              <a:t>the focal length f</a:t>
            </a:r>
          </a:p>
          <a:p>
            <a:pPr marL="628650" lvl="1" indent="-171450">
              <a:buFontTx/>
              <a:buChar char="-"/>
            </a:pPr>
            <a:endParaRPr lang="en-AU" sz="1200" b="0" kern="1200" dirty="0">
              <a:solidFill>
                <a:schemeClr val="tx1"/>
              </a:solidFill>
              <a:effectLst/>
              <a:latin typeface="+mn-lt"/>
              <a:ea typeface="+mn-ea"/>
              <a:cs typeface="+mn-cs"/>
            </a:endParaRPr>
          </a:p>
          <a:p>
            <a:pPr marL="171450" indent="-171450">
              <a:buFontTx/>
              <a:buChar char="-"/>
            </a:pPr>
            <a:endParaRPr lang="en-AU"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D9BD9EA4-1136-57C4-776F-E80251DE5A62}"/>
              </a:ext>
            </a:extLst>
          </p:cNvPr>
          <p:cNvSpPr>
            <a:spLocks noGrp="1"/>
          </p:cNvSpPr>
          <p:nvPr>
            <p:ph type="sldNum" sz="quarter" idx="5"/>
          </p:nvPr>
        </p:nvSpPr>
        <p:spPr/>
        <p:txBody>
          <a:bodyPr/>
          <a:lstStyle/>
          <a:p>
            <a:fld id="{21A5E430-97AE-C04C-BB4B-47DC21A043A5}" type="slidenum">
              <a:rPr lang="en-US" smtClean="0"/>
              <a:t>26</a:t>
            </a:fld>
            <a:endParaRPr lang="en-US"/>
          </a:p>
        </p:txBody>
      </p:sp>
    </p:spTree>
    <p:extLst>
      <p:ext uri="{BB962C8B-B14F-4D97-AF65-F5344CB8AC3E}">
        <p14:creationId xmlns:p14="http://schemas.microsoft.com/office/powerpoint/2010/main" val="3149354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2FF85-955B-8E77-3989-3E22D0097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6AA0A-CAD8-4466-79B1-8C2B3E06A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9E79B-7409-3251-14E4-6A46550E0621}"/>
              </a:ext>
            </a:extLst>
          </p:cNvPr>
          <p:cNvSpPr>
            <a:spLocks noGrp="1"/>
          </p:cNvSpPr>
          <p:nvPr>
            <p:ph type="body" idx="1"/>
          </p:nvPr>
        </p:nvSpPr>
        <p:spPr/>
        <p:txBody>
          <a:bodyPr/>
          <a:lstStyle/>
          <a:p>
            <a:r>
              <a:rPr lang="en-AU" sz="1200" b="1" kern="1200" dirty="0">
                <a:solidFill>
                  <a:schemeClr val="tx1"/>
                </a:solidFill>
                <a:effectLst/>
                <a:latin typeface="+mn-lt"/>
                <a:ea typeface="+mn-ea"/>
                <a:cs typeface="+mn-cs"/>
              </a:rPr>
              <a:t>Quick sanity check:</a:t>
            </a:r>
            <a:r>
              <a:rPr lang="en-AU" sz="1200" b="0" kern="1200" dirty="0">
                <a:solidFill>
                  <a:schemeClr val="tx1"/>
                </a:solidFill>
                <a:effectLst/>
                <a:latin typeface="+mn-lt"/>
                <a:ea typeface="+mn-ea"/>
                <a:cs typeface="+mn-cs"/>
              </a:rPr>
              <a:t> </a:t>
            </a:r>
          </a:p>
          <a:p>
            <a:pPr marL="171450" indent="-171450">
              <a:buFontTx/>
              <a:buChar char="-"/>
            </a:pPr>
            <a:r>
              <a:rPr lang="en-AU" sz="1200" b="0" kern="1200" dirty="0">
                <a:solidFill>
                  <a:schemeClr val="tx1"/>
                </a:solidFill>
                <a:effectLst/>
                <a:latin typeface="+mn-lt"/>
                <a:ea typeface="+mn-ea"/>
                <a:cs typeface="+mn-cs"/>
              </a:rPr>
              <a:t>What happens if the radius of the lens R is zero at the limit as it approaches zero so that I have a tiny tiny little pinhole and only a single ray of light goes through wall.</a:t>
            </a:r>
          </a:p>
          <a:p>
            <a:pPr marL="171450" indent="-171450">
              <a:buFontTx/>
              <a:buChar char="-"/>
            </a:pPr>
            <a:endParaRPr lang="en-AU" sz="1200" b="0" kern="1200" dirty="0">
              <a:solidFill>
                <a:schemeClr val="tx1"/>
              </a:solidFill>
              <a:effectLst/>
              <a:latin typeface="+mn-lt"/>
              <a:ea typeface="+mn-ea"/>
              <a:cs typeface="+mn-cs"/>
            </a:endParaRPr>
          </a:p>
          <a:p>
            <a:pPr marL="171450" indent="-171450">
              <a:buFontTx/>
              <a:buChar char="-"/>
            </a:pPr>
            <a:r>
              <a:rPr lang="en-AU" sz="1200" b="0" kern="1200" dirty="0">
                <a:solidFill>
                  <a:schemeClr val="tx1"/>
                </a:solidFill>
                <a:effectLst/>
                <a:latin typeface="+mn-lt"/>
                <a:ea typeface="+mn-ea"/>
                <a:cs typeface="+mn-cs"/>
              </a:rPr>
              <a:t> let's</a:t>
            </a:r>
          </a:p>
          <a:p>
            <a:r>
              <a:rPr lang="en-AU" sz="1200" b="0" kern="1200" dirty="0">
                <a:solidFill>
                  <a:schemeClr val="tx1"/>
                </a:solidFill>
                <a:effectLst/>
                <a:latin typeface="+mn-lt"/>
                <a:ea typeface="+mn-ea"/>
                <a:cs typeface="+mn-cs"/>
              </a:rPr>
              <a:t>look at the equation the equation says</a:t>
            </a:r>
          </a:p>
          <a:p>
            <a:r>
              <a:rPr lang="en-AU" sz="1200" b="0" kern="1200" dirty="0">
                <a:solidFill>
                  <a:schemeClr val="tx1"/>
                </a:solidFill>
                <a:effectLst/>
                <a:latin typeface="+mn-lt"/>
                <a:ea typeface="+mn-ea"/>
                <a:cs typeface="+mn-cs"/>
              </a:rPr>
              <a:t>that a Big R as that approaches zero the</a:t>
            </a:r>
          </a:p>
          <a:p>
            <a:r>
              <a:rPr lang="en-AU" sz="1200" b="0" kern="1200" dirty="0">
                <a:solidFill>
                  <a:schemeClr val="tx1"/>
                </a:solidFill>
                <a:effectLst/>
                <a:latin typeface="+mn-lt"/>
                <a:ea typeface="+mn-ea"/>
                <a:cs typeface="+mn-cs"/>
              </a:rPr>
              <a:t>blur radius also approaches zero so</a:t>
            </a:r>
          </a:p>
          <a:p>
            <a:r>
              <a:rPr lang="en-AU" sz="1200" b="0" kern="1200" dirty="0">
                <a:solidFill>
                  <a:schemeClr val="tx1"/>
                </a:solidFill>
                <a:effectLst/>
                <a:latin typeface="+mn-lt"/>
                <a:ea typeface="+mn-ea"/>
                <a:cs typeface="+mn-cs"/>
              </a:rPr>
              <a:t>everything is imaged into perfect Focus</a:t>
            </a:r>
          </a:p>
          <a:p>
            <a:r>
              <a:rPr lang="en-AU" sz="1200" b="0" kern="1200" dirty="0">
                <a:solidFill>
                  <a:schemeClr val="tx1"/>
                </a:solidFill>
                <a:effectLst/>
                <a:latin typeface="+mn-lt"/>
                <a:ea typeface="+mn-ea"/>
                <a:cs typeface="+mn-cs"/>
              </a:rPr>
              <a:t>so that makes sense the amount of blur</a:t>
            </a:r>
          </a:p>
          <a:p>
            <a:r>
              <a:rPr lang="en-AU" sz="1200" b="0" kern="1200" dirty="0">
                <a:solidFill>
                  <a:schemeClr val="tx1"/>
                </a:solidFill>
                <a:effectLst/>
                <a:latin typeface="+mn-lt"/>
                <a:ea typeface="+mn-ea"/>
                <a:cs typeface="+mn-cs"/>
              </a:rPr>
              <a:t>will be proportional to how your lens or</a:t>
            </a:r>
          </a:p>
          <a:p>
            <a:r>
              <a:rPr lang="en-AU" sz="1200" b="0" kern="1200" dirty="0">
                <a:solidFill>
                  <a:schemeClr val="tx1"/>
                </a:solidFill>
                <a:effectLst/>
                <a:latin typeface="+mn-lt"/>
                <a:ea typeface="+mn-ea"/>
                <a:cs typeface="+mn-cs"/>
              </a:rPr>
              <a:t>your aperture is at the front of the</a:t>
            </a:r>
          </a:p>
          <a:p>
            <a:r>
              <a:rPr lang="en-AU" sz="1200" b="0" kern="1200" dirty="0">
                <a:solidFill>
                  <a:schemeClr val="tx1"/>
                </a:solidFill>
                <a:effectLst/>
                <a:latin typeface="+mn-lt"/>
                <a:ea typeface="+mn-ea"/>
                <a:cs typeface="+mn-cs"/>
              </a:rPr>
              <a:t>lens good that makes sense what's the</a:t>
            </a:r>
          </a:p>
          <a:p>
            <a:r>
              <a:rPr lang="en-AU" sz="1200" b="0" kern="1200" dirty="0">
                <a:solidFill>
                  <a:schemeClr val="tx1"/>
                </a:solidFill>
                <a:effectLst/>
                <a:latin typeface="+mn-lt"/>
                <a:ea typeface="+mn-ea"/>
                <a:cs typeface="+mn-cs"/>
              </a:rPr>
              <a:t>other thing that we know we know that</a:t>
            </a:r>
          </a:p>
          <a:p>
            <a:r>
              <a:rPr lang="en-AU" sz="1200" b="0" kern="1200" dirty="0">
                <a:solidFill>
                  <a:schemeClr val="tx1"/>
                </a:solidFill>
                <a:effectLst/>
                <a:latin typeface="+mn-lt"/>
                <a:ea typeface="+mn-ea"/>
                <a:cs typeface="+mn-cs"/>
              </a:rPr>
              <a:t>when Z is equal to when Z naught is</a:t>
            </a:r>
          </a:p>
          <a:p>
            <a:r>
              <a:rPr lang="en-AU" sz="1200" b="0" kern="1200" dirty="0">
                <a:solidFill>
                  <a:schemeClr val="tx1"/>
                </a:solidFill>
                <a:effectLst/>
                <a:latin typeface="+mn-lt"/>
                <a:ea typeface="+mn-ea"/>
                <a:cs typeface="+mn-cs"/>
              </a:rPr>
              <a:t>equal to Z that satisfies that thin lens</a:t>
            </a:r>
          </a:p>
          <a:p>
            <a:r>
              <a:rPr lang="en-AU" sz="1200" b="0" kern="1200" dirty="0">
                <a:solidFill>
                  <a:schemeClr val="tx1"/>
                </a:solidFill>
                <a:effectLst/>
                <a:latin typeface="+mn-lt"/>
                <a:ea typeface="+mn-ea"/>
                <a:cs typeface="+mn-cs"/>
              </a:rPr>
              <a:t>equation everything should be in perfect</a:t>
            </a:r>
          </a:p>
          <a:p>
            <a:r>
              <a:rPr lang="en-AU" sz="1200" b="0" kern="1200" dirty="0">
                <a:solidFill>
                  <a:schemeClr val="tx1"/>
                </a:solidFill>
                <a:effectLst/>
                <a:latin typeface="+mn-lt"/>
                <a:ea typeface="+mn-ea"/>
                <a:cs typeface="+mn-cs"/>
              </a:rPr>
              <a:t>Focus so let's see what happens now so</a:t>
            </a:r>
          </a:p>
          <a:p>
            <a:r>
              <a:rPr lang="en-AU" sz="1200" b="0" kern="1200" dirty="0">
                <a:solidFill>
                  <a:schemeClr val="tx1"/>
                </a:solidFill>
                <a:effectLst/>
                <a:latin typeface="+mn-lt"/>
                <a:ea typeface="+mn-ea"/>
                <a:cs typeface="+mn-cs"/>
              </a:rPr>
              <a:t>here let's look inside the absolute</a:t>
            </a:r>
          </a:p>
          <a:p>
            <a:r>
              <a:rPr lang="en-AU" sz="1200" b="0" kern="1200" dirty="0">
                <a:solidFill>
                  <a:schemeClr val="tx1"/>
                </a:solidFill>
                <a:effectLst/>
                <a:latin typeface="+mn-lt"/>
                <a:ea typeface="+mn-ea"/>
                <a:cs typeface="+mn-cs"/>
              </a:rPr>
              <a:t>value inside the absolute value is one</a:t>
            </a:r>
          </a:p>
          <a:p>
            <a:r>
              <a:rPr lang="en-AU" sz="1200" b="0" kern="1200" dirty="0">
                <a:solidFill>
                  <a:schemeClr val="tx1"/>
                </a:solidFill>
                <a:effectLst/>
                <a:latin typeface="+mn-lt"/>
                <a:ea typeface="+mn-ea"/>
                <a:cs typeface="+mn-cs"/>
              </a:rPr>
              <a:t>over F minus 1 over Z naught but if Z</a:t>
            </a:r>
          </a:p>
          <a:p>
            <a:r>
              <a:rPr lang="en-AU" sz="1200" b="0" kern="1200" dirty="0">
                <a:solidFill>
                  <a:schemeClr val="tx1"/>
                </a:solidFill>
                <a:effectLst/>
                <a:latin typeface="+mn-lt"/>
                <a:ea typeface="+mn-ea"/>
                <a:cs typeface="+mn-cs"/>
              </a:rPr>
              <a:t>naught is z satisfying the thin lens</a:t>
            </a:r>
          </a:p>
          <a:p>
            <a:r>
              <a:rPr lang="en-AU" sz="1200" b="0" kern="1200" dirty="0">
                <a:solidFill>
                  <a:schemeClr val="tx1"/>
                </a:solidFill>
                <a:effectLst/>
                <a:latin typeface="+mn-lt"/>
                <a:ea typeface="+mn-ea"/>
                <a:cs typeface="+mn-cs"/>
              </a:rPr>
              <a:t>equation that you we see here well then</a:t>
            </a:r>
          </a:p>
          <a:p>
            <a:r>
              <a:rPr lang="en-AU" sz="1200" b="0" kern="1200" dirty="0">
                <a:solidFill>
                  <a:schemeClr val="tx1"/>
                </a:solidFill>
                <a:effectLst/>
                <a:latin typeface="+mn-lt"/>
                <a:ea typeface="+mn-ea"/>
                <a:cs typeface="+mn-cs"/>
              </a:rPr>
              <a:t>that term is equal to 1 over d one over</a:t>
            </a:r>
          </a:p>
          <a:p>
            <a:r>
              <a:rPr lang="en-AU" sz="1200" b="0" kern="1200" dirty="0">
                <a:solidFill>
                  <a:schemeClr val="tx1"/>
                </a:solidFill>
                <a:effectLst/>
                <a:latin typeface="+mn-lt"/>
                <a:ea typeface="+mn-ea"/>
                <a:cs typeface="+mn-cs"/>
              </a:rPr>
              <a:t>D minus 1 over D of course is zero and</a:t>
            </a:r>
          </a:p>
          <a:p>
            <a:r>
              <a:rPr lang="en-AU" sz="1200" b="0" kern="1200" dirty="0">
                <a:solidFill>
                  <a:schemeClr val="tx1"/>
                </a:solidFill>
                <a:effectLst/>
                <a:latin typeface="+mn-lt"/>
                <a:ea typeface="+mn-ea"/>
                <a:cs typeface="+mn-cs"/>
              </a:rPr>
              <a:t>the blur radius is zero so now what we</a:t>
            </a:r>
          </a:p>
          <a:p>
            <a:r>
              <a:rPr lang="en-AU" sz="1200" b="0" kern="1200" dirty="0">
                <a:solidFill>
                  <a:schemeClr val="tx1"/>
                </a:solidFill>
                <a:effectLst/>
                <a:latin typeface="+mn-lt"/>
                <a:ea typeface="+mn-ea"/>
                <a:cs typeface="+mn-cs"/>
              </a:rPr>
              <a:t>see is that the amount of blur in the</a:t>
            </a:r>
          </a:p>
          <a:p>
            <a:r>
              <a:rPr lang="en-AU" sz="1200" b="0" kern="1200" dirty="0">
                <a:solidFill>
                  <a:schemeClr val="tx1"/>
                </a:solidFill>
                <a:effectLst/>
                <a:latin typeface="+mn-lt"/>
                <a:ea typeface="+mn-ea"/>
                <a:cs typeface="+mn-cs"/>
              </a:rPr>
              <a:t>image is proportional to two things how</a:t>
            </a:r>
          </a:p>
          <a:p>
            <a:r>
              <a:rPr lang="en-AU" sz="1200" b="0" kern="1200" dirty="0">
                <a:solidFill>
                  <a:schemeClr val="tx1"/>
                </a:solidFill>
                <a:effectLst/>
                <a:latin typeface="+mn-lt"/>
                <a:ea typeface="+mn-ea"/>
                <a:cs typeface="+mn-cs"/>
              </a:rPr>
              <a:t>big the aperture or lens is and then how</a:t>
            </a:r>
          </a:p>
          <a:p>
            <a:r>
              <a:rPr lang="en-AU" sz="1200" b="0" kern="1200" dirty="0">
                <a:solidFill>
                  <a:schemeClr val="tx1"/>
                </a:solidFill>
                <a:effectLst/>
                <a:latin typeface="+mn-lt"/>
                <a:ea typeface="+mn-ea"/>
                <a:cs typeface="+mn-cs"/>
              </a:rPr>
              <a:t>far we move in and out of this perfect</a:t>
            </a:r>
          </a:p>
          <a:p>
            <a:r>
              <a:rPr lang="en-AU" sz="1200" b="0" kern="1200" dirty="0">
                <a:solidFill>
                  <a:schemeClr val="tx1"/>
                </a:solidFill>
                <a:effectLst/>
                <a:latin typeface="+mn-lt"/>
                <a:ea typeface="+mn-ea"/>
                <a:cs typeface="+mn-cs"/>
              </a:rPr>
              <a:t>plane of focus</a:t>
            </a:r>
          </a:p>
          <a:p>
            <a:r>
              <a:rPr lang="en-AU" sz="1200" b="0" kern="1200" dirty="0">
                <a:solidFill>
                  <a:schemeClr val="tx1"/>
                </a:solidFill>
                <a:effectLst/>
                <a:latin typeface="+mn-lt"/>
                <a:ea typeface="+mn-ea"/>
                <a:cs typeface="+mn-cs"/>
              </a:rPr>
              <a:t>okay now we've got almost where we need</a:t>
            </a:r>
          </a:p>
          <a:p>
            <a:r>
              <a:rPr lang="en-AU" sz="1200" b="0" kern="1200" dirty="0">
                <a:solidFill>
                  <a:schemeClr val="tx1"/>
                </a:solidFill>
                <a:effectLst/>
                <a:latin typeface="+mn-lt"/>
                <a:ea typeface="+mn-ea"/>
                <a:cs typeface="+mn-cs"/>
              </a:rPr>
              <a:t>to be to explain a modern digital camera</a:t>
            </a:r>
          </a:p>
          <a:p>
            <a:r>
              <a:rPr lang="en-AU" sz="1200" b="0" kern="1200" dirty="0">
                <a:solidFill>
                  <a:schemeClr val="tx1"/>
                </a:solidFill>
                <a:effectLst/>
                <a:latin typeface="+mn-lt"/>
                <a:ea typeface="+mn-ea"/>
                <a:cs typeface="+mn-cs"/>
              </a:rPr>
              <a:t>that we're going to be using in our</a:t>
            </a:r>
          </a:p>
          <a:p>
            <a:r>
              <a:rPr lang="en-AU" sz="1200" b="0" kern="1200" dirty="0">
                <a:solidFill>
                  <a:schemeClr val="tx1"/>
                </a:solidFill>
                <a:effectLst/>
                <a:latin typeface="+mn-lt"/>
                <a:ea typeface="+mn-ea"/>
                <a:cs typeface="+mn-cs"/>
              </a:rPr>
              <a:t>computer vision systems and notice</a:t>
            </a:r>
          </a:p>
          <a:p>
            <a:r>
              <a:rPr lang="en-AU" sz="1200" b="0" kern="1200" dirty="0">
                <a:solidFill>
                  <a:schemeClr val="tx1"/>
                </a:solidFill>
                <a:effectLst/>
                <a:latin typeface="+mn-lt"/>
                <a:ea typeface="+mn-ea"/>
                <a:cs typeface="+mn-cs"/>
              </a:rPr>
              <a:t>something really beautiful here by the</a:t>
            </a:r>
          </a:p>
          <a:p>
            <a:r>
              <a:rPr lang="en-AU" sz="1200" b="0" kern="1200" dirty="0">
                <a:solidFill>
                  <a:schemeClr val="tx1"/>
                </a:solidFill>
                <a:effectLst/>
                <a:latin typeface="+mn-lt"/>
                <a:ea typeface="+mn-ea"/>
                <a:cs typeface="+mn-cs"/>
              </a:rPr>
              <a:t>introduction of the lens we didn't have</a:t>
            </a:r>
          </a:p>
          <a:p>
            <a:r>
              <a:rPr lang="en-AU" sz="1200" b="0" kern="1200" dirty="0">
                <a:solidFill>
                  <a:schemeClr val="tx1"/>
                </a:solidFill>
                <a:effectLst/>
                <a:latin typeface="+mn-lt"/>
                <a:ea typeface="+mn-ea"/>
                <a:cs typeface="+mn-cs"/>
              </a:rPr>
              <a:t>to throw away the perspective camera</a:t>
            </a:r>
          </a:p>
          <a:p>
            <a:r>
              <a:rPr lang="en-AU" sz="1200" b="0" kern="1200" dirty="0">
                <a:solidFill>
                  <a:schemeClr val="tx1"/>
                </a:solidFill>
                <a:effectLst/>
                <a:latin typeface="+mn-lt"/>
                <a:ea typeface="+mn-ea"/>
                <a:cs typeface="+mn-cs"/>
              </a:rPr>
              <a:t>model we didn't have to throw away</a:t>
            </a:r>
          </a:p>
          <a:p>
            <a:r>
              <a:rPr lang="en-AU" sz="1200" b="0" kern="1200" dirty="0">
                <a:solidFill>
                  <a:schemeClr val="tx1"/>
                </a:solidFill>
                <a:effectLst/>
                <a:latin typeface="+mn-lt"/>
                <a:ea typeface="+mn-ea"/>
                <a:cs typeface="+mn-cs"/>
              </a:rPr>
              <a:t>everything we have done with camera</a:t>
            </a:r>
          </a:p>
          <a:p>
            <a:r>
              <a:rPr lang="en-AU" sz="1200" b="0" kern="1200" dirty="0">
                <a:solidFill>
                  <a:schemeClr val="tx1"/>
                </a:solidFill>
                <a:effectLst/>
                <a:latin typeface="+mn-lt"/>
                <a:ea typeface="+mn-ea"/>
                <a:cs typeface="+mn-cs"/>
              </a:rPr>
              <a:t>obscurers and pinholes all we had to do</a:t>
            </a:r>
          </a:p>
          <a:p>
            <a:r>
              <a:rPr lang="en-AU" sz="1200" b="0" kern="1200" dirty="0">
                <a:solidFill>
                  <a:schemeClr val="tx1"/>
                </a:solidFill>
                <a:effectLst/>
                <a:latin typeface="+mn-lt"/>
                <a:ea typeface="+mn-ea"/>
                <a:cs typeface="+mn-cs"/>
              </a:rPr>
              <a:t>was add one extra term which is how</a:t>
            </a:r>
          </a:p>
          <a:p>
            <a:r>
              <a:rPr lang="en-AU" sz="1200" b="0" kern="1200" dirty="0">
                <a:solidFill>
                  <a:schemeClr val="tx1"/>
                </a:solidFill>
                <a:effectLst/>
                <a:latin typeface="+mn-lt"/>
                <a:ea typeface="+mn-ea"/>
                <a:cs typeface="+mn-cs"/>
              </a:rPr>
              <a:t>blurry how much smeared will content be</a:t>
            </a:r>
          </a:p>
          <a:p>
            <a:r>
              <a:rPr lang="en-AU" sz="1200" b="0" kern="1200" dirty="0">
                <a:solidFill>
                  <a:schemeClr val="tx1"/>
                </a:solidFill>
                <a:effectLst/>
                <a:latin typeface="+mn-lt"/>
                <a:ea typeface="+mn-ea"/>
                <a:cs typeface="+mn-cs"/>
              </a:rPr>
              <a:t>as a function of a certain distance from</a:t>
            </a:r>
          </a:p>
          <a:p>
            <a:r>
              <a:rPr lang="en-AU" sz="1200" b="0" kern="1200" dirty="0">
                <a:solidFill>
                  <a:schemeClr val="tx1"/>
                </a:solidFill>
                <a:effectLst/>
                <a:latin typeface="+mn-lt"/>
                <a:ea typeface="+mn-ea"/>
                <a:cs typeface="+mn-cs"/>
              </a:rPr>
              <a:t>the camera and with that we're now ready</a:t>
            </a:r>
          </a:p>
          <a:p>
            <a:r>
              <a:rPr lang="en-AU" sz="1200" b="0" kern="1200" dirty="0">
                <a:solidFill>
                  <a:schemeClr val="tx1"/>
                </a:solidFill>
                <a:effectLst/>
                <a:latin typeface="+mn-lt"/>
                <a:ea typeface="+mn-ea"/>
                <a:cs typeface="+mn-cs"/>
              </a:rPr>
              <a:t>to go on to look at some of the other</a:t>
            </a:r>
          </a:p>
          <a:p>
            <a:r>
              <a:rPr lang="en-AU" sz="1200" b="0" kern="1200" dirty="0">
                <a:solidFill>
                  <a:schemeClr val="tx1"/>
                </a:solidFill>
                <a:effectLst/>
                <a:latin typeface="+mn-lt"/>
                <a:ea typeface="+mn-ea"/>
                <a:cs typeface="+mn-cs"/>
              </a:rPr>
              <a:t>aspects of the modern digital camera</a:t>
            </a:r>
          </a:p>
          <a:p>
            <a:endParaRPr lang="en-US" dirty="0"/>
          </a:p>
        </p:txBody>
      </p:sp>
      <p:sp>
        <p:nvSpPr>
          <p:cNvPr id="4" name="Slide Number Placeholder 3">
            <a:extLst>
              <a:ext uri="{FF2B5EF4-FFF2-40B4-BE49-F238E27FC236}">
                <a16:creationId xmlns:a16="http://schemas.microsoft.com/office/drawing/2014/main" id="{43FC171D-7535-A77F-1810-12A14DC17D38}"/>
              </a:ext>
            </a:extLst>
          </p:cNvPr>
          <p:cNvSpPr>
            <a:spLocks noGrp="1"/>
          </p:cNvSpPr>
          <p:nvPr>
            <p:ph type="sldNum" sz="quarter" idx="5"/>
          </p:nvPr>
        </p:nvSpPr>
        <p:spPr/>
        <p:txBody>
          <a:bodyPr/>
          <a:lstStyle/>
          <a:p>
            <a:fld id="{21A5E430-97AE-C04C-BB4B-47DC21A043A5}" type="slidenum">
              <a:rPr lang="en-US" smtClean="0"/>
              <a:t>27</a:t>
            </a:fld>
            <a:endParaRPr lang="en-US"/>
          </a:p>
        </p:txBody>
      </p:sp>
    </p:spTree>
    <p:extLst>
      <p:ext uri="{BB962C8B-B14F-4D97-AF65-F5344CB8AC3E}">
        <p14:creationId xmlns:p14="http://schemas.microsoft.com/office/powerpoint/2010/main" val="919302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86219-BC88-EF79-4DE8-2E975BF5F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316B6-DB07-7249-83F1-3B1701DBE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EE702-3E62-5543-E356-27FCAEDE51C6}"/>
              </a:ext>
            </a:extLst>
          </p:cNvPr>
          <p:cNvSpPr>
            <a:spLocks noGrp="1"/>
          </p:cNvSpPr>
          <p:nvPr>
            <p:ph type="body" idx="1"/>
          </p:nvPr>
        </p:nvSpPr>
        <p:spPr/>
        <p:txBody>
          <a:bodyPr/>
          <a:lstStyle/>
          <a:p>
            <a:r>
              <a:rPr lang="en-AU" sz="1200" b="1" kern="1200" dirty="0">
                <a:solidFill>
                  <a:schemeClr val="tx1"/>
                </a:solidFill>
                <a:effectLst/>
                <a:latin typeface="+mn-lt"/>
                <a:ea typeface="+mn-ea"/>
                <a:cs typeface="+mn-cs"/>
              </a:rPr>
              <a:t>Quick sanity check:</a:t>
            </a:r>
            <a:r>
              <a:rPr lang="en-AU" sz="1200" b="0" kern="1200" dirty="0">
                <a:solidFill>
                  <a:schemeClr val="tx1"/>
                </a:solidFill>
                <a:effectLst/>
                <a:latin typeface="+mn-lt"/>
                <a:ea typeface="+mn-ea"/>
                <a:cs typeface="+mn-cs"/>
              </a:rPr>
              <a:t> </a:t>
            </a:r>
          </a:p>
          <a:p>
            <a:pPr marL="171450" indent="-171450">
              <a:buFontTx/>
              <a:buChar char="-"/>
            </a:pPr>
            <a:r>
              <a:rPr lang="en-AU" sz="1200" b="0" kern="1200" dirty="0">
                <a:solidFill>
                  <a:schemeClr val="tx1"/>
                </a:solidFill>
                <a:effectLst/>
                <a:latin typeface="+mn-lt"/>
                <a:ea typeface="+mn-ea"/>
                <a:cs typeface="+mn-cs"/>
              </a:rPr>
              <a:t>What happens if the radius of the lens R is zero at the limit as it approaches zero so that I have a tiny tiny little pinhole and only a single ray of light goes through wall.</a:t>
            </a:r>
          </a:p>
          <a:p>
            <a:pPr marL="171450" indent="-171450">
              <a:buFontTx/>
              <a:buChar char="-"/>
            </a:pPr>
            <a:r>
              <a:rPr lang="en-AU" sz="1200" b="0" kern="1200" dirty="0">
                <a:solidFill>
                  <a:schemeClr val="tx1"/>
                </a:solidFill>
                <a:effectLst/>
                <a:latin typeface="+mn-lt"/>
                <a:ea typeface="+mn-ea"/>
                <a:cs typeface="+mn-cs"/>
              </a:rPr>
              <a:t> let’s look at the equation the equation says that a Big R as that approaches zero the blur radius also approaches zero so everything is imaged into perfect Focus. </a:t>
            </a:r>
          </a:p>
          <a:p>
            <a:pPr marL="628650" lvl="1" indent="-171450">
              <a:buFontTx/>
              <a:buChar char="-"/>
            </a:pPr>
            <a:r>
              <a:rPr lang="en-AU" sz="1200" b="0" kern="1200" dirty="0">
                <a:solidFill>
                  <a:schemeClr val="tx1"/>
                </a:solidFill>
                <a:effectLst/>
                <a:latin typeface="+mn-lt"/>
                <a:ea typeface="+mn-ea"/>
                <a:cs typeface="+mn-cs"/>
              </a:rPr>
              <a:t>The amount of blur will be proportional to how big your aperture is at the front of the lens.</a:t>
            </a:r>
          </a:p>
          <a:p>
            <a:endParaRPr lang="en-AU" sz="1200" b="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D1EA2BA-FC45-22E2-4F09-5A05BFB743EB}"/>
              </a:ext>
            </a:extLst>
          </p:cNvPr>
          <p:cNvSpPr>
            <a:spLocks noGrp="1"/>
          </p:cNvSpPr>
          <p:nvPr>
            <p:ph type="sldNum" sz="quarter" idx="5"/>
          </p:nvPr>
        </p:nvSpPr>
        <p:spPr/>
        <p:txBody>
          <a:bodyPr/>
          <a:lstStyle/>
          <a:p>
            <a:fld id="{21A5E430-97AE-C04C-BB4B-47DC21A043A5}" type="slidenum">
              <a:rPr lang="en-US" smtClean="0"/>
              <a:t>28</a:t>
            </a:fld>
            <a:endParaRPr lang="en-US"/>
          </a:p>
        </p:txBody>
      </p:sp>
    </p:spTree>
    <p:extLst>
      <p:ext uri="{BB962C8B-B14F-4D97-AF65-F5344CB8AC3E}">
        <p14:creationId xmlns:p14="http://schemas.microsoft.com/office/powerpoint/2010/main" val="1277632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7332E-B4F7-5C1E-D0CF-434DBCC85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AE300-48DE-A773-85B6-F2A33AA52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BE293-DE21-62AE-DA0B-8FB0E9E03677}"/>
              </a:ext>
            </a:extLst>
          </p:cNvPr>
          <p:cNvSpPr>
            <a:spLocks noGrp="1"/>
          </p:cNvSpPr>
          <p:nvPr>
            <p:ph type="body" idx="1"/>
          </p:nvPr>
        </p:nvSpPr>
        <p:spPr/>
        <p:txBody>
          <a:bodyPr/>
          <a:lstStyle/>
          <a:p>
            <a:r>
              <a:rPr lang="en-AU" sz="1200" b="1" kern="1200" dirty="0">
                <a:solidFill>
                  <a:schemeClr val="tx1"/>
                </a:solidFill>
                <a:effectLst/>
                <a:latin typeface="+mn-lt"/>
                <a:ea typeface="+mn-ea"/>
                <a:cs typeface="+mn-cs"/>
              </a:rPr>
              <a:t>Quick sanity check:</a:t>
            </a:r>
            <a:r>
              <a:rPr lang="en-AU" sz="1200" b="0" kern="1200" dirty="0">
                <a:solidFill>
                  <a:schemeClr val="tx1"/>
                </a:solidFill>
                <a:effectLst/>
                <a:latin typeface="+mn-lt"/>
                <a:ea typeface="+mn-ea"/>
                <a:cs typeface="+mn-cs"/>
              </a:rPr>
              <a:t> </a:t>
            </a:r>
          </a:p>
          <a:p>
            <a:r>
              <a:rPr lang="en-AU" sz="1200" b="0" i="0" kern="1200" dirty="0">
                <a:solidFill>
                  <a:schemeClr val="tx1"/>
                </a:solidFill>
                <a:effectLst/>
                <a:latin typeface="+mn-lt"/>
                <a:ea typeface="+mn-ea"/>
                <a:cs typeface="+mn-cs"/>
              </a:rPr>
              <a:t>variables to explain focus and blur in the context of the </a:t>
            </a:r>
            <a:r>
              <a:rPr lang="en-AU" sz="1200" b="1" i="0" kern="1200" dirty="0">
                <a:solidFill>
                  <a:schemeClr val="tx1"/>
                </a:solidFill>
                <a:effectLst/>
                <a:latin typeface="+mn-lt"/>
                <a:ea typeface="+mn-ea"/>
                <a:cs typeface="+mn-cs"/>
              </a:rPr>
              <a:t>thin lens equation</a:t>
            </a:r>
            <a:r>
              <a:rPr lang="en-AU" sz="1200" b="0" i="0" kern="1200" dirty="0">
                <a:solidFill>
                  <a:schemeClr val="tx1"/>
                </a:solidFill>
                <a:effectLst/>
                <a:latin typeface="+mn-lt"/>
                <a:ea typeface="+mn-ea"/>
                <a:cs typeface="+mn-cs"/>
              </a:rPr>
              <a:t>:</a:t>
            </a:r>
          </a:p>
          <a:p>
            <a:pPr lvl="0"/>
            <a:r>
              <a:rPr lang="en-AU" sz="1200" b="0" i="0" kern="1200" dirty="0">
                <a:solidFill>
                  <a:schemeClr val="tx1"/>
                </a:solidFill>
                <a:effectLst/>
                <a:latin typeface="+mn-lt"/>
                <a:ea typeface="+mn-ea"/>
                <a:cs typeface="+mn-cs"/>
              </a:rPr>
              <a:t>z: This represents the distance from the lens to the point in the world that is </a:t>
            </a:r>
            <a:r>
              <a:rPr lang="en-AU" sz="1200" b="1" i="0" kern="1200" dirty="0">
                <a:solidFill>
                  <a:schemeClr val="tx1"/>
                </a:solidFill>
                <a:effectLst/>
                <a:latin typeface="+mn-lt"/>
                <a:ea typeface="+mn-ea"/>
                <a:cs typeface="+mn-cs"/>
              </a:rPr>
              <a:t>in perfect focus</a:t>
            </a:r>
            <a:r>
              <a:rPr lang="en-AU" sz="1200" b="0" i="0" kern="1200" dirty="0">
                <a:solidFill>
                  <a:schemeClr val="tx1"/>
                </a:solidFill>
                <a:effectLst/>
                <a:latin typeface="+mn-lt"/>
                <a:ea typeface="+mn-ea"/>
                <a:cs typeface="+mn-cs"/>
              </a:rPr>
              <a:t> on the sensor, according to the standard thin lens equation .</a:t>
            </a:r>
          </a:p>
          <a:p>
            <a:pPr lvl="0"/>
            <a:r>
              <a:rPr lang="en-AU" sz="1200" b="0" i="0" kern="1200" dirty="0">
                <a:solidFill>
                  <a:schemeClr val="tx1"/>
                </a:solidFill>
                <a:effectLst/>
                <a:latin typeface="+mn-lt"/>
                <a:ea typeface="+mn-ea"/>
                <a:cs typeface="+mn-cs"/>
              </a:rPr>
              <a:t>z_0: This represents the actual, variable distance of a specific point in the world from the lens.</a:t>
            </a:r>
          </a:p>
          <a:p>
            <a:pPr marL="171450" indent="-171450">
              <a:buFontTx/>
              <a:buChar char="-"/>
            </a:pPr>
            <a:endParaRPr lang="en-AU" sz="1200" b="0" kern="1200" dirty="0">
              <a:solidFill>
                <a:schemeClr val="tx1"/>
              </a:solidFill>
              <a:effectLst/>
              <a:latin typeface="+mn-lt"/>
              <a:ea typeface="+mn-ea"/>
              <a:cs typeface="+mn-cs"/>
            </a:endParaRPr>
          </a:p>
          <a:p>
            <a:pPr marL="171450" indent="-171450">
              <a:buFontTx/>
              <a:buChar char="-"/>
            </a:pPr>
            <a:r>
              <a:rPr lang="en-AU" sz="1200" b="0" kern="1200" dirty="0">
                <a:solidFill>
                  <a:schemeClr val="tx1"/>
                </a:solidFill>
                <a:effectLst/>
                <a:latin typeface="+mn-lt"/>
                <a:ea typeface="+mn-ea"/>
                <a:cs typeface="+mn-cs"/>
              </a:rPr>
              <a:t>We know that when z is equal to z_0 that satisfies that thin lens equation everything should be in perfect focus.</a:t>
            </a:r>
          </a:p>
          <a:p>
            <a:pPr marL="171450" indent="-171450">
              <a:buFontTx/>
              <a:buChar char="-"/>
            </a:pPr>
            <a:r>
              <a:rPr lang="en-AU" sz="1200" b="0" kern="1200" dirty="0">
                <a:solidFill>
                  <a:schemeClr val="tx1"/>
                </a:solidFill>
                <a:effectLst/>
                <a:latin typeface="+mn-lt"/>
                <a:ea typeface="+mn-ea"/>
                <a:cs typeface="+mn-cs"/>
              </a:rPr>
              <a:t>Let's look inside the absolute value  1/f – 1/z_0. If z_0 = z then that term is equal to 1/d – 1/d which is zero and the blur radius is zero.</a:t>
            </a:r>
          </a:p>
          <a:p>
            <a:pPr marL="171450" indent="-171450">
              <a:buFontTx/>
              <a:buChar char="-"/>
            </a:pPr>
            <a:endParaRPr lang="en-AU" sz="1200" b="0" kern="1200" dirty="0">
              <a:solidFill>
                <a:schemeClr val="tx1"/>
              </a:solidFill>
              <a:effectLst/>
              <a:latin typeface="+mn-lt"/>
              <a:ea typeface="+mn-ea"/>
              <a:cs typeface="+mn-cs"/>
            </a:endParaRPr>
          </a:p>
          <a:p>
            <a:pPr marL="171450" indent="-171450">
              <a:buFontTx/>
              <a:buChar char="-"/>
            </a:pPr>
            <a:r>
              <a:rPr lang="en-AU" sz="1200" b="0" kern="1200" dirty="0">
                <a:solidFill>
                  <a:schemeClr val="tx1"/>
                </a:solidFill>
                <a:effectLst/>
                <a:latin typeface="+mn-lt"/>
                <a:ea typeface="+mn-ea"/>
                <a:cs typeface="+mn-cs"/>
              </a:rPr>
              <a:t>Now what we see that the amount of blur in the image is proportional to two things:</a:t>
            </a:r>
          </a:p>
          <a:p>
            <a:pPr marL="628650" lvl="1" indent="-171450">
              <a:buFontTx/>
              <a:buChar char="-"/>
            </a:pPr>
            <a:r>
              <a:rPr lang="en-AU" sz="1200" b="0" kern="1200" dirty="0">
                <a:solidFill>
                  <a:schemeClr val="tx1"/>
                </a:solidFill>
                <a:effectLst/>
                <a:latin typeface="+mn-lt"/>
                <a:ea typeface="+mn-ea"/>
                <a:cs typeface="+mn-cs"/>
              </a:rPr>
              <a:t>how big the aperture or lens is and </a:t>
            </a:r>
          </a:p>
          <a:p>
            <a:pPr marL="628650" lvl="1" indent="-171450">
              <a:buFontTx/>
              <a:buChar char="-"/>
            </a:pPr>
            <a:r>
              <a:rPr lang="en-AU" sz="1200" b="0" kern="1200" dirty="0">
                <a:solidFill>
                  <a:schemeClr val="tx1"/>
                </a:solidFill>
                <a:effectLst/>
                <a:latin typeface="+mn-lt"/>
                <a:ea typeface="+mn-ea"/>
                <a:cs typeface="+mn-cs"/>
              </a:rPr>
              <a:t>How far we move in and out of this perfect plane of focus</a:t>
            </a:r>
          </a:p>
        </p:txBody>
      </p:sp>
      <p:sp>
        <p:nvSpPr>
          <p:cNvPr id="4" name="Slide Number Placeholder 3">
            <a:extLst>
              <a:ext uri="{FF2B5EF4-FFF2-40B4-BE49-F238E27FC236}">
                <a16:creationId xmlns:a16="http://schemas.microsoft.com/office/drawing/2014/main" id="{58BE6982-973F-EA23-4464-48AB4E3ECEDC}"/>
              </a:ext>
            </a:extLst>
          </p:cNvPr>
          <p:cNvSpPr>
            <a:spLocks noGrp="1"/>
          </p:cNvSpPr>
          <p:nvPr>
            <p:ph type="sldNum" sz="quarter" idx="5"/>
          </p:nvPr>
        </p:nvSpPr>
        <p:spPr/>
        <p:txBody>
          <a:bodyPr/>
          <a:lstStyle/>
          <a:p>
            <a:fld id="{21A5E430-97AE-C04C-BB4B-47DC21A043A5}" type="slidenum">
              <a:rPr lang="en-US" smtClean="0"/>
              <a:t>29</a:t>
            </a:fld>
            <a:endParaRPr lang="en-US"/>
          </a:p>
        </p:txBody>
      </p:sp>
    </p:spTree>
    <p:extLst>
      <p:ext uri="{BB962C8B-B14F-4D97-AF65-F5344CB8AC3E}">
        <p14:creationId xmlns:p14="http://schemas.microsoft.com/office/powerpoint/2010/main" val="2740317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8/5/26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8/5/26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8/6/26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8/5/26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5.pn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74.png"/><Relationship Id="rId3" Type="http://schemas.openxmlformats.org/officeDocument/2006/relationships/image" Target="../media/image66.png"/><Relationship Id="rId7" Type="http://schemas.openxmlformats.org/officeDocument/2006/relationships/image" Target="../media/image59.png"/><Relationship Id="rId12"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2.png"/><Relationship Id="rId5" Type="http://schemas.openxmlformats.org/officeDocument/2006/relationships/image" Target="../media/image68.png"/><Relationship Id="rId10" Type="http://schemas.openxmlformats.org/officeDocument/2006/relationships/image" Target="../media/image71.png"/><Relationship Id="rId4" Type="http://schemas.openxmlformats.org/officeDocument/2006/relationships/image" Target="../media/image67.png"/><Relationship Id="rId9" Type="http://schemas.openxmlformats.org/officeDocument/2006/relationships/image" Target="../media/image7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dirty="0"/>
              <a:t>Lecture 2 (06/08/2026)</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FB3D-2BCF-64A0-6540-B7E38707E4CA}"/>
              </a:ext>
            </a:extLst>
          </p:cNvPr>
          <p:cNvSpPr>
            <a:spLocks noGrp="1"/>
          </p:cNvSpPr>
          <p:nvPr>
            <p:ph type="title"/>
          </p:nvPr>
        </p:nvSpPr>
        <p:spPr/>
        <p:txBody>
          <a:bodyPr/>
          <a:lstStyle/>
          <a:p>
            <a:r>
              <a:rPr lang="en-AU" dirty="0"/>
              <a:t>Let’s design a camera</a:t>
            </a:r>
            <a:endParaRPr lang="en-US" dirty="0"/>
          </a:p>
        </p:txBody>
      </p:sp>
      <p:sp>
        <p:nvSpPr>
          <p:cNvPr id="3" name="Content Placeholder 2">
            <a:extLst>
              <a:ext uri="{FF2B5EF4-FFF2-40B4-BE49-F238E27FC236}">
                <a16:creationId xmlns:a16="http://schemas.microsoft.com/office/drawing/2014/main" id="{F2470675-E26E-813C-8526-549055850726}"/>
              </a:ext>
            </a:extLst>
          </p:cNvPr>
          <p:cNvSpPr>
            <a:spLocks noGrp="1"/>
          </p:cNvSpPr>
          <p:nvPr>
            <p:ph idx="1"/>
          </p:nvPr>
        </p:nvSpPr>
        <p:spPr/>
        <p:txBody>
          <a:bodyPr/>
          <a:lstStyle/>
          <a:p>
            <a:r>
              <a:rPr lang="en-AU" dirty="0"/>
              <a:t>Idea 1: put a piece of film in front of an object</a:t>
            </a:r>
          </a:p>
          <a:p>
            <a:r>
              <a:rPr lang="en-AU" dirty="0"/>
              <a:t>Do we get a reasonable image?</a:t>
            </a:r>
          </a:p>
          <a:p>
            <a:pPr marL="0" indent="0">
              <a:buNone/>
            </a:pPr>
            <a:endParaRPr lang="en-US" dirty="0"/>
          </a:p>
        </p:txBody>
      </p:sp>
      <p:pic>
        <p:nvPicPr>
          <p:cNvPr id="5" name="Picture 4">
            <a:extLst>
              <a:ext uri="{FF2B5EF4-FFF2-40B4-BE49-F238E27FC236}">
                <a16:creationId xmlns:a16="http://schemas.microsoft.com/office/drawing/2014/main" id="{EDB03777-29B4-F9DD-808D-EDFE3B53460E}"/>
              </a:ext>
            </a:extLst>
          </p:cNvPr>
          <p:cNvPicPr>
            <a:picLocks noChangeAspect="1"/>
          </p:cNvPicPr>
          <p:nvPr/>
        </p:nvPicPr>
        <p:blipFill>
          <a:blip r:embed="rId2"/>
          <a:stretch>
            <a:fillRect/>
          </a:stretch>
        </p:blipFill>
        <p:spPr>
          <a:xfrm>
            <a:off x="1944914" y="2747488"/>
            <a:ext cx="7772400" cy="3564412"/>
          </a:xfrm>
          <a:prstGeom prst="rect">
            <a:avLst/>
          </a:prstGeom>
        </p:spPr>
      </p:pic>
    </p:spTree>
    <p:extLst>
      <p:ext uri="{BB962C8B-B14F-4D97-AF65-F5344CB8AC3E}">
        <p14:creationId xmlns:p14="http://schemas.microsoft.com/office/powerpoint/2010/main" val="35562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D09B6-E521-A62E-7C49-72C8516DBCCB}"/>
              </a:ext>
            </a:extLst>
          </p:cNvPr>
          <p:cNvSpPr>
            <a:spLocks noGrp="1"/>
          </p:cNvSpPr>
          <p:nvPr>
            <p:ph type="title"/>
          </p:nvPr>
        </p:nvSpPr>
        <p:spPr/>
        <p:txBody>
          <a:bodyPr/>
          <a:lstStyle/>
          <a:p>
            <a:r>
              <a:rPr lang="en-AU" dirty="0"/>
              <a:t>Pinhole camera model</a:t>
            </a:r>
          </a:p>
        </p:txBody>
      </p:sp>
      <p:sp>
        <p:nvSpPr>
          <p:cNvPr id="3" name="Content Placeholder 2">
            <a:extLst>
              <a:ext uri="{FF2B5EF4-FFF2-40B4-BE49-F238E27FC236}">
                <a16:creationId xmlns:a16="http://schemas.microsoft.com/office/drawing/2014/main" id="{D0A9B685-C4A8-C626-20B9-517D14B5BD34}"/>
              </a:ext>
            </a:extLst>
          </p:cNvPr>
          <p:cNvSpPr>
            <a:spLocks noGrp="1"/>
          </p:cNvSpPr>
          <p:nvPr>
            <p:ph idx="1"/>
          </p:nvPr>
        </p:nvSpPr>
        <p:spPr>
          <a:xfrm>
            <a:off x="838200" y="1825625"/>
            <a:ext cx="10515600" cy="852261"/>
          </a:xfrm>
        </p:spPr>
        <p:txBody>
          <a:bodyPr>
            <a:normAutofit lnSpcReduction="10000"/>
          </a:bodyPr>
          <a:lstStyle/>
          <a:p>
            <a:r>
              <a:rPr lang="en-US" dirty="0"/>
              <a:t>If light passes through a hole into a dark room, an inverted image of the scene is projected onto the wall. </a:t>
            </a:r>
          </a:p>
        </p:txBody>
      </p:sp>
      <p:sp>
        <p:nvSpPr>
          <p:cNvPr id="6" name="TextBox 5">
            <a:extLst>
              <a:ext uri="{FF2B5EF4-FFF2-40B4-BE49-F238E27FC236}">
                <a16:creationId xmlns:a16="http://schemas.microsoft.com/office/drawing/2014/main" id="{5E7FED46-D4B6-C0E9-5826-0443D0D9CDA7}"/>
              </a:ext>
            </a:extLst>
          </p:cNvPr>
          <p:cNvSpPr txBox="1"/>
          <p:nvPr/>
        </p:nvSpPr>
        <p:spPr>
          <a:xfrm>
            <a:off x="838202" y="2955471"/>
            <a:ext cx="5021178" cy="1384995"/>
          </a:xfrm>
          <a:prstGeom prst="rect">
            <a:avLst/>
          </a:prstGeom>
          <a:noFill/>
        </p:spPr>
        <p:txBody>
          <a:bodyPr wrap="square" rtlCol="0">
            <a:spAutoFit/>
          </a:bodyPr>
          <a:lstStyle/>
          <a:p>
            <a:r>
              <a:rPr lang="en-AU" sz="2800" dirty="0"/>
              <a:t>• Pinhole model:</a:t>
            </a:r>
          </a:p>
          <a:p>
            <a:r>
              <a:rPr lang="en-AU" sz="2800" dirty="0"/>
              <a:t>– Captures </a:t>
            </a:r>
            <a:r>
              <a:rPr lang="en-AU" sz="2800" b="1" dirty="0"/>
              <a:t>pencil of rays</a:t>
            </a:r>
            <a:r>
              <a:rPr lang="en-AU" sz="2800" dirty="0"/>
              <a:t>– all rays through a single point (pinhole)</a:t>
            </a:r>
          </a:p>
        </p:txBody>
      </p:sp>
      <p:pic>
        <p:nvPicPr>
          <p:cNvPr id="7" name="Picture 6">
            <a:extLst>
              <a:ext uri="{FF2B5EF4-FFF2-40B4-BE49-F238E27FC236}">
                <a16:creationId xmlns:a16="http://schemas.microsoft.com/office/drawing/2014/main" id="{7D54DAE7-1892-527B-D396-43A5C41C555D}"/>
              </a:ext>
            </a:extLst>
          </p:cNvPr>
          <p:cNvPicPr>
            <a:picLocks noChangeAspect="1"/>
          </p:cNvPicPr>
          <p:nvPr/>
        </p:nvPicPr>
        <p:blipFill>
          <a:blip r:embed="rId2"/>
          <a:stretch>
            <a:fillRect/>
          </a:stretch>
        </p:blipFill>
        <p:spPr>
          <a:xfrm>
            <a:off x="6096000" y="2677886"/>
            <a:ext cx="5270500" cy="4038600"/>
          </a:xfrm>
          <a:prstGeom prst="rect">
            <a:avLst/>
          </a:prstGeom>
        </p:spPr>
      </p:pic>
    </p:spTree>
    <p:extLst>
      <p:ext uri="{BB962C8B-B14F-4D97-AF65-F5344CB8AC3E}">
        <p14:creationId xmlns:p14="http://schemas.microsoft.com/office/powerpoint/2010/main" val="3892132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FDA65-4E18-C940-EDAF-E113646EF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BAE15-E425-08E2-81D9-98C1F36100B1}"/>
              </a:ext>
            </a:extLst>
          </p:cNvPr>
          <p:cNvSpPr>
            <a:spLocks noGrp="1"/>
          </p:cNvSpPr>
          <p:nvPr>
            <p:ph type="title"/>
          </p:nvPr>
        </p:nvSpPr>
        <p:spPr/>
        <p:txBody>
          <a:bodyPr/>
          <a:lstStyle/>
          <a:p>
            <a:r>
              <a:rPr lang="en-AU" dirty="0"/>
              <a:t>Pinhole camera model</a:t>
            </a:r>
          </a:p>
        </p:txBody>
      </p:sp>
      <p:pic>
        <p:nvPicPr>
          <p:cNvPr id="8" name="Picture 7">
            <a:extLst>
              <a:ext uri="{FF2B5EF4-FFF2-40B4-BE49-F238E27FC236}">
                <a16:creationId xmlns:a16="http://schemas.microsoft.com/office/drawing/2014/main" id="{61FA5EC7-8DE9-A33C-25BC-780702CFE3BC}"/>
              </a:ext>
            </a:extLst>
          </p:cNvPr>
          <p:cNvPicPr>
            <a:picLocks noChangeAspect="1"/>
          </p:cNvPicPr>
          <p:nvPr/>
        </p:nvPicPr>
        <p:blipFill>
          <a:blip r:embed="rId3"/>
          <a:stretch>
            <a:fillRect/>
          </a:stretch>
        </p:blipFill>
        <p:spPr>
          <a:xfrm>
            <a:off x="2041358" y="1317046"/>
            <a:ext cx="7772400" cy="4037007"/>
          </a:xfrm>
          <a:prstGeom prst="rect">
            <a:avLst/>
          </a:prstGeom>
        </p:spPr>
      </p:pic>
      <p:sp>
        <p:nvSpPr>
          <p:cNvPr id="10" name="Content Placeholder 9">
            <a:extLst>
              <a:ext uri="{FF2B5EF4-FFF2-40B4-BE49-F238E27FC236}">
                <a16:creationId xmlns:a16="http://schemas.microsoft.com/office/drawing/2014/main" id="{F288FE24-3C5E-0CC1-0C52-98F950A04493}"/>
              </a:ext>
            </a:extLst>
          </p:cNvPr>
          <p:cNvSpPr>
            <a:spLocks noGrp="1"/>
          </p:cNvSpPr>
          <p:nvPr>
            <p:ph idx="1"/>
          </p:nvPr>
        </p:nvSpPr>
        <p:spPr>
          <a:xfrm>
            <a:off x="669758" y="5645902"/>
            <a:ext cx="10515600" cy="621171"/>
          </a:xfrm>
        </p:spPr>
        <p:txBody>
          <a:bodyPr/>
          <a:lstStyle/>
          <a:p>
            <a:r>
              <a:rPr lang="en-US" dirty="0"/>
              <a:t>What if we bring forward the image plane towards the hole?</a:t>
            </a:r>
          </a:p>
        </p:txBody>
      </p:sp>
      <p:pic>
        <p:nvPicPr>
          <p:cNvPr id="11" name="Picture 10">
            <a:extLst>
              <a:ext uri="{FF2B5EF4-FFF2-40B4-BE49-F238E27FC236}">
                <a16:creationId xmlns:a16="http://schemas.microsoft.com/office/drawing/2014/main" id="{16B2607F-C61C-9AB1-1ED9-C2E0C2DD38DD}"/>
              </a:ext>
            </a:extLst>
          </p:cNvPr>
          <p:cNvPicPr>
            <a:picLocks noChangeAspect="1"/>
          </p:cNvPicPr>
          <p:nvPr/>
        </p:nvPicPr>
        <p:blipFill>
          <a:blip r:embed="rId4"/>
          <a:stretch>
            <a:fillRect/>
          </a:stretch>
        </p:blipFill>
        <p:spPr>
          <a:xfrm>
            <a:off x="2041362" y="1317046"/>
            <a:ext cx="7772400" cy="4037007"/>
          </a:xfrm>
          <a:prstGeom prst="rect">
            <a:avLst/>
          </a:prstGeom>
        </p:spPr>
      </p:pic>
      <p:grpSp>
        <p:nvGrpSpPr>
          <p:cNvPr id="20" name="Group 19">
            <a:extLst>
              <a:ext uri="{FF2B5EF4-FFF2-40B4-BE49-F238E27FC236}">
                <a16:creationId xmlns:a16="http://schemas.microsoft.com/office/drawing/2014/main" id="{E5ACF5DA-9E34-DD65-D4C3-3962A4D1A45E}"/>
              </a:ext>
            </a:extLst>
          </p:cNvPr>
          <p:cNvGrpSpPr/>
          <p:nvPr/>
        </p:nvGrpSpPr>
        <p:grpSpPr>
          <a:xfrm>
            <a:off x="6741695" y="1070811"/>
            <a:ext cx="1592179" cy="4490580"/>
            <a:chOff x="6741695" y="1070811"/>
            <a:chExt cx="1592179" cy="4490580"/>
          </a:xfrm>
        </p:grpSpPr>
        <p:cxnSp>
          <p:nvCxnSpPr>
            <p:cNvPr id="13" name="Straight Connector 12">
              <a:extLst>
                <a:ext uri="{FF2B5EF4-FFF2-40B4-BE49-F238E27FC236}">
                  <a16:creationId xmlns:a16="http://schemas.microsoft.com/office/drawing/2014/main" id="{C9842943-C32B-BEB4-B965-65CB20772328}"/>
                </a:ext>
              </a:extLst>
            </p:cNvPr>
            <p:cNvCxnSpPr>
              <a:cxnSpLocks/>
            </p:cNvCxnSpPr>
            <p:nvPr/>
          </p:nvCxnSpPr>
          <p:spPr>
            <a:xfrm>
              <a:off x="6749716" y="1070811"/>
              <a:ext cx="0" cy="4451684"/>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735C8CC-0183-DF09-F1E5-667C16054E6B}"/>
                </a:ext>
              </a:extLst>
            </p:cNvPr>
            <p:cNvCxnSpPr>
              <a:cxnSpLocks/>
            </p:cNvCxnSpPr>
            <p:nvPr/>
          </p:nvCxnSpPr>
          <p:spPr>
            <a:xfrm flipH="1">
              <a:off x="6741695" y="5245768"/>
              <a:ext cx="1592179" cy="0"/>
            </a:xfrm>
            <a:prstGeom prst="line">
              <a:avLst/>
            </a:prstGeom>
            <a:ln w="2857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CA117825-2AC6-FF18-619B-6334AC211F4F}"/>
                </a:ext>
              </a:extLst>
            </p:cNvPr>
            <p:cNvCxnSpPr>
              <a:cxnSpLocks/>
            </p:cNvCxnSpPr>
            <p:nvPr/>
          </p:nvCxnSpPr>
          <p:spPr>
            <a:xfrm>
              <a:off x="8333874" y="1109707"/>
              <a:ext cx="0" cy="4451684"/>
            </a:xfrm>
            <a:prstGeom prst="line">
              <a:avLst/>
            </a:prstGeom>
          </p:spPr>
          <p:style>
            <a:lnRef idx="3">
              <a:schemeClr val="dk1"/>
            </a:lnRef>
            <a:fillRef idx="0">
              <a:schemeClr val="dk1"/>
            </a:fillRef>
            <a:effectRef idx="2">
              <a:schemeClr val="dk1"/>
            </a:effectRef>
            <a:fontRef idx="minor">
              <a:schemeClr val="tx1"/>
            </a:fontRef>
          </p:style>
        </p:cxnSp>
      </p:grpSp>
      <p:cxnSp>
        <p:nvCxnSpPr>
          <p:cNvPr id="22" name="Straight Connector 21">
            <a:extLst>
              <a:ext uri="{FF2B5EF4-FFF2-40B4-BE49-F238E27FC236}">
                <a16:creationId xmlns:a16="http://schemas.microsoft.com/office/drawing/2014/main" id="{357397C0-3140-0146-0EB3-BD3CB540D130}"/>
              </a:ext>
            </a:extLst>
          </p:cNvPr>
          <p:cNvCxnSpPr>
            <a:cxnSpLocks/>
          </p:cNvCxnSpPr>
          <p:nvPr/>
        </p:nvCxnSpPr>
        <p:spPr>
          <a:xfrm flipH="1">
            <a:off x="5469147" y="2484406"/>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13DB179-AF8E-B51F-AEA3-12F6FF149B8F}"/>
              </a:ext>
            </a:extLst>
          </p:cNvPr>
          <p:cNvCxnSpPr>
            <a:cxnSpLocks/>
          </p:cNvCxnSpPr>
          <p:nvPr/>
        </p:nvCxnSpPr>
        <p:spPr>
          <a:xfrm flipH="1">
            <a:off x="5469147" y="3948021"/>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20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99B26-956B-3C01-F510-541352CF75D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9BD856-D540-E39C-FA8B-2AA4C2BD8855}"/>
              </a:ext>
            </a:extLst>
          </p:cNvPr>
          <p:cNvPicPr>
            <a:picLocks noChangeAspect="1"/>
          </p:cNvPicPr>
          <p:nvPr/>
        </p:nvPicPr>
        <p:blipFill>
          <a:blip r:embed="rId3"/>
          <a:stretch>
            <a:fillRect/>
          </a:stretch>
        </p:blipFill>
        <p:spPr>
          <a:xfrm>
            <a:off x="2045293" y="1335503"/>
            <a:ext cx="8261761" cy="3701548"/>
          </a:xfrm>
          <a:prstGeom prst="rect">
            <a:avLst/>
          </a:prstGeom>
        </p:spPr>
      </p:pic>
      <p:sp>
        <p:nvSpPr>
          <p:cNvPr id="2" name="Title 1">
            <a:extLst>
              <a:ext uri="{FF2B5EF4-FFF2-40B4-BE49-F238E27FC236}">
                <a16:creationId xmlns:a16="http://schemas.microsoft.com/office/drawing/2014/main" id="{F356FE62-63FF-1CE8-C01E-8F91C7F4B3ED}"/>
              </a:ext>
            </a:extLst>
          </p:cNvPr>
          <p:cNvSpPr>
            <a:spLocks noGrp="1"/>
          </p:cNvSpPr>
          <p:nvPr>
            <p:ph type="title"/>
          </p:nvPr>
        </p:nvSpPr>
        <p:spPr/>
        <p:txBody>
          <a:bodyPr/>
          <a:lstStyle/>
          <a:p>
            <a:r>
              <a:rPr lang="en-AU" dirty="0"/>
              <a:t>Pinhole camera model</a:t>
            </a:r>
          </a:p>
        </p:txBody>
      </p:sp>
      <p:pic>
        <p:nvPicPr>
          <p:cNvPr id="8" name="Picture 7">
            <a:extLst>
              <a:ext uri="{FF2B5EF4-FFF2-40B4-BE49-F238E27FC236}">
                <a16:creationId xmlns:a16="http://schemas.microsoft.com/office/drawing/2014/main" id="{34F09DDF-FFDC-2104-9EF0-016554D4E29A}"/>
              </a:ext>
            </a:extLst>
          </p:cNvPr>
          <p:cNvPicPr>
            <a:picLocks noChangeAspect="1"/>
          </p:cNvPicPr>
          <p:nvPr/>
        </p:nvPicPr>
        <p:blipFill>
          <a:blip r:embed="rId4"/>
          <a:stretch>
            <a:fillRect/>
          </a:stretch>
        </p:blipFill>
        <p:spPr>
          <a:xfrm>
            <a:off x="2089029" y="1314108"/>
            <a:ext cx="7772400" cy="4037007"/>
          </a:xfrm>
          <a:prstGeom prst="rect">
            <a:avLst/>
          </a:prstGeom>
        </p:spPr>
      </p:pic>
      <p:sp>
        <p:nvSpPr>
          <p:cNvPr id="10" name="Content Placeholder 9">
            <a:extLst>
              <a:ext uri="{FF2B5EF4-FFF2-40B4-BE49-F238E27FC236}">
                <a16:creationId xmlns:a16="http://schemas.microsoft.com/office/drawing/2014/main" id="{686755CC-E5CB-B34A-66DA-2049AC9462C4}"/>
              </a:ext>
            </a:extLst>
          </p:cNvPr>
          <p:cNvSpPr>
            <a:spLocks noGrp="1"/>
          </p:cNvSpPr>
          <p:nvPr>
            <p:ph idx="1"/>
          </p:nvPr>
        </p:nvSpPr>
        <p:spPr>
          <a:xfrm>
            <a:off x="669758" y="5645902"/>
            <a:ext cx="10515600" cy="822910"/>
          </a:xfrm>
        </p:spPr>
        <p:txBody>
          <a:bodyPr/>
          <a:lstStyle/>
          <a:p>
            <a:r>
              <a:rPr lang="en-AU" dirty="0"/>
              <a:t>What if we move the image plane farther form the pinhole?</a:t>
            </a:r>
          </a:p>
        </p:txBody>
      </p:sp>
      <p:grpSp>
        <p:nvGrpSpPr>
          <p:cNvPr id="14" name="Group 13">
            <a:extLst>
              <a:ext uri="{FF2B5EF4-FFF2-40B4-BE49-F238E27FC236}">
                <a16:creationId xmlns:a16="http://schemas.microsoft.com/office/drawing/2014/main" id="{73CE2224-F580-350B-BF9F-0DC204ED167C}"/>
              </a:ext>
            </a:extLst>
          </p:cNvPr>
          <p:cNvGrpSpPr/>
          <p:nvPr/>
        </p:nvGrpSpPr>
        <p:grpSpPr>
          <a:xfrm>
            <a:off x="6745857" y="1335503"/>
            <a:ext cx="2585049" cy="4120616"/>
            <a:chOff x="6745857" y="1335503"/>
            <a:chExt cx="2585049" cy="4120616"/>
          </a:xfrm>
        </p:grpSpPr>
        <p:cxnSp>
          <p:nvCxnSpPr>
            <p:cNvPr id="6" name="Straight Connector 5">
              <a:extLst>
                <a:ext uri="{FF2B5EF4-FFF2-40B4-BE49-F238E27FC236}">
                  <a16:creationId xmlns:a16="http://schemas.microsoft.com/office/drawing/2014/main" id="{5EF9E359-04F6-8FA2-F980-022558B137AE}"/>
                </a:ext>
              </a:extLst>
            </p:cNvPr>
            <p:cNvCxnSpPr/>
            <p:nvPr/>
          </p:nvCxnSpPr>
          <p:spPr>
            <a:xfrm flipV="1">
              <a:off x="6797616" y="1335503"/>
              <a:ext cx="0" cy="41163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274075-221C-6DF4-FAAB-18371C3BD9A5}"/>
                </a:ext>
              </a:extLst>
            </p:cNvPr>
            <p:cNvCxnSpPr/>
            <p:nvPr/>
          </p:nvCxnSpPr>
          <p:spPr>
            <a:xfrm flipV="1">
              <a:off x="9330906" y="1339728"/>
              <a:ext cx="0" cy="41163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041306-8450-5490-19E2-7619F727BD4B}"/>
                </a:ext>
              </a:extLst>
            </p:cNvPr>
            <p:cNvCxnSpPr>
              <a:cxnSpLocks/>
            </p:cNvCxnSpPr>
            <p:nvPr/>
          </p:nvCxnSpPr>
          <p:spPr>
            <a:xfrm flipH="1">
              <a:off x="6745857" y="5227608"/>
              <a:ext cx="2585049"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9BA6AEF4-F664-0291-484B-70811A1B4F19}"/>
              </a:ext>
            </a:extLst>
          </p:cNvPr>
          <p:cNvCxnSpPr>
            <a:cxnSpLocks/>
          </p:cNvCxnSpPr>
          <p:nvPr/>
        </p:nvCxnSpPr>
        <p:spPr>
          <a:xfrm flipH="1">
            <a:off x="5589917" y="2536166"/>
            <a:ext cx="50550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7B642D-8C5B-C035-4167-F5335BFE60DC}"/>
              </a:ext>
            </a:extLst>
          </p:cNvPr>
          <p:cNvCxnSpPr>
            <a:cxnSpLocks/>
          </p:cNvCxnSpPr>
          <p:nvPr/>
        </p:nvCxnSpPr>
        <p:spPr>
          <a:xfrm flipH="1">
            <a:off x="5414365" y="3930770"/>
            <a:ext cx="50550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33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nodeType="withEffect">
                                  <p:stCondLst>
                                    <p:cond delay="50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C3AFD-59A9-11AD-9765-9CB760C28815}"/>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11F3A827-1E60-E576-7CD6-FA4B9DC2D72C}"/>
              </a:ext>
            </a:extLst>
          </p:cNvPr>
          <p:cNvPicPr>
            <a:picLocks noChangeAspect="1"/>
          </p:cNvPicPr>
          <p:nvPr/>
        </p:nvPicPr>
        <p:blipFill>
          <a:blip r:embed="rId3"/>
          <a:stretch>
            <a:fillRect/>
          </a:stretch>
        </p:blipFill>
        <p:spPr>
          <a:xfrm>
            <a:off x="1877685" y="1638929"/>
            <a:ext cx="7620000" cy="3581400"/>
          </a:xfrm>
          <a:prstGeom prst="rect">
            <a:avLst/>
          </a:prstGeom>
        </p:spPr>
      </p:pic>
      <p:sp>
        <p:nvSpPr>
          <p:cNvPr id="2" name="Title 1">
            <a:extLst>
              <a:ext uri="{FF2B5EF4-FFF2-40B4-BE49-F238E27FC236}">
                <a16:creationId xmlns:a16="http://schemas.microsoft.com/office/drawing/2014/main" id="{D6DE0DDC-194D-4941-00C8-932CCF7E4C0B}"/>
              </a:ext>
            </a:extLst>
          </p:cNvPr>
          <p:cNvSpPr>
            <a:spLocks noGrp="1"/>
          </p:cNvSpPr>
          <p:nvPr>
            <p:ph type="title"/>
          </p:nvPr>
        </p:nvSpPr>
        <p:spPr/>
        <p:txBody>
          <a:bodyPr/>
          <a:lstStyle/>
          <a:p>
            <a:r>
              <a:rPr lang="en-AU" dirty="0"/>
              <a:t>Pinhole camera model</a:t>
            </a:r>
          </a:p>
        </p:txBody>
      </p:sp>
      <p:sp>
        <p:nvSpPr>
          <p:cNvPr id="10" name="Content Placeholder 9">
            <a:extLst>
              <a:ext uri="{FF2B5EF4-FFF2-40B4-BE49-F238E27FC236}">
                <a16:creationId xmlns:a16="http://schemas.microsoft.com/office/drawing/2014/main" id="{D76E611D-5A51-25D3-C24C-D3DE85091AB7}"/>
              </a:ext>
            </a:extLst>
          </p:cNvPr>
          <p:cNvSpPr>
            <a:spLocks noGrp="1"/>
          </p:cNvSpPr>
          <p:nvPr>
            <p:ph idx="1"/>
          </p:nvPr>
        </p:nvSpPr>
        <p:spPr>
          <a:xfrm>
            <a:off x="669758" y="5645902"/>
            <a:ext cx="10515600" cy="822910"/>
          </a:xfrm>
        </p:spPr>
        <p:txBody>
          <a:bodyPr/>
          <a:lstStyle/>
          <a:p>
            <a:r>
              <a:rPr lang="en-AU" dirty="0"/>
              <a:t>What if we move the object closer to the pinhole?</a:t>
            </a:r>
          </a:p>
        </p:txBody>
      </p:sp>
      <p:cxnSp>
        <p:nvCxnSpPr>
          <p:cNvPr id="17" name="Straight Arrow Connector 16">
            <a:extLst>
              <a:ext uri="{FF2B5EF4-FFF2-40B4-BE49-F238E27FC236}">
                <a16:creationId xmlns:a16="http://schemas.microsoft.com/office/drawing/2014/main" id="{CBBFB752-B636-524D-55F7-34C3E0B6DDA9}"/>
              </a:ext>
            </a:extLst>
          </p:cNvPr>
          <p:cNvCxnSpPr>
            <a:cxnSpLocks/>
          </p:cNvCxnSpPr>
          <p:nvPr/>
        </p:nvCxnSpPr>
        <p:spPr>
          <a:xfrm flipH="1">
            <a:off x="2570672" y="5365630"/>
            <a:ext cx="3985403" cy="0"/>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C154D163-59D6-FEE9-0B45-D6A522D18797}"/>
              </a:ext>
            </a:extLst>
          </p:cNvPr>
          <p:cNvPicPr>
            <a:picLocks noChangeAspect="1"/>
          </p:cNvPicPr>
          <p:nvPr/>
        </p:nvPicPr>
        <p:blipFill>
          <a:blip r:embed="rId4"/>
          <a:stretch>
            <a:fillRect/>
          </a:stretch>
        </p:blipFill>
        <p:spPr>
          <a:xfrm>
            <a:off x="1889187" y="1638296"/>
            <a:ext cx="7620000" cy="3581400"/>
          </a:xfrm>
          <a:prstGeom prst="rect">
            <a:avLst/>
          </a:prstGeom>
        </p:spPr>
      </p:pic>
      <p:cxnSp>
        <p:nvCxnSpPr>
          <p:cNvPr id="11" name="Straight Connector 10">
            <a:extLst>
              <a:ext uri="{FF2B5EF4-FFF2-40B4-BE49-F238E27FC236}">
                <a16:creationId xmlns:a16="http://schemas.microsoft.com/office/drawing/2014/main" id="{2A6895F3-CB92-E001-EC87-259FDFE988A4}"/>
              </a:ext>
            </a:extLst>
          </p:cNvPr>
          <p:cNvCxnSpPr/>
          <p:nvPr/>
        </p:nvCxnSpPr>
        <p:spPr>
          <a:xfrm>
            <a:off x="6349039" y="1027906"/>
            <a:ext cx="0" cy="46179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D8291E8-41B9-B9BC-1AB1-617454A5CBDE}"/>
              </a:ext>
            </a:extLst>
          </p:cNvPr>
          <p:cNvCxnSpPr>
            <a:cxnSpLocks/>
          </p:cNvCxnSpPr>
          <p:nvPr/>
        </p:nvCxnSpPr>
        <p:spPr>
          <a:xfrm flipH="1">
            <a:off x="7539487" y="2708693"/>
            <a:ext cx="2102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519CCF-698F-FD86-479A-A269BED35F6C}"/>
              </a:ext>
            </a:extLst>
          </p:cNvPr>
          <p:cNvCxnSpPr>
            <a:cxnSpLocks/>
          </p:cNvCxnSpPr>
          <p:nvPr/>
        </p:nvCxnSpPr>
        <p:spPr>
          <a:xfrm flipH="1">
            <a:off x="7553863" y="4034283"/>
            <a:ext cx="2102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3D9EC-B2BC-4AF2-A435-B56228DDC2D6}"/>
              </a:ext>
            </a:extLst>
          </p:cNvPr>
          <p:cNvCxnSpPr/>
          <p:nvPr/>
        </p:nvCxnSpPr>
        <p:spPr>
          <a:xfrm>
            <a:off x="2585052" y="1042282"/>
            <a:ext cx="0" cy="46179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67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E3DDF-1CFF-C7F9-E3CF-2FF73412F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B3C8D-0803-ED7C-72CA-9FDEF90BDD7B}"/>
              </a:ext>
            </a:extLst>
          </p:cNvPr>
          <p:cNvSpPr>
            <a:spLocks noGrp="1"/>
          </p:cNvSpPr>
          <p:nvPr>
            <p:ph type="title"/>
          </p:nvPr>
        </p:nvSpPr>
        <p:spPr/>
        <p:txBody>
          <a:bodyPr/>
          <a:lstStyle/>
          <a:p>
            <a:r>
              <a:rPr lang="en-AU" dirty="0"/>
              <a:t>Pinhole camera model</a:t>
            </a:r>
          </a:p>
        </p:txBody>
      </p:sp>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EEFC3528-6658-F0C3-C84F-6B74BF720D57}"/>
                  </a:ext>
                </a:extLst>
              </p:cNvPr>
              <p:cNvSpPr>
                <a:spLocks noGrp="1"/>
              </p:cNvSpPr>
              <p:nvPr>
                <p:ph idx="1"/>
              </p:nvPr>
            </p:nvSpPr>
            <p:spPr>
              <a:xfrm>
                <a:off x="669758" y="1690688"/>
                <a:ext cx="10515600" cy="4778124"/>
              </a:xfrm>
            </p:spPr>
            <p:txBody>
              <a:bodyPr/>
              <a:lstStyle/>
              <a:p>
                <a:r>
                  <a:rPr lang="en-AU" dirty="0"/>
                  <a:t>These two observations can be expressed as:</a:t>
                </a:r>
              </a:p>
              <a:p>
                <a:endParaRPr lang="en-AU" dirty="0"/>
              </a:p>
              <a:p>
                <a:pPr lvl="1"/>
                <a14:m>
                  <m:oMath xmlns:m="http://schemas.openxmlformats.org/officeDocument/2006/math">
                    <m:r>
                      <a:rPr lang="en-AU" b="0" i="1" smtClean="0">
                        <a:latin typeface="Cambria Math" panose="02040503050406030204" pitchFamily="18" charset="0"/>
                      </a:rPr>
                      <m:t>𝑖𝑚𝑎𝑔𝑒</m:t>
                    </m:r>
                    <m:r>
                      <a:rPr lang="en-AU" b="0" i="1" smtClean="0">
                        <a:latin typeface="Cambria Math" panose="02040503050406030204" pitchFamily="18" charset="0"/>
                      </a:rPr>
                      <m:t> </m:t>
                    </m:r>
                    <m:r>
                      <a:rPr lang="en-AU" b="0" i="1" smtClean="0">
                        <a:latin typeface="Cambria Math" panose="02040503050406030204" pitchFamily="18" charset="0"/>
                      </a:rPr>
                      <m:t>h𝑒𝑖𝑔h𝑡</m:t>
                    </m:r>
                    <m:r>
                      <a:rPr lang="en-AU" b="0" i="1" smtClean="0">
                        <a:latin typeface="Cambria Math" panose="02040503050406030204" pitchFamily="18" charset="0"/>
                      </a:rPr>
                      <m:t>∝</m:t>
                    </m:r>
                    <m:r>
                      <a:rPr lang="en-AU" b="0" i="1" smtClean="0">
                        <a:latin typeface="Cambria Math" panose="02040503050406030204" pitchFamily="18" charset="0"/>
                      </a:rPr>
                      <m:t>𝑓</m:t>
                    </m:r>
                  </m:oMath>
                </a14:m>
                <a:endParaRPr lang="en-AU" dirty="0"/>
              </a:p>
              <a:p>
                <a:pPr lvl="1"/>
                <a14:m>
                  <m:oMath xmlns:m="http://schemas.openxmlformats.org/officeDocument/2006/math">
                    <m:r>
                      <a:rPr lang="en-AU" i="1">
                        <a:latin typeface="Cambria Math" panose="02040503050406030204" pitchFamily="18" charset="0"/>
                      </a:rPr>
                      <m:t>𝑖𝑚𝑎𝑔𝑒</m:t>
                    </m:r>
                    <m:r>
                      <a:rPr lang="en-AU" i="1">
                        <a:latin typeface="Cambria Math" panose="02040503050406030204" pitchFamily="18" charset="0"/>
                      </a:rPr>
                      <m:t> </m:t>
                    </m:r>
                    <m:r>
                      <a:rPr lang="en-AU" i="1">
                        <a:latin typeface="Cambria Math" panose="02040503050406030204" pitchFamily="18" charset="0"/>
                      </a:rPr>
                      <m:t>h𝑒𝑖𝑔h𝑡</m:t>
                    </m:r>
                    <m:r>
                      <a:rPr lang="en-AU" i="1">
                        <a:latin typeface="Cambria Math" panose="02040503050406030204" pitchFamily="18" charset="0"/>
                      </a:rPr>
                      <m:t>∝</m:t>
                    </m:r>
                    <m:f>
                      <m:fPr>
                        <m:ctrlPr>
                          <a:rPr lang="en-AU" i="1" smtClean="0">
                            <a:latin typeface="Cambria Math" panose="02040503050406030204" pitchFamily="18" charset="0"/>
                          </a:rPr>
                        </m:ctrlPr>
                      </m:fPr>
                      <m:num>
                        <m:r>
                          <a:rPr lang="en-AU" b="0" i="1" smtClean="0">
                            <a:latin typeface="Cambria Math" panose="02040503050406030204" pitchFamily="18" charset="0"/>
                          </a:rPr>
                          <m:t>1</m:t>
                        </m:r>
                      </m:num>
                      <m:den>
                        <m:r>
                          <a:rPr lang="en-AU" i="1">
                            <a:latin typeface="Cambria Math" panose="02040503050406030204" pitchFamily="18" charset="0"/>
                          </a:rPr>
                          <m:t>𝑑𝑖𝑠𝑡</m:t>
                        </m:r>
                        <m:r>
                          <a:rPr lang="en-AU" i="1">
                            <a:latin typeface="Cambria Math" panose="02040503050406030204" pitchFamily="18" charset="0"/>
                          </a:rPr>
                          <m:t> </m:t>
                        </m:r>
                        <m:r>
                          <a:rPr lang="en-AU" i="1">
                            <a:latin typeface="Cambria Math" panose="02040503050406030204" pitchFamily="18" charset="0"/>
                          </a:rPr>
                          <m:t>𝑡𝑜</m:t>
                        </m:r>
                        <m:r>
                          <a:rPr lang="en-AU" i="1">
                            <a:latin typeface="Cambria Math" panose="02040503050406030204" pitchFamily="18" charset="0"/>
                          </a:rPr>
                          <m:t> </m:t>
                        </m:r>
                        <m:r>
                          <a:rPr lang="en-AU" i="1">
                            <a:latin typeface="Cambria Math" panose="02040503050406030204" pitchFamily="18" charset="0"/>
                          </a:rPr>
                          <m:t>𝑡h𝑒</m:t>
                        </m:r>
                        <m:r>
                          <a:rPr lang="en-AU" i="1">
                            <a:latin typeface="Cambria Math" panose="02040503050406030204" pitchFamily="18" charset="0"/>
                          </a:rPr>
                          <m:t> </m:t>
                        </m:r>
                        <m:r>
                          <a:rPr lang="en-AU" i="1">
                            <a:latin typeface="Cambria Math" panose="02040503050406030204" pitchFamily="18" charset="0"/>
                          </a:rPr>
                          <m:t>𝑜𝑏𝑗𝑒𝑐𝑡</m:t>
                        </m:r>
                        <m:r>
                          <m:rPr>
                            <m:nor/>
                          </m:rPr>
                          <a:rPr lang="en-AU" dirty="0"/>
                          <m:t> </m:t>
                        </m:r>
                      </m:den>
                    </m:f>
                  </m:oMath>
                </a14:m>
                <a:endParaRPr lang="en-AU" dirty="0"/>
              </a:p>
            </p:txBody>
          </p:sp>
        </mc:Choice>
        <mc:Fallback>
          <p:sp>
            <p:nvSpPr>
              <p:cNvPr id="10" name="Content Placeholder 9">
                <a:extLst>
                  <a:ext uri="{FF2B5EF4-FFF2-40B4-BE49-F238E27FC236}">
                    <a16:creationId xmlns:a16="http://schemas.microsoft.com/office/drawing/2014/main" id="{EEFC3528-6658-F0C3-C84F-6B74BF720D57}"/>
                  </a:ext>
                </a:extLst>
              </p:cNvPr>
              <p:cNvSpPr>
                <a:spLocks noGrp="1" noRot="1" noChangeAspect="1" noMove="1" noResize="1" noEditPoints="1" noAdjustHandles="1" noChangeArrowheads="1" noChangeShapeType="1" noTextEdit="1"/>
              </p:cNvSpPr>
              <p:nvPr>
                <p:ph idx="1"/>
              </p:nvPr>
            </p:nvSpPr>
            <p:spPr>
              <a:xfrm>
                <a:off x="669758" y="1690688"/>
                <a:ext cx="10515600" cy="4778124"/>
              </a:xfrm>
              <a:blipFill>
                <a:blip r:embed="rId3"/>
                <a:stretch>
                  <a:fillRect l="-965" t="-2116"/>
                </a:stretch>
              </a:blipFill>
            </p:spPr>
            <p:txBody>
              <a:bodyPr/>
              <a:lstStyle/>
              <a:p>
                <a:r>
                  <a:rPr lang="en-US">
                    <a:noFill/>
                  </a:rPr>
                  <a:t> </a:t>
                </a:r>
              </a:p>
            </p:txBody>
          </p:sp>
        </mc:Fallback>
      </mc:AlternateContent>
    </p:spTree>
    <p:extLst>
      <p:ext uri="{BB962C8B-B14F-4D97-AF65-F5344CB8AC3E}">
        <p14:creationId xmlns:p14="http://schemas.microsoft.com/office/powerpoint/2010/main" val="1235839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FD02-E8CD-4FF9-CB26-76A93F61AD71}"/>
              </a:ext>
            </a:extLst>
          </p:cNvPr>
          <p:cNvSpPr>
            <a:spLocks noGrp="1"/>
          </p:cNvSpPr>
          <p:nvPr>
            <p:ph type="title"/>
          </p:nvPr>
        </p:nvSpPr>
        <p:spPr/>
        <p:txBody>
          <a:bodyPr/>
          <a:lstStyle/>
          <a:p>
            <a:r>
              <a:rPr lang="en-US" dirty="0"/>
              <a:t>Co-ordinate system</a:t>
            </a:r>
          </a:p>
        </p:txBody>
      </p:sp>
      <p:pic>
        <p:nvPicPr>
          <p:cNvPr id="4" name="Content Placeholder 3">
            <a:extLst>
              <a:ext uri="{FF2B5EF4-FFF2-40B4-BE49-F238E27FC236}">
                <a16:creationId xmlns:a16="http://schemas.microsoft.com/office/drawing/2014/main" id="{5BD4C7AC-C3E0-7246-D934-0E5F67372374}"/>
              </a:ext>
            </a:extLst>
          </p:cNvPr>
          <p:cNvPicPr>
            <a:picLocks noGrp="1" noChangeAspect="1"/>
          </p:cNvPicPr>
          <p:nvPr>
            <p:ph idx="1"/>
          </p:nvPr>
        </p:nvPicPr>
        <p:blipFill>
          <a:blip r:embed="rId2"/>
          <a:stretch>
            <a:fillRect/>
          </a:stretch>
        </p:blipFill>
        <p:spPr>
          <a:xfrm>
            <a:off x="1910641" y="1637576"/>
            <a:ext cx="2483266" cy="2388018"/>
          </a:xfrm>
          <a:prstGeom prst="rect">
            <a:avLst/>
          </a:prstGeom>
        </p:spPr>
      </p:pic>
      <p:pic>
        <p:nvPicPr>
          <p:cNvPr id="5" name="Picture 4">
            <a:extLst>
              <a:ext uri="{FF2B5EF4-FFF2-40B4-BE49-F238E27FC236}">
                <a16:creationId xmlns:a16="http://schemas.microsoft.com/office/drawing/2014/main" id="{3544B66C-2951-1293-7CED-38DBF9CB8212}"/>
              </a:ext>
            </a:extLst>
          </p:cNvPr>
          <p:cNvPicPr>
            <a:picLocks noChangeAspect="1"/>
          </p:cNvPicPr>
          <p:nvPr/>
        </p:nvPicPr>
        <p:blipFill>
          <a:blip r:embed="rId3"/>
          <a:stretch>
            <a:fillRect/>
          </a:stretch>
        </p:blipFill>
        <p:spPr>
          <a:xfrm>
            <a:off x="6428075" y="1027906"/>
            <a:ext cx="3629770" cy="2591467"/>
          </a:xfrm>
          <a:prstGeom prst="rect">
            <a:avLst/>
          </a:prstGeom>
        </p:spPr>
      </p:pic>
      <p:pic>
        <p:nvPicPr>
          <p:cNvPr id="6" name="Picture 5">
            <a:extLst>
              <a:ext uri="{FF2B5EF4-FFF2-40B4-BE49-F238E27FC236}">
                <a16:creationId xmlns:a16="http://schemas.microsoft.com/office/drawing/2014/main" id="{32724587-46CD-D79E-738E-1BC03A0941F4}"/>
              </a:ext>
            </a:extLst>
          </p:cNvPr>
          <p:cNvPicPr>
            <a:picLocks noChangeAspect="1"/>
          </p:cNvPicPr>
          <p:nvPr/>
        </p:nvPicPr>
        <p:blipFill>
          <a:blip r:embed="rId4"/>
          <a:stretch>
            <a:fillRect/>
          </a:stretch>
        </p:blipFill>
        <p:spPr>
          <a:xfrm>
            <a:off x="838200" y="4156086"/>
            <a:ext cx="4899762" cy="2591468"/>
          </a:xfrm>
          <a:prstGeom prst="rect">
            <a:avLst/>
          </a:prstGeom>
        </p:spPr>
      </p:pic>
      <p:sp>
        <p:nvSpPr>
          <p:cNvPr id="7" name="TextBox 6">
            <a:extLst>
              <a:ext uri="{FF2B5EF4-FFF2-40B4-BE49-F238E27FC236}">
                <a16:creationId xmlns:a16="http://schemas.microsoft.com/office/drawing/2014/main" id="{55153101-BC86-10FD-7AD3-2F6F494AAAF2}"/>
              </a:ext>
            </a:extLst>
          </p:cNvPr>
          <p:cNvSpPr txBox="1"/>
          <p:nvPr/>
        </p:nvSpPr>
        <p:spPr>
          <a:xfrm>
            <a:off x="2253139" y="1506022"/>
            <a:ext cx="1421714" cy="369332"/>
          </a:xfrm>
          <a:prstGeom prst="rect">
            <a:avLst/>
          </a:prstGeom>
          <a:noFill/>
        </p:spPr>
        <p:txBody>
          <a:bodyPr wrap="square" rtlCol="0">
            <a:spAutoFit/>
          </a:bodyPr>
          <a:lstStyle/>
          <a:p>
            <a:r>
              <a:rPr lang="en-US" dirty="0"/>
              <a:t>3d World</a:t>
            </a:r>
          </a:p>
        </p:txBody>
      </p:sp>
      <p:grpSp>
        <p:nvGrpSpPr>
          <p:cNvPr id="10" name="Group 9">
            <a:extLst>
              <a:ext uri="{FF2B5EF4-FFF2-40B4-BE49-F238E27FC236}">
                <a16:creationId xmlns:a16="http://schemas.microsoft.com/office/drawing/2014/main" id="{4306963C-8E98-9855-1172-733929CF1D22}"/>
              </a:ext>
            </a:extLst>
          </p:cNvPr>
          <p:cNvGrpSpPr/>
          <p:nvPr/>
        </p:nvGrpSpPr>
        <p:grpSpPr>
          <a:xfrm>
            <a:off x="5867737" y="3659624"/>
            <a:ext cx="4204804" cy="2945714"/>
            <a:chOff x="5867737" y="3659624"/>
            <a:chExt cx="4204804" cy="2945714"/>
          </a:xfrm>
        </p:grpSpPr>
        <p:pic>
          <p:nvPicPr>
            <p:cNvPr id="8" name="Picture 7">
              <a:extLst>
                <a:ext uri="{FF2B5EF4-FFF2-40B4-BE49-F238E27FC236}">
                  <a16:creationId xmlns:a16="http://schemas.microsoft.com/office/drawing/2014/main" id="{53A1D64F-51EF-FF1B-A97E-C77490841E1A}"/>
                </a:ext>
              </a:extLst>
            </p:cNvPr>
            <p:cNvPicPr>
              <a:picLocks noChangeAspect="1"/>
            </p:cNvPicPr>
            <p:nvPr/>
          </p:nvPicPr>
          <p:blipFill>
            <a:blip r:embed="rId5"/>
            <a:stretch>
              <a:fillRect/>
            </a:stretch>
          </p:blipFill>
          <p:spPr>
            <a:xfrm>
              <a:off x="5867737" y="3659624"/>
              <a:ext cx="4075029" cy="2833251"/>
            </a:xfrm>
            <a:prstGeom prst="rect">
              <a:avLst/>
            </a:prstGeom>
          </p:spPr>
        </p:pic>
        <p:sp>
          <p:nvSpPr>
            <p:cNvPr id="9" name="Rectangle 8">
              <a:extLst>
                <a:ext uri="{FF2B5EF4-FFF2-40B4-BE49-F238E27FC236}">
                  <a16:creationId xmlns:a16="http://schemas.microsoft.com/office/drawing/2014/main" id="{AB7E85F4-0B90-C2E4-65FB-50B4839AE833}"/>
                </a:ext>
              </a:extLst>
            </p:cNvPr>
            <p:cNvSpPr/>
            <p:nvPr/>
          </p:nvSpPr>
          <p:spPr>
            <a:xfrm>
              <a:off x="6401402" y="3914304"/>
              <a:ext cx="3671139" cy="2691034"/>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233520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7976F-E7AD-6623-FE84-DF40CD9787B4}"/>
              </a:ext>
            </a:extLst>
          </p:cNvPr>
          <p:cNvSpPr>
            <a:spLocks noGrp="1"/>
          </p:cNvSpPr>
          <p:nvPr>
            <p:ph type="title"/>
          </p:nvPr>
        </p:nvSpPr>
        <p:spPr>
          <a:xfrm>
            <a:off x="838200" y="365126"/>
            <a:ext cx="10515600" cy="645528"/>
          </a:xfrm>
        </p:spPr>
        <p:txBody>
          <a:bodyPr>
            <a:normAutofit fontScale="90000"/>
          </a:bodyPr>
          <a:lstStyle/>
          <a:p>
            <a:r>
              <a:rPr lang="en-AU" dirty="0"/>
              <a:t>Pinhole camera model</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520151-1811-75F6-9511-4914832EDA4A}"/>
                  </a:ext>
                </a:extLst>
              </p:cNvPr>
              <p:cNvSpPr>
                <a:spLocks noGrp="1"/>
              </p:cNvSpPr>
              <p:nvPr>
                <p:ph idx="1"/>
              </p:nvPr>
            </p:nvSpPr>
            <p:spPr>
              <a:xfrm>
                <a:off x="838200" y="1143001"/>
                <a:ext cx="10377668" cy="2406316"/>
              </a:xfrm>
            </p:spPr>
            <p:txBody>
              <a:bodyPr>
                <a:normAutofit/>
              </a:bodyPr>
              <a:lstStyle/>
              <a:p>
                <a:r>
                  <a:rPr lang="en-AU" b="1" dirty="0" err="1"/>
                  <a:t>Center</a:t>
                </a:r>
                <a:r>
                  <a:rPr lang="en-AU" b="1" dirty="0"/>
                  <a:t> of Projection (focal point) </a:t>
                </a:r>
                <a:r>
                  <a:rPr lang="en-AU" dirty="0"/>
                  <a:t>– pinhole location</a:t>
                </a:r>
              </a:p>
              <a:p>
                <a:r>
                  <a:rPr lang="en-AU" dirty="0"/>
                  <a:t>The image is formed on the </a:t>
                </a:r>
                <a:r>
                  <a:rPr lang="en-AU" b="1" dirty="0"/>
                  <a:t>Image Plane </a:t>
                </a:r>
                <a:r>
                  <a:rPr lang="en-AU" dirty="0"/>
                  <a:t>or retinal plane.</a:t>
                </a:r>
              </a:p>
              <a:p>
                <a:r>
                  <a:rPr lang="en-AU" dirty="0"/>
                  <a:t>The </a:t>
                </a:r>
                <a:r>
                  <a:rPr lang="en-AU" b="1" dirty="0"/>
                  <a:t>aperture</a:t>
                </a:r>
                <a:r>
                  <a:rPr lang="en-AU" dirty="0"/>
                  <a:t> is referred to as the pinhole </a:t>
                </a:r>
                <a14:m>
                  <m:oMath xmlns:m="http://schemas.openxmlformats.org/officeDocument/2006/math">
                    <m:r>
                      <a:rPr lang="en-AU" b="0" i="1" dirty="0" smtClean="0">
                        <a:latin typeface="Cambria Math" panose="02040503050406030204" pitchFamily="18" charset="0"/>
                      </a:rPr>
                      <m:t>𝑂</m:t>
                    </m:r>
                  </m:oMath>
                </a14:m>
                <a:r>
                  <a:rPr lang="en-AU" dirty="0"/>
                  <a:t> or </a:t>
                </a:r>
                <a:r>
                  <a:rPr lang="en-AU" dirty="0" err="1"/>
                  <a:t>center</a:t>
                </a:r>
                <a:r>
                  <a:rPr lang="en-AU" dirty="0"/>
                  <a:t> of the camera. </a:t>
                </a:r>
              </a:p>
              <a:p>
                <a:r>
                  <a:rPr lang="en-AU" dirty="0"/>
                  <a:t>The distance between the image plane and the pinhole </a:t>
                </a:r>
                <a14:m>
                  <m:oMath xmlns:m="http://schemas.openxmlformats.org/officeDocument/2006/math">
                    <m:r>
                      <a:rPr lang="en-AU" b="0" i="1" dirty="0" smtClean="0">
                        <a:latin typeface="Cambria Math" panose="02040503050406030204" pitchFamily="18" charset="0"/>
                      </a:rPr>
                      <m:t>𝑂</m:t>
                    </m:r>
                  </m:oMath>
                </a14:m>
                <a:r>
                  <a:rPr lang="en-AU" dirty="0"/>
                  <a:t> is the focal length </a:t>
                </a:r>
                <a14:m>
                  <m:oMath xmlns:m="http://schemas.openxmlformats.org/officeDocument/2006/math">
                    <m:r>
                      <a:rPr lang="en-AU" i="1" dirty="0" smtClean="0">
                        <a:latin typeface="Cambria Math" panose="02040503050406030204" pitchFamily="18" charset="0"/>
                      </a:rPr>
                      <m:t>𝑓</m:t>
                    </m:r>
                  </m:oMath>
                </a14:m>
                <a:r>
                  <a:rPr lang="en-AU" dirty="0"/>
                  <a:t>.</a:t>
                </a:r>
              </a:p>
              <a:p>
                <a:endParaRPr lang="en-US" dirty="0"/>
              </a:p>
            </p:txBody>
          </p:sp>
        </mc:Choice>
        <mc:Fallback>
          <p:sp>
            <p:nvSpPr>
              <p:cNvPr id="3" name="Content Placeholder 2">
                <a:extLst>
                  <a:ext uri="{FF2B5EF4-FFF2-40B4-BE49-F238E27FC236}">
                    <a16:creationId xmlns:a16="http://schemas.microsoft.com/office/drawing/2014/main" id="{D2520151-1811-75F6-9511-4914832EDA4A}"/>
                  </a:ext>
                </a:extLst>
              </p:cNvPr>
              <p:cNvSpPr>
                <a:spLocks noGrp="1" noRot="1" noChangeAspect="1" noMove="1" noResize="1" noEditPoints="1" noAdjustHandles="1" noChangeArrowheads="1" noChangeShapeType="1" noTextEdit="1"/>
              </p:cNvSpPr>
              <p:nvPr>
                <p:ph idx="1"/>
              </p:nvPr>
            </p:nvSpPr>
            <p:spPr>
              <a:xfrm>
                <a:off x="838200" y="1143001"/>
                <a:ext cx="10377668" cy="2406316"/>
              </a:xfrm>
              <a:blipFill>
                <a:blip r:embed="rId2"/>
                <a:stretch>
                  <a:fillRect l="-1100" t="-4211" r="-1222" b="-631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74D2F41-5D98-72AB-CF0A-9E512F12BBB1}"/>
              </a:ext>
            </a:extLst>
          </p:cNvPr>
          <p:cNvPicPr>
            <a:picLocks noChangeAspect="1"/>
          </p:cNvPicPr>
          <p:nvPr/>
        </p:nvPicPr>
        <p:blipFill>
          <a:blip r:embed="rId3"/>
          <a:srcRect l="3311" t="9972" r="5224"/>
          <a:stretch>
            <a:fillRect/>
          </a:stretch>
        </p:blipFill>
        <p:spPr>
          <a:xfrm>
            <a:off x="2518377" y="3681664"/>
            <a:ext cx="7515962" cy="2811211"/>
          </a:xfrm>
          <a:prstGeom prst="rect">
            <a:avLst/>
          </a:prstGeom>
        </p:spPr>
      </p:pic>
      <p:sp>
        <p:nvSpPr>
          <p:cNvPr id="5" name="TextBox 4">
            <a:extLst>
              <a:ext uri="{FF2B5EF4-FFF2-40B4-BE49-F238E27FC236}">
                <a16:creationId xmlns:a16="http://schemas.microsoft.com/office/drawing/2014/main" id="{03812406-26C3-AC52-D7B4-B21A2BB26A21}"/>
              </a:ext>
            </a:extLst>
          </p:cNvPr>
          <p:cNvSpPr txBox="1"/>
          <p:nvPr/>
        </p:nvSpPr>
        <p:spPr>
          <a:xfrm>
            <a:off x="9204158" y="6308208"/>
            <a:ext cx="1335302" cy="369332"/>
          </a:xfrm>
          <a:prstGeom prst="rect">
            <a:avLst/>
          </a:prstGeom>
          <a:noFill/>
        </p:spPr>
        <p:txBody>
          <a:bodyPr wrap="none" rtlCol="0">
            <a:spAutoFit/>
          </a:bodyPr>
          <a:lstStyle/>
          <a:p>
            <a:r>
              <a:rPr lang="en-US" dirty="0"/>
              <a:t>Image plane</a:t>
            </a:r>
          </a:p>
        </p:txBody>
      </p:sp>
      <p:sp>
        <p:nvSpPr>
          <p:cNvPr id="6" name="TextBox 5">
            <a:extLst>
              <a:ext uri="{FF2B5EF4-FFF2-40B4-BE49-F238E27FC236}">
                <a16:creationId xmlns:a16="http://schemas.microsoft.com/office/drawing/2014/main" id="{ABFFFB57-E1EE-16D6-9CF8-AD87A14CC35F}"/>
              </a:ext>
            </a:extLst>
          </p:cNvPr>
          <p:cNvSpPr txBox="1"/>
          <p:nvPr/>
        </p:nvSpPr>
        <p:spPr>
          <a:xfrm>
            <a:off x="6436893" y="5161542"/>
            <a:ext cx="336952" cy="369332"/>
          </a:xfrm>
          <a:prstGeom prst="rect">
            <a:avLst/>
          </a:prstGeom>
          <a:noFill/>
        </p:spPr>
        <p:txBody>
          <a:bodyPr wrap="none" rtlCol="0">
            <a:spAutoFit/>
          </a:bodyPr>
          <a:lstStyle/>
          <a:p>
            <a:r>
              <a:rPr lang="en-US" dirty="0"/>
              <a:t>O</a:t>
            </a:r>
          </a:p>
        </p:txBody>
      </p:sp>
      <p:cxnSp>
        <p:nvCxnSpPr>
          <p:cNvPr id="8" name="Straight Connector 7">
            <a:extLst>
              <a:ext uri="{FF2B5EF4-FFF2-40B4-BE49-F238E27FC236}">
                <a16:creationId xmlns:a16="http://schemas.microsoft.com/office/drawing/2014/main" id="{F3B19146-0652-CA74-4459-58C11E17AA0F}"/>
              </a:ext>
            </a:extLst>
          </p:cNvPr>
          <p:cNvCxnSpPr>
            <a:cxnSpLocks/>
          </p:cNvCxnSpPr>
          <p:nvPr/>
        </p:nvCxnSpPr>
        <p:spPr>
          <a:xfrm>
            <a:off x="9529012" y="3946357"/>
            <a:ext cx="0" cy="24063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B55A748-F966-C297-76D7-1031DE08ECDA}"/>
              </a:ext>
            </a:extLst>
          </p:cNvPr>
          <p:cNvCxnSpPr/>
          <p:nvPr/>
        </p:nvCxnSpPr>
        <p:spPr>
          <a:xfrm flipH="1">
            <a:off x="6436893" y="6112042"/>
            <a:ext cx="3092119"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0527B23-01A7-110D-27FB-E89478645D9D}"/>
                  </a:ext>
                </a:extLst>
              </p:cNvPr>
              <p:cNvSpPr txBox="1"/>
              <p:nvPr/>
            </p:nvSpPr>
            <p:spPr>
              <a:xfrm>
                <a:off x="7760370" y="5907508"/>
                <a:ext cx="370935"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oMath>
                  </m:oMathPara>
                </a14:m>
                <a:endParaRPr lang="en-US" dirty="0"/>
              </a:p>
            </p:txBody>
          </p:sp>
        </mc:Choice>
        <mc:Fallback>
          <p:sp>
            <p:nvSpPr>
              <p:cNvPr id="13" name="TextBox 12">
                <a:extLst>
                  <a:ext uri="{FF2B5EF4-FFF2-40B4-BE49-F238E27FC236}">
                    <a16:creationId xmlns:a16="http://schemas.microsoft.com/office/drawing/2014/main" id="{D0527B23-01A7-110D-27FB-E89478645D9D}"/>
                  </a:ext>
                </a:extLst>
              </p:cNvPr>
              <p:cNvSpPr txBox="1">
                <a:spLocks noRot="1" noChangeAspect="1" noMove="1" noResize="1" noEditPoints="1" noAdjustHandles="1" noChangeArrowheads="1" noChangeShapeType="1" noTextEdit="1"/>
              </p:cNvSpPr>
              <p:nvPr/>
            </p:nvSpPr>
            <p:spPr>
              <a:xfrm>
                <a:off x="7760370" y="5907508"/>
                <a:ext cx="370935"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58080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C6A02-1BD1-A01D-7F0C-1EF19223CF65}"/>
              </a:ext>
            </a:extLst>
          </p:cNvPr>
          <p:cNvSpPr>
            <a:spLocks noGrp="1"/>
          </p:cNvSpPr>
          <p:nvPr>
            <p:ph type="title"/>
          </p:nvPr>
        </p:nvSpPr>
        <p:spPr/>
        <p:txBody>
          <a:bodyPr/>
          <a:lstStyle/>
          <a:p>
            <a:r>
              <a:rPr lang="en-AU" dirty="0"/>
              <a:t>Camera reference system</a:t>
            </a:r>
          </a:p>
        </p:txBody>
      </p:sp>
      <p:pic>
        <p:nvPicPr>
          <p:cNvPr id="5" name="Content Placeholder 4">
            <a:extLst>
              <a:ext uri="{FF2B5EF4-FFF2-40B4-BE49-F238E27FC236}">
                <a16:creationId xmlns:a16="http://schemas.microsoft.com/office/drawing/2014/main" id="{4A3D6EA5-E6A9-DE70-52D8-B8FFBA29E493}"/>
              </a:ext>
            </a:extLst>
          </p:cNvPr>
          <p:cNvPicPr>
            <a:picLocks noGrp="1" noChangeAspect="1"/>
          </p:cNvPicPr>
          <p:nvPr>
            <p:ph idx="1"/>
          </p:nvPr>
        </p:nvPicPr>
        <p:blipFill>
          <a:blip r:embed="rId2"/>
          <a:stretch>
            <a:fillRect/>
          </a:stretch>
        </p:blipFill>
        <p:spPr>
          <a:xfrm>
            <a:off x="5019306" y="3725121"/>
            <a:ext cx="6985000" cy="2654300"/>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BE18D29-D440-D6FB-24EC-B315D3F0414C}"/>
                  </a:ext>
                </a:extLst>
              </p:cNvPr>
              <p:cNvSpPr txBox="1"/>
              <p:nvPr/>
            </p:nvSpPr>
            <p:spPr>
              <a:xfrm>
                <a:off x="5785450" y="3961544"/>
                <a:ext cx="18097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r>
                        <a:rPr lang="en-AU"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𝑥</m:t>
                                    </m:r>
                                  </m:e>
                                  <m:e>
                                    <m:r>
                                      <a:rPr lang="en-US" b="0" i="1" smtClean="0">
                                        <a:latin typeface="Cambria Math" panose="02040503050406030204" pitchFamily="18" charset="0"/>
                                      </a:rPr>
                                      <m:t>𝑦</m:t>
                                    </m:r>
                                  </m:e>
                                  <m:e>
                                    <m:r>
                                      <a:rPr lang="en-US" b="0" i="1" smtClean="0">
                                        <a:latin typeface="Cambria Math" panose="02040503050406030204" pitchFamily="18" charset="0"/>
                                      </a:rPr>
                                      <m:t>𝑧</m:t>
                                    </m:r>
                                  </m:e>
                                </m:mr>
                              </m:m>
                            </m:e>
                          </m:d>
                        </m:e>
                        <m:sup>
                          <m:r>
                            <a:rPr lang="en-AU" b="0" i="1" smtClean="0">
                              <a:latin typeface="Cambria Math" panose="02040503050406030204" pitchFamily="18" charset="0"/>
                            </a:rPr>
                            <m:t>𝑇</m:t>
                          </m:r>
                        </m:sup>
                      </m:sSup>
                    </m:oMath>
                  </m:oMathPara>
                </a14:m>
                <a:endParaRPr lang="en-US" dirty="0"/>
              </a:p>
            </p:txBody>
          </p:sp>
        </mc:Choice>
        <mc:Fallback>
          <p:sp>
            <p:nvSpPr>
              <p:cNvPr id="6" name="TextBox 5">
                <a:extLst>
                  <a:ext uri="{FF2B5EF4-FFF2-40B4-BE49-F238E27FC236}">
                    <a16:creationId xmlns:a16="http://schemas.microsoft.com/office/drawing/2014/main" id="{EBE18D29-D440-D6FB-24EC-B315D3F0414C}"/>
                  </a:ext>
                </a:extLst>
              </p:cNvPr>
              <p:cNvSpPr txBox="1">
                <a:spLocks noRot="1" noChangeAspect="1" noMove="1" noResize="1" noEditPoints="1" noAdjustHandles="1" noChangeArrowheads="1" noChangeShapeType="1" noTextEdit="1"/>
              </p:cNvSpPr>
              <p:nvPr/>
            </p:nvSpPr>
            <p:spPr>
              <a:xfrm>
                <a:off x="5785450" y="3961544"/>
                <a:ext cx="180972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7B06C01-DDF3-A63E-DC4D-93395F1558F8}"/>
                  </a:ext>
                </a:extLst>
              </p:cNvPr>
              <p:cNvSpPr txBox="1"/>
              <p:nvPr/>
            </p:nvSpPr>
            <p:spPr>
              <a:xfrm>
                <a:off x="10337247" y="5975583"/>
                <a:ext cx="16670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𝑃</m:t>
                      </m:r>
                      <m:r>
                        <a:rPr lang="en-AU"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p>
                                      <m:sSupPr>
                                        <m:ctrlPr>
                                          <a:rPr lang="en-AU" b="0" i="1" smtClean="0">
                                            <a:latin typeface="Cambria Math" panose="02040503050406030204" pitchFamily="18" charset="0"/>
                                          </a:rPr>
                                        </m:ctrlPr>
                                      </m:sSupPr>
                                      <m:e>
                                        <m:r>
                                          <m:rPr>
                                            <m:brk m:alnAt="7"/>
                                          </m:rPr>
                                          <a:rPr lang="en-US" b="0" i="1" smtClean="0">
                                            <a:latin typeface="Cambria Math" panose="02040503050406030204" pitchFamily="18" charset="0"/>
                                          </a:rPr>
                                          <m:t>𝑥</m:t>
                                        </m:r>
                                      </m:e>
                                      <m:sup>
                                        <m:r>
                                          <a:rPr lang="en-AU" b="0" i="1" smtClean="0">
                                            <a:latin typeface="Cambria Math" panose="02040503050406030204" pitchFamily="18" charset="0"/>
                                          </a:rPr>
                                          <m:t>′</m:t>
                                        </m:r>
                                      </m:sup>
                                    </m:sSup>
                                  </m:e>
                                  <m:e>
                                    <m:sSup>
                                      <m:sSupPr>
                                        <m:ctrlPr>
                                          <a:rPr lang="en-AU" b="0" i="1" smtClean="0">
                                            <a:latin typeface="Cambria Math" panose="02040503050406030204" pitchFamily="18" charset="0"/>
                                          </a:rPr>
                                        </m:ctrlPr>
                                      </m:sSupPr>
                                      <m:e>
                                        <m:r>
                                          <a:rPr lang="en-US" b="0" i="1" smtClean="0">
                                            <a:latin typeface="Cambria Math" panose="02040503050406030204" pitchFamily="18" charset="0"/>
                                          </a:rPr>
                                          <m:t>𝑦</m:t>
                                        </m:r>
                                      </m:e>
                                      <m:sup>
                                        <m:r>
                                          <a:rPr lang="en-AU" b="0" i="1" smtClean="0">
                                            <a:latin typeface="Cambria Math" panose="02040503050406030204" pitchFamily="18" charset="0"/>
                                          </a:rPr>
                                          <m:t>′</m:t>
                                        </m:r>
                                      </m:sup>
                                    </m:sSup>
                                  </m:e>
                                </m:mr>
                              </m:m>
                            </m:e>
                          </m:d>
                        </m:e>
                        <m:sup>
                          <m:r>
                            <a:rPr lang="en-AU" b="0" i="1" smtClean="0">
                              <a:latin typeface="Cambria Math" panose="02040503050406030204" pitchFamily="18" charset="0"/>
                            </a:rPr>
                            <m:t>𝑇</m:t>
                          </m:r>
                        </m:sup>
                      </m:sSup>
                    </m:oMath>
                  </m:oMathPara>
                </a14:m>
                <a:endParaRPr lang="en-US" dirty="0"/>
              </a:p>
            </p:txBody>
          </p:sp>
        </mc:Choice>
        <mc:Fallback>
          <p:sp>
            <p:nvSpPr>
              <p:cNvPr id="7" name="TextBox 6">
                <a:extLst>
                  <a:ext uri="{FF2B5EF4-FFF2-40B4-BE49-F238E27FC236}">
                    <a16:creationId xmlns:a16="http://schemas.microsoft.com/office/drawing/2014/main" id="{77B06C01-DDF3-A63E-DC4D-93395F1558F8}"/>
                  </a:ext>
                </a:extLst>
              </p:cNvPr>
              <p:cNvSpPr txBox="1">
                <a:spLocks noRot="1" noChangeAspect="1" noMove="1" noResize="1" noEditPoints="1" noAdjustHandles="1" noChangeArrowheads="1" noChangeShapeType="1" noTextEdit="1"/>
              </p:cNvSpPr>
              <p:nvPr/>
            </p:nvSpPr>
            <p:spPr>
              <a:xfrm>
                <a:off x="10337247" y="5975583"/>
                <a:ext cx="1667059" cy="369332"/>
              </a:xfrm>
              <a:prstGeom prst="rect">
                <a:avLst/>
              </a:prstGeom>
              <a:blipFill>
                <a:blip r:embed="rId4"/>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9F137D7-CB56-4D4F-5E9F-F813DBE710D5}"/>
                  </a:ext>
                </a:extLst>
              </p:cNvPr>
              <p:cNvSpPr txBox="1"/>
              <p:nvPr/>
            </p:nvSpPr>
            <p:spPr>
              <a:xfrm>
                <a:off x="570518" y="1745553"/>
                <a:ext cx="10367776" cy="1015663"/>
              </a:xfrm>
              <a:prstGeom prst="rect">
                <a:avLst/>
              </a:prstGeom>
              <a:noFill/>
            </p:spPr>
            <p:txBody>
              <a:bodyPr wrap="square" rtlCol="0">
                <a:spAutoFit/>
              </a:bodyPr>
              <a:lstStyle/>
              <a:p>
                <a:pPr marL="285750" indent="-285750">
                  <a:buFont typeface="Arial" panose="020B0604020202020204" pitchFamily="34" charset="0"/>
                  <a:buChar char="•"/>
                </a:pPr>
                <a:r>
                  <a:rPr lang="en-AU" sz="2000" dirty="0"/>
                  <a:t>A coordinate system </a:t>
                </a:r>
                <a14:m>
                  <m:oMath xmlns:m="http://schemas.openxmlformats.org/officeDocument/2006/math">
                    <m:r>
                      <a:rPr lang="en-AU" sz="2000" b="0" i="0" dirty="0" smtClean="0">
                        <a:latin typeface="Cambria Math" panose="02040503050406030204" pitchFamily="18" charset="0"/>
                      </a:rPr>
                      <m:t>(</m:t>
                    </m:r>
                    <m:r>
                      <a:rPr lang="en-AU" sz="2000" i="1" dirty="0" smtClean="0">
                        <a:latin typeface="Cambria Math" panose="02040503050406030204" pitchFamily="18" charset="0"/>
                      </a:rPr>
                      <m:t>𝑖</m:t>
                    </m:r>
                    <m:r>
                      <a:rPr lang="en-AU" sz="2000" b="0" i="1" dirty="0" smtClean="0">
                        <a:latin typeface="Cambria Math" panose="02040503050406030204" pitchFamily="18" charset="0"/>
                      </a:rPr>
                      <m:t>,</m:t>
                    </m:r>
                    <m:r>
                      <a:rPr lang="en-AU" sz="2000" i="1" dirty="0">
                        <a:latin typeface="Cambria Math" panose="02040503050406030204" pitchFamily="18" charset="0"/>
                      </a:rPr>
                      <m:t> </m:t>
                    </m:r>
                    <m:r>
                      <a:rPr lang="en-AU" sz="2000" i="1" dirty="0">
                        <a:latin typeface="Cambria Math" panose="02040503050406030204" pitchFamily="18" charset="0"/>
                      </a:rPr>
                      <m:t>𝑗</m:t>
                    </m:r>
                    <m:r>
                      <a:rPr lang="en-AU" sz="2000" b="0" i="1" dirty="0" smtClean="0">
                        <a:latin typeface="Cambria Math" panose="02040503050406030204" pitchFamily="18" charset="0"/>
                      </a:rPr>
                      <m:t>,</m:t>
                    </m:r>
                    <m:r>
                      <a:rPr lang="en-AU" sz="2000" i="1" dirty="0">
                        <a:latin typeface="Cambria Math" panose="02040503050406030204" pitchFamily="18" charset="0"/>
                      </a:rPr>
                      <m:t> </m:t>
                    </m:r>
                    <m:r>
                      <a:rPr lang="en-AU" sz="2000" i="1" dirty="0">
                        <a:latin typeface="Cambria Math" panose="02040503050406030204" pitchFamily="18" charset="0"/>
                      </a:rPr>
                      <m:t>𝑘</m:t>
                    </m:r>
                    <m:r>
                      <a:rPr lang="en-AU" sz="2000" b="0" i="1" dirty="0" smtClean="0">
                        <a:latin typeface="Cambria Math" panose="02040503050406030204" pitchFamily="18" charset="0"/>
                      </a:rPr>
                      <m:t>,)</m:t>
                    </m:r>
                  </m:oMath>
                </a14:m>
                <a:r>
                  <a:rPr lang="en-AU" sz="2000" dirty="0"/>
                  <a:t> </a:t>
                </a:r>
                <a:r>
                  <a:rPr lang="en-AU" sz="2000" dirty="0" err="1"/>
                  <a:t>centered</a:t>
                </a:r>
                <a:r>
                  <a:rPr lang="en-AU" sz="2000" dirty="0"/>
                  <a:t> at the pinhole </a:t>
                </a:r>
                <a14:m>
                  <m:oMath xmlns:m="http://schemas.openxmlformats.org/officeDocument/2006/math">
                    <m:r>
                      <a:rPr lang="en-AU" sz="2000" i="1" dirty="0" smtClean="0">
                        <a:latin typeface="Cambria Math" panose="02040503050406030204" pitchFamily="18" charset="0"/>
                      </a:rPr>
                      <m:t>𝑂</m:t>
                    </m:r>
                    <m:r>
                      <a:rPr lang="en-AU" sz="2000" b="0" i="1" dirty="0" smtClean="0">
                        <a:latin typeface="Cambria Math" panose="02040503050406030204" pitchFamily="18" charset="0"/>
                      </a:rPr>
                      <m:t> </m:t>
                    </m:r>
                  </m:oMath>
                </a14:m>
                <a:r>
                  <a:rPr lang="en-AU" sz="2000" dirty="0"/>
                  <a:t>such that the axis </a:t>
                </a:r>
                <a14:m>
                  <m:oMath xmlns:m="http://schemas.openxmlformats.org/officeDocument/2006/math">
                    <m:r>
                      <a:rPr lang="en-AU" sz="2000" i="1" dirty="0" smtClean="0">
                        <a:latin typeface="Cambria Math" panose="02040503050406030204" pitchFamily="18" charset="0"/>
                      </a:rPr>
                      <m:t>𝑘</m:t>
                    </m:r>
                  </m:oMath>
                </a14:m>
                <a:r>
                  <a:rPr lang="en-AU" sz="2000" dirty="0"/>
                  <a:t> is perpendicular to the image plane. </a:t>
                </a:r>
              </a:p>
              <a:p>
                <a:pPr marL="285750" indent="-285750">
                  <a:buFont typeface="Arial" panose="020B0604020202020204" pitchFamily="34" charset="0"/>
                  <a:buChar char="•"/>
                </a:pPr>
                <a:r>
                  <a:rPr lang="en-AU" sz="2000" dirty="0"/>
                  <a:t>The line defined by </a:t>
                </a:r>
                <a14:m>
                  <m:oMath xmlns:m="http://schemas.openxmlformats.org/officeDocument/2006/math">
                    <m:sSup>
                      <m:sSupPr>
                        <m:ctrlPr>
                          <a:rPr lang="en-AU" sz="2000" i="1" dirty="0" smtClean="0">
                            <a:latin typeface="Cambria Math" panose="02040503050406030204" pitchFamily="18" charset="0"/>
                          </a:rPr>
                        </m:ctrlPr>
                      </m:sSupPr>
                      <m:e>
                        <m:r>
                          <a:rPr lang="en-AU" sz="2000" i="1" dirty="0" smtClean="0">
                            <a:latin typeface="Cambria Math" panose="02040503050406030204" pitchFamily="18" charset="0"/>
                          </a:rPr>
                          <m:t>𝐶</m:t>
                        </m:r>
                      </m:e>
                      <m:sup>
                        <m:r>
                          <a:rPr lang="en-AU" sz="2000" i="1" dirty="0" smtClean="0">
                            <a:latin typeface="Cambria Math" panose="02040503050406030204" pitchFamily="18" charset="0"/>
                          </a:rPr>
                          <m:t>′</m:t>
                        </m:r>
                      </m:sup>
                    </m:sSup>
                  </m:oMath>
                </a14:m>
                <a:r>
                  <a:rPr lang="en-AU" sz="2000" dirty="0"/>
                  <a:t> </a:t>
                </a:r>
                <a:r>
                  <a:rPr lang="en-AU" sz="2000" dirty="0" err="1"/>
                  <a:t>and</a:t>
                </a:r>
                <a:r>
                  <a:rPr lang="en-AU" sz="2000" dirty="0"/>
                  <a:t>  </a:t>
                </a:r>
                <a14:m>
                  <m:oMath xmlns:m="http://schemas.openxmlformats.org/officeDocument/2006/math">
                    <m:r>
                      <a:rPr lang="en-AU" sz="2000" i="1" dirty="0" smtClean="0">
                        <a:latin typeface="Cambria Math" panose="02040503050406030204" pitchFamily="18" charset="0"/>
                      </a:rPr>
                      <m:t>𝑂</m:t>
                    </m:r>
                  </m:oMath>
                </a14:m>
                <a:r>
                  <a:rPr lang="en-AU" sz="2000" dirty="0"/>
                  <a:t> is called the </a:t>
                </a:r>
                <a:r>
                  <a:rPr lang="en-AU" sz="2000" b="1" dirty="0"/>
                  <a:t>optical axis </a:t>
                </a:r>
                <a:r>
                  <a:rPr lang="en-AU" sz="2000" dirty="0"/>
                  <a:t>of the camera reference syst</a:t>
                </a:r>
                <a:r>
                  <a:rPr lang="en-US" sz="2000" dirty="0" err="1"/>
                  <a:t>em</a:t>
                </a:r>
                <a:r>
                  <a:rPr lang="en-US" sz="2000" dirty="0"/>
                  <a:t>.</a:t>
                </a:r>
                <a:endParaRPr lang="en-AU" sz="2000" dirty="0"/>
              </a:p>
            </p:txBody>
          </p:sp>
        </mc:Choice>
        <mc:Fallback>
          <p:sp>
            <p:nvSpPr>
              <p:cNvPr id="8" name="TextBox 7">
                <a:extLst>
                  <a:ext uri="{FF2B5EF4-FFF2-40B4-BE49-F238E27FC236}">
                    <a16:creationId xmlns:a16="http://schemas.microsoft.com/office/drawing/2014/main" id="{99F137D7-CB56-4D4F-5E9F-F813DBE710D5}"/>
                  </a:ext>
                </a:extLst>
              </p:cNvPr>
              <p:cNvSpPr txBox="1">
                <a:spLocks noRot="1" noChangeAspect="1" noMove="1" noResize="1" noEditPoints="1" noAdjustHandles="1" noChangeArrowheads="1" noChangeShapeType="1" noTextEdit="1"/>
              </p:cNvSpPr>
              <p:nvPr/>
            </p:nvSpPr>
            <p:spPr>
              <a:xfrm>
                <a:off x="570518" y="1745553"/>
                <a:ext cx="10367776" cy="1015663"/>
              </a:xfrm>
              <a:prstGeom prst="rect">
                <a:avLst/>
              </a:prstGeom>
              <a:blipFill>
                <a:blip r:embed="rId5"/>
                <a:stretch>
                  <a:fillRect l="-612" t="-3704" b="-98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CB66D4D-AFB0-8E2E-8FF4-02A9B1175588}"/>
                  </a:ext>
                </a:extLst>
              </p:cNvPr>
              <p:cNvSpPr txBox="1"/>
              <p:nvPr/>
            </p:nvSpPr>
            <p:spPr>
              <a:xfrm>
                <a:off x="838200" y="3169957"/>
                <a:ext cx="4334392" cy="369332"/>
              </a:xfrm>
              <a:prstGeom prst="rect">
                <a:avLst/>
              </a:prstGeom>
              <a:noFill/>
            </p:spPr>
            <p:txBody>
              <a:bodyPr wrap="none" rtlCol="0">
                <a:spAutoFit/>
              </a:bodyPr>
              <a:lstStyle/>
              <a:p>
                <a14:m>
                  <m:oMath xmlns:m="http://schemas.openxmlformats.org/officeDocument/2006/math">
                    <m:r>
                      <a:rPr lang="en-AU" i="1" dirty="0" smtClean="0">
                        <a:latin typeface="Cambria Math" panose="02040503050406030204" pitchFamily="18" charset="0"/>
                      </a:rPr>
                      <m:t>𝑃</m:t>
                    </m:r>
                  </m:oMath>
                </a14:m>
                <a:r>
                  <a:rPr lang="en-AU" dirty="0"/>
                  <a:t> will be projected onto the image plane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Π</m:t>
                    </m:r>
                    <m:r>
                      <a:rPr lang="en-AU" b="0" i="1" smtClean="0">
                        <a:latin typeface="Cambria Math" panose="02040503050406030204" pitchFamily="18" charset="0"/>
                        <a:ea typeface="Cambria Math" panose="02040503050406030204" pitchFamily="18" charset="0"/>
                      </a:rPr>
                      <m:t>′</m:t>
                    </m:r>
                  </m:oMath>
                </a14:m>
                <a:r>
                  <a:rPr lang="en-AU" dirty="0"/>
                  <a:t>.</a:t>
                </a:r>
              </a:p>
            </p:txBody>
          </p:sp>
        </mc:Choice>
        <mc:Fallback>
          <p:sp>
            <p:nvSpPr>
              <p:cNvPr id="3" name="TextBox 2">
                <a:extLst>
                  <a:ext uri="{FF2B5EF4-FFF2-40B4-BE49-F238E27FC236}">
                    <a16:creationId xmlns:a16="http://schemas.microsoft.com/office/drawing/2014/main" id="{8CB66D4D-AFB0-8E2E-8FF4-02A9B1175588}"/>
                  </a:ext>
                </a:extLst>
              </p:cNvPr>
              <p:cNvSpPr txBox="1">
                <a:spLocks noRot="1" noChangeAspect="1" noMove="1" noResize="1" noEditPoints="1" noAdjustHandles="1" noChangeArrowheads="1" noChangeShapeType="1" noTextEdit="1"/>
              </p:cNvSpPr>
              <p:nvPr/>
            </p:nvSpPr>
            <p:spPr>
              <a:xfrm>
                <a:off x="838200" y="3169957"/>
                <a:ext cx="4334392" cy="369332"/>
              </a:xfrm>
              <a:prstGeom prst="rect">
                <a:avLst/>
              </a:prstGeom>
              <a:blipFill>
                <a:blip r:embed="rId6"/>
                <a:stretch>
                  <a:fillRect t="-6667" r="-292"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8E894D2-773A-D36B-8BA4-6BC5B0E91CC6}"/>
                  </a:ext>
                </a:extLst>
              </p:cNvPr>
              <p:cNvSpPr txBox="1"/>
              <p:nvPr/>
            </p:nvSpPr>
            <p:spPr>
              <a:xfrm>
                <a:off x="838200" y="3607974"/>
                <a:ext cx="5952227" cy="369332"/>
              </a:xfrm>
              <a:prstGeom prst="rect">
                <a:avLst/>
              </a:prstGeom>
              <a:noFill/>
            </p:spPr>
            <p:txBody>
              <a:bodyPr wrap="square" rtlCol="0">
                <a:spAutoFit/>
              </a:bodyPr>
              <a:lstStyle/>
              <a:p>
                <a:r>
                  <a:rPr lang="en-AU" dirty="0"/>
                  <a:t>The pinhole is projected onto </a:t>
                </a:r>
                <a14:m>
                  <m:oMath xmlns:m="http://schemas.openxmlformats.org/officeDocument/2006/math">
                    <m:r>
                      <m:rPr>
                        <m:sty m:val="p"/>
                      </m:rPr>
                      <a:rPr lang="el-GR" i="1">
                        <a:latin typeface="Cambria Math" panose="02040503050406030204" pitchFamily="18" charset="0"/>
                        <a:ea typeface="Cambria Math" panose="02040503050406030204" pitchFamily="18" charset="0"/>
                      </a:rPr>
                      <m:t>Π</m:t>
                    </m:r>
                    <m:r>
                      <a:rPr lang="en-AU" i="1">
                        <a:latin typeface="Cambria Math" panose="02040503050406030204" pitchFamily="18" charset="0"/>
                        <a:ea typeface="Cambria Math" panose="02040503050406030204" pitchFamily="18" charset="0"/>
                      </a:rPr>
                      <m:t>′</m:t>
                    </m:r>
                  </m:oMath>
                </a14:m>
                <a:r>
                  <a:rPr lang="en-AU" dirty="0"/>
                  <a:t> at a new point </a:t>
                </a:r>
                <a14:m>
                  <m:oMath xmlns:m="http://schemas.openxmlformats.org/officeDocument/2006/math">
                    <m:r>
                      <a:rPr lang="en-AU" i="1" dirty="0" smtClean="0">
                        <a:latin typeface="Cambria Math" panose="02040503050406030204" pitchFamily="18" charset="0"/>
                      </a:rPr>
                      <m:t>𝐶</m:t>
                    </m:r>
                    <m:r>
                      <a:rPr lang="en-AU" i="1" dirty="0" smtClean="0">
                        <a:latin typeface="Cambria Math" panose="02040503050406030204" pitchFamily="18" charset="0"/>
                      </a:rPr>
                      <m:t>′</m:t>
                    </m:r>
                  </m:oMath>
                </a14:m>
                <a:endParaRPr lang="en-AU" dirty="0"/>
              </a:p>
            </p:txBody>
          </p:sp>
        </mc:Choice>
        <mc:Fallback>
          <p:sp>
            <p:nvSpPr>
              <p:cNvPr id="4" name="TextBox 3">
                <a:extLst>
                  <a:ext uri="{FF2B5EF4-FFF2-40B4-BE49-F238E27FC236}">
                    <a16:creationId xmlns:a16="http://schemas.microsoft.com/office/drawing/2014/main" id="{F8E894D2-773A-D36B-8BA4-6BC5B0E91CC6}"/>
                  </a:ext>
                </a:extLst>
              </p:cNvPr>
              <p:cNvSpPr txBox="1">
                <a:spLocks noRot="1" noChangeAspect="1" noMove="1" noResize="1" noEditPoints="1" noAdjustHandles="1" noChangeArrowheads="1" noChangeShapeType="1" noTextEdit="1"/>
              </p:cNvSpPr>
              <p:nvPr/>
            </p:nvSpPr>
            <p:spPr>
              <a:xfrm>
                <a:off x="838200" y="3607974"/>
                <a:ext cx="5952227" cy="369332"/>
              </a:xfrm>
              <a:prstGeom prst="rect">
                <a:avLst/>
              </a:prstGeom>
              <a:blipFill>
                <a:blip r:embed="rId7"/>
                <a:stretch>
                  <a:fillRect l="-1066" t="-10345" b="-3103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3DE86F0-9588-BE1A-F838-3A587E2C00EE}"/>
              </a:ext>
            </a:extLst>
          </p:cNvPr>
          <p:cNvSpPr txBox="1"/>
          <p:nvPr/>
        </p:nvSpPr>
        <p:spPr>
          <a:xfrm>
            <a:off x="838200" y="4105634"/>
            <a:ext cx="4015586" cy="646331"/>
          </a:xfrm>
          <a:prstGeom prst="rect">
            <a:avLst/>
          </a:prstGeom>
          <a:noFill/>
        </p:spPr>
        <p:txBody>
          <a:bodyPr wrap="none" rtlCol="0">
            <a:spAutoFit/>
          </a:bodyPr>
          <a:lstStyle/>
          <a:p>
            <a:r>
              <a:rPr lang="en-AU" dirty="0"/>
              <a:t>P′C′O is similar to the triangle formed by </a:t>
            </a:r>
          </a:p>
          <a:p>
            <a:r>
              <a:rPr lang="en-AU" dirty="0"/>
              <a:t>P, O and (0,0,z). </a:t>
            </a:r>
            <a:endParaRPr lang="en-US" dirty="0"/>
          </a:p>
        </p:txBody>
      </p:sp>
      <p:sp>
        <p:nvSpPr>
          <p:cNvPr id="11" name="Right Triangle 10">
            <a:extLst>
              <a:ext uri="{FF2B5EF4-FFF2-40B4-BE49-F238E27FC236}">
                <a16:creationId xmlns:a16="http://schemas.microsoft.com/office/drawing/2014/main" id="{502D6739-848C-13BA-AF8F-6AF04418AF4F}"/>
              </a:ext>
            </a:extLst>
          </p:cNvPr>
          <p:cNvSpPr/>
          <p:nvPr/>
        </p:nvSpPr>
        <p:spPr>
          <a:xfrm>
            <a:off x="6586795" y="4515539"/>
            <a:ext cx="2074126" cy="505033"/>
          </a:xfrm>
          <a:prstGeom prst="rtTriangle">
            <a:avLst/>
          </a:prstGeom>
          <a:solidFill>
            <a:srgbClr val="43B05E">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08E15212-1900-3790-524C-15A09A09F03A}"/>
              </a:ext>
            </a:extLst>
          </p:cNvPr>
          <p:cNvSpPr/>
          <p:nvPr/>
        </p:nvSpPr>
        <p:spPr>
          <a:xfrm rot="10800000">
            <a:off x="8687908" y="4992549"/>
            <a:ext cx="2537934" cy="631874"/>
          </a:xfrm>
          <a:prstGeom prst="rtTriangle">
            <a:avLst/>
          </a:prstGeom>
          <a:solidFill>
            <a:srgbClr val="43B05E">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AB7A274-D3A9-0520-AD33-A90CDBD9D57C}"/>
                  </a:ext>
                </a:extLst>
              </p:cNvPr>
              <p:cNvSpPr txBox="1"/>
              <p:nvPr/>
            </p:nvSpPr>
            <p:spPr>
              <a:xfrm>
                <a:off x="6165012" y="5120339"/>
                <a:ext cx="7833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0, 0, </m:t>
                      </m:r>
                      <m:r>
                        <a:rPr lang="en-US" i="1" dirty="0" smtClean="0">
                          <a:latin typeface="Cambria Math" panose="02040503050406030204" pitchFamily="18" charset="0"/>
                        </a:rPr>
                        <m:t>𝑧</m:t>
                      </m:r>
                    </m:oMath>
                  </m:oMathPara>
                </a14:m>
                <a:endParaRPr lang="en-US" dirty="0"/>
              </a:p>
            </p:txBody>
          </p:sp>
        </mc:Choice>
        <mc:Fallback>
          <p:sp>
            <p:nvSpPr>
              <p:cNvPr id="13" name="TextBox 12">
                <a:extLst>
                  <a:ext uri="{FF2B5EF4-FFF2-40B4-BE49-F238E27FC236}">
                    <a16:creationId xmlns:a16="http://schemas.microsoft.com/office/drawing/2014/main" id="{AAB7A274-D3A9-0520-AD33-A90CDBD9D57C}"/>
                  </a:ext>
                </a:extLst>
              </p:cNvPr>
              <p:cNvSpPr txBox="1">
                <a:spLocks noRot="1" noChangeAspect="1" noMove="1" noResize="1" noEditPoints="1" noAdjustHandles="1" noChangeArrowheads="1" noChangeShapeType="1" noTextEdit="1"/>
              </p:cNvSpPr>
              <p:nvPr/>
            </p:nvSpPr>
            <p:spPr>
              <a:xfrm>
                <a:off x="6165012" y="5120339"/>
                <a:ext cx="783356" cy="369332"/>
              </a:xfrm>
              <a:prstGeom prst="rect">
                <a:avLst/>
              </a:prstGeom>
              <a:blipFill>
                <a:blip r:embed="rId8"/>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E7C4C44B-11DA-2EAE-A258-EFA22BD6BF4F}"/>
              </a:ext>
            </a:extLst>
          </p:cNvPr>
          <p:cNvGrpSpPr/>
          <p:nvPr/>
        </p:nvGrpSpPr>
        <p:grpSpPr>
          <a:xfrm>
            <a:off x="819833" y="4923185"/>
            <a:ext cx="3299301" cy="942886"/>
            <a:chOff x="819833" y="4923185"/>
            <a:chExt cx="3299301" cy="942886"/>
          </a:xfrm>
        </p:grpSpPr>
        <p:sp>
          <p:nvSpPr>
            <p:cNvPr id="10" name="TextBox 9">
              <a:extLst>
                <a:ext uri="{FF2B5EF4-FFF2-40B4-BE49-F238E27FC236}">
                  <a16:creationId xmlns:a16="http://schemas.microsoft.com/office/drawing/2014/main" id="{D4D1CC23-3DE0-895C-C479-558B95040359}"/>
                </a:ext>
              </a:extLst>
            </p:cNvPr>
            <p:cNvSpPr txBox="1"/>
            <p:nvPr/>
          </p:nvSpPr>
          <p:spPr>
            <a:xfrm>
              <a:off x="819833" y="4923185"/>
              <a:ext cx="3299301" cy="646331"/>
            </a:xfrm>
            <a:prstGeom prst="rect">
              <a:avLst/>
            </a:prstGeom>
            <a:noFill/>
          </p:spPr>
          <p:txBody>
            <a:bodyPr wrap="none" rtlCol="0">
              <a:spAutoFit/>
            </a:bodyPr>
            <a:lstStyle/>
            <a:p>
              <a:r>
                <a:rPr lang="en-AU" dirty="0"/>
                <a:t>Using the law of similar triangles:</a:t>
              </a:r>
            </a:p>
            <a:p>
              <a:endParaRPr lang="en-US"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A06BD168-6D04-CAC8-18FB-5C9B78A68BBD}"/>
                    </a:ext>
                  </a:extLst>
                </p:cNvPr>
                <p:cNvSpPr txBox="1"/>
                <p:nvPr/>
              </p:nvSpPr>
              <p:spPr>
                <a:xfrm>
                  <a:off x="966158" y="5246350"/>
                  <a:ext cx="2794355" cy="61972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𝑃</m:t>
                            </m:r>
                          </m:e>
                          <m:sup>
                            <m:r>
                              <a:rPr lang="en-AU" b="0" i="1" smtClean="0">
                                <a:latin typeface="Cambria Math" panose="02040503050406030204" pitchFamily="18" charset="0"/>
                              </a:rPr>
                              <m:t>′</m:t>
                            </m:r>
                          </m:sup>
                        </m:sSup>
                        <m:r>
                          <a:rPr lang="en-AU"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r>
                              <a:rPr lang="en-AU" i="1">
                                <a:latin typeface="Cambria Math" panose="02040503050406030204" pitchFamily="18" charset="0"/>
                              </a:rPr>
                              <m:t>]</m:t>
                            </m:r>
                          </m:e>
                          <m:sup>
                            <m:r>
                              <a:rPr lang="en-AU" b="0" i="1" smtClean="0">
                                <a:latin typeface="Cambria Math" panose="02040503050406030204" pitchFamily="18" charset="0"/>
                              </a:rPr>
                              <m:t>𝑇</m:t>
                            </m:r>
                          </m:sup>
                        </m:sSup>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𝑓</m:t>
                                </m:r>
                                <m:f>
                                  <m:fPr>
                                    <m:ctrlPr>
                                      <a:rPr lang="en-US" b="0" i="1" smtClean="0">
                                        <a:latin typeface="Cambria Math" panose="02040503050406030204" pitchFamily="18" charset="0"/>
                                      </a:rPr>
                                    </m:ctrlPr>
                                  </m:fPr>
                                  <m:num>
                                    <m:r>
                                      <a:rPr lang="en-AU" b="0" i="1" smtClean="0">
                                        <a:latin typeface="Cambria Math" panose="02040503050406030204" pitchFamily="18" charset="0"/>
                                      </a:rPr>
                                      <m:t>𝑥</m:t>
                                    </m:r>
                                  </m:num>
                                  <m:den>
                                    <m:r>
                                      <a:rPr lang="en-AU" b="0" i="1" smtClean="0">
                                        <a:latin typeface="Cambria Math" panose="02040503050406030204" pitchFamily="18" charset="0"/>
                                      </a:rPr>
                                      <m:t>𝑧</m:t>
                                    </m:r>
                                  </m:den>
                                </m:f>
                                <m:r>
                                  <a:rPr lang="en-AU" b="0" i="1" smtClean="0">
                                    <a:latin typeface="Cambria Math" panose="02040503050406030204" pitchFamily="18" charset="0"/>
                                  </a:rPr>
                                  <m:t>,</m:t>
                                </m:r>
                                <m:r>
                                  <a:rPr lang="en-AU" i="1">
                                    <a:latin typeface="Cambria Math" panose="02040503050406030204" pitchFamily="18" charset="0"/>
                                  </a:rPr>
                                  <m:t>𝑓</m:t>
                                </m:r>
                                <m:f>
                                  <m:fPr>
                                    <m:ctrlPr>
                                      <a:rPr lang="en-US" i="1">
                                        <a:latin typeface="Cambria Math" panose="02040503050406030204" pitchFamily="18" charset="0"/>
                                      </a:rPr>
                                    </m:ctrlPr>
                                  </m:fPr>
                                  <m:num>
                                    <m:r>
                                      <a:rPr lang="en-AU" b="0" i="1" smtClean="0">
                                        <a:latin typeface="Cambria Math" panose="02040503050406030204" pitchFamily="18" charset="0"/>
                                      </a:rPr>
                                      <m:t>𝑦</m:t>
                                    </m:r>
                                  </m:num>
                                  <m:den>
                                    <m:r>
                                      <a:rPr lang="en-AU" b="0" i="1" smtClean="0">
                                        <a:latin typeface="Cambria Math" panose="02040503050406030204" pitchFamily="18" charset="0"/>
                                      </a:rPr>
                                      <m:t>𝑧</m:t>
                                    </m:r>
                                  </m:den>
                                </m:f>
                              </m:e>
                            </m:d>
                          </m:e>
                          <m:sup>
                            <m:r>
                              <a:rPr lang="en-AU" b="0" i="1" smtClean="0">
                                <a:latin typeface="Cambria Math" panose="02040503050406030204" pitchFamily="18" charset="0"/>
                              </a:rPr>
                              <m:t>𝑇</m:t>
                            </m:r>
                          </m:sup>
                        </m:sSup>
                      </m:oMath>
                    </m:oMathPara>
                  </a14:m>
                  <a:endParaRPr lang="en-US" dirty="0"/>
                </a:p>
              </p:txBody>
            </p:sp>
          </mc:Choice>
          <mc:Fallback>
            <p:sp>
              <p:nvSpPr>
                <p:cNvPr id="14" name="TextBox 13">
                  <a:extLst>
                    <a:ext uri="{FF2B5EF4-FFF2-40B4-BE49-F238E27FC236}">
                      <a16:creationId xmlns:a16="http://schemas.microsoft.com/office/drawing/2014/main" id="{A06BD168-6D04-CAC8-18FB-5C9B78A68BBD}"/>
                    </a:ext>
                  </a:extLst>
                </p:cNvPr>
                <p:cNvSpPr txBox="1">
                  <a:spLocks noRot="1" noChangeAspect="1" noMove="1" noResize="1" noEditPoints="1" noAdjustHandles="1" noChangeArrowheads="1" noChangeShapeType="1" noTextEdit="1"/>
                </p:cNvSpPr>
                <p:nvPr/>
              </p:nvSpPr>
              <p:spPr>
                <a:xfrm>
                  <a:off x="966158" y="5246350"/>
                  <a:ext cx="2794355" cy="619721"/>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59244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8DC0-700F-D96F-A1A0-E74B3714932C}"/>
              </a:ext>
            </a:extLst>
          </p:cNvPr>
          <p:cNvSpPr>
            <a:spLocks noGrp="1"/>
          </p:cNvSpPr>
          <p:nvPr>
            <p:ph type="title"/>
          </p:nvPr>
        </p:nvSpPr>
        <p:spPr>
          <a:xfrm>
            <a:off x="838200" y="365126"/>
            <a:ext cx="10515600" cy="646332"/>
          </a:xfrm>
        </p:spPr>
        <p:txBody>
          <a:bodyPr>
            <a:normAutofit fontScale="90000"/>
          </a:bodyPr>
          <a:lstStyle/>
          <a:p>
            <a:r>
              <a:rPr lang="en-US" dirty="0"/>
              <a:t>Flatten coordinates</a:t>
            </a:r>
          </a:p>
        </p:txBody>
      </p:sp>
      <p:cxnSp>
        <p:nvCxnSpPr>
          <p:cNvPr id="5" name="Straight Connector 4">
            <a:extLst>
              <a:ext uri="{FF2B5EF4-FFF2-40B4-BE49-F238E27FC236}">
                <a16:creationId xmlns:a16="http://schemas.microsoft.com/office/drawing/2014/main" id="{0804B9D7-2128-2F5D-DF6E-DADDCF9E6413}"/>
              </a:ext>
            </a:extLst>
          </p:cNvPr>
          <p:cNvCxnSpPr/>
          <p:nvPr/>
        </p:nvCxnSpPr>
        <p:spPr>
          <a:xfrm>
            <a:off x="2553418" y="5015776"/>
            <a:ext cx="6659592" cy="0"/>
          </a:xfrm>
          <a:prstGeom prst="line">
            <a:avLst/>
          </a:prstGeom>
          <a:ln w="38100"/>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F0A523AF-D506-1612-EE3F-BB78BD09205D}"/>
              </a:ext>
            </a:extLst>
          </p:cNvPr>
          <p:cNvSpPr/>
          <p:nvPr/>
        </p:nvSpPr>
        <p:spPr>
          <a:xfrm>
            <a:off x="5589915" y="4895006"/>
            <a:ext cx="216000" cy="216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1688273-C75C-50BB-A37E-3F0116965A41}"/>
                  </a:ext>
                </a:extLst>
              </p:cNvPr>
              <p:cNvSpPr txBox="1"/>
              <p:nvPr/>
            </p:nvSpPr>
            <p:spPr>
              <a:xfrm flipH="1" flipV="1">
                <a:off x="5696358" y="5110325"/>
                <a:ext cx="186855" cy="369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𝑂</m:t>
                      </m:r>
                    </m:oMath>
                  </m:oMathPara>
                </a14:m>
                <a:endParaRPr lang="en-US" dirty="0"/>
              </a:p>
            </p:txBody>
          </p:sp>
        </mc:Choice>
        <mc:Fallback>
          <p:sp>
            <p:nvSpPr>
              <p:cNvPr id="8" name="TextBox 7">
                <a:extLst>
                  <a:ext uri="{FF2B5EF4-FFF2-40B4-BE49-F238E27FC236}">
                    <a16:creationId xmlns:a16="http://schemas.microsoft.com/office/drawing/2014/main" id="{D1688273-C75C-50BB-A37E-3F0116965A41}"/>
                  </a:ext>
                </a:extLst>
              </p:cNvPr>
              <p:cNvSpPr txBox="1">
                <a:spLocks noRot="1" noChangeAspect="1" noMove="1" noResize="1" noEditPoints="1" noAdjustHandles="1" noChangeArrowheads="1" noChangeShapeType="1" noTextEdit="1"/>
              </p:cNvSpPr>
              <p:nvPr/>
            </p:nvSpPr>
            <p:spPr>
              <a:xfrm flipH="1" flipV="1">
                <a:off x="5696358" y="5110325"/>
                <a:ext cx="186855" cy="369331"/>
              </a:xfrm>
              <a:prstGeom prst="rect">
                <a:avLst/>
              </a:prstGeom>
              <a:blipFill>
                <a:blip r:embed="rId3"/>
                <a:stretch>
                  <a:fillRect l="-687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AEDA2F0-F42D-6626-EACF-CABD8F6423E7}"/>
                  </a:ext>
                </a:extLst>
              </p:cNvPr>
              <p:cNvSpPr txBox="1"/>
              <p:nvPr/>
            </p:nvSpPr>
            <p:spPr>
              <a:xfrm>
                <a:off x="3648784" y="5072305"/>
                <a:ext cx="431321" cy="36932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oMath>
                  </m:oMathPara>
                </a14:m>
              </a:p>
            </p:txBody>
          </p:sp>
        </mc:Choice>
        <mc:Fallback>
          <p:sp>
            <p:nvSpPr>
              <p:cNvPr id="12" name="TextBox 11">
                <a:extLst>
                  <a:ext uri="{FF2B5EF4-FFF2-40B4-BE49-F238E27FC236}">
                    <a16:creationId xmlns:a16="http://schemas.microsoft.com/office/drawing/2014/main" id="{9AEDA2F0-F42D-6626-EACF-CABD8F6423E7}"/>
                  </a:ext>
                </a:extLst>
              </p:cNvPr>
              <p:cNvSpPr txBox="1">
                <a:spLocks noRot="1" noChangeAspect="1" noMove="1" noResize="1" noEditPoints="1" noAdjustHandles="1" noChangeArrowheads="1" noChangeShapeType="1" noTextEdit="1"/>
              </p:cNvSpPr>
              <p:nvPr/>
            </p:nvSpPr>
            <p:spPr>
              <a:xfrm>
                <a:off x="3648784" y="5072305"/>
                <a:ext cx="431321" cy="369324"/>
              </a:xfrm>
              <a:prstGeom prst="rect">
                <a:avLst/>
              </a:prstGeom>
              <a:blipFill>
                <a:blip r:embed="rId4"/>
                <a:stretch>
                  <a:fillRect t="-6667" r="-5714"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EB37D93-8DA2-47E5-C8D5-B83BA5FABFFA}"/>
                  </a:ext>
                </a:extLst>
              </p:cNvPr>
              <p:cNvSpPr txBox="1"/>
              <p:nvPr/>
            </p:nvSpPr>
            <p:spPr>
              <a:xfrm>
                <a:off x="2320478" y="4076849"/>
                <a:ext cx="431321" cy="36932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𝑥</m:t>
                      </m:r>
                    </m:oMath>
                  </m:oMathPara>
                </a14:m>
              </a:p>
            </p:txBody>
          </p:sp>
        </mc:Choice>
        <mc:Fallback>
          <p:sp>
            <p:nvSpPr>
              <p:cNvPr id="13" name="TextBox 12">
                <a:extLst>
                  <a:ext uri="{FF2B5EF4-FFF2-40B4-BE49-F238E27FC236}">
                    <a16:creationId xmlns:a16="http://schemas.microsoft.com/office/drawing/2014/main" id="{FEB37D93-8DA2-47E5-C8D5-B83BA5FABFFA}"/>
                  </a:ext>
                </a:extLst>
              </p:cNvPr>
              <p:cNvSpPr txBox="1">
                <a:spLocks noRot="1" noChangeAspect="1" noMove="1" noResize="1" noEditPoints="1" noAdjustHandles="1" noChangeArrowheads="1" noChangeShapeType="1" noTextEdit="1"/>
              </p:cNvSpPr>
              <p:nvPr/>
            </p:nvSpPr>
            <p:spPr>
              <a:xfrm>
                <a:off x="2320478" y="4076849"/>
                <a:ext cx="431321" cy="369324"/>
              </a:xfrm>
              <a:prstGeom prst="rect">
                <a:avLst/>
              </a:prstGeom>
              <a:blipFill>
                <a:blip r:embed="rId5"/>
                <a:stretch>
                  <a:fillRect t="-10345" r="-8571" b="-31034"/>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83BF33C-B0B9-6DF9-1F97-213EFC991829}"/>
              </a:ext>
            </a:extLst>
          </p:cNvPr>
          <p:cNvSpPr txBox="1"/>
          <p:nvPr/>
        </p:nvSpPr>
        <p:spPr>
          <a:xfrm>
            <a:off x="2031380" y="5618331"/>
            <a:ext cx="1821204" cy="646331"/>
          </a:xfrm>
          <a:prstGeom prst="rect">
            <a:avLst/>
          </a:prstGeom>
          <a:noFill/>
        </p:spPr>
        <p:txBody>
          <a:bodyPr wrap="none" rtlCol="0">
            <a:spAutoFit/>
          </a:bodyPr>
          <a:lstStyle/>
          <a:p>
            <a:pPr algn="ctr"/>
            <a:r>
              <a:rPr lang="en-US" dirty="0"/>
              <a:t>World coordinate</a:t>
            </a:r>
          </a:p>
          <a:p>
            <a:pPr algn="ctr"/>
            <a:r>
              <a:rPr lang="en-US" dirty="0"/>
              <a:t>system</a:t>
            </a:r>
          </a:p>
        </p:txBody>
      </p:sp>
      <p:sp>
        <p:nvSpPr>
          <p:cNvPr id="15" name="TextBox 14">
            <a:extLst>
              <a:ext uri="{FF2B5EF4-FFF2-40B4-BE49-F238E27FC236}">
                <a16:creationId xmlns:a16="http://schemas.microsoft.com/office/drawing/2014/main" id="{A01CB6DF-F27D-CADF-4B9B-D87AD75E85B0}"/>
              </a:ext>
            </a:extLst>
          </p:cNvPr>
          <p:cNvSpPr txBox="1"/>
          <p:nvPr/>
        </p:nvSpPr>
        <p:spPr>
          <a:xfrm>
            <a:off x="7504042" y="3741161"/>
            <a:ext cx="1824154" cy="646331"/>
          </a:xfrm>
          <a:prstGeom prst="rect">
            <a:avLst/>
          </a:prstGeom>
          <a:noFill/>
        </p:spPr>
        <p:txBody>
          <a:bodyPr wrap="none" rtlCol="0">
            <a:spAutoFit/>
          </a:bodyPr>
          <a:lstStyle/>
          <a:p>
            <a:pPr algn="ctr"/>
            <a:r>
              <a:rPr lang="en-US" dirty="0"/>
              <a:t>Image coordinate</a:t>
            </a:r>
          </a:p>
          <a:p>
            <a:pPr algn="ctr"/>
            <a:r>
              <a:rPr lang="en-US" dirty="0"/>
              <a:t>system</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D96C177B-6A51-04C3-749D-B4C285796EF6}"/>
                  </a:ext>
                </a:extLst>
              </p:cNvPr>
              <p:cNvSpPr txBox="1"/>
              <p:nvPr/>
            </p:nvSpPr>
            <p:spPr>
              <a:xfrm>
                <a:off x="8720814" y="5484186"/>
                <a:ext cx="431321" cy="36932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𝑥</m:t>
                      </m:r>
                      <m:r>
                        <a:rPr lang="en-AU" b="0" i="1" dirty="0" smtClean="0">
                          <a:latin typeface="Cambria Math" panose="02040503050406030204" pitchFamily="18" charset="0"/>
                        </a:rPr>
                        <m:t>′</m:t>
                      </m:r>
                    </m:oMath>
                  </m:oMathPara>
                </a14:m>
              </a:p>
            </p:txBody>
          </p:sp>
        </mc:Choice>
        <mc:Fallback>
          <p:sp>
            <p:nvSpPr>
              <p:cNvPr id="18" name="TextBox 17">
                <a:extLst>
                  <a:ext uri="{FF2B5EF4-FFF2-40B4-BE49-F238E27FC236}">
                    <a16:creationId xmlns:a16="http://schemas.microsoft.com/office/drawing/2014/main" id="{D96C177B-6A51-04C3-749D-B4C285796EF6}"/>
                  </a:ext>
                </a:extLst>
              </p:cNvPr>
              <p:cNvSpPr txBox="1">
                <a:spLocks noRot="1" noChangeAspect="1" noMove="1" noResize="1" noEditPoints="1" noAdjustHandles="1" noChangeArrowheads="1" noChangeShapeType="1" noTextEdit="1"/>
              </p:cNvSpPr>
              <p:nvPr/>
            </p:nvSpPr>
            <p:spPr>
              <a:xfrm>
                <a:off x="8720814" y="5484186"/>
                <a:ext cx="431321" cy="369324"/>
              </a:xfrm>
              <a:prstGeom prst="rect">
                <a:avLst/>
              </a:prstGeom>
              <a:blipFill>
                <a:blip r:embed="rId6"/>
                <a:stretch>
                  <a:fillRect t="-10345" r="-14286" b="-27586"/>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EA43EEEB-15CD-2488-B0E5-D0ADEEF22A10}"/>
              </a:ext>
            </a:extLst>
          </p:cNvPr>
          <p:cNvSpPr txBox="1"/>
          <p:nvPr/>
        </p:nvSpPr>
        <p:spPr>
          <a:xfrm>
            <a:off x="1204906" y="4818340"/>
            <a:ext cx="1250407" cy="369332"/>
          </a:xfrm>
          <a:prstGeom prst="rect">
            <a:avLst/>
          </a:prstGeom>
          <a:noFill/>
        </p:spPr>
        <p:txBody>
          <a:bodyPr wrap="none" rtlCol="0">
            <a:spAutoFit/>
          </a:bodyPr>
          <a:lstStyle/>
          <a:p>
            <a:r>
              <a:rPr lang="en-US" dirty="0"/>
              <a:t>Optical axis</a:t>
            </a:r>
          </a:p>
        </p:txBody>
      </p:sp>
      <p:sp>
        <p:nvSpPr>
          <p:cNvPr id="20" name="TextBox 19">
            <a:extLst>
              <a:ext uri="{FF2B5EF4-FFF2-40B4-BE49-F238E27FC236}">
                <a16:creationId xmlns:a16="http://schemas.microsoft.com/office/drawing/2014/main" id="{DE90903E-E7B4-4D32-E1A2-ABEC64A5AA7E}"/>
              </a:ext>
            </a:extLst>
          </p:cNvPr>
          <p:cNvSpPr txBox="1"/>
          <p:nvPr/>
        </p:nvSpPr>
        <p:spPr>
          <a:xfrm>
            <a:off x="838200" y="1275755"/>
            <a:ext cx="4995663" cy="369332"/>
          </a:xfrm>
          <a:prstGeom prst="rect">
            <a:avLst/>
          </a:prstGeom>
          <a:noFill/>
        </p:spPr>
        <p:txBody>
          <a:bodyPr wrap="none" rtlCol="0">
            <a:spAutoFit/>
          </a:bodyPr>
          <a:lstStyle/>
          <a:p>
            <a:r>
              <a:rPr lang="en-US" dirty="0"/>
              <a:t>Why do we need to define the coordinate systems?</a:t>
            </a:r>
          </a:p>
        </p:txBody>
      </p:sp>
      <p:sp>
        <p:nvSpPr>
          <p:cNvPr id="21" name="Oval 20">
            <a:extLst>
              <a:ext uri="{FF2B5EF4-FFF2-40B4-BE49-F238E27FC236}">
                <a16:creationId xmlns:a16="http://schemas.microsoft.com/office/drawing/2014/main" id="{B5626CBA-7E9F-6474-E9F4-A532CBC5D875}"/>
              </a:ext>
            </a:extLst>
          </p:cNvPr>
          <p:cNvSpPr/>
          <p:nvPr/>
        </p:nvSpPr>
        <p:spPr>
          <a:xfrm>
            <a:off x="2757614" y="3490585"/>
            <a:ext cx="216000" cy="216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0388E12-7A6A-FF87-EC35-921068A85BFB}"/>
              </a:ext>
            </a:extLst>
          </p:cNvPr>
          <p:cNvSpPr/>
          <p:nvPr/>
        </p:nvSpPr>
        <p:spPr>
          <a:xfrm>
            <a:off x="8576814" y="6300832"/>
            <a:ext cx="144000" cy="144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01CF0AE5-4F32-5829-2D94-87206506EDC0}"/>
              </a:ext>
            </a:extLst>
          </p:cNvPr>
          <p:cNvCxnSpPr>
            <a:cxnSpLocks/>
            <a:stCxn id="21" idx="5"/>
            <a:endCxn id="29" idx="1"/>
          </p:cNvCxnSpPr>
          <p:nvPr/>
        </p:nvCxnSpPr>
        <p:spPr>
          <a:xfrm>
            <a:off x="2941982" y="3674953"/>
            <a:ext cx="5655920" cy="2646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FA92960-BB77-57C0-DB85-150854A85916}"/>
              </a:ext>
            </a:extLst>
          </p:cNvPr>
          <p:cNvSpPr txBox="1"/>
          <p:nvPr/>
        </p:nvSpPr>
        <p:spPr>
          <a:xfrm>
            <a:off x="4235568" y="5294990"/>
            <a:ext cx="184731" cy="369332"/>
          </a:xfrm>
          <a:prstGeom prst="rect">
            <a:avLst/>
          </a:prstGeom>
          <a:noFill/>
        </p:spPr>
        <p:txBody>
          <a:bodyPr wrap="none" rtlCol="0">
            <a:spAutoFit/>
          </a:bodyPr>
          <a:lstStyle/>
          <a:p>
            <a:endParaRPr lang="en-US" dirty="0"/>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47AA88A7-652B-1A91-524C-ADBE956C9CC5}"/>
                  </a:ext>
                </a:extLst>
              </p:cNvPr>
              <p:cNvSpPr txBox="1"/>
              <p:nvPr/>
            </p:nvSpPr>
            <p:spPr>
              <a:xfrm>
                <a:off x="7354955" y="4621697"/>
                <a:ext cx="298174"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oMath>
                  </m:oMathPara>
                </a14:m>
                <a:endParaRPr lang="en-US" dirty="0"/>
              </a:p>
            </p:txBody>
          </p:sp>
        </mc:Choice>
        <mc:Fallback>
          <p:sp>
            <p:nvSpPr>
              <p:cNvPr id="36" name="TextBox 35">
                <a:extLst>
                  <a:ext uri="{FF2B5EF4-FFF2-40B4-BE49-F238E27FC236}">
                    <a16:creationId xmlns:a16="http://schemas.microsoft.com/office/drawing/2014/main" id="{47AA88A7-652B-1A91-524C-ADBE956C9CC5}"/>
                  </a:ext>
                </a:extLst>
              </p:cNvPr>
              <p:cNvSpPr txBox="1">
                <a:spLocks noRot="1" noChangeAspect="1" noMove="1" noResize="1" noEditPoints="1" noAdjustHandles="1" noChangeArrowheads="1" noChangeShapeType="1" noTextEdit="1"/>
              </p:cNvSpPr>
              <p:nvPr/>
            </p:nvSpPr>
            <p:spPr>
              <a:xfrm>
                <a:off x="7354955" y="4621697"/>
                <a:ext cx="298174" cy="369332"/>
              </a:xfrm>
              <a:prstGeom prst="rect">
                <a:avLst/>
              </a:prstGeom>
              <a:blipFill>
                <a:blip r:embed="rId7"/>
                <a:stretch>
                  <a:fillRect l="-8333" r="-8333" b="-12903"/>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D0363C86-1619-54E7-CE55-466FDB9AC937}"/>
              </a:ext>
            </a:extLst>
          </p:cNvPr>
          <p:cNvCxnSpPr>
            <a:cxnSpLocks/>
            <a:endCxn id="21" idx="4"/>
          </p:cNvCxnSpPr>
          <p:nvPr/>
        </p:nvCxnSpPr>
        <p:spPr>
          <a:xfrm flipV="1">
            <a:off x="2865614" y="3706585"/>
            <a:ext cx="0" cy="1284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76AA0D6-4CC6-1036-8344-16B80C52D781}"/>
              </a:ext>
            </a:extLst>
          </p:cNvPr>
          <p:cNvCxnSpPr>
            <a:cxnSpLocks/>
            <a:stCxn id="29" idx="0"/>
          </p:cNvCxnSpPr>
          <p:nvPr/>
        </p:nvCxnSpPr>
        <p:spPr>
          <a:xfrm flipV="1">
            <a:off x="8648814" y="4991029"/>
            <a:ext cx="6352" cy="13098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321E181C-B382-71CB-96B2-FD89C9957742}"/>
                  </a:ext>
                </a:extLst>
              </p:cNvPr>
              <p:cNvSpPr txBox="1"/>
              <p:nvPr/>
            </p:nvSpPr>
            <p:spPr>
              <a:xfrm>
                <a:off x="1899707" y="1932188"/>
                <a:ext cx="852092" cy="68236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AU" b="0" i="1" smtClean="0">
                              <a:latin typeface="Cambria Math" panose="02040503050406030204" pitchFamily="18" charset="0"/>
                            </a:rPr>
                            <m:t>𝑥</m:t>
                          </m:r>
                        </m:num>
                        <m:den>
                          <m:r>
                            <a:rPr lang="en-AU" b="0" i="1" smtClean="0">
                              <a:latin typeface="Cambria Math" panose="02040503050406030204" pitchFamily="18" charset="0"/>
                            </a:rPr>
                            <m:t>𝑧</m:t>
                          </m:r>
                        </m:den>
                      </m:f>
                      <m:r>
                        <a:rPr lang="en-AU" b="0" i="1" smtClean="0">
                          <a:latin typeface="Cambria Math" panose="02040503050406030204" pitchFamily="18" charset="0"/>
                        </a:rPr>
                        <m:t>=</m:t>
                      </m:r>
                      <m:f>
                        <m:fPr>
                          <m:ctrlPr>
                            <a:rPr lang="en-US" b="0"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m:t>
                          </m:r>
                        </m:num>
                        <m:den>
                          <m:r>
                            <a:rPr lang="en-AU" b="0" i="1" smtClean="0">
                              <a:latin typeface="Cambria Math" panose="02040503050406030204" pitchFamily="18" charset="0"/>
                            </a:rPr>
                            <m:t>𝑓</m:t>
                          </m:r>
                        </m:den>
                      </m:f>
                    </m:oMath>
                  </m:oMathPara>
                </a14:m>
                <a:endParaRPr lang="en-US" dirty="0"/>
              </a:p>
            </p:txBody>
          </p:sp>
        </mc:Choice>
        <mc:Fallback>
          <p:sp>
            <p:nvSpPr>
              <p:cNvPr id="44" name="TextBox 43">
                <a:extLst>
                  <a:ext uri="{FF2B5EF4-FFF2-40B4-BE49-F238E27FC236}">
                    <a16:creationId xmlns:a16="http://schemas.microsoft.com/office/drawing/2014/main" id="{321E181C-B382-71CB-96B2-FD89C9957742}"/>
                  </a:ext>
                </a:extLst>
              </p:cNvPr>
              <p:cNvSpPr txBox="1">
                <a:spLocks noRot="1" noChangeAspect="1" noMove="1" noResize="1" noEditPoints="1" noAdjustHandles="1" noChangeArrowheads="1" noChangeShapeType="1" noTextEdit="1"/>
              </p:cNvSpPr>
              <p:nvPr/>
            </p:nvSpPr>
            <p:spPr>
              <a:xfrm>
                <a:off x="1899707" y="1932188"/>
                <a:ext cx="852092" cy="682366"/>
              </a:xfrm>
              <a:prstGeom prst="rect">
                <a:avLst/>
              </a:prstGeom>
              <a:blipFill>
                <a:blip r:embed="rId8"/>
                <a:stretch>
                  <a:fillRect b="-92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1FF89ED8-A587-B2A5-E1C3-06E5C8E72102}"/>
                  </a:ext>
                </a:extLst>
              </p:cNvPr>
              <p:cNvSpPr txBox="1"/>
              <p:nvPr/>
            </p:nvSpPr>
            <p:spPr>
              <a:xfrm>
                <a:off x="3222738" y="1946431"/>
                <a:ext cx="1046119" cy="56489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m:t>
                          </m:r>
                        </m:sup>
                      </m:sSup>
                      <m:r>
                        <a:rPr lang="en-AU" b="0" i="1" smtClean="0">
                          <a:latin typeface="Cambria Math" panose="02040503050406030204" pitchFamily="18" charset="0"/>
                        </a:rPr>
                        <m:t>=</m:t>
                      </m:r>
                      <m:r>
                        <a:rPr lang="en-AU" b="0" i="1" smtClean="0">
                          <a:latin typeface="Cambria Math" panose="02040503050406030204" pitchFamily="18" charset="0"/>
                        </a:rPr>
                        <m:t>𝑓</m:t>
                      </m:r>
                      <m:f>
                        <m:fPr>
                          <m:ctrlPr>
                            <a:rPr lang="en-US" i="1" smtClean="0">
                              <a:latin typeface="Cambria Math" panose="02040503050406030204" pitchFamily="18" charset="0"/>
                            </a:rPr>
                          </m:ctrlPr>
                        </m:fPr>
                        <m:num>
                          <m:r>
                            <a:rPr lang="en-AU" b="0" i="1" smtClean="0">
                              <a:latin typeface="Cambria Math" panose="02040503050406030204" pitchFamily="18" charset="0"/>
                            </a:rPr>
                            <m:t>𝑥</m:t>
                          </m:r>
                        </m:num>
                        <m:den>
                          <m:r>
                            <a:rPr lang="en-AU" b="0" i="1" smtClean="0">
                              <a:latin typeface="Cambria Math" panose="02040503050406030204" pitchFamily="18" charset="0"/>
                            </a:rPr>
                            <m:t>𝑧</m:t>
                          </m:r>
                        </m:den>
                      </m:f>
                    </m:oMath>
                  </m:oMathPara>
                </a14:m>
                <a:endParaRPr lang="en-US" dirty="0"/>
              </a:p>
            </p:txBody>
          </p:sp>
        </mc:Choice>
        <mc:Fallback>
          <p:sp>
            <p:nvSpPr>
              <p:cNvPr id="45" name="TextBox 44">
                <a:extLst>
                  <a:ext uri="{FF2B5EF4-FFF2-40B4-BE49-F238E27FC236}">
                    <a16:creationId xmlns:a16="http://schemas.microsoft.com/office/drawing/2014/main" id="{1FF89ED8-A587-B2A5-E1C3-06E5C8E72102}"/>
                  </a:ext>
                </a:extLst>
              </p:cNvPr>
              <p:cNvSpPr txBox="1">
                <a:spLocks noRot="1" noChangeAspect="1" noMove="1" noResize="1" noEditPoints="1" noAdjustHandles="1" noChangeArrowheads="1" noChangeShapeType="1" noTextEdit="1"/>
              </p:cNvSpPr>
              <p:nvPr/>
            </p:nvSpPr>
            <p:spPr>
              <a:xfrm>
                <a:off x="3222738" y="1946431"/>
                <a:ext cx="1046119" cy="564898"/>
              </a:xfrm>
              <a:prstGeom prst="rect">
                <a:avLst/>
              </a:prstGeom>
              <a:blipFill>
                <a:blip r:embed="rId9"/>
                <a:stretch>
                  <a:fillRect b="-2222"/>
                </a:stretch>
              </a:blipFill>
            </p:spPr>
            <p:txBody>
              <a:bodyPr/>
              <a:lstStyle/>
              <a:p>
                <a:r>
                  <a:rPr lang="en-US">
                    <a:noFill/>
                  </a:rPr>
                  <a:t> </a:t>
                </a:r>
              </a:p>
            </p:txBody>
          </p:sp>
        </mc:Fallback>
      </mc:AlternateContent>
    </p:spTree>
    <p:extLst>
      <p:ext uri="{BB962C8B-B14F-4D97-AF65-F5344CB8AC3E}">
        <p14:creationId xmlns:p14="http://schemas.microsoft.com/office/powerpoint/2010/main" val="263169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down)">
                                      <p:cBhvr>
                                        <p:cTn id="15" dur="500"/>
                                        <p:tgtEl>
                                          <p:spTgt spid="3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p:bldP spid="20" grpId="0"/>
      <p:bldP spid="21" grpId="0" animBg="1"/>
      <p:bldP spid="29" grpId="0" animBg="1"/>
      <p:bldP spid="36" grpId="0"/>
      <p:bldP spid="44"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D9B5-4311-6BEA-CD1C-3E06FA9FB7FB}"/>
              </a:ext>
            </a:extLst>
          </p:cNvPr>
          <p:cNvSpPr>
            <a:spLocks noGrp="1"/>
          </p:cNvSpPr>
          <p:nvPr>
            <p:ph type="title"/>
          </p:nvPr>
        </p:nvSpPr>
        <p:spPr/>
        <p:txBody>
          <a:bodyPr/>
          <a:lstStyle/>
          <a:p>
            <a:r>
              <a:rPr lang="en-US" dirty="0"/>
              <a:t>Virtual image plane</a:t>
            </a:r>
          </a:p>
        </p:txBody>
      </p:sp>
      <p:sp>
        <p:nvSpPr>
          <p:cNvPr id="3" name="Content Placeholder 2">
            <a:extLst>
              <a:ext uri="{FF2B5EF4-FFF2-40B4-BE49-F238E27FC236}">
                <a16:creationId xmlns:a16="http://schemas.microsoft.com/office/drawing/2014/main" id="{47AF637F-717A-8275-1E4B-FB41E9D3F1D8}"/>
              </a:ext>
            </a:extLst>
          </p:cNvPr>
          <p:cNvSpPr>
            <a:spLocks noGrp="1"/>
          </p:cNvSpPr>
          <p:nvPr>
            <p:ph idx="1"/>
          </p:nvPr>
        </p:nvSpPr>
        <p:spPr>
          <a:xfrm>
            <a:off x="838200" y="1825625"/>
            <a:ext cx="10515600" cy="2175669"/>
          </a:xfrm>
        </p:spPr>
        <p:txBody>
          <a:bodyPr>
            <a:normAutofit lnSpcReduction="10000"/>
          </a:bodyPr>
          <a:lstStyle/>
          <a:p>
            <a:r>
              <a:rPr lang="en-AU" dirty="0"/>
              <a:t>Perspective projection creates inverted images.</a:t>
            </a:r>
          </a:p>
          <a:p>
            <a:r>
              <a:rPr lang="en-AU" dirty="0"/>
              <a:t>We may avoid the inversion by considering a virtual image associated with a plane (virtual image plane) lying in front of the pinhole.</a:t>
            </a:r>
          </a:p>
          <a:p>
            <a:r>
              <a:rPr lang="en-AU" dirty="0"/>
              <a:t>Virtual image plane is at the same distance from it as the actual image plane. </a:t>
            </a:r>
            <a:endParaRPr lang="en-US" dirty="0"/>
          </a:p>
        </p:txBody>
      </p:sp>
      <p:pic>
        <p:nvPicPr>
          <p:cNvPr id="5" name="Picture 4">
            <a:extLst>
              <a:ext uri="{FF2B5EF4-FFF2-40B4-BE49-F238E27FC236}">
                <a16:creationId xmlns:a16="http://schemas.microsoft.com/office/drawing/2014/main" id="{6C028E94-A516-82C0-86EC-2A9D870DD523}"/>
              </a:ext>
            </a:extLst>
          </p:cNvPr>
          <p:cNvPicPr>
            <a:picLocks noChangeAspect="1"/>
          </p:cNvPicPr>
          <p:nvPr/>
        </p:nvPicPr>
        <p:blipFill>
          <a:blip r:embed="rId3"/>
          <a:stretch>
            <a:fillRect/>
          </a:stretch>
        </p:blipFill>
        <p:spPr>
          <a:xfrm>
            <a:off x="2011062" y="4001294"/>
            <a:ext cx="7772400" cy="2565063"/>
          </a:xfrm>
          <a:prstGeom prst="rect">
            <a:avLst/>
          </a:prstGeom>
        </p:spPr>
      </p:pic>
    </p:spTree>
    <p:extLst>
      <p:ext uri="{BB962C8B-B14F-4D97-AF65-F5344CB8AC3E}">
        <p14:creationId xmlns:p14="http://schemas.microsoft.com/office/powerpoint/2010/main" val="3620049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6F8D-F5B0-7911-A7BC-DCDA6703FE0D}"/>
              </a:ext>
            </a:extLst>
          </p:cNvPr>
          <p:cNvSpPr>
            <a:spLocks noGrp="1"/>
          </p:cNvSpPr>
          <p:nvPr>
            <p:ph type="title"/>
          </p:nvPr>
        </p:nvSpPr>
        <p:spPr/>
        <p:txBody>
          <a:bodyPr/>
          <a:lstStyle/>
          <a:p>
            <a:r>
              <a:rPr lang="en-AU" dirty="0"/>
              <a:t>Eﬀect of perspective projection</a:t>
            </a:r>
            <a:endParaRPr lang="en-US" dirty="0"/>
          </a:p>
        </p:txBody>
      </p:sp>
      <p:pic>
        <p:nvPicPr>
          <p:cNvPr id="5" name="Content Placeholder 4">
            <a:extLst>
              <a:ext uri="{FF2B5EF4-FFF2-40B4-BE49-F238E27FC236}">
                <a16:creationId xmlns:a16="http://schemas.microsoft.com/office/drawing/2014/main" id="{BFE996E2-F487-046F-7513-F15B46363607}"/>
              </a:ext>
            </a:extLst>
          </p:cNvPr>
          <p:cNvPicPr>
            <a:picLocks noGrp="1" noChangeAspect="1"/>
          </p:cNvPicPr>
          <p:nvPr>
            <p:ph idx="1"/>
          </p:nvPr>
        </p:nvPicPr>
        <p:blipFill>
          <a:blip r:embed="rId3"/>
          <a:stretch>
            <a:fillRect/>
          </a:stretch>
        </p:blipFill>
        <p:spPr>
          <a:xfrm>
            <a:off x="1979722" y="1825625"/>
            <a:ext cx="7534981" cy="3982633"/>
          </a:xfrm>
          <a:prstGeom prst="rect">
            <a:avLst/>
          </a:prstGeom>
        </p:spPr>
      </p:pic>
    </p:spTree>
    <p:extLst>
      <p:ext uri="{BB962C8B-B14F-4D97-AF65-F5344CB8AC3E}">
        <p14:creationId xmlns:p14="http://schemas.microsoft.com/office/powerpoint/2010/main" val="2278853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8389-66A8-4B47-10E9-ECAD5539B9D5}"/>
              </a:ext>
            </a:extLst>
          </p:cNvPr>
          <p:cNvSpPr>
            <a:spLocks noGrp="1"/>
          </p:cNvSpPr>
          <p:nvPr>
            <p:ph type="title"/>
          </p:nvPr>
        </p:nvSpPr>
        <p:spPr/>
        <p:txBody>
          <a:bodyPr/>
          <a:lstStyle/>
          <a:p>
            <a:r>
              <a:rPr lang="en-US" dirty="0"/>
              <a:t>Perspective projection</a:t>
            </a:r>
          </a:p>
        </p:txBody>
      </p:sp>
      <p:pic>
        <p:nvPicPr>
          <p:cNvPr id="4" name="Picture 3">
            <a:extLst>
              <a:ext uri="{FF2B5EF4-FFF2-40B4-BE49-F238E27FC236}">
                <a16:creationId xmlns:a16="http://schemas.microsoft.com/office/drawing/2014/main" id="{A8FAF3F5-20D2-8567-BB35-4DD3FC4B3162}"/>
              </a:ext>
            </a:extLst>
          </p:cNvPr>
          <p:cNvPicPr>
            <a:picLocks noChangeAspect="1"/>
          </p:cNvPicPr>
          <p:nvPr/>
        </p:nvPicPr>
        <p:blipFill>
          <a:blip r:embed="rId3"/>
          <a:stretch>
            <a:fillRect/>
          </a:stretch>
        </p:blipFill>
        <p:spPr>
          <a:xfrm>
            <a:off x="6096000" y="2109058"/>
            <a:ext cx="4339282" cy="3307639"/>
          </a:xfrm>
          <a:prstGeom prst="rect">
            <a:avLst/>
          </a:prstGeom>
        </p:spPr>
      </p:pic>
      <p:pic>
        <p:nvPicPr>
          <p:cNvPr id="5" name="Content Placeholder 4">
            <a:extLst>
              <a:ext uri="{FF2B5EF4-FFF2-40B4-BE49-F238E27FC236}">
                <a16:creationId xmlns:a16="http://schemas.microsoft.com/office/drawing/2014/main" id="{DF598882-C5B2-A27A-04E6-694F252ECE2A}"/>
              </a:ext>
            </a:extLst>
          </p:cNvPr>
          <p:cNvPicPr>
            <a:picLocks noChangeAspect="1"/>
          </p:cNvPicPr>
          <p:nvPr/>
        </p:nvPicPr>
        <p:blipFill>
          <a:blip r:embed="rId4"/>
          <a:stretch>
            <a:fillRect/>
          </a:stretch>
        </p:blipFill>
        <p:spPr>
          <a:xfrm>
            <a:off x="1184189" y="1403111"/>
            <a:ext cx="3922986" cy="5238847"/>
          </a:xfrm>
          <a:prstGeom prst="rect">
            <a:avLst/>
          </a:prstGeom>
        </p:spPr>
      </p:pic>
    </p:spTree>
    <p:extLst>
      <p:ext uri="{BB962C8B-B14F-4D97-AF65-F5344CB8AC3E}">
        <p14:creationId xmlns:p14="http://schemas.microsoft.com/office/powerpoint/2010/main" val="612773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699B-03A6-5818-F4BB-17B136E32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9A17C-8F86-C87A-6871-C5B625F26C52}"/>
              </a:ext>
            </a:extLst>
          </p:cNvPr>
          <p:cNvSpPr>
            <a:spLocks noGrp="1"/>
          </p:cNvSpPr>
          <p:nvPr>
            <p:ph type="title"/>
          </p:nvPr>
        </p:nvSpPr>
        <p:spPr/>
        <p:txBody>
          <a:bodyPr/>
          <a:lstStyle/>
          <a:p>
            <a:r>
              <a:rPr lang="en-AU" dirty="0"/>
              <a:t>Eﬀect of perspective projection</a:t>
            </a:r>
            <a:endParaRPr lang="en-US" dirty="0"/>
          </a:p>
        </p:txBody>
      </p:sp>
      <p:pic>
        <p:nvPicPr>
          <p:cNvPr id="7" name="Content Placeholder 6">
            <a:extLst>
              <a:ext uri="{FF2B5EF4-FFF2-40B4-BE49-F238E27FC236}">
                <a16:creationId xmlns:a16="http://schemas.microsoft.com/office/drawing/2014/main" id="{CDC49373-979D-7BF6-63A0-D5272CA532AD}"/>
              </a:ext>
            </a:extLst>
          </p:cNvPr>
          <p:cNvPicPr>
            <a:picLocks noGrp="1" noChangeAspect="1"/>
          </p:cNvPicPr>
          <p:nvPr>
            <p:ph idx="1"/>
          </p:nvPr>
        </p:nvPicPr>
        <p:blipFill>
          <a:blip r:embed="rId3"/>
          <a:stretch>
            <a:fillRect/>
          </a:stretch>
        </p:blipFill>
        <p:spPr>
          <a:xfrm>
            <a:off x="1924050" y="1842294"/>
            <a:ext cx="8343900" cy="4318000"/>
          </a:xfrm>
          <a:prstGeom prst="rect">
            <a:avLst/>
          </a:prstGeom>
        </p:spPr>
      </p:pic>
    </p:spTree>
    <p:extLst>
      <p:ext uri="{BB962C8B-B14F-4D97-AF65-F5344CB8AC3E}">
        <p14:creationId xmlns:p14="http://schemas.microsoft.com/office/powerpoint/2010/main" val="3291916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F0C5-AE48-5D72-33F0-B5CF3583DAA5}"/>
              </a:ext>
            </a:extLst>
          </p:cNvPr>
          <p:cNvSpPr>
            <a:spLocks noGrp="1"/>
          </p:cNvSpPr>
          <p:nvPr>
            <p:ph type="title"/>
          </p:nvPr>
        </p:nvSpPr>
        <p:spPr/>
        <p:txBody>
          <a:bodyPr/>
          <a:lstStyle/>
          <a:p>
            <a:r>
              <a:rPr lang="en-AU" dirty="0"/>
              <a:t>What if we increase the pinhole size?</a:t>
            </a:r>
            <a:endParaRPr lang="en-US" dirty="0"/>
          </a:p>
        </p:txBody>
      </p:sp>
      <p:pic>
        <p:nvPicPr>
          <p:cNvPr id="4" name="Picture 3">
            <a:extLst>
              <a:ext uri="{FF2B5EF4-FFF2-40B4-BE49-F238E27FC236}">
                <a16:creationId xmlns:a16="http://schemas.microsoft.com/office/drawing/2014/main" id="{9098C5EB-CEF5-E637-0A25-E82F710A08FF}"/>
              </a:ext>
            </a:extLst>
          </p:cNvPr>
          <p:cNvPicPr>
            <a:picLocks noChangeAspect="1"/>
          </p:cNvPicPr>
          <p:nvPr/>
        </p:nvPicPr>
        <p:blipFill>
          <a:blip r:embed="rId3"/>
          <a:stretch>
            <a:fillRect/>
          </a:stretch>
        </p:blipFill>
        <p:spPr>
          <a:xfrm>
            <a:off x="2110946" y="1941855"/>
            <a:ext cx="7772400" cy="3196712"/>
          </a:xfrm>
          <a:prstGeom prst="rect">
            <a:avLst/>
          </a:prstGeom>
        </p:spPr>
      </p:pic>
    </p:spTree>
    <p:extLst>
      <p:ext uri="{BB962C8B-B14F-4D97-AF65-F5344CB8AC3E}">
        <p14:creationId xmlns:p14="http://schemas.microsoft.com/office/powerpoint/2010/main" val="3233019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C91F-E212-8C1C-7028-EBEB51AA5E81}"/>
              </a:ext>
            </a:extLst>
          </p:cNvPr>
          <p:cNvSpPr>
            <a:spLocks noGrp="1"/>
          </p:cNvSpPr>
          <p:nvPr>
            <p:ph type="title"/>
          </p:nvPr>
        </p:nvSpPr>
        <p:spPr/>
        <p:txBody>
          <a:bodyPr/>
          <a:lstStyle/>
          <a:p>
            <a:r>
              <a:rPr lang="en-AU" dirty="0"/>
              <a:t>Can we get a sharper image if we decrease the pinhole size?</a:t>
            </a:r>
            <a:endParaRPr lang="en-US" dirty="0"/>
          </a:p>
        </p:txBody>
      </p:sp>
      <p:pic>
        <p:nvPicPr>
          <p:cNvPr id="4" name="Picture 3">
            <a:extLst>
              <a:ext uri="{FF2B5EF4-FFF2-40B4-BE49-F238E27FC236}">
                <a16:creationId xmlns:a16="http://schemas.microsoft.com/office/drawing/2014/main" id="{EA178831-B719-FEEA-1581-A1C129647EDE}"/>
              </a:ext>
            </a:extLst>
          </p:cNvPr>
          <p:cNvPicPr>
            <a:picLocks noChangeAspect="1"/>
          </p:cNvPicPr>
          <p:nvPr/>
        </p:nvPicPr>
        <p:blipFill>
          <a:blip r:embed="rId3"/>
          <a:stretch>
            <a:fillRect/>
          </a:stretch>
        </p:blipFill>
        <p:spPr>
          <a:xfrm>
            <a:off x="2209800" y="2312557"/>
            <a:ext cx="7772400" cy="3196712"/>
          </a:xfrm>
          <a:prstGeom prst="rect">
            <a:avLst/>
          </a:prstGeom>
        </p:spPr>
      </p:pic>
    </p:spTree>
    <p:extLst>
      <p:ext uri="{BB962C8B-B14F-4D97-AF65-F5344CB8AC3E}">
        <p14:creationId xmlns:p14="http://schemas.microsoft.com/office/powerpoint/2010/main" val="378452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B8B8A-B729-28A2-32FF-F84454CE2C13}"/>
              </a:ext>
            </a:extLst>
          </p:cNvPr>
          <p:cNvSpPr>
            <a:spLocks noGrp="1"/>
          </p:cNvSpPr>
          <p:nvPr>
            <p:ph type="title"/>
          </p:nvPr>
        </p:nvSpPr>
        <p:spPr/>
        <p:txBody>
          <a:bodyPr/>
          <a:lstStyle/>
          <a:p>
            <a:r>
              <a:rPr lang="en-AU" dirty="0"/>
              <a:t>Aperture in pinhole model</a:t>
            </a:r>
            <a:endParaRPr lang="en-US" dirty="0"/>
          </a:p>
        </p:txBody>
      </p:sp>
      <p:sp>
        <p:nvSpPr>
          <p:cNvPr id="3" name="Content Placeholder 2">
            <a:extLst>
              <a:ext uri="{FF2B5EF4-FFF2-40B4-BE49-F238E27FC236}">
                <a16:creationId xmlns:a16="http://schemas.microsoft.com/office/drawing/2014/main" id="{9BD01F5A-87CD-F979-FE4C-D44B757695C7}"/>
              </a:ext>
            </a:extLst>
          </p:cNvPr>
          <p:cNvSpPr>
            <a:spLocks noGrp="1"/>
          </p:cNvSpPr>
          <p:nvPr>
            <p:ph idx="1"/>
          </p:nvPr>
        </p:nvSpPr>
        <p:spPr>
          <a:xfrm>
            <a:off x="504567" y="1703473"/>
            <a:ext cx="5108307" cy="2361900"/>
          </a:xfrm>
        </p:spPr>
        <p:txBody>
          <a:bodyPr/>
          <a:lstStyle/>
          <a:p>
            <a:r>
              <a:rPr lang="en-AU" dirty="0"/>
              <a:t>Assumption - the aperture is a single point. </a:t>
            </a:r>
          </a:p>
          <a:p>
            <a:r>
              <a:rPr lang="en-AU" dirty="0"/>
              <a:t>In most real world scenarios we cannot assume the aperture can be infinitely small. </a:t>
            </a:r>
            <a:endParaRPr lang="en-US" dirty="0"/>
          </a:p>
        </p:txBody>
      </p:sp>
      <p:pic>
        <p:nvPicPr>
          <p:cNvPr id="5" name="Picture 4">
            <a:extLst>
              <a:ext uri="{FF2B5EF4-FFF2-40B4-BE49-F238E27FC236}">
                <a16:creationId xmlns:a16="http://schemas.microsoft.com/office/drawing/2014/main" id="{96B31419-DD67-0103-6676-E3C482409BB2}"/>
              </a:ext>
            </a:extLst>
          </p:cNvPr>
          <p:cNvPicPr>
            <a:picLocks noChangeAspect="1"/>
          </p:cNvPicPr>
          <p:nvPr/>
        </p:nvPicPr>
        <p:blipFill>
          <a:blip r:embed="rId3"/>
          <a:stretch>
            <a:fillRect/>
          </a:stretch>
        </p:blipFill>
        <p:spPr>
          <a:xfrm>
            <a:off x="5946507" y="1411423"/>
            <a:ext cx="6245493" cy="4643388"/>
          </a:xfrm>
          <a:prstGeom prst="rect">
            <a:avLst/>
          </a:prstGeom>
        </p:spPr>
      </p:pic>
      <p:sp>
        <p:nvSpPr>
          <p:cNvPr id="6" name="TextBox 5">
            <a:extLst>
              <a:ext uri="{FF2B5EF4-FFF2-40B4-BE49-F238E27FC236}">
                <a16:creationId xmlns:a16="http://schemas.microsoft.com/office/drawing/2014/main" id="{A45ECAD5-13AD-712B-6489-060151D1817F}"/>
              </a:ext>
            </a:extLst>
          </p:cNvPr>
          <p:cNvSpPr txBox="1"/>
          <p:nvPr/>
        </p:nvSpPr>
        <p:spPr>
          <a:xfrm>
            <a:off x="671383" y="4326841"/>
            <a:ext cx="10849233" cy="1569660"/>
          </a:xfrm>
          <a:prstGeom prst="rect">
            <a:avLst/>
          </a:prstGeom>
          <a:noFill/>
        </p:spPr>
        <p:txBody>
          <a:bodyPr wrap="square" rtlCol="0">
            <a:spAutoFit/>
          </a:bodyPr>
          <a:lstStyle/>
          <a:p>
            <a:r>
              <a:rPr lang="en-AU" sz="3200" b="1" dirty="0">
                <a:ln>
                  <a:solidFill>
                    <a:schemeClr val="accent2">
                      <a:lumMod val="75000"/>
                    </a:schemeClr>
                  </a:solidFill>
                </a:ln>
                <a:solidFill>
                  <a:srgbClr val="C00000"/>
                </a:solidFill>
              </a:rPr>
              <a:t>Fundamental problem presented by the pinhole formulation: can we develop cameras that take crisp and bright</a:t>
            </a:r>
          </a:p>
          <a:p>
            <a:r>
              <a:rPr lang="en-AU" sz="3200" b="1" dirty="0">
                <a:ln>
                  <a:solidFill>
                    <a:schemeClr val="accent2">
                      <a:lumMod val="75000"/>
                    </a:schemeClr>
                  </a:solidFill>
                </a:ln>
                <a:solidFill>
                  <a:srgbClr val="C00000"/>
                </a:solidFill>
              </a:rPr>
              <a:t>images?</a:t>
            </a:r>
          </a:p>
        </p:txBody>
      </p:sp>
    </p:spTree>
    <p:extLst>
      <p:ext uri="{BB962C8B-B14F-4D97-AF65-F5344CB8AC3E}">
        <p14:creationId xmlns:p14="http://schemas.microsoft.com/office/powerpoint/2010/main" val="96045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3C2D-D829-DABA-C736-4B895C2185F7}"/>
              </a:ext>
            </a:extLst>
          </p:cNvPr>
          <p:cNvSpPr>
            <a:spLocks noGrp="1"/>
          </p:cNvSpPr>
          <p:nvPr>
            <p:ph type="title"/>
          </p:nvPr>
        </p:nvSpPr>
        <p:spPr/>
        <p:txBody>
          <a:bodyPr/>
          <a:lstStyle/>
          <a:p>
            <a:r>
              <a:rPr lang="en-US" b="1" dirty="0"/>
              <a:t>How can we get a sharp and bright image?</a:t>
            </a:r>
          </a:p>
        </p:txBody>
      </p:sp>
      <p:sp>
        <p:nvSpPr>
          <p:cNvPr id="3" name="Content Placeholder 2">
            <a:extLst>
              <a:ext uri="{FF2B5EF4-FFF2-40B4-BE49-F238E27FC236}">
                <a16:creationId xmlns:a16="http://schemas.microsoft.com/office/drawing/2014/main" id="{71BD8D09-B775-A377-6C7C-813BB810B5FC}"/>
              </a:ext>
            </a:extLst>
          </p:cNvPr>
          <p:cNvSpPr>
            <a:spLocks noGrp="1"/>
          </p:cNvSpPr>
          <p:nvPr>
            <p:ph idx="1"/>
          </p:nvPr>
        </p:nvSpPr>
        <p:spPr>
          <a:xfrm>
            <a:off x="838200" y="1825625"/>
            <a:ext cx="10515600" cy="2004970"/>
          </a:xfrm>
        </p:spPr>
        <p:txBody>
          <a:bodyPr/>
          <a:lstStyle/>
          <a:p>
            <a:r>
              <a:rPr lang="en-AU" dirty="0"/>
              <a:t>Lens focuses parallel light rays to impose on a single point. </a:t>
            </a:r>
          </a:p>
          <a:p>
            <a:pPr lvl="0"/>
            <a:r>
              <a:rPr lang="en-AU" dirty="0"/>
              <a:t>Pinhole: one light ray from one point from 3D space is projected as one point on 2D image plane. </a:t>
            </a:r>
          </a:p>
          <a:p>
            <a:pPr lvl="0"/>
            <a:r>
              <a:rPr lang="en-AU" dirty="0"/>
              <a:t>Lens: multiple parallel rays form one point projected to one point</a:t>
            </a:r>
          </a:p>
          <a:p>
            <a:endParaRPr lang="en-AU" dirty="0"/>
          </a:p>
        </p:txBody>
      </p:sp>
      <p:pic>
        <p:nvPicPr>
          <p:cNvPr id="4" name="Picture 3">
            <a:extLst>
              <a:ext uri="{FF2B5EF4-FFF2-40B4-BE49-F238E27FC236}">
                <a16:creationId xmlns:a16="http://schemas.microsoft.com/office/drawing/2014/main" id="{0244C2FC-F285-9F11-8DE1-9A9CFC83309A}"/>
              </a:ext>
            </a:extLst>
          </p:cNvPr>
          <p:cNvPicPr>
            <a:picLocks noChangeAspect="1"/>
          </p:cNvPicPr>
          <p:nvPr/>
        </p:nvPicPr>
        <p:blipFill>
          <a:blip r:embed="rId3"/>
          <a:stretch>
            <a:fillRect/>
          </a:stretch>
        </p:blipFill>
        <p:spPr>
          <a:xfrm>
            <a:off x="1295059" y="3830595"/>
            <a:ext cx="2832099" cy="2741274"/>
          </a:xfrm>
          <a:prstGeom prst="rect">
            <a:avLst/>
          </a:prstGeom>
        </p:spPr>
      </p:pic>
      <p:pic>
        <p:nvPicPr>
          <p:cNvPr id="5" name="Picture 4">
            <a:extLst>
              <a:ext uri="{FF2B5EF4-FFF2-40B4-BE49-F238E27FC236}">
                <a16:creationId xmlns:a16="http://schemas.microsoft.com/office/drawing/2014/main" id="{F698B9F1-2854-7059-ABA0-8F9BA9A106B1}"/>
              </a:ext>
            </a:extLst>
          </p:cNvPr>
          <p:cNvPicPr>
            <a:picLocks noChangeAspect="1"/>
          </p:cNvPicPr>
          <p:nvPr/>
        </p:nvPicPr>
        <p:blipFill>
          <a:blip r:embed="rId4"/>
          <a:srcRect t="4436" b="5436"/>
          <a:stretch>
            <a:fillRect/>
          </a:stretch>
        </p:blipFill>
        <p:spPr>
          <a:xfrm>
            <a:off x="5070390" y="3965533"/>
            <a:ext cx="6211329" cy="2741273"/>
          </a:xfrm>
          <a:prstGeom prst="rect">
            <a:avLst/>
          </a:prstGeom>
        </p:spPr>
      </p:pic>
    </p:spTree>
    <p:extLst>
      <p:ext uri="{BB962C8B-B14F-4D97-AF65-F5344CB8AC3E}">
        <p14:creationId xmlns:p14="http://schemas.microsoft.com/office/powerpoint/2010/main" val="3045788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BBA3-A302-EF42-08A4-5DAD2B756BF8}"/>
              </a:ext>
            </a:extLst>
          </p:cNvPr>
          <p:cNvSpPr>
            <a:spLocks noGrp="1"/>
          </p:cNvSpPr>
          <p:nvPr>
            <p:ph type="title"/>
          </p:nvPr>
        </p:nvSpPr>
        <p:spPr/>
        <p:txBody>
          <a:bodyPr/>
          <a:lstStyle/>
          <a:p>
            <a:r>
              <a:rPr lang="en-US" b="1" dirty="0"/>
              <a:t>How can we get a sharp and bright image?</a:t>
            </a:r>
          </a:p>
        </p:txBody>
      </p:sp>
      <p:sp>
        <p:nvSpPr>
          <p:cNvPr id="3" name="Content Placeholder 2">
            <a:extLst>
              <a:ext uri="{FF2B5EF4-FFF2-40B4-BE49-F238E27FC236}">
                <a16:creationId xmlns:a16="http://schemas.microsoft.com/office/drawing/2014/main" id="{1CAF2AEF-9D87-14A3-40F7-AC53CD437085}"/>
              </a:ext>
            </a:extLst>
          </p:cNvPr>
          <p:cNvSpPr>
            <a:spLocks noGrp="1"/>
          </p:cNvSpPr>
          <p:nvPr>
            <p:ph idx="1"/>
          </p:nvPr>
        </p:nvSpPr>
        <p:spPr/>
        <p:txBody>
          <a:bodyPr/>
          <a:lstStyle/>
          <a:p>
            <a:pPr lvl="0"/>
            <a:r>
              <a:rPr lang="en-AU" dirty="0"/>
              <a:t>Multiple rays (more lights) from one point from the 3D space creates one point in the 2D space - we get </a:t>
            </a:r>
            <a:r>
              <a:rPr lang="en-AU" b="1" dirty="0"/>
              <a:t>a bright image </a:t>
            </a:r>
            <a:r>
              <a:rPr lang="en-AU" dirty="0"/>
              <a:t>and </a:t>
            </a:r>
          </a:p>
          <a:p>
            <a:pPr lvl="0"/>
            <a:r>
              <a:rPr lang="en-AU" dirty="0"/>
              <a:t>Multiple rays are condensed on one point - we get </a:t>
            </a:r>
            <a:r>
              <a:rPr lang="en-AU" b="1" dirty="0"/>
              <a:t>a sharp image</a:t>
            </a:r>
            <a:r>
              <a:rPr lang="en-AU" dirty="0"/>
              <a:t>. </a:t>
            </a:r>
          </a:p>
        </p:txBody>
      </p:sp>
      <p:pic>
        <p:nvPicPr>
          <p:cNvPr id="6" name="Picture 5">
            <a:extLst>
              <a:ext uri="{FF2B5EF4-FFF2-40B4-BE49-F238E27FC236}">
                <a16:creationId xmlns:a16="http://schemas.microsoft.com/office/drawing/2014/main" id="{A9AECC29-CFDD-9179-8AFC-9A82DAC7F6D4}"/>
              </a:ext>
            </a:extLst>
          </p:cNvPr>
          <p:cNvPicPr>
            <a:picLocks noChangeAspect="1"/>
          </p:cNvPicPr>
          <p:nvPr/>
        </p:nvPicPr>
        <p:blipFill>
          <a:blip r:embed="rId3"/>
          <a:stretch>
            <a:fillRect/>
          </a:stretch>
        </p:blipFill>
        <p:spPr>
          <a:xfrm>
            <a:off x="356285" y="3694038"/>
            <a:ext cx="5072449" cy="2181415"/>
          </a:xfrm>
          <a:prstGeom prst="rect">
            <a:avLst/>
          </a:prstGeom>
        </p:spPr>
      </p:pic>
      <p:pic>
        <p:nvPicPr>
          <p:cNvPr id="8" name="Picture 7">
            <a:extLst>
              <a:ext uri="{FF2B5EF4-FFF2-40B4-BE49-F238E27FC236}">
                <a16:creationId xmlns:a16="http://schemas.microsoft.com/office/drawing/2014/main" id="{F43FDC3A-00CD-AA97-90D4-35A7D3FD6ED8}"/>
              </a:ext>
            </a:extLst>
          </p:cNvPr>
          <p:cNvPicPr>
            <a:picLocks noChangeAspect="1"/>
          </p:cNvPicPr>
          <p:nvPr/>
        </p:nvPicPr>
        <p:blipFill>
          <a:blip r:embed="rId4"/>
          <a:stretch>
            <a:fillRect/>
          </a:stretch>
        </p:blipFill>
        <p:spPr>
          <a:xfrm>
            <a:off x="5619778" y="3588360"/>
            <a:ext cx="5827186" cy="2392769"/>
          </a:xfrm>
          <a:prstGeom prst="rect">
            <a:avLst/>
          </a:prstGeom>
        </p:spPr>
      </p:pic>
    </p:spTree>
    <p:extLst>
      <p:ext uri="{BB962C8B-B14F-4D97-AF65-F5344CB8AC3E}">
        <p14:creationId xmlns:p14="http://schemas.microsoft.com/office/powerpoint/2010/main" val="4241537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5933B-B527-C2BE-012B-2ECEA3C9588C}"/>
              </a:ext>
            </a:extLst>
          </p:cNvPr>
          <p:cNvSpPr>
            <a:spLocks noGrp="1"/>
          </p:cNvSpPr>
          <p:nvPr>
            <p:ph type="title"/>
          </p:nvPr>
        </p:nvSpPr>
        <p:spPr/>
        <p:txBody>
          <a:bodyPr/>
          <a:lstStyle/>
          <a:p>
            <a:r>
              <a:rPr lang="en-US" dirty="0"/>
              <a:t>Lens camera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F63723-7A1F-4294-2BEE-ACCAEF3542FD}"/>
                  </a:ext>
                </a:extLst>
              </p:cNvPr>
              <p:cNvSpPr>
                <a:spLocks noGrp="1"/>
              </p:cNvSpPr>
              <p:nvPr>
                <p:ph idx="1"/>
              </p:nvPr>
            </p:nvSpPr>
            <p:spPr/>
            <p:txBody>
              <a:bodyPr/>
              <a:lstStyle/>
              <a:p>
                <a:r>
                  <a:rPr lang="en-AU" dirty="0"/>
                  <a:t>All rays of light that are emitted by point </a:t>
                </a:r>
                <a14:m>
                  <m:oMath xmlns:m="http://schemas.openxmlformats.org/officeDocument/2006/math">
                    <m:r>
                      <a:rPr lang="en-AU" i="1" dirty="0" smtClean="0">
                        <a:latin typeface="Cambria Math" panose="02040503050406030204" pitchFamily="18" charset="0"/>
                      </a:rPr>
                      <m:t>𝑃</m:t>
                    </m:r>
                  </m:oMath>
                </a14:m>
                <a:r>
                  <a:rPr lang="en-AU" dirty="0"/>
                  <a:t> are refracted by the lens such that they converge to a single point </a:t>
                </a:r>
                <a14:m>
                  <m:oMath xmlns:m="http://schemas.openxmlformats.org/officeDocument/2006/math">
                    <m:r>
                      <a:rPr lang="en-AU" i="1" dirty="0" smtClean="0">
                        <a:latin typeface="Cambria Math" panose="02040503050406030204" pitchFamily="18" charset="0"/>
                      </a:rPr>
                      <m:t>𝑃</m:t>
                    </m:r>
                    <m:r>
                      <a:rPr lang="en-AU" i="1" dirty="0" smtClean="0">
                        <a:latin typeface="Cambria Math" panose="02040503050406030204" pitchFamily="18" charset="0"/>
                      </a:rPr>
                      <m:t>′</m:t>
                    </m:r>
                  </m:oMath>
                </a14:m>
                <a:endParaRPr lang="en-AU" dirty="0"/>
              </a:p>
              <a:p>
                <a:r>
                  <a:rPr lang="en-AU" dirty="0"/>
                  <a:t>The problem of the majority of the light rays blocked due to a small aperture is removed</a:t>
                </a:r>
              </a:p>
              <a:p>
                <a:endParaRPr lang="en-AU" dirty="0"/>
              </a:p>
              <a:p>
                <a:endParaRPr lang="en-US" dirty="0"/>
              </a:p>
            </p:txBody>
          </p:sp>
        </mc:Choice>
        <mc:Fallback>
          <p:sp>
            <p:nvSpPr>
              <p:cNvPr id="3" name="Content Placeholder 2">
                <a:extLst>
                  <a:ext uri="{FF2B5EF4-FFF2-40B4-BE49-F238E27FC236}">
                    <a16:creationId xmlns:a16="http://schemas.microsoft.com/office/drawing/2014/main" id="{CAF63723-7A1F-4294-2BEE-ACCAEF3542FD}"/>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64A0428-4C06-2146-BF7F-FA537394D33A}"/>
              </a:ext>
            </a:extLst>
          </p:cNvPr>
          <p:cNvPicPr>
            <a:picLocks noChangeAspect="1"/>
          </p:cNvPicPr>
          <p:nvPr/>
        </p:nvPicPr>
        <p:blipFill>
          <a:blip r:embed="rId4"/>
          <a:stretch>
            <a:fillRect/>
          </a:stretch>
        </p:blipFill>
        <p:spPr>
          <a:xfrm>
            <a:off x="2883071" y="4054475"/>
            <a:ext cx="6870700" cy="2438400"/>
          </a:xfrm>
          <a:prstGeom prst="rect">
            <a:avLst/>
          </a:prstGeom>
        </p:spPr>
      </p:pic>
    </p:spTree>
    <p:extLst>
      <p:ext uri="{BB962C8B-B14F-4D97-AF65-F5344CB8AC3E}">
        <p14:creationId xmlns:p14="http://schemas.microsoft.com/office/powerpoint/2010/main" val="1567965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D8DE9-12FF-783A-B980-A3FB8BF39430}"/>
              </a:ext>
            </a:extLst>
          </p:cNvPr>
          <p:cNvSpPr>
            <a:spLocks noGrp="1"/>
          </p:cNvSpPr>
          <p:nvPr>
            <p:ph type="title"/>
          </p:nvPr>
        </p:nvSpPr>
        <p:spPr>
          <a:xfrm>
            <a:off x="366585" y="1424791"/>
            <a:ext cx="4277497" cy="1325563"/>
          </a:xfrm>
        </p:spPr>
        <p:txBody>
          <a:bodyPr/>
          <a:lstStyle/>
          <a:p>
            <a:r>
              <a:rPr lang="en-US" dirty="0"/>
              <a:t>In focus and out of focus</a:t>
            </a:r>
          </a:p>
        </p:txBody>
      </p:sp>
      <p:grpSp>
        <p:nvGrpSpPr>
          <p:cNvPr id="4" name="Group 3">
            <a:extLst>
              <a:ext uri="{FF2B5EF4-FFF2-40B4-BE49-F238E27FC236}">
                <a16:creationId xmlns:a16="http://schemas.microsoft.com/office/drawing/2014/main" id="{A12C9472-D1E1-DD7C-8F50-3788A8317BB8}"/>
              </a:ext>
            </a:extLst>
          </p:cNvPr>
          <p:cNvGrpSpPr/>
          <p:nvPr/>
        </p:nvGrpSpPr>
        <p:grpSpPr>
          <a:xfrm>
            <a:off x="4644082" y="857864"/>
            <a:ext cx="6504402" cy="5407012"/>
            <a:chOff x="838200" y="1208691"/>
            <a:chExt cx="6504402" cy="5407012"/>
          </a:xfrm>
        </p:grpSpPr>
        <p:pic>
          <p:nvPicPr>
            <p:cNvPr id="5" name="Content Placeholder 4">
              <a:extLst>
                <a:ext uri="{FF2B5EF4-FFF2-40B4-BE49-F238E27FC236}">
                  <a16:creationId xmlns:a16="http://schemas.microsoft.com/office/drawing/2014/main" id="{D43DAC56-3823-53B7-3087-197883178551}"/>
                </a:ext>
              </a:extLst>
            </p:cNvPr>
            <p:cNvPicPr>
              <a:picLocks noChangeAspect="1"/>
            </p:cNvPicPr>
            <p:nvPr/>
          </p:nvPicPr>
          <p:blipFill>
            <a:blip r:embed="rId2"/>
            <a:stretch>
              <a:fillRect/>
            </a:stretch>
          </p:blipFill>
          <p:spPr>
            <a:xfrm>
              <a:off x="838200" y="1208691"/>
              <a:ext cx="4048913" cy="5407012"/>
            </a:xfrm>
            <a:prstGeom prst="rect">
              <a:avLst/>
            </a:prstGeom>
          </p:spPr>
        </p:pic>
        <p:sp>
          <p:nvSpPr>
            <p:cNvPr id="6" name="TextBox 5">
              <a:extLst>
                <a:ext uri="{FF2B5EF4-FFF2-40B4-BE49-F238E27FC236}">
                  <a16:creationId xmlns:a16="http://schemas.microsoft.com/office/drawing/2014/main" id="{A55F3062-8100-C18D-EBAE-09EE434E01DA}"/>
                </a:ext>
              </a:extLst>
            </p:cNvPr>
            <p:cNvSpPr txBox="1"/>
            <p:nvPr/>
          </p:nvSpPr>
          <p:spPr>
            <a:xfrm>
              <a:off x="5633544" y="3198167"/>
              <a:ext cx="1154419" cy="461665"/>
            </a:xfrm>
            <a:prstGeom prst="rect">
              <a:avLst/>
            </a:prstGeom>
            <a:noFill/>
          </p:spPr>
          <p:txBody>
            <a:bodyPr wrap="none" rtlCol="0">
              <a:spAutoFit/>
            </a:bodyPr>
            <a:lstStyle/>
            <a:p>
              <a:r>
                <a:rPr lang="en-US" sz="2400" dirty="0"/>
                <a:t>In focus</a:t>
              </a:r>
            </a:p>
          </p:txBody>
        </p:sp>
        <p:sp>
          <p:nvSpPr>
            <p:cNvPr id="7" name="TextBox 6">
              <a:extLst>
                <a:ext uri="{FF2B5EF4-FFF2-40B4-BE49-F238E27FC236}">
                  <a16:creationId xmlns:a16="http://schemas.microsoft.com/office/drawing/2014/main" id="{43BDA48D-1172-7588-E9E5-3F000BC48A3C}"/>
                </a:ext>
              </a:extLst>
            </p:cNvPr>
            <p:cNvSpPr txBox="1"/>
            <p:nvPr/>
          </p:nvSpPr>
          <p:spPr>
            <a:xfrm>
              <a:off x="5633544" y="2238703"/>
              <a:ext cx="1709058" cy="461665"/>
            </a:xfrm>
            <a:prstGeom prst="rect">
              <a:avLst/>
            </a:prstGeom>
            <a:noFill/>
          </p:spPr>
          <p:txBody>
            <a:bodyPr wrap="none" rtlCol="0">
              <a:spAutoFit/>
            </a:bodyPr>
            <a:lstStyle/>
            <a:p>
              <a:r>
                <a:rPr lang="en-US" sz="2400" dirty="0"/>
                <a:t>Out of focus</a:t>
              </a:r>
            </a:p>
          </p:txBody>
        </p:sp>
        <p:cxnSp>
          <p:nvCxnSpPr>
            <p:cNvPr id="8" name="Straight Arrow Connector 7">
              <a:extLst>
                <a:ext uri="{FF2B5EF4-FFF2-40B4-BE49-F238E27FC236}">
                  <a16:creationId xmlns:a16="http://schemas.microsoft.com/office/drawing/2014/main" id="{880CCADC-AE49-589D-5304-64DF643C07BA}"/>
                </a:ext>
              </a:extLst>
            </p:cNvPr>
            <p:cNvCxnSpPr>
              <a:endCxn id="7" idx="1"/>
            </p:cNvCxnSpPr>
            <p:nvPr/>
          </p:nvCxnSpPr>
          <p:spPr>
            <a:xfrm>
              <a:off x="4456386" y="2438400"/>
              <a:ext cx="1177158" cy="311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28178B87-F993-4D2E-EE7B-0E5476D93566}"/>
                </a:ext>
              </a:extLst>
            </p:cNvPr>
            <p:cNvCxnSpPr>
              <a:cxnSpLocks/>
            </p:cNvCxnSpPr>
            <p:nvPr/>
          </p:nvCxnSpPr>
          <p:spPr>
            <a:xfrm>
              <a:off x="3184634" y="3428999"/>
              <a:ext cx="2448910" cy="311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353986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6E4F-85A9-5053-E736-7875FBB12E4C}"/>
              </a:ext>
            </a:extLst>
          </p:cNvPr>
          <p:cNvSpPr>
            <a:spLocks noGrp="1"/>
          </p:cNvSpPr>
          <p:nvPr>
            <p:ph type="title"/>
          </p:nvPr>
        </p:nvSpPr>
        <p:spPr/>
        <p:txBody>
          <a:bodyPr/>
          <a:lstStyle/>
          <a:p>
            <a:r>
              <a:rPr lang="en-US" dirty="0"/>
              <a:t>Focus</a:t>
            </a:r>
          </a:p>
        </p:txBody>
      </p:sp>
      <p:sp>
        <p:nvSpPr>
          <p:cNvPr id="4" name="Oval 3">
            <a:extLst>
              <a:ext uri="{FF2B5EF4-FFF2-40B4-BE49-F238E27FC236}">
                <a16:creationId xmlns:a16="http://schemas.microsoft.com/office/drawing/2014/main" id="{7DFE62AE-19F3-9DCA-4A17-85FBD59C77DA}"/>
              </a:ext>
            </a:extLst>
          </p:cNvPr>
          <p:cNvSpPr/>
          <p:nvPr/>
        </p:nvSpPr>
        <p:spPr>
          <a:xfrm>
            <a:off x="5560540" y="2743200"/>
            <a:ext cx="432487" cy="247135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CA6D30D-B774-0BD0-5719-16CEA8A21D0F}"/>
              </a:ext>
            </a:extLst>
          </p:cNvPr>
          <p:cNvCxnSpPr/>
          <p:nvPr/>
        </p:nvCxnSpPr>
        <p:spPr>
          <a:xfrm>
            <a:off x="2601097" y="3991232"/>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6FD3078-CF1E-67F9-9BF6-EB7B571AA203}"/>
              </a:ext>
            </a:extLst>
          </p:cNvPr>
          <p:cNvCxnSpPr>
            <a:cxnSpLocks/>
          </p:cNvCxnSpPr>
          <p:nvPr/>
        </p:nvCxnSpPr>
        <p:spPr>
          <a:xfrm>
            <a:off x="5782960"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5C65EBC-855E-35CD-7537-4C707ED0E78E}"/>
              </a:ext>
            </a:extLst>
          </p:cNvPr>
          <p:cNvSpPr/>
          <p:nvPr/>
        </p:nvSpPr>
        <p:spPr>
          <a:xfrm>
            <a:off x="2891481" y="3891287"/>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AD99CA5-74E1-541A-4595-62F68580E341}"/>
              </a:ext>
            </a:extLst>
          </p:cNvPr>
          <p:cNvSpPr/>
          <p:nvPr/>
        </p:nvSpPr>
        <p:spPr>
          <a:xfrm>
            <a:off x="492210" y="1344699"/>
            <a:ext cx="691979" cy="716692"/>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28534DA-9E6D-CF5D-BADA-FA85953BA798}"/>
                  </a:ext>
                </a:extLst>
              </p:cNvPr>
              <p:cNvSpPr txBox="1"/>
              <p:nvPr/>
            </p:nvSpPr>
            <p:spPr>
              <a:xfrm>
                <a:off x="2749263" y="4128948"/>
                <a:ext cx="45743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i="1" dirty="0" smtClean="0">
                              <a:latin typeface="Cambria Math" panose="02040503050406030204" pitchFamily="18" charset="0"/>
                            </a:rPr>
                            <m:t>1</m:t>
                          </m:r>
                        </m:sub>
                      </m:sSub>
                    </m:oMath>
                  </m:oMathPara>
                </a14:m>
                <a:endParaRPr lang="en-US" dirty="0"/>
              </a:p>
            </p:txBody>
          </p:sp>
        </mc:Choice>
        <mc:Fallback>
          <p:sp>
            <p:nvSpPr>
              <p:cNvPr id="13" name="TextBox 12">
                <a:extLst>
                  <a:ext uri="{FF2B5EF4-FFF2-40B4-BE49-F238E27FC236}">
                    <a16:creationId xmlns:a16="http://schemas.microsoft.com/office/drawing/2014/main" id="{D28534DA-9E6D-CF5D-BADA-FA85953BA798}"/>
                  </a:ext>
                </a:extLst>
              </p:cNvPr>
              <p:cNvSpPr txBox="1">
                <a:spLocks noRot="1" noChangeAspect="1" noMove="1" noResize="1" noEditPoints="1" noAdjustHandles="1" noChangeArrowheads="1" noChangeShapeType="1" noTextEdit="1"/>
              </p:cNvSpPr>
              <p:nvPr/>
            </p:nvSpPr>
            <p:spPr>
              <a:xfrm>
                <a:off x="2749263" y="4128948"/>
                <a:ext cx="457433" cy="369332"/>
              </a:xfrm>
              <a:prstGeom prst="rect">
                <a:avLst/>
              </a:prstGeom>
              <a:blipFill>
                <a:blip r:embed="rId3"/>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80A9E68-2D22-123B-9DD3-4E56355EA9A2}"/>
              </a:ext>
            </a:extLst>
          </p:cNvPr>
          <p:cNvCxnSpPr>
            <a:cxnSpLocks/>
            <a:stCxn id="11" idx="2"/>
          </p:cNvCxnSpPr>
          <p:nvPr/>
        </p:nvCxnSpPr>
        <p:spPr>
          <a:xfrm flipV="1">
            <a:off x="2891481" y="3661481"/>
            <a:ext cx="2885302" cy="3198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A084BF8-1AB9-F08B-FB4B-D1DD0F57C354}"/>
              </a:ext>
            </a:extLst>
          </p:cNvPr>
          <p:cNvCxnSpPr>
            <a:cxnSpLocks/>
          </p:cNvCxnSpPr>
          <p:nvPr/>
        </p:nvCxnSpPr>
        <p:spPr>
          <a:xfrm>
            <a:off x="3046767" y="4018358"/>
            <a:ext cx="2717657" cy="3323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EA3085-A4E3-4181-1780-D225E7F2A079}"/>
              </a:ext>
            </a:extLst>
          </p:cNvPr>
          <p:cNvCxnSpPr>
            <a:cxnSpLocks/>
          </p:cNvCxnSpPr>
          <p:nvPr/>
        </p:nvCxnSpPr>
        <p:spPr>
          <a:xfrm flipV="1">
            <a:off x="5776783" y="3988657"/>
            <a:ext cx="1893469" cy="3620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C4070DD-2571-806D-C36B-9490826C1D61}"/>
              </a:ext>
            </a:extLst>
          </p:cNvPr>
          <p:cNvCxnSpPr>
            <a:cxnSpLocks/>
          </p:cNvCxnSpPr>
          <p:nvPr/>
        </p:nvCxnSpPr>
        <p:spPr>
          <a:xfrm>
            <a:off x="5782960" y="3668851"/>
            <a:ext cx="1887292" cy="3223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042CED9-55F6-EC8E-3704-98D1B69C260C}"/>
              </a:ext>
            </a:extLst>
          </p:cNvPr>
          <p:cNvSpPr/>
          <p:nvPr/>
        </p:nvSpPr>
        <p:spPr>
          <a:xfrm>
            <a:off x="2866767" y="265967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C1294777-91E0-6662-6AAB-85039E62FAD3}"/>
                  </a:ext>
                </a:extLst>
              </p:cNvPr>
              <p:cNvSpPr txBox="1"/>
              <p:nvPr/>
            </p:nvSpPr>
            <p:spPr>
              <a:xfrm>
                <a:off x="2728050" y="2811481"/>
                <a:ext cx="46275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AU" b="0" i="1" dirty="0" smtClean="0">
                              <a:latin typeface="Cambria Math" panose="02040503050406030204" pitchFamily="18" charset="0"/>
                            </a:rPr>
                            <m:t>2</m:t>
                          </m:r>
                        </m:sub>
                      </m:sSub>
                    </m:oMath>
                  </m:oMathPara>
                </a14:m>
                <a:endParaRPr lang="en-US" dirty="0"/>
              </a:p>
            </p:txBody>
          </p:sp>
        </mc:Choice>
        <mc:Fallback>
          <p:sp>
            <p:nvSpPr>
              <p:cNvPr id="42" name="TextBox 41">
                <a:extLst>
                  <a:ext uri="{FF2B5EF4-FFF2-40B4-BE49-F238E27FC236}">
                    <a16:creationId xmlns:a16="http://schemas.microsoft.com/office/drawing/2014/main" id="{C1294777-91E0-6662-6AAB-85039E62FAD3}"/>
                  </a:ext>
                </a:extLst>
              </p:cNvPr>
              <p:cNvSpPr txBox="1">
                <a:spLocks noRot="1" noChangeAspect="1" noMove="1" noResize="1" noEditPoints="1" noAdjustHandles="1" noChangeArrowheads="1" noChangeShapeType="1" noTextEdit="1"/>
              </p:cNvSpPr>
              <p:nvPr/>
            </p:nvSpPr>
            <p:spPr>
              <a:xfrm>
                <a:off x="2728050" y="2811481"/>
                <a:ext cx="462755" cy="369332"/>
              </a:xfrm>
              <a:prstGeom prst="rect">
                <a:avLst/>
              </a:prstGeom>
              <a:blipFill>
                <a:blip r:embed="rId4"/>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000641ED-D3A1-1332-AC6E-2202730849D2}"/>
              </a:ext>
            </a:extLst>
          </p:cNvPr>
          <p:cNvCxnSpPr>
            <a:cxnSpLocks/>
            <a:stCxn id="41" idx="5"/>
          </p:cNvCxnSpPr>
          <p:nvPr/>
        </p:nvCxnSpPr>
        <p:spPr>
          <a:xfrm>
            <a:off x="3020407" y="2813312"/>
            <a:ext cx="4662203" cy="1990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7DCDFA6-2F88-5DCB-CFB6-729A89A88F9F}"/>
              </a:ext>
            </a:extLst>
          </p:cNvPr>
          <p:cNvCxnSpPr>
            <a:cxnSpLocks/>
            <a:stCxn id="41" idx="5"/>
          </p:cNvCxnSpPr>
          <p:nvPr/>
        </p:nvCxnSpPr>
        <p:spPr>
          <a:xfrm>
            <a:off x="3020407" y="2813312"/>
            <a:ext cx="2756376" cy="1537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D7A1762-9BFC-C738-170F-97F780FA255B}"/>
              </a:ext>
            </a:extLst>
          </p:cNvPr>
          <p:cNvCxnSpPr>
            <a:cxnSpLocks/>
            <a:stCxn id="41" idx="5"/>
          </p:cNvCxnSpPr>
          <p:nvPr/>
        </p:nvCxnSpPr>
        <p:spPr>
          <a:xfrm>
            <a:off x="3020407" y="2813312"/>
            <a:ext cx="2726422" cy="8638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04700BD-85B9-1D01-5F71-850599F12AC6}"/>
              </a:ext>
            </a:extLst>
          </p:cNvPr>
          <p:cNvSpPr/>
          <p:nvPr/>
        </p:nvSpPr>
        <p:spPr>
          <a:xfrm>
            <a:off x="7688788" y="2798513"/>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E04E725-A091-1227-874A-97F05E8CB2B1}"/>
              </a:ext>
            </a:extLst>
          </p:cNvPr>
          <p:cNvCxnSpPr>
            <a:cxnSpLocks/>
          </p:cNvCxnSpPr>
          <p:nvPr/>
        </p:nvCxnSpPr>
        <p:spPr>
          <a:xfrm>
            <a:off x="5746829" y="4347400"/>
            <a:ext cx="1962141" cy="4666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DF04E4B-0A7A-8F0D-5918-4D38A6CDBD9C}"/>
              </a:ext>
            </a:extLst>
          </p:cNvPr>
          <p:cNvCxnSpPr>
            <a:cxnSpLocks/>
          </p:cNvCxnSpPr>
          <p:nvPr/>
        </p:nvCxnSpPr>
        <p:spPr>
          <a:xfrm>
            <a:off x="5774163" y="3668850"/>
            <a:ext cx="1896089" cy="11236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1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ppt_x</p:attrName>
                                        </p:attrNameLst>
                                      </p:cBhvr>
                                      <p:tavLst>
                                        <p:tav tm="0">
                                          <p:val>
                                            <p:strVal val="#ppt_x-#ppt_w*1.125000"/>
                                          </p:val>
                                        </p:tav>
                                        <p:tav tm="100000">
                                          <p:val>
                                            <p:strVal val="#ppt_x"/>
                                          </p:val>
                                        </p:tav>
                                      </p:tavLst>
                                    </p:anim>
                                    <p:animEffect transition="in" filter="wipe(right)">
                                      <p:cBhvr>
                                        <p:cTn id="14" dur="500"/>
                                        <p:tgtEl>
                                          <p:spTgt spid="16"/>
                                        </p:tgtEl>
                                      </p:cBhvr>
                                    </p:animEffect>
                                  </p:childTnLst>
                                </p:cTn>
                              </p:par>
                              <p:par>
                                <p:cTn id="15" presetID="12" presetClass="entr" presetSubtype="8"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p:tgtEl>
                                          <p:spTgt spid="15"/>
                                        </p:tgtEl>
                                        <p:attrNameLst>
                                          <p:attrName>ppt_x</p:attrName>
                                        </p:attrNameLst>
                                      </p:cBhvr>
                                      <p:tavLst>
                                        <p:tav tm="0">
                                          <p:val>
                                            <p:strVal val="#ppt_x-#ppt_w*1.125000"/>
                                          </p:val>
                                        </p:tav>
                                        <p:tav tm="100000">
                                          <p:val>
                                            <p:strVal val="#ppt_x"/>
                                          </p:val>
                                        </p:tav>
                                      </p:tavLst>
                                    </p:anim>
                                    <p:animEffect transition="in" filter="wipe(right)">
                                      <p:cBhvr>
                                        <p:cTn id="18" dur="500"/>
                                        <p:tgtEl>
                                          <p:spTgt spid="15"/>
                                        </p:tgtEl>
                                      </p:cBhvr>
                                    </p:animEffect>
                                  </p:childTnLst>
                                </p:cTn>
                              </p:par>
                              <p:par>
                                <p:cTn id="19" presetID="12" presetClass="entr" presetSubtype="8"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p:tgtEl>
                                          <p:spTgt spid="21"/>
                                        </p:tgtEl>
                                        <p:attrNameLst>
                                          <p:attrName>ppt_x</p:attrName>
                                        </p:attrNameLst>
                                      </p:cBhvr>
                                      <p:tavLst>
                                        <p:tav tm="0">
                                          <p:val>
                                            <p:strVal val="#ppt_x-#ppt_w*1.125000"/>
                                          </p:val>
                                        </p:tav>
                                        <p:tav tm="100000">
                                          <p:val>
                                            <p:strVal val="#ppt_x"/>
                                          </p:val>
                                        </p:tav>
                                      </p:tavLst>
                                    </p:anim>
                                    <p:animEffect transition="in" filter="wipe(right)">
                                      <p:cBhvr>
                                        <p:cTn id="22" dur="500"/>
                                        <p:tgtEl>
                                          <p:spTgt spid="21"/>
                                        </p:tgtEl>
                                      </p:cBhvr>
                                    </p:animEffect>
                                  </p:childTnLst>
                                </p:cTn>
                              </p:par>
                              <p:par>
                                <p:cTn id="23" presetID="12" presetClass="entr" presetSubtype="8"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par>
                                <p:cTn id="33" presetID="12" presetClass="entr" presetSubtype="8"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anim calcmode="lin" valueType="num">
                                      <p:cBhvr additive="base">
                                        <p:cTn id="35" dur="500"/>
                                        <p:tgtEl>
                                          <p:spTgt spid="43"/>
                                        </p:tgtEl>
                                        <p:attrNameLst>
                                          <p:attrName>ppt_x</p:attrName>
                                        </p:attrNameLst>
                                      </p:cBhvr>
                                      <p:tavLst>
                                        <p:tav tm="0">
                                          <p:val>
                                            <p:strVal val="#ppt_x-#ppt_w*1.125000"/>
                                          </p:val>
                                        </p:tav>
                                        <p:tav tm="100000">
                                          <p:val>
                                            <p:strVal val="#ppt_x"/>
                                          </p:val>
                                        </p:tav>
                                      </p:tavLst>
                                    </p:anim>
                                    <p:animEffect transition="in" filter="wipe(right)">
                                      <p:cBhvr>
                                        <p:cTn id="36" dur="5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subTnLst>
                                </p:cTn>
                              </p:par>
                              <p:par>
                                <p:cTn id="37" presetID="12" presetClass="entr" presetSubtype="8"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anim calcmode="lin" valueType="num">
                                      <p:cBhvr additive="base">
                                        <p:cTn id="39" dur="500"/>
                                        <p:tgtEl>
                                          <p:spTgt spid="46"/>
                                        </p:tgtEl>
                                        <p:attrNameLst>
                                          <p:attrName>ppt_x</p:attrName>
                                        </p:attrNameLst>
                                      </p:cBhvr>
                                      <p:tavLst>
                                        <p:tav tm="0">
                                          <p:val>
                                            <p:strVal val="#ppt_x-#ppt_w*1.125000"/>
                                          </p:val>
                                        </p:tav>
                                        <p:tav tm="100000">
                                          <p:val>
                                            <p:strVal val="#ppt_x"/>
                                          </p:val>
                                        </p:tav>
                                      </p:tavLst>
                                    </p:anim>
                                    <p:animEffect transition="in" filter="wipe(right)">
                                      <p:cBhvr>
                                        <p:cTn id="40"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par>
                                <p:cTn id="41" presetID="12" presetClass="entr" presetSubtype="8"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p:tgtEl>
                                          <p:spTgt spid="49"/>
                                        </p:tgtEl>
                                        <p:attrNameLst>
                                          <p:attrName>ppt_x</p:attrName>
                                        </p:attrNameLst>
                                      </p:cBhvr>
                                      <p:tavLst>
                                        <p:tav tm="0">
                                          <p:val>
                                            <p:strVal val="#ppt_x-#ppt_w*1.125000"/>
                                          </p:val>
                                        </p:tav>
                                        <p:tav tm="100000">
                                          <p:val>
                                            <p:strVal val="#ppt_x"/>
                                          </p:val>
                                        </p:tav>
                                      </p:tavLst>
                                    </p:anim>
                                    <p:animEffect transition="in" filter="wipe(right)">
                                      <p:cBhvr>
                                        <p:cTn id="44" dur="500"/>
                                        <p:tgtEl>
                                          <p:spTgt spid="49"/>
                                        </p:tgtEl>
                                      </p:cBhvr>
                                    </p:animEffect>
                                  </p:childTnLst>
                                  <p:subTnLst>
                                    <p:set>
                                      <p:cBhvr override="childStyle">
                                        <p:cTn dur="1" fill="hold" display="0" masterRel="nextClick" afterEffect="1"/>
                                        <p:tgtEl>
                                          <p:spTgt spid="49"/>
                                        </p:tgtEl>
                                        <p:attrNameLst>
                                          <p:attrName>style.visibility</p:attrName>
                                        </p:attrNameLst>
                                      </p:cBhvr>
                                      <p:to>
                                        <p:strVal val="hidden"/>
                                      </p:to>
                                    </p:set>
                                  </p:subTnLst>
                                </p:cTn>
                              </p:par>
                              <p:par>
                                <p:cTn id="45" presetID="12" presetClass="entr" presetSubtype="8"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anim calcmode="lin" valueType="num">
                                      <p:cBhvr additive="base">
                                        <p:cTn id="47" dur="500"/>
                                        <p:tgtEl>
                                          <p:spTgt spid="54"/>
                                        </p:tgtEl>
                                        <p:attrNameLst>
                                          <p:attrName>ppt_x</p:attrName>
                                        </p:attrNameLst>
                                      </p:cBhvr>
                                      <p:tavLst>
                                        <p:tav tm="0">
                                          <p:val>
                                            <p:strVal val="#ppt_x-#ppt_w*1.125000"/>
                                          </p:val>
                                        </p:tav>
                                        <p:tav tm="100000">
                                          <p:val>
                                            <p:strVal val="#ppt_x"/>
                                          </p:val>
                                        </p:tav>
                                      </p:tavLst>
                                    </p:anim>
                                    <p:animEffect transition="in" filter="wipe(right)">
                                      <p:cBhvr>
                                        <p:cTn id="48" dur="500"/>
                                        <p:tgtEl>
                                          <p:spTgt spid="54"/>
                                        </p:tgtEl>
                                      </p:cBhvr>
                                    </p:animEffect>
                                  </p:childTnLst>
                                  <p:subTnLst>
                                    <p:set>
                                      <p:cBhvr override="childStyle">
                                        <p:cTn dur="1" fill="hold" display="0" masterRel="nextClick" afterEffect="1"/>
                                        <p:tgtEl>
                                          <p:spTgt spid="54"/>
                                        </p:tgtEl>
                                        <p:attrNameLst>
                                          <p:attrName>style.visibility</p:attrName>
                                        </p:attrNameLst>
                                      </p:cBhvr>
                                      <p:to>
                                        <p:strVal val="hidden"/>
                                      </p:to>
                                    </p:set>
                                  </p:subTnLst>
                                </p:cTn>
                              </p:par>
                              <p:par>
                                <p:cTn id="49" presetID="12" presetClass="entr" presetSubtype="8"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p:tgtEl>
                                          <p:spTgt spid="56"/>
                                        </p:tgtEl>
                                        <p:attrNameLst>
                                          <p:attrName>ppt_x</p:attrName>
                                        </p:attrNameLst>
                                      </p:cBhvr>
                                      <p:tavLst>
                                        <p:tav tm="0">
                                          <p:val>
                                            <p:strVal val="#ppt_x-#ppt_w*1.125000"/>
                                          </p:val>
                                        </p:tav>
                                        <p:tav tm="100000">
                                          <p:val>
                                            <p:strVal val="#ppt_x"/>
                                          </p:val>
                                        </p:tav>
                                      </p:tavLst>
                                    </p:anim>
                                    <p:animEffect transition="in" filter="wipe(right)">
                                      <p:cBhvr>
                                        <p:cTn id="52" dur="500"/>
                                        <p:tgtEl>
                                          <p:spTgt spid="56"/>
                                        </p:tgtEl>
                                      </p:cBhvr>
                                    </p:animEffect>
                                  </p:childTnLst>
                                  <p:subTnLst>
                                    <p:set>
                                      <p:cBhvr override="childStyle">
                                        <p:cTn dur="1" fill="hold" display="0" masterRel="nextClick" afterEffect="1"/>
                                        <p:tgtEl>
                                          <p:spTgt spid="56"/>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wipe(left)">
                                      <p:cBhvr>
                                        <p:cTn id="57"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par>
                                <p:cTn id="58" presetID="22" presetClass="entr" presetSubtype="8" fill="hold"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wipe(left)">
                                      <p:cBhvr>
                                        <p:cTn id="60" dur="500"/>
                                        <p:tgtEl>
                                          <p:spTgt spid="49"/>
                                        </p:tgtEl>
                                      </p:cBhvr>
                                    </p:animEffect>
                                  </p:childTnLst>
                                  <p:subTnLst>
                                    <p:set>
                                      <p:cBhvr override="childStyle">
                                        <p:cTn dur="1" fill="hold" display="0" masterRel="nextClick" afterEffect="1"/>
                                        <p:tgtEl>
                                          <p:spTgt spid="49"/>
                                        </p:tgtEl>
                                        <p:attrNameLst>
                                          <p:attrName>style.visibility</p:attrName>
                                        </p:attrNameLst>
                                      </p:cBhvr>
                                      <p:to>
                                        <p:strVal val="hidden"/>
                                      </p:to>
                                    </p:set>
                                  </p:subTnLst>
                                </p:cTn>
                              </p:par>
                              <p:par>
                                <p:cTn id="61" presetID="22" presetClass="entr" presetSubtype="8" fill="hold"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wipe(left)">
                                      <p:cBhvr>
                                        <p:cTn id="63" dur="500"/>
                                        <p:tgtEl>
                                          <p:spTgt spid="56"/>
                                        </p:tgtEl>
                                      </p:cBhvr>
                                    </p:animEffect>
                                  </p:childTnLst>
                                  <p:subTnLst>
                                    <p:set>
                                      <p:cBhvr override="childStyle">
                                        <p:cTn dur="1" fill="hold" display="0" masterRel="nextClick" afterEffect="1"/>
                                        <p:tgtEl>
                                          <p:spTgt spid="56"/>
                                        </p:tgtEl>
                                        <p:attrNameLst>
                                          <p:attrName>style.visibility</p:attrName>
                                        </p:attrNameLst>
                                      </p:cBhvr>
                                      <p:to>
                                        <p:strVal val="hidden"/>
                                      </p:to>
                                    </p:set>
                                  </p:subTnLst>
                                </p:cTn>
                              </p:par>
                              <p:par>
                                <p:cTn id="64" presetID="22" presetClass="entr" presetSubtype="8"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wipe(left)">
                                      <p:cBhvr>
                                        <p:cTn id="66" dur="500"/>
                                        <p:tgtEl>
                                          <p:spTgt spid="54"/>
                                        </p:tgtEl>
                                      </p:cBhvr>
                                    </p:animEffect>
                                  </p:childTnLst>
                                  <p:subTnLst>
                                    <p:set>
                                      <p:cBhvr override="childStyle">
                                        <p:cTn dur="1" fill="hold" display="0" masterRel="nextClick" afterEffect="1"/>
                                        <p:tgtEl>
                                          <p:spTgt spid="5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41" grpId="0" animBg="1"/>
      <p:bldP spid="4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78408-DA31-3C2B-C7F3-5E59005C6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957D2-D067-0FF9-91A5-CB339E56F7CF}"/>
              </a:ext>
            </a:extLst>
          </p:cNvPr>
          <p:cNvSpPr>
            <a:spLocks noGrp="1"/>
          </p:cNvSpPr>
          <p:nvPr>
            <p:ph type="title"/>
          </p:nvPr>
        </p:nvSpPr>
        <p:spPr/>
        <p:txBody>
          <a:bodyPr/>
          <a:lstStyle/>
          <a:p>
            <a:r>
              <a:rPr lang="en-US" dirty="0"/>
              <a:t>Focus</a:t>
            </a:r>
          </a:p>
        </p:txBody>
      </p:sp>
      <p:sp>
        <p:nvSpPr>
          <p:cNvPr id="4" name="Oval 3">
            <a:extLst>
              <a:ext uri="{FF2B5EF4-FFF2-40B4-BE49-F238E27FC236}">
                <a16:creationId xmlns:a16="http://schemas.microsoft.com/office/drawing/2014/main" id="{65A2DE8C-32A6-8B67-B5F3-3A01B3DE9481}"/>
              </a:ext>
            </a:extLst>
          </p:cNvPr>
          <p:cNvSpPr/>
          <p:nvPr/>
        </p:nvSpPr>
        <p:spPr>
          <a:xfrm>
            <a:off x="5560540" y="2743200"/>
            <a:ext cx="432487" cy="247135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7F2FC98-BA8A-7FEA-A76C-98D398DD6A5A}"/>
              </a:ext>
            </a:extLst>
          </p:cNvPr>
          <p:cNvCxnSpPr/>
          <p:nvPr/>
        </p:nvCxnSpPr>
        <p:spPr>
          <a:xfrm>
            <a:off x="2601097" y="3991232"/>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A2EAD1D-2A87-497D-FCED-7976F66D7BB9}"/>
              </a:ext>
            </a:extLst>
          </p:cNvPr>
          <p:cNvCxnSpPr>
            <a:cxnSpLocks/>
          </p:cNvCxnSpPr>
          <p:nvPr/>
        </p:nvCxnSpPr>
        <p:spPr>
          <a:xfrm>
            <a:off x="5782960"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77BF8003-630C-3527-5ADA-EDCF1588040A}"/>
              </a:ext>
            </a:extLst>
          </p:cNvPr>
          <p:cNvSpPr/>
          <p:nvPr/>
        </p:nvSpPr>
        <p:spPr>
          <a:xfrm>
            <a:off x="492210" y="1344699"/>
            <a:ext cx="691979" cy="716692"/>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E339FD4-7E20-F294-76F6-A90CA90FB8F5}"/>
              </a:ext>
            </a:extLst>
          </p:cNvPr>
          <p:cNvSpPr/>
          <p:nvPr/>
        </p:nvSpPr>
        <p:spPr>
          <a:xfrm>
            <a:off x="7688788" y="2798512"/>
            <a:ext cx="45719" cy="3457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A1C7F56-1C05-C531-9119-F0A4A6D5C6A7}"/>
              </a:ext>
            </a:extLst>
          </p:cNvPr>
          <p:cNvSpPr/>
          <p:nvPr/>
        </p:nvSpPr>
        <p:spPr>
          <a:xfrm>
            <a:off x="3957365" y="2275223"/>
            <a:ext cx="180000" cy="180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AAA0DE56-E4E8-FEDE-0F6B-27557A86B97A}"/>
              </a:ext>
            </a:extLst>
          </p:cNvPr>
          <p:cNvCxnSpPr>
            <a:cxnSpLocks/>
            <a:stCxn id="8" idx="5"/>
          </p:cNvCxnSpPr>
          <p:nvPr/>
        </p:nvCxnSpPr>
        <p:spPr>
          <a:xfrm>
            <a:off x="4111005" y="2428863"/>
            <a:ext cx="4297015" cy="400041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BD0C48-1A5E-A5CB-020E-1827DC6FBCBD}"/>
              </a:ext>
            </a:extLst>
          </p:cNvPr>
          <p:cNvCxnSpPr>
            <a:cxnSpLocks/>
            <a:stCxn id="8" idx="5"/>
          </p:cNvCxnSpPr>
          <p:nvPr/>
        </p:nvCxnSpPr>
        <p:spPr>
          <a:xfrm>
            <a:off x="4111005" y="2428863"/>
            <a:ext cx="1665778" cy="120372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801C26-B02D-0041-FB85-5CB44D403E5D}"/>
              </a:ext>
            </a:extLst>
          </p:cNvPr>
          <p:cNvCxnSpPr>
            <a:cxnSpLocks/>
            <a:stCxn id="8" idx="5"/>
          </p:cNvCxnSpPr>
          <p:nvPr/>
        </p:nvCxnSpPr>
        <p:spPr>
          <a:xfrm>
            <a:off x="4111005" y="2428863"/>
            <a:ext cx="1684310" cy="19835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D88049E-4BA2-CB76-C1D6-15FE8A92B7D1}"/>
              </a:ext>
            </a:extLst>
          </p:cNvPr>
          <p:cNvCxnSpPr>
            <a:cxnSpLocks/>
          </p:cNvCxnSpPr>
          <p:nvPr/>
        </p:nvCxnSpPr>
        <p:spPr>
          <a:xfrm flipH="1" flipV="1">
            <a:off x="5795316" y="4406764"/>
            <a:ext cx="2440678" cy="18719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BCEBDD3-B976-29A9-F1AB-3E17B2F27C09}"/>
              </a:ext>
            </a:extLst>
          </p:cNvPr>
          <p:cNvCxnSpPr>
            <a:cxnSpLocks/>
          </p:cNvCxnSpPr>
          <p:nvPr/>
        </p:nvCxnSpPr>
        <p:spPr>
          <a:xfrm flipH="1" flipV="1">
            <a:off x="5776783" y="3632589"/>
            <a:ext cx="2459211" cy="262324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ED3F20CA-7E07-3AF2-8AD2-D035EA12634B}"/>
              </a:ext>
            </a:extLst>
          </p:cNvPr>
          <p:cNvSpPr/>
          <p:nvPr/>
        </p:nvSpPr>
        <p:spPr>
          <a:xfrm>
            <a:off x="2601097" y="2618512"/>
            <a:ext cx="180000" cy="180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1972B5D1-5981-2053-7935-7959EEADFCEC}"/>
              </a:ext>
            </a:extLst>
          </p:cNvPr>
          <p:cNvCxnSpPr>
            <a:cxnSpLocks/>
            <a:stCxn id="44" idx="5"/>
          </p:cNvCxnSpPr>
          <p:nvPr/>
        </p:nvCxnSpPr>
        <p:spPr>
          <a:xfrm>
            <a:off x="2754737" y="2772152"/>
            <a:ext cx="4641486" cy="184614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66EEE0D-BC45-16C6-E6F2-E1BFA1CD5957}"/>
              </a:ext>
            </a:extLst>
          </p:cNvPr>
          <p:cNvCxnSpPr>
            <a:cxnSpLocks/>
            <a:stCxn id="44" idx="5"/>
          </p:cNvCxnSpPr>
          <p:nvPr/>
        </p:nvCxnSpPr>
        <p:spPr>
          <a:xfrm>
            <a:off x="2754737" y="2772152"/>
            <a:ext cx="3034401" cy="875791"/>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D2E08CB-FF7F-9AC0-73AB-40FE2E975433}"/>
              </a:ext>
            </a:extLst>
          </p:cNvPr>
          <p:cNvCxnSpPr>
            <a:cxnSpLocks/>
            <a:stCxn id="44" idx="5"/>
          </p:cNvCxnSpPr>
          <p:nvPr/>
        </p:nvCxnSpPr>
        <p:spPr>
          <a:xfrm>
            <a:off x="2754737" y="2772152"/>
            <a:ext cx="3015868" cy="1640288"/>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B6A4275-26D2-7C86-6660-1B978FB40586}"/>
              </a:ext>
            </a:extLst>
          </p:cNvPr>
          <p:cNvCxnSpPr>
            <a:cxnSpLocks/>
          </p:cNvCxnSpPr>
          <p:nvPr/>
        </p:nvCxnSpPr>
        <p:spPr>
          <a:xfrm flipH="1" flipV="1">
            <a:off x="5776782" y="4406764"/>
            <a:ext cx="2237254" cy="22308"/>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B63D76-F556-9E08-E62B-AD98EFAF3595}"/>
              </a:ext>
            </a:extLst>
          </p:cNvPr>
          <p:cNvCxnSpPr>
            <a:cxnSpLocks/>
          </p:cNvCxnSpPr>
          <p:nvPr/>
        </p:nvCxnSpPr>
        <p:spPr>
          <a:xfrm flipH="1" flipV="1">
            <a:off x="5795316" y="3647943"/>
            <a:ext cx="1685390" cy="1186568"/>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31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par>
                                <p:cTn id="18" presetID="22" presetClass="entr" presetSubtype="8"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500"/>
                                        <p:tgtEl>
                                          <p:spTgt spid="35"/>
                                        </p:tgtEl>
                                      </p:cBhvr>
                                    </p:animEffect>
                                  </p:childTnLst>
                                </p:cTn>
                              </p:par>
                              <p:par>
                                <p:cTn id="21" presetID="22" presetClass="entr" presetSubtype="8"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wipe(left)">
                                      <p:cBhvr>
                                        <p:cTn id="32" dur="500"/>
                                        <p:tgtEl>
                                          <p:spTgt spid="58"/>
                                        </p:tgtEl>
                                      </p:cBhvr>
                                    </p:animEffect>
                                  </p:childTnLst>
                                </p:cTn>
                              </p:par>
                              <p:par>
                                <p:cTn id="33" presetID="22" presetClass="entr" presetSubtype="8"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left)">
                                      <p:cBhvr>
                                        <p:cTn id="35" dur="500"/>
                                        <p:tgtEl>
                                          <p:spTgt spid="51"/>
                                        </p:tgtEl>
                                      </p:cBhvr>
                                    </p:animEffect>
                                  </p:childTnLst>
                                </p:cTn>
                              </p:par>
                              <p:par>
                                <p:cTn id="36" presetID="22" presetClass="entr" presetSubtype="8" fill="hold" nodeType="with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wipe(left)">
                                      <p:cBhvr>
                                        <p:cTn id="38" dur="500"/>
                                        <p:tgtEl>
                                          <p:spTgt spid="67"/>
                                        </p:tgtEl>
                                      </p:cBhvr>
                                    </p:animEffect>
                                  </p:childTnLst>
                                </p:cTn>
                              </p:par>
                              <p:par>
                                <p:cTn id="39" presetID="22" presetClass="entr" presetSubtype="8"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left)">
                                      <p:cBhvr>
                                        <p:cTn id="41" dur="500"/>
                                        <p:tgtEl>
                                          <p:spTgt spid="47"/>
                                        </p:tgtEl>
                                      </p:cBhvr>
                                    </p:animEffect>
                                  </p:childTnLst>
                                </p:cTn>
                              </p:par>
                              <p:par>
                                <p:cTn id="42" presetID="22" presetClass="entr" presetSubtype="8" fill="hold"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wipe(left)">
                                      <p:cBhvr>
                                        <p:cTn id="4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EFB88-1D51-86A9-37B8-E48337F4B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1E5CB-B3DF-7C8F-B7C6-79ACBB0760E7}"/>
              </a:ext>
            </a:extLst>
          </p:cNvPr>
          <p:cNvSpPr>
            <a:spLocks noGrp="1"/>
          </p:cNvSpPr>
          <p:nvPr>
            <p:ph type="title"/>
          </p:nvPr>
        </p:nvSpPr>
        <p:spPr/>
        <p:txBody>
          <a:bodyPr/>
          <a:lstStyle/>
          <a:p>
            <a:r>
              <a:rPr lang="en-US" dirty="0"/>
              <a:t>Lens camera model</a:t>
            </a:r>
          </a:p>
        </p:txBody>
      </p:sp>
      <p:sp>
        <p:nvSpPr>
          <p:cNvPr id="4" name="Oval 3">
            <a:extLst>
              <a:ext uri="{FF2B5EF4-FFF2-40B4-BE49-F238E27FC236}">
                <a16:creationId xmlns:a16="http://schemas.microsoft.com/office/drawing/2014/main" id="{A6322C00-1953-B88A-A3E0-52A2DBE006DE}"/>
              </a:ext>
            </a:extLst>
          </p:cNvPr>
          <p:cNvSpPr/>
          <p:nvPr/>
        </p:nvSpPr>
        <p:spPr>
          <a:xfrm>
            <a:off x="5560540" y="2743200"/>
            <a:ext cx="432487" cy="247135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9ED8A99B-241E-568F-4298-5D4CB4004D30}"/>
              </a:ext>
            </a:extLst>
          </p:cNvPr>
          <p:cNvCxnSpPr/>
          <p:nvPr/>
        </p:nvCxnSpPr>
        <p:spPr>
          <a:xfrm>
            <a:off x="2601097" y="3991232"/>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F020F2F-BD67-1927-A28B-D7CFABBAF25C}"/>
              </a:ext>
            </a:extLst>
          </p:cNvPr>
          <p:cNvCxnSpPr>
            <a:cxnSpLocks/>
          </p:cNvCxnSpPr>
          <p:nvPr/>
        </p:nvCxnSpPr>
        <p:spPr>
          <a:xfrm>
            <a:off x="5782960"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690FFF36-AD5A-76FA-F631-9835F5755367}"/>
              </a:ext>
            </a:extLst>
          </p:cNvPr>
          <p:cNvSpPr/>
          <p:nvPr/>
        </p:nvSpPr>
        <p:spPr>
          <a:xfrm>
            <a:off x="2866767" y="265967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8F8075F8-74F6-F0C7-8840-F176247C1574}"/>
                  </a:ext>
                </a:extLst>
              </p:cNvPr>
              <p:cNvSpPr txBox="1"/>
              <p:nvPr/>
            </p:nvSpPr>
            <p:spPr>
              <a:xfrm>
                <a:off x="2728050" y="2162124"/>
                <a:ext cx="832407" cy="50687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𝑃</m:t>
                      </m:r>
                      <m:r>
                        <a:rPr lang="en-AU" b="0" i="1" dirty="0" smtClean="0">
                          <a:latin typeface="Cambria Math" panose="02040503050406030204" pitchFamily="18" charset="0"/>
                        </a:rPr>
                        <m:t> </m:t>
                      </m:r>
                      <m:d>
                        <m:dPr>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r>
                                  <m:rPr>
                                    <m:brk m:alnAt="7"/>
                                  </m:rPr>
                                  <a:rPr lang="en-AU" b="0" i="1" dirty="0" smtClean="0">
                                    <a:latin typeface="Cambria Math" panose="02040503050406030204" pitchFamily="18" charset="0"/>
                                  </a:rPr>
                                  <m:t>𝑥</m:t>
                                </m:r>
                              </m:e>
                            </m:mr>
                            <m:mr>
                              <m:e>
                                <m:r>
                                  <a:rPr lang="en-AU" b="0" i="1" dirty="0" smtClean="0">
                                    <a:latin typeface="Cambria Math" panose="02040503050406030204" pitchFamily="18" charset="0"/>
                                  </a:rPr>
                                  <m:t>𝑧</m:t>
                                </m:r>
                              </m:e>
                            </m:mr>
                          </m:m>
                        </m:e>
                      </m:d>
                    </m:oMath>
                  </m:oMathPara>
                </a14:m>
                <a:endParaRPr lang="en-US" dirty="0"/>
              </a:p>
            </p:txBody>
          </p:sp>
        </mc:Choice>
        <mc:Fallback>
          <p:sp>
            <p:nvSpPr>
              <p:cNvPr id="42" name="TextBox 41">
                <a:extLst>
                  <a:ext uri="{FF2B5EF4-FFF2-40B4-BE49-F238E27FC236}">
                    <a16:creationId xmlns:a16="http://schemas.microsoft.com/office/drawing/2014/main" id="{8F8075F8-74F6-F0C7-8840-F176247C1574}"/>
                  </a:ext>
                </a:extLst>
              </p:cNvPr>
              <p:cNvSpPr txBox="1">
                <a:spLocks noRot="1" noChangeAspect="1" noMove="1" noResize="1" noEditPoints="1" noAdjustHandles="1" noChangeArrowheads="1" noChangeShapeType="1" noTextEdit="1"/>
              </p:cNvSpPr>
              <p:nvPr/>
            </p:nvSpPr>
            <p:spPr>
              <a:xfrm>
                <a:off x="2728050" y="2162124"/>
                <a:ext cx="832407" cy="506870"/>
              </a:xfrm>
              <a:prstGeom prst="rect">
                <a:avLst/>
              </a:prstGeom>
              <a:blipFill>
                <a:blip r:embed="rId3"/>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FA5700B5-C83B-036A-BAEB-E3F4DA5C746D}"/>
              </a:ext>
            </a:extLst>
          </p:cNvPr>
          <p:cNvCxnSpPr>
            <a:cxnSpLocks/>
            <a:stCxn id="41" idx="5"/>
          </p:cNvCxnSpPr>
          <p:nvPr/>
        </p:nvCxnSpPr>
        <p:spPr>
          <a:xfrm>
            <a:off x="3020407" y="2813312"/>
            <a:ext cx="4662203" cy="1990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896710F-15BC-A7F5-0959-5148D863872A}"/>
              </a:ext>
            </a:extLst>
          </p:cNvPr>
          <p:cNvCxnSpPr>
            <a:cxnSpLocks/>
            <a:stCxn id="41" idx="5"/>
          </p:cNvCxnSpPr>
          <p:nvPr/>
        </p:nvCxnSpPr>
        <p:spPr>
          <a:xfrm>
            <a:off x="3020407" y="2813312"/>
            <a:ext cx="2756376" cy="1537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9F161D-D6BE-F8ED-ACF6-9AF8E75B3E05}"/>
              </a:ext>
            </a:extLst>
          </p:cNvPr>
          <p:cNvCxnSpPr>
            <a:cxnSpLocks/>
            <a:stCxn id="41" idx="5"/>
          </p:cNvCxnSpPr>
          <p:nvPr/>
        </p:nvCxnSpPr>
        <p:spPr>
          <a:xfrm>
            <a:off x="3020407" y="2813312"/>
            <a:ext cx="2792507" cy="8811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324B4D7B-3F61-0F54-589F-064A5FF5357D}"/>
              </a:ext>
            </a:extLst>
          </p:cNvPr>
          <p:cNvSpPr/>
          <p:nvPr/>
        </p:nvSpPr>
        <p:spPr>
          <a:xfrm>
            <a:off x="7688788" y="2798513"/>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BEBC206-B199-8995-E47A-D5E395E5DACF}"/>
              </a:ext>
            </a:extLst>
          </p:cNvPr>
          <p:cNvCxnSpPr>
            <a:cxnSpLocks/>
          </p:cNvCxnSpPr>
          <p:nvPr/>
        </p:nvCxnSpPr>
        <p:spPr>
          <a:xfrm>
            <a:off x="5746829" y="4347400"/>
            <a:ext cx="1962141" cy="4666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861DF8E-8C83-8C21-9EA7-D5F5BD16082F}"/>
              </a:ext>
            </a:extLst>
          </p:cNvPr>
          <p:cNvCxnSpPr>
            <a:cxnSpLocks/>
          </p:cNvCxnSpPr>
          <p:nvPr/>
        </p:nvCxnSpPr>
        <p:spPr>
          <a:xfrm>
            <a:off x="5774163" y="3668850"/>
            <a:ext cx="1896089" cy="112361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24F4C78-C2CE-8219-9305-70EC7A016EAF}"/>
                  </a:ext>
                </a:extLst>
              </p:cNvPr>
              <p:cNvSpPr txBox="1"/>
              <p:nvPr/>
            </p:nvSpPr>
            <p:spPr>
              <a:xfrm>
                <a:off x="7745101" y="4707681"/>
                <a:ext cx="1263808" cy="56489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AU" b="0" i="1" dirty="0" smtClean="0">
                              <a:latin typeface="Cambria Math" panose="02040503050406030204" pitchFamily="18" charset="0"/>
                            </a:rPr>
                          </m:ctrlPr>
                        </m:sSupPr>
                        <m:e>
                          <m:r>
                            <a:rPr lang="en-AU" b="0" i="1" dirty="0" smtClean="0">
                              <a:latin typeface="Cambria Math" panose="02040503050406030204" pitchFamily="18" charset="0"/>
                            </a:rPr>
                            <m:t>𝑥</m:t>
                          </m:r>
                        </m:e>
                        <m:sup>
                          <m:r>
                            <a:rPr lang="en-AU" b="0" i="1" dirty="0" smtClean="0">
                              <a:latin typeface="Cambria Math" panose="02040503050406030204" pitchFamily="18" charset="0"/>
                            </a:rPr>
                            <m:t>′</m:t>
                          </m:r>
                        </m:sup>
                      </m:sSup>
                      <m:r>
                        <a:rPr lang="en-AU" b="0" i="1" dirty="0" smtClean="0">
                          <a:latin typeface="Cambria Math" panose="02040503050406030204" pitchFamily="18" charset="0"/>
                        </a:rPr>
                        <m:t>=−</m:t>
                      </m:r>
                      <m:r>
                        <a:rPr lang="en-AU" b="0" i="1" dirty="0" smtClean="0">
                          <a:latin typeface="Cambria Math" panose="02040503050406030204" pitchFamily="18" charset="0"/>
                        </a:rPr>
                        <m:t>𝑓</m:t>
                      </m:r>
                      <m:r>
                        <m:rPr>
                          <m:lit/>
                        </m:rPr>
                        <a:rPr lang="en-AU" b="0"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AU" b="0" i="1" dirty="0" smtClean="0">
                              <a:latin typeface="Cambria Math" panose="02040503050406030204" pitchFamily="18" charset="0"/>
                            </a:rPr>
                            <m:t>𝑥</m:t>
                          </m:r>
                        </m:num>
                        <m:den>
                          <m:r>
                            <a:rPr lang="en-AU" b="0" i="1" dirty="0" smtClean="0">
                              <a:latin typeface="Cambria Math" panose="02040503050406030204" pitchFamily="18" charset="0"/>
                            </a:rPr>
                            <m:t>𝑧</m:t>
                          </m:r>
                        </m:den>
                      </m:f>
                    </m:oMath>
                  </m:oMathPara>
                </a14:m>
                <a:endParaRPr lang="en-US" dirty="0"/>
              </a:p>
            </p:txBody>
          </p:sp>
        </mc:Choice>
        <mc:Fallback>
          <p:sp>
            <p:nvSpPr>
              <p:cNvPr id="3" name="TextBox 2">
                <a:extLst>
                  <a:ext uri="{FF2B5EF4-FFF2-40B4-BE49-F238E27FC236}">
                    <a16:creationId xmlns:a16="http://schemas.microsoft.com/office/drawing/2014/main" id="{A24F4C78-C2CE-8219-9305-70EC7A016EAF}"/>
                  </a:ext>
                </a:extLst>
              </p:cNvPr>
              <p:cNvSpPr txBox="1">
                <a:spLocks noRot="1" noChangeAspect="1" noMove="1" noResize="1" noEditPoints="1" noAdjustHandles="1" noChangeArrowheads="1" noChangeShapeType="1" noTextEdit="1"/>
              </p:cNvSpPr>
              <p:nvPr/>
            </p:nvSpPr>
            <p:spPr>
              <a:xfrm>
                <a:off x="7745101" y="4707681"/>
                <a:ext cx="1263808" cy="564898"/>
              </a:xfrm>
              <a:prstGeom prst="rect">
                <a:avLst/>
              </a:prstGeom>
              <a:blipFill>
                <a:blip r:embed="rId4"/>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BB183FB-C5BA-43A2-3FC5-DCB474FFB437}"/>
              </a:ext>
            </a:extLst>
          </p:cNvPr>
          <p:cNvCxnSpPr>
            <a:cxnSpLocks/>
          </p:cNvCxnSpPr>
          <p:nvPr/>
        </p:nvCxnSpPr>
        <p:spPr>
          <a:xfrm>
            <a:off x="2866767" y="1895061"/>
            <a:ext cx="28800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FCECCCD-B517-086C-B27E-08EEC1AA3841}"/>
                  </a:ext>
                </a:extLst>
              </p:cNvPr>
              <p:cNvSpPr txBox="1"/>
              <p:nvPr/>
            </p:nvSpPr>
            <p:spPr>
              <a:xfrm>
                <a:off x="4108174" y="1722785"/>
                <a:ext cx="353751"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oMath>
                  </m:oMathPara>
                </a14:m>
                <a:endParaRPr lang="en-US" dirty="0"/>
              </a:p>
            </p:txBody>
          </p:sp>
        </mc:Choice>
        <mc:Fallback>
          <p:sp>
            <p:nvSpPr>
              <p:cNvPr id="10" name="TextBox 9">
                <a:extLst>
                  <a:ext uri="{FF2B5EF4-FFF2-40B4-BE49-F238E27FC236}">
                    <a16:creationId xmlns:a16="http://schemas.microsoft.com/office/drawing/2014/main" id="{7FCECCCD-B517-086C-B27E-08EEC1AA3841}"/>
                  </a:ext>
                </a:extLst>
              </p:cNvPr>
              <p:cNvSpPr txBox="1">
                <a:spLocks noRot="1" noChangeAspect="1" noMove="1" noResize="1" noEditPoints="1" noAdjustHandles="1" noChangeArrowheads="1" noChangeShapeType="1" noTextEdit="1"/>
              </p:cNvSpPr>
              <p:nvPr/>
            </p:nvSpPr>
            <p:spPr>
              <a:xfrm>
                <a:off x="4108174" y="1722785"/>
                <a:ext cx="353751" cy="369332"/>
              </a:xfrm>
              <a:prstGeom prst="rect">
                <a:avLst/>
              </a:prstGeom>
              <a:blipFill>
                <a:blip r:embed="rId5"/>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59A67B1E-5123-FE8B-7184-F4F4E0A7F1CF}"/>
              </a:ext>
            </a:extLst>
          </p:cNvPr>
          <p:cNvCxnSpPr>
            <a:cxnSpLocks/>
          </p:cNvCxnSpPr>
          <p:nvPr/>
        </p:nvCxnSpPr>
        <p:spPr>
          <a:xfrm>
            <a:off x="5782960" y="1888435"/>
            <a:ext cx="188729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2AE1BC2-6797-6169-CF57-0CFE68BF3311}"/>
                  </a:ext>
                </a:extLst>
              </p:cNvPr>
              <p:cNvSpPr txBox="1"/>
              <p:nvPr/>
            </p:nvSpPr>
            <p:spPr>
              <a:xfrm>
                <a:off x="6634485" y="1717021"/>
                <a:ext cx="377924"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𝑑</m:t>
                      </m:r>
                    </m:oMath>
                  </m:oMathPara>
                </a14:m>
                <a:endParaRPr lang="en-US" dirty="0"/>
              </a:p>
            </p:txBody>
          </p:sp>
        </mc:Choice>
        <mc:Fallback>
          <p:sp>
            <p:nvSpPr>
              <p:cNvPr id="18" name="TextBox 17">
                <a:extLst>
                  <a:ext uri="{FF2B5EF4-FFF2-40B4-BE49-F238E27FC236}">
                    <a16:creationId xmlns:a16="http://schemas.microsoft.com/office/drawing/2014/main" id="{42AE1BC2-6797-6169-CF57-0CFE68BF3311}"/>
                  </a:ext>
                </a:extLst>
              </p:cNvPr>
              <p:cNvSpPr txBox="1">
                <a:spLocks noRot="1" noChangeAspect="1" noMove="1" noResize="1" noEditPoints="1" noAdjustHandles="1" noChangeArrowheads="1" noChangeShapeType="1" noTextEdit="1"/>
              </p:cNvSpPr>
              <p:nvPr/>
            </p:nvSpPr>
            <p:spPr>
              <a:xfrm>
                <a:off x="6634485" y="1717021"/>
                <a:ext cx="377924"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787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6529E-0009-2FAA-B4A4-C587CB91B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68A29-C26A-144B-6073-4B959D657454}"/>
              </a:ext>
            </a:extLst>
          </p:cNvPr>
          <p:cNvSpPr>
            <a:spLocks noGrp="1"/>
          </p:cNvSpPr>
          <p:nvPr>
            <p:ph type="title"/>
          </p:nvPr>
        </p:nvSpPr>
        <p:spPr/>
        <p:txBody>
          <a:bodyPr/>
          <a:lstStyle/>
          <a:p>
            <a:r>
              <a:rPr lang="en-US" dirty="0"/>
              <a:t>Focal length of lens</a:t>
            </a:r>
          </a:p>
        </p:txBody>
      </p:sp>
      <p:sp>
        <p:nvSpPr>
          <p:cNvPr id="4" name="Oval 3">
            <a:extLst>
              <a:ext uri="{FF2B5EF4-FFF2-40B4-BE49-F238E27FC236}">
                <a16:creationId xmlns:a16="http://schemas.microsoft.com/office/drawing/2014/main" id="{8659E804-AA0A-B82D-F9D4-E51DC445BA4A}"/>
              </a:ext>
            </a:extLst>
          </p:cNvPr>
          <p:cNvSpPr/>
          <p:nvPr/>
        </p:nvSpPr>
        <p:spPr>
          <a:xfrm>
            <a:off x="5633158" y="3519315"/>
            <a:ext cx="314713" cy="1273740"/>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789EDC8-F869-8AE2-B19F-6B8A37A0162F}"/>
              </a:ext>
            </a:extLst>
          </p:cNvPr>
          <p:cNvCxnSpPr/>
          <p:nvPr/>
        </p:nvCxnSpPr>
        <p:spPr>
          <a:xfrm>
            <a:off x="2601097" y="4149278"/>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32EDAFC-3746-E8B9-D829-CAFF21840A16}"/>
              </a:ext>
            </a:extLst>
          </p:cNvPr>
          <p:cNvCxnSpPr>
            <a:cxnSpLocks/>
          </p:cNvCxnSpPr>
          <p:nvPr/>
        </p:nvCxnSpPr>
        <p:spPr>
          <a:xfrm>
            <a:off x="5782960"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2614E6D9-7B55-8B1F-9FBD-0D4D890A59C4}"/>
              </a:ext>
            </a:extLst>
          </p:cNvPr>
          <p:cNvSpPr/>
          <p:nvPr/>
        </p:nvSpPr>
        <p:spPr>
          <a:xfrm>
            <a:off x="2893244" y="341071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B1B47C2A-09AD-E767-DB66-973FEFAC47B6}"/>
              </a:ext>
            </a:extLst>
          </p:cNvPr>
          <p:cNvCxnSpPr>
            <a:cxnSpLocks/>
            <a:stCxn id="41" idx="6"/>
          </p:cNvCxnSpPr>
          <p:nvPr/>
        </p:nvCxnSpPr>
        <p:spPr>
          <a:xfrm>
            <a:off x="3073244" y="3500712"/>
            <a:ext cx="5473787" cy="13109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5651288-5047-714C-E0A3-D88DF623D9F9}"/>
              </a:ext>
            </a:extLst>
          </p:cNvPr>
          <p:cNvCxnSpPr>
            <a:cxnSpLocks/>
            <a:stCxn id="41" idx="6"/>
            <a:endCxn id="4" idx="4"/>
          </p:cNvCxnSpPr>
          <p:nvPr/>
        </p:nvCxnSpPr>
        <p:spPr>
          <a:xfrm>
            <a:off x="3073244" y="3500712"/>
            <a:ext cx="2717271" cy="1292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0EF131E-CFDF-D08F-2F0E-8146B7845F90}"/>
              </a:ext>
            </a:extLst>
          </p:cNvPr>
          <p:cNvCxnSpPr>
            <a:cxnSpLocks/>
            <a:stCxn id="41" idx="2"/>
            <a:endCxn id="4" idx="0"/>
          </p:cNvCxnSpPr>
          <p:nvPr/>
        </p:nvCxnSpPr>
        <p:spPr>
          <a:xfrm>
            <a:off x="2893244" y="3500712"/>
            <a:ext cx="2897271" cy="186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D1E9B1E-BEB1-6D86-B2BC-0061EAEDAEBC}"/>
              </a:ext>
            </a:extLst>
          </p:cNvPr>
          <p:cNvSpPr/>
          <p:nvPr/>
        </p:nvSpPr>
        <p:spPr>
          <a:xfrm>
            <a:off x="8524172" y="2843669"/>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9531EDA-C0E0-F489-625A-2087B03B99C4}"/>
              </a:ext>
            </a:extLst>
          </p:cNvPr>
          <p:cNvCxnSpPr>
            <a:cxnSpLocks/>
            <a:stCxn id="4" idx="4"/>
          </p:cNvCxnSpPr>
          <p:nvPr/>
        </p:nvCxnSpPr>
        <p:spPr>
          <a:xfrm>
            <a:off x="5790515" y="4793055"/>
            <a:ext cx="2729468" cy="185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13E5A4C-3200-0F7D-1D43-41F36C68F293}"/>
              </a:ext>
            </a:extLst>
          </p:cNvPr>
          <p:cNvCxnSpPr>
            <a:cxnSpLocks/>
            <a:stCxn id="4" idx="0"/>
          </p:cNvCxnSpPr>
          <p:nvPr/>
        </p:nvCxnSpPr>
        <p:spPr>
          <a:xfrm>
            <a:off x="5790515" y="3519315"/>
            <a:ext cx="2729468" cy="12733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7790F76-B801-41D0-74F0-463755393F97}"/>
              </a:ext>
            </a:extLst>
          </p:cNvPr>
          <p:cNvCxnSpPr>
            <a:cxnSpLocks/>
          </p:cNvCxnSpPr>
          <p:nvPr/>
        </p:nvCxnSpPr>
        <p:spPr>
          <a:xfrm>
            <a:off x="5782960" y="1888435"/>
            <a:ext cx="2737023"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0A82CF-7FB1-8284-DAF2-D1F4B908CEA4}"/>
                  </a:ext>
                </a:extLst>
              </p:cNvPr>
              <p:cNvSpPr txBox="1"/>
              <p:nvPr/>
            </p:nvSpPr>
            <p:spPr>
              <a:xfrm>
                <a:off x="7018310" y="1717021"/>
                <a:ext cx="377924"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𝑑</m:t>
                      </m:r>
                    </m:oMath>
                  </m:oMathPara>
                </a14:m>
                <a:endParaRPr lang="en-US" dirty="0"/>
              </a:p>
            </p:txBody>
          </p:sp>
        </mc:Choice>
        <mc:Fallback>
          <p:sp>
            <p:nvSpPr>
              <p:cNvPr id="18" name="TextBox 17">
                <a:extLst>
                  <a:ext uri="{FF2B5EF4-FFF2-40B4-BE49-F238E27FC236}">
                    <a16:creationId xmlns:a16="http://schemas.microsoft.com/office/drawing/2014/main" id="{BE0A82CF-7FB1-8284-DAF2-D1F4B908CEA4}"/>
                  </a:ext>
                </a:extLst>
              </p:cNvPr>
              <p:cNvSpPr txBox="1">
                <a:spLocks noRot="1" noChangeAspect="1" noMove="1" noResize="1" noEditPoints="1" noAdjustHandles="1" noChangeArrowheads="1" noChangeShapeType="1" noTextEdit="1"/>
              </p:cNvSpPr>
              <p:nvPr/>
            </p:nvSpPr>
            <p:spPr>
              <a:xfrm>
                <a:off x="7018310" y="1717021"/>
                <a:ext cx="377924"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AEBD1AC-563E-B57D-9B33-9FF7F1F62C6C}"/>
                  </a:ext>
                </a:extLst>
              </p:cNvPr>
              <p:cNvSpPr txBox="1"/>
              <p:nvPr/>
            </p:nvSpPr>
            <p:spPr>
              <a:xfrm>
                <a:off x="616083" y="1595739"/>
                <a:ext cx="1216615" cy="66133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𝑧</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oMath>
                  </m:oMathPara>
                </a14:m>
                <a:endParaRPr lang="en-US" dirty="0"/>
              </a:p>
            </p:txBody>
          </p:sp>
        </mc:Choice>
        <mc:Fallback>
          <p:sp>
            <p:nvSpPr>
              <p:cNvPr id="19" name="TextBox 18">
                <a:extLst>
                  <a:ext uri="{FF2B5EF4-FFF2-40B4-BE49-F238E27FC236}">
                    <a16:creationId xmlns:a16="http://schemas.microsoft.com/office/drawing/2014/main" id="{1AEBD1AC-563E-B57D-9B33-9FF7F1F62C6C}"/>
                  </a:ext>
                </a:extLst>
              </p:cNvPr>
              <p:cNvSpPr txBox="1">
                <a:spLocks noRot="1" noChangeAspect="1" noMove="1" noResize="1" noEditPoints="1" noAdjustHandles="1" noChangeArrowheads="1" noChangeShapeType="1" noTextEdit="1"/>
              </p:cNvSpPr>
              <p:nvPr/>
            </p:nvSpPr>
            <p:spPr>
              <a:xfrm>
                <a:off x="616083" y="1595739"/>
                <a:ext cx="1216615" cy="661335"/>
              </a:xfrm>
              <a:prstGeom prst="rect">
                <a:avLst/>
              </a:prstGeom>
              <a:blipFill>
                <a:blip r:embed="rId4"/>
                <a:stretch>
                  <a:fillRect b="-7547"/>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523DCBAD-B7DD-2C39-7064-9ACAAAFF2570}"/>
              </a:ext>
            </a:extLst>
          </p:cNvPr>
          <p:cNvGrpSpPr/>
          <p:nvPr/>
        </p:nvGrpSpPr>
        <p:grpSpPr>
          <a:xfrm>
            <a:off x="4408080" y="4854883"/>
            <a:ext cx="2743391" cy="372301"/>
            <a:chOff x="4408080" y="4437190"/>
            <a:chExt cx="2743391" cy="372301"/>
          </a:xfrm>
        </p:grpSpPr>
        <p:cxnSp>
          <p:nvCxnSpPr>
            <p:cNvPr id="22" name="Straight Arrow Connector 21">
              <a:extLst>
                <a:ext uri="{FF2B5EF4-FFF2-40B4-BE49-F238E27FC236}">
                  <a16:creationId xmlns:a16="http://schemas.microsoft.com/office/drawing/2014/main" id="{17A04092-308E-8DA0-6E6A-AB9F2107CA7B}"/>
                </a:ext>
              </a:extLst>
            </p:cNvPr>
            <p:cNvCxnSpPr>
              <a:cxnSpLocks/>
            </p:cNvCxnSpPr>
            <p:nvPr/>
          </p:nvCxnSpPr>
          <p:spPr>
            <a:xfrm>
              <a:off x="5764424" y="4611573"/>
              <a:ext cx="1387047" cy="12402"/>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AC547ACF-BD40-D4B2-3FE0-E3530D6383A2}"/>
                    </a:ext>
                  </a:extLst>
                </p:cNvPr>
                <p:cNvSpPr txBox="1"/>
                <p:nvPr/>
              </p:nvSpPr>
              <p:spPr>
                <a:xfrm>
                  <a:off x="6263623" y="4440159"/>
                  <a:ext cx="377924" cy="369332"/>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𝑓</m:t>
                        </m:r>
                      </m:oMath>
                    </m:oMathPara>
                  </a14:m>
                  <a:endParaRPr lang="en-US" dirty="0"/>
                </a:p>
              </p:txBody>
            </p:sp>
          </mc:Choice>
          <mc:Fallback>
            <p:sp>
              <p:nvSpPr>
                <p:cNvPr id="23" name="TextBox 22">
                  <a:extLst>
                    <a:ext uri="{FF2B5EF4-FFF2-40B4-BE49-F238E27FC236}">
                      <a16:creationId xmlns:a16="http://schemas.microsoft.com/office/drawing/2014/main" id="{AC547ACF-BD40-D4B2-3FE0-E3530D6383A2}"/>
                    </a:ext>
                  </a:extLst>
                </p:cNvPr>
                <p:cNvSpPr txBox="1">
                  <a:spLocks noRot="1" noChangeAspect="1" noMove="1" noResize="1" noEditPoints="1" noAdjustHandles="1" noChangeArrowheads="1" noChangeShapeType="1" noTextEdit="1"/>
                </p:cNvSpPr>
                <p:nvPr/>
              </p:nvSpPr>
              <p:spPr>
                <a:xfrm>
                  <a:off x="6263623" y="4440159"/>
                  <a:ext cx="377924" cy="369332"/>
                </a:xfrm>
                <a:prstGeom prst="rect">
                  <a:avLst/>
                </a:prstGeom>
                <a:blipFill>
                  <a:blip r:embed="rId5"/>
                  <a:stretch>
                    <a:fillRect b="-13333"/>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1D7C51BA-5F57-6CA5-8768-DA7731E9190F}"/>
                </a:ext>
              </a:extLst>
            </p:cNvPr>
            <p:cNvCxnSpPr>
              <a:cxnSpLocks/>
            </p:cNvCxnSpPr>
            <p:nvPr/>
          </p:nvCxnSpPr>
          <p:spPr>
            <a:xfrm flipV="1">
              <a:off x="4408080" y="4611573"/>
              <a:ext cx="1374880" cy="1028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45331F4-A204-D5A5-091C-C6BBFB42D53D}"/>
                    </a:ext>
                  </a:extLst>
                </p:cNvPr>
                <p:cNvSpPr txBox="1"/>
                <p:nvPr/>
              </p:nvSpPr>
              <p:spPr>
                <a:xfrm>
                  <a:off x="4993762" y="4437190"/>
                  <a:ext cx="377924" cy="369332"/>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𝑓</m:t>
                        </m:r>
                      </m:oMath>
                    </m:oMathPara>
                  </a14:m>
                  <a:endParaRPr lang="en-US" dirty="0"/>
                </a:p>
              </p:txBody>
            </p:sp>
          </mc:Choice>
          <mc:Fallback>
            <p:sp>
              <p:nvSpPr>
                <p:cNvPr id="27" name="TextBox 26">
                  <a:extLst>
                    <a:ext uri="{FF2B5EF4-FFF2-40B4-BE49-F238E27FC236}">
                      <a16:creationId xmlns:a16="http://schemas.microsoft.com/office/drawing/2014/main" id="{B45331F4-A204-D5A5-091C-C6BBFB42D53D}"/>
                    </a:ext>
                  </a:extLst>
                </p:cNvPr>
                <p:cNvSpPr txBox="1">
                  <a:spLocks noRot="1" noChangeAspect="1" noMove="1" noResize="1" noEditPoints="1" noAdjustHandles="1" noChangeArrowheads="1" noChangeShapeType="1" noTextEdit="1"/>
                </p:cNvSpPr>
                <p:nvPr/>
              </p:nvSpPr>
              <p:spPr>
                <a:xfrm>
                  <a:off x="4993762" y="4437190"/>
                  <a:ext cx="377924" cy="369332"/>
                </a:xfrm>
                <a:prstGeom prst="rect">
                  <a:avLst/>
                </a:prstGeom>
                <a:blipFill>
                  <a:blip r:embed="rId6"/>
                  <a:stretch>
                    <a:fillRect b="-13333"/>
                  </a:stretch>
                </a:blipFill>
              </p:spPr>
              <p:txBody>
                <a:bodyPr/>
                <a:lstStyle/>
                <a:p>
                  <a:r>
                    <a:rPr lang="en-US">
                      <a:noFill/>
                    </a:rPr>
                    <a:t> </a:t>
                  </a:r>
                </a:p>
              </p:txBody>
            </p:sp>
          </mc:Fallback>
        </mc:AlternateContent>
      </p:grpSp>
      <p:sp>
        <p:nvSpPr>
          <p:cNvPr id="28" name="Oval 27">
            <a:extLst>
              <a:ext uri="{FF2B5EF4-FFF2-40B4-BE49-F238E27FC236}">
                <a16:creationId xmlns:a16="http://schemas.microsoft.com/office/drawing/2014/main" id="{F39EE779-6F65-740A-17C6-C1DE32AABEE7}"/>
              </a:ext>
            </a:extLst>
          </p:cNvPr>
          <p:cNvSpPr/>
          <p:nvPr/>
        </p:nvSpPr>
        <p:spPr>
          <a:xfrm>
            <a:off x="4384197" y="4100623"/>
            <a:ext cx="108000" cy="108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5239CE9-E5F6-0DB0-2309-3B18B1A61175}"/>
              </a:ext>
            </a:extLst>
          </p:cNvPr>
          <p:cNvSpPr/>
          <p:nvPr/>
        </p:nvSpPr>
        <p:spPr>
          <a:xfrm>
            <a:off x="7081005" y="4092759"/>
            <a:ext cx="108000" cy="108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2D55EBA4-0A23-755A-92BC-37DFFF05EA3F}"/>
              </a:ext>
            </a:extLst>
          </p:cNvPr>
          <p:cNvCxnSpPr/>
          <p:nvPr/>
        </p:nvCxnSpPr>
        <p:spPr>
          <a:xfrm>
            <a:off x="4436535" y="2777065"/>
            <a:ext cx="0" cy="29915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9048232-8B8B-7FFB-241E-EA8CEFFCCA3D}"/>
              </a:ext>
            </a:extLst>
          </p:cNvPr>
          <p:cNvCxnSpPr/>
          <p:nvPr/>
        </p:nvCxnSpPr>
        <p:spPr>
          <a:xfrm>
            <a:off x="7140228" y="2793997"/>
            <a:ext cx="0" cy="29915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7AE4BD-B63D-8677-B6B2-E16624E69338}"/>
              </a:ext>
            </a:extLst>
          </p:cNvPr>
          <p:cNvCxnSpPr/>
          <p:nvPr/>
        </p:nvCxnSpPr>
        <p:spPr>
          <a:xfrm>
            <a:off x="3000491" y="2810932"/>
            <a:ext cx="0" cy="2991555"/>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B197A950-A37F-9FCF-804D-F2E3AD5B9198}"/>
              </a:ext>
            </a:extLst>
          </p:cNvPr>
          <p:cNvCxnSpPr>
            <a:cxnSpLocks/>
          </p:cNvCxnSpPr>
          <p:nvPr/>
        </p:nvCxnSpPr>
        <p:spPr>
          <a:xfrm flipV="1">
            <a:off x="2986754" y="5500044"/>
            <a:ext cx="2777670" cy="1007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7C60C025-465A-1F46-9EE8-B4826BFB3CC3}"/>
                  </a:ext>
                </a:extLst>
              </p:cNvPr>
              <p:cNvSpPr txBox="1"/>
              <p:nvPr/>
            </p:nvSpPr>
            <p:spPr>
              <a:xfrm>
                <a:off x="4273549" y="5315378"/>
                <a:ext cx="377924" cy="369332"/>
              </a:xfrm>
              <a:prstGeom prst="rect">
                <a:avLst/>
              </a:prstGeom>
              <a:solidFill>
                <a:schemeClr val="bg1"/>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𝑧</m:t>
                      </m:r>
                    </m:oMath>
                  </m:oMathPara>
                </a14:m>
                <a:endParaRPr lang="en-US" dirty="0"/>
              </a:p>
            </p:txBody>
          </p:sp>
        </mc:Choice>
        <mc:Fallback>
          <p:sp>
            <p:nvSpPr>
              <p:cNvPr id="78" name="TextBox 77">
                <a:extLst>
                  <a:ext uri="{FF2B5EF4-FFF2-40B4-BE49-F238E27FC236}">
                    <a16:creationId xmlns:a16="http://schemas.microsoft.com/office/drawing/2014/main" id="{7C60C025-465A-1F46-9EE8-B4826BFB3CC3}"/>
                  </a:ext>
                </a:extLst>
              </p:cNvPr>
              <p:cNvSpPr txBox="1">
                <a:spLocks noRot="1" noChangeAspect="1" noMove="1" noResize="1" noEditPoints="1" noAdjustHandles="1" noChangeArrowheads="1" noChangeShapeType="1" noTextEdit="1"/>
              </p:cNvSpPr>
              <p:nvPr/>
            </p:nvSpPr>
            <p:spPr>
              <a:xfrm>
                <a:off x="4273549" y="5315378"/>
                <a:ext cx="377924"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53263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53F28-165A-4B73-5DF2-938801244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48D54-6903-1F62-37B2-F4FDB22CD5B5}"/>
              </a:ext>
            </a:extLst>
          </p:cNvPr>
          <p:cNvSpPr>
            <a:spLocks noGrp="1"/>
          </p:cNvSpPr>
          <p:nvPr>
            <p:ph type="title"/>
          </p:nvPr>
        </p:nvSpPr>
        <p:spPr>
          <a:xfrm>
            <a:off x="838200" y="79029"/>
            <a:ext cx="10515600" cy="1611660"/>
          </a:xfrm>
        </p:spPr>
        <p:txBody>
          <a:bodyPr>
            <a:normAutofit fontScale="90000"/>
          </a:bodyPr>
          <a:lstStyle/>
          <a:p>
            <a:r>
              <a:rPr lang="en-US" dirty="0"/>
              <a:t>How blurry an object be, when we move the object in and out of the points those are in perfect focus?</a:t>
            </a:r>
          </a:p>
        </p:txBody>
      </p:sp>
      <p:sp>
        <p:nvSpPr>
          <p:cNvPr id="4" name="Oval 3">
            <a:extLst>
              <a:ext uri="{FF2B5EF4-FFF2-40B4-BE49-F238E27FC236}">
                <a16:creationId xmlns:a16="http://schemas.microsoft.com/office/drawing/2014/main" id="{709629C5-6B25-7EDA-682D-43AB499252A5}"/>
              </a:ext>
            </a:extLst>
          </p:cNvPr>
          <p:cNvSpPr/>
          <p:nvPr/>
        </p:nvSpPr>
        <p:spPr>
          <a:xfrm>
            <a:off x="5712174" y="3381063"/>
            <a:ext cx="145896" cy="1225985"/>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22ADC6D-3F18-6652-A133-5F89CE632A49}"/>
              </a:ext>
            </a:extLst>
          </p:cNvPr>
          <p:cNvCxnSpPr/>
          <p:nvPr/>
        </p:nvCxnSpPr>
        <p:spPr>
          <a:xfrm>
            <a:off x="2601097" y="3991232"/>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7B35D83-0C9D-107B-0CD5-2EC259063675}"/>
              </a:ext>
            </a:extLst>
          </p:cNvPr>
          <p:cNvCxnSpPr>
            <a:cxnSpLocks/>
          </p:cNvCxnSpPr>
          <p:nvPr/>
        </p:nvCxnSpPr>
        <p:spPr>
          <a:xfrm>
            <a:off x="5782960"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65E29D70-D3FC-888A-14F5-CBA7B002C64B}"/>
              </a:ext>
            </a:extLst>
          </p:cNvPr>
          <p:cNvSpPr/>
          <p:nvPr/>
        </p:nvSpPr>
        <p:spPr>
          <a:xfrm>
            <a:off x="2866767" y="265967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47A761DF-C5F9-CE76-AABC-CADF7A8167B0}"/>
              </a:ext>
            </a:extLst>
          </p:cNvPr>
          <p:cNvCxnSpPr>
            <a:cxnSpLocks/>
            <a:stCxn id="41" idx="5"/>
          </p:cNvCxnSpPr>
          <p:nvPr/>
        </p:nvCxnSpPr>
        <p:spPr>
          <a:xfrm>
            <a:off x="3020407" y="2813312"/>
            <a:ext cx="4662203" cy="1990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CD8E29D-858E-5DC0-2B5B-2E91E0F3DFA5}"/>
              </a:ext>
            </a:extLst>
          </p:cNvPr>
          <p:cNvCxnSpPr>
            <a:cxnSpLocks/>
            <a:stCxn id="41" idx="5"/>
            <a:endCxn id="4" idx="4"/>
          </p:cNvCxnSpPr>
          <p:nvPr/>
        </p:nvCxnSpPr>
        <p:spPr>
          <a:xfrm>
            <a:off x="3020407" y="2813312"/>
            <a:ext cx="2764715" cy="179373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FCCA027-A95E-333C-0D24-01D690773473}"/>
              </a:ext>
            </a:extLst>
          </p:cNvPr>
          <p:cNvCxnSpPr>
            <a:cxnSpLocks/>
            <a:stCxn id="41" idx="5"/>
            <a:endCxn id="4" idx="0"/>
          </p:cNvCxnSpPr>
          <p:nvPr/>
        </p:nvCxnSpPr>
        <p:spPr>
          <a:xfrm>
            <a:off x="3020407" y="2813312"/>
            <a:ext cx="2764715" cy="5677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70D7A56-86C4-0C45-98D6-CA105BD49931}"/>
              </a:ext>
            </a:extLst>
          </p:cNvPr>
          <p:cNvCxnSpPr>
            <a:cxnSpLocks/>
            <a:stCxn id="4" idx="4"/>
          </p:cNvCxnSpPr>
          <p:nvPr/>
        </p:nvCxnSpPr>
        <p:spPr>
          <a:xfrm>
            <a:off x="5785122" y="4607048"/>
            <a:ext cx="1884308" cy="1920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F7910F-E0A0-124A-C072-1E49C6596155}"/>
              </a:ext>
            </a:extLst>
          </p:cNvPr>
          <p:cNvCxnSpPr>
            <a:cxnSpLocks/>
            <a:stCxn id="4" idx="0"/>
          </p:cNvCxnSpPr>
          <p:nvPr/>
        </p:nvCxnSpPr>
        <p:spPr>
          <a:xfrm>
            <a:off x="5785122" y="3381063"/>
            <a:ext cx="1885130" cy="14113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A2FB6DC-DCBD-0477-FF08-74E2ED6F2BEA}"/>
              </a:ext>
            </a:extLst>
          </p:cNvPr>
          <p:cNvCxnSpPr>
            <a:cxnSpLocks/>
          </p:cNvCxnSpPr>
          <p:nvPr/>
        </p:nvCxnSpPr>
        <p:spPr>
          <a:xfrm>
            <a:off x="2866767" y="1895061"/>
            <a:ext cx="28800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085521E-B219-FAA0-F326-7BB7250A9B46}"/>
                  </a:ext>
                </a:extLst>
              </p:cNvPr>
              <p:cNvSpPr txBox="1"/>
              <p:nvPr/>
            </p:nvSpPr>
            <p:spPr>
              <a:xfrm>
                <a:off x="4108174" y="1722785"/>
                <a:ext cx="451470"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AU" b="0" i="1" dirty="0" smtClean="0">
                              <a:latin typeface="Cambria Math" panose="02040503050406030204" pitchFamily="18" charset="0"/>
                            </a:rPr>
                            <m:t>0</m:t>
                          </m:r>
                        </m:sub>
                      </m:sSub>
                    </m:oMath>
                  </m:oMathPara>
                </a14:m>
                <a:endParaRPr lang="en-US" dirty="0"/>
              </a:p>
            </p:txBody>
          </p:sp>
        </mc:Choice>
        <mc:Fallback>
          <p:sp>
            <p:nvSpPr>
              <p:cNvPr id="10" name="TextBox 9">
                <a:extLst>
                  <a:ext uri="{FF2B5EF4-FFF2-40B4-BE49-F238E27FC236}">
                    <a16:creationId xmlns:a16="http://schemas.microsoft.com/office/drawing/2014/main" id="{8085521E-B219-FAA0-F326-7BB7250A9B46}"/>
                  </a:ext>
                </a:extLst>
              </p:cNvPr>
              <p:cNvSpPr txBox="1">
                <a:spLocks noRot="1" noChangeAspect="1" noMove="1" noResize="1" noEditPoints="1" noAdjustHandles="1" noChangeArrowheads="1" noChangeShapeType="1" noTextEdit="1"/>
              </p:cNvSpPr>
              <p:nvPr/>
            </p:nvSpPr>
            <p:spPr>
              <a:xfrm>
                <a:off x="4108174" y="1722785"/>
                <a:ext cx="451470" cy="369332"/>
              </a:xfrm>
              <a:prstGeom prst="rect">
                <a:avLst/>
              </a:prstGeom>
              <a:blipFill>
                <a:blip r:embed="rId3"/>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0B3AA03-4B56-7D4A-6D6E-329B27D27554}"/>
              </a:ext>
            </a:extLst>
          </p:cNvPr>
          <p:cNvCxnSpPr>
            <a:cxnSpLocks/>
          </p:cNvCxnSpPr>
          <p:nvPr/>
        </p:nvCxnSpPr>
        <p:spPr>
          <a:xfrm>
            <a:off x="5782960" y="1888435"/>
            <a:ext cx="188729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52C09A7-A63B-FA68-8E04-D43D7F04467C}"/>
                  </a:ext>
                </a:extLst>
              </p:cNvPr>
              <p:cNvSpPr txBox="1"/>
              <p:nvPr/>
            </p:nvSpPr>
            <p:spPr>
              <a:xfrm>
                <a:off x="6634485" y="1717021"/>
                <a:ext cx="377924"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𝑑</m:t>
                      </m:r>
                    </m:oMath>
                  </m:oMathPara>
                </a14:m>
                <a:endParaRPr lang="en-US" dirty="0"/>
              </a:p>
            </p:txBody>
          </p:sp>
        </mc:Choice>
        <mc:Fallback>
          <p:sp>
            <p:nvSpPr>
              <p:cNvPr id="18" name="TextBox 17">
                <a:extLst>
                  <a:ext uri="{FF2B5EF4-FFF2-40B4-BE49-F238E27FC236}">
                    <a16:creationId xmlns:a16="http://schemas.microsoft.com/office/drawing/2014/main" id="{852C09A7-A63B-FA68-8E04-D43D7F04467C}"/>
                  </a:ext>
                </a:extLst>
              </p:cNvPr>
              <p:cNvSpPr txBox="1">
                <a:spLocks noRot="1" noChangeAspect="1" noMove="1" noResize="1" noEditPoints="1" noAdjustHandles="1" noChangeArrowheads="1" noChangeShapeType="1" noTextEdit="1"/>
              </p:cNvSpPr>
              <p:nvPr/>
            </p:nvSpPr>
            <p:spPr>
              <a:xfrm>
                <a:off x="6634485" y="1717021"/>
                <a:ext cx="37792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C755A7C-B1BA-CB7A-A0C0-EB3BE1457EA3}"/>
                  </a:ext>
                </a:extLst>
              </p:cNvPr>
              <p:cNvSpPr txBox="1"/>
              <p:nvPr/>
            </p:nvSpPr>
            <p:spPr>
              <a:xfrm>
                <a:off x="751674" y="4685191"/>
                <a:ext cx="2903039" cy="1441164"/>
              </a:xfrm>
              <a:prstGeom prst="rect">
                <a:avLst/>
              </a:prstGeom>
              <a:noFill/>
            </p:spPr>
            <p:txBody>
              <a:bodyPr wrap="none" rtlCol="0">
                <a:spAutoFit/>
              </a:bodyPr>
              <a:lstStyle/>
              <a:p>
                <a:r>
                  <a:rPr lang="en-US" i="1" dirty="0">
                    <a:latin typeface="Cambria Math" panose="02040503050406030204" pitchFamily="18" charset="0"/>
                  </a:rPr>
                  <a:t>Blur radius</a:t>
                </a:r>
              </a:p>
              <a:p>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𝑟</m:t>
                      </m:r>
                      <m:r>
                        <a:rPr lang="en-AU" b="0" i="1" smtClean="0">
                          <a:latin typeface="Cambria Math" panose="02040503050406030204" pitchFamily="18" charset="0"/>
                        </a:rPr>
                        <m:t>=</m:t>
                      </m:r>
                      <m:f>
                        <m:fPr>
                          <m:ctrlPr>
                            <a:rPr lang="en-US" i="1" smtClean="0">
                              <a:latin typeface="Cambria Math" panose="02040503050406030204" pitchFamily="18" charset="0"/>
                            </a:rPr>
                          </m:ctrlPr>
                        </m:fPr>
                        <m:num>
                          <m:r>
                            <a:rPr lang="en-AU" b="0" i="1" smtClean="0">
                              <a:latin typeface="Cambria Math" panose="02040503050406030204" pitchFamily="18" charset="0"/>
                            </a:rPr>
                            <m:t>𝑅</m:t>
                          </m:r>
                        </m:num>
                        <m:den>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den>
                      </m:f>
                      <m:d>
                        <m:dPr>
                          <m:begChr m:val="|"/>
                          <m:endChr m:val="|"/>
                          <m:ctrlPr>
                            <a:rPr lang="en-AU" b="0" i="1" smtClean="0">
                              <a:latin typeface="Cambria Math" panose="02040503050406030204" pitchFamily="18" charset="0"/>
                            </a:rPr>
                          </m:ctrlPr>
                        </m:d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e>
                      </m:d>
                    </m:oMath>
                  </m:oMathPara>
                </a14:m>
                <a:endParaRPr lang="en-US" dirty="0"/>
              </a:p>
            </p:txBody>
          </p:sp>
        </mc:Choice>
        <mc:Fallback>
          <p:sp>
            <p:nvSpPr>
              <p:cNvPr id="5" name="TextBox 4">
                <a:extLst>
                  <a:ext uri="{FF2B5EF4-FFF2-40B4-BE49-F238E27FC236}">
                    <a16:creationId xmlns:a16="http://schemas.microsoft.com/office/drawing/2014/main" id="{4C755A7C-B1BA-CB7A-A0C0-EB3BE1457EA3}"/>
                  </a:ext>
                </a:extLst>
              </p:cNvPr>
              <p:cNvSpPr txBox="1">
                <a:spLocks noRot="1" noChangeAspect="1" noMove="1" noResize="1" noEditPoints="1" noAdjustHandles="1" noChangeArrowheads="1" noChangeShapeType="1" noTextEdit="1"/>
              </p:cNvSpPr>
              <p:nvPr/>
            </p:nvSpPr>
            <p:spPr>
              <a:xfrm>
                <a:off x="751674" y="4685191"/>
                <a:ext cx="2903039" cy="1441164"/>
              </a:xfrm>
              <a:prstGeom prst="rect">
                <a:avLst/>
              </a:prstGeom>
              <a:blipFill>
                <a:blip r:embed="rId5"/>
                <a:stretch>
                  <a:fillRect l="-1747" t="-2632" b="-3509"/>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6425FA8C-2480-A0A0-D823-7C2F80763EEE}"/>
              </a:ext>
            </a:extLst>
          </p:cNvPr>
          <p:cNvSpPr txBox="1"/>
          <p:nvPr/>
        </p:nvSpPr>
        <p:spPr>
          <a:xfrm>
            <a:off x="5777105" y="3108911"/>
            <a:ext cx="1279896" cy="369332"/>
          </a:xfrm>
          <a:prstGeom prst="rect">
            <a:avLst/>
          </a:prstGeom>
          <a:noFill/>
        </p:spPr>
        <p:txBody>
          <a:bodyPr wrap="square" rtlCol="0">
            <a:spAutoFit/>
          </a:bodyPr>
          <a:lstStyle/>
          <a:p>
            <a:r>
              <a:rPr lang="en-US" dirty="0"/>
              <a:t>Lens radius</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060EF43-9EE9-F181-7295-529C9F677045}"/>
                  </a:ext>
                </a:extLst>
              </p:cNvPr>
              <p:cNvSpPr txBox="1"/>
              <p:nvPr/>
            </p:nvSpPr>
            <p:spPr>
              <a:xfrm>
                <a:off x="5802589" y="3588033"/>
                <a:ext cx="39177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𝑅</m:t>
                      </m:r>
                    </m:oMath>
                  </m:oMathPara>
                </a14:m>
                <a:endParaRPr lang="en-US" dirty="0"/>
              </a:p>
            </p:txBody>
          </p:sp>
        </mc:Choice>
        <mc:Fallback>
          <p:sp>
            <p:nvSpPr>
              <p:cNvPr id="16" name="TextBox 15">
                <a:extLst>
                  <a:ext uri="{FF2B5EF4-FFF2-40B4-BE49-F238E27FC236}">
                    <a16:creationId xmlns:a16="http://schemas.microsoft.com/office/drawing/2014/main" id="{D060EF43-9EE9-F181-7295-529C9F677045}"/>
                  </a:ext>
                </a:extLst>
              </p:cNvPr>
              <p:cNvSpPr txBox="1">
                <a:spLocks noRot="1" noChangeAspect="1" noMove="1" noResize="1" noEditPoints="1" noAdjustHandles="1" noChangeArrowheads="1" noChangeShapeType="1" noTextEdit="1"/>
              </p:cNvSpPr>
              <p:nvPr/>
            </p:nvSpPr>
            <p:spPr>
              <a:xfrm>
                <a:off x="5802589" y="3588033"/>
                <a:ext cx="391774" cy="369332"/>
              </a:xfrm>
              <a:prstGeom prst="rect">
                <a:avLst/>
              </a:prstGeom>
              <a:blipFill>
                <a:blip r:embed="rId6"/>
                <a:stretch>
                  <a:fillRect/>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C4A2CD8B-CD8E-63BD-9221-9DBA2E7DD9DB}"/>
              </a:ext>
            </a:extLst>
          </p:cNvPr>
          <p:cNvSpPr/>
          <p:nvPr/>
        </p:nvSpPr>
        <p:spPr>
          <a:xfrm>
            <a:off x="7533319" y="4651323"/>
            <a:ext cx="301170" cy="192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0B631A7-FD42-8D57-1D87-2DBDD70C12FC}"/>
              </a:ext>
            </a:extLst>
          </p:cNvPr>
          <p:cNvSpPr/>
          <p:nvPr/>
        </p:nvSpPr>
        <p:spPr>
          <a:xfrm>
            <a:off x="7476311" y="3011059"/>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EEFD8B8-0739-CED9-E029-C8A36CC04D29}"/>
                  </a:ext>
                </a:extLst>
              </p:cNvPr>
              <p:cNvSpPr txBox="1"/>
              <p:nvPr/>
            </p:nvSpPr>
            <p:spPr>
              <a:xfrm>
                <a:off x="7549684" y="4610861"/>
                <a:ext cx="35163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𝑟</m:t>
                      </m:r>
                    </m:oMath>
                  </m:oMathPara>
                </a14:m>
                <a:endParaRPr lang="en-US" dirty="0"/>
              </a:p>
            </p:txBody>
          </p:sp>
        </mc:Choice>
        <mc:Fallback>
          <p:sp>
            <p:nvSpPr>
              <p:cNvPr id="3" name="TextBox 2">
                <a:extLst>
                  <a:ext uri="{FF2B5EF4-FFF2-40B4-BE49-F238E27FC236}">
                    <a16:creationId xmlns:a16="http://schemas.microsoft.com/office/drawing/2014/main" id="{EEEFD8B8-0739-CED9-E029-C8A36CC04D29}"/>
                  </a:ext>
                </a:extLst>
              </p:cNvPr>
              <p:cNvSpPr txBox="1">
                <a:spLocks noRot="1" noChangeAspect="1" noMove="1" noResize="1" noEditPoints="1" noAdjustHandles="1" noChangeArrowheads="1" noChangeShapeType="1" noTextEdit="1"/>
              </p:cNvSpPr>
              <p:nvPr/>
            </p:nvSpPr>
            <p:spPr>
              <a:xfrm>
                <a:off x="7549684" y="4610861"/>
                <a:ext cx="351635"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828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A73FC-2DD0-2B67-0273-EBFDBE2C5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C4BED-761B-3A94-3F8E-D9B5ED73AA23}"/>
              </a:ext>
            </a:extLst>
          </p:cNvPr>
          <p:cNvSpPr>
            <a:spLocks noGrp="1"/>
          </p:cNvSpPr>
          <p:nvPr>
            <p:ph type="title"/>
          </p:nvPr>
        </p:nvSpPr>
        <p:spPr>
          <a:xfrm>
            <a:off x="838200" y="79029"/>
            <a:ext cx="10515600" cy="1611660"/>
          </a:xfrm>
        </p:spPr>
        <p:txBody>
          <a:bodyPr>
            <a:normAutofit fontScale="90000"/>
          </a:bodyPr>
          <a:lstStyle/>
          <a:p>
            <a:r>
              <a:rPr lang="en-AU" dirty="0"/>
              <a:t>If R is zero i.e., we have a tiny tiny little pinhole and only a single ray of light goes through</a:t>
            </a:r>
            <a:r>
              <a:rPr lang="en-US" dirty="0"/>
              <a:t>?</a:t>
            </a:r>
          </a:p>
        </p:txBody>
      </p:sp>
      <p:cxnSp>
        <p:nvCxnSpPr>
          <p:cNvPr id="6" name="Straight Connector 5">
            <a:extLst>
              <a:ext uri="{FF2B5EF4-FFF2-40B4-BE49-F238E27FC236}">
                <a16:creationId xmlns:a16="http://schemas.microsoft.com/office/drawing/2014/main" id="{E9F0419D-90E8-296F-56B0-C4416BF49918}"/>
              </a:ext>
            </a:extLst>
          </p:cNvPr>
          <p:cNvCxnSpPr/>
          <p:nvPr/>
        </p:nvCxnSpPr>
        <p:spPr>
          <a:xfrm>
            <a:off x="5953899" y="3991232"/>
            <a:ext cx="5918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D0E869B-F280-C3FD-2065-AA9AFC6295E5}"/>
              </a:ext>
            </a:extLst>
          </p:cNvPr>
          <p:cNvCxnSpPr>
            <a:cxnSpLocks/>
          </p:cNvCxnSpPr>
          <p:nvPr/>
        </p:nvCxnSpPr>
        <p:spPr>
          <a:xfrm>
            <a:off x="9135762"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002F414D-9E9B-13FD-9E0F-C871F6E46B17}"/>
              </a:ext>
            </a:extLst>
          </p:cNvPr>
          <p:cNvSpPr/>
          <p:nvPr/>
        </p:nvSpPr>
        <p:spPr>
          <a:xfrm>
            <a:off x="6219569" y="265967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0ED3DF2-479D-B7B3-8545-5C5C8436DDD3}"/>
              </a:ext>
            </a:extLst>
          </p:cNvPr>
          <p:cNvCxnSpPr>
            <a:cxnSpLocks/>
            <a:stCxn id="41" idx="5"/>
          </p:cNvCxnSpPr>
          <p:nvPr/>
        </p:nvCxnSpPr>
        <p:spPr>
          <a:xfrm>
            <a:off x="6373209" y="2813312"/>
            <a:ext cx="4662203" cy="1990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B9981E4-1217-B635-4B70-9CE45F2AEA9E}"/>
              </a:ext>
            </a:extLst>
          </p:cNvPr>
          <p:cNvCxnSpPr>
            <a:cxnSpLocks/>
          </p:cNvCxnSpPr>
          <p:nvPr/>
        </p:nvCxnSpPr>
        <p:spPr>
          <a:xfrm>
            <a:off x="6219569" y="1895061"/>
            <a:ext cx="28800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5A81489-C77D-B507-04E1-0642788514AD}"/>
                  </a:ext>
                </a:extLst>
              </p:cNvPr>
              <p:cNvSpPr txBox="1"/>
              <p:nvPr/>
            </p:nvSpPr>
            <p:spPr>
              <a:xfrm>
                <a:off x="7460976" y="1722785"/>
                <a:ext cx="451470"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AU" b="0" i="1" dirty="0" smtClean="0">
                              <a:latin typeface="Cambria Math" panose="02040503050406030204" pitchFamily="18" charset="0"/>
                            </a:rPr>
                            <m:t>0</m:t>
                          </m:r>
                        </m:sub>
                      </m:sSub>
                    </m:oMath>
                  </m:oMathPara>
                </a14:m>
                <a:endParaRPr lang="en-US" dirty="0"/>
              </a:p>
            </p:txBody>
          </p:sp>
        </mc:Choice>
        <mc:Fallback>
          <p:sp>
            <p:nvSpPr>
              <p:cNvPr id="10" name="TextBox 9">
                <a:extLst>
                  <a:ext uri="{FF2B5EF4-FFF2-40B4-BE49-F238E27FC236}">
                    <a16:creationId xmlns:a16="http://schemas.microsoft.com/office/drawing/2014/main" id="{E5A81489-C77D-B507-04E1-0642788514AD}"/>
                  </a:ext>
                </a:extLst>
              </p:cNvPr>
              <p:cNvSpPr txBox="1">
                <a:spLocks noRot="1" noChangeAspect="1" noMove="1" noResize="1" noEditPoints="1" noAdjustHandles="1" noChangeArrowheads="1" noChangeShapeType="1" noTextEdit="1"/>
              </p:cNvSpPr>
              <p:nvPr/>
            </p:nvSpPr>
            <p:spPr>
              <a:xfrm>
                <a:off x="7460976" y="1722785"/>
                <a:ext cx="451470" cy="369332"/>
              </a:xfrm>
              <a:prstGeom prst="rect">
                <a:avLst/>
              </a:prstGeom>
              <a:blipFill>
                <a:blip r:embed="rId3"/>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58ECDE94-862C-8613-588D-E5E3556F7758}"/>
              </a:ext>
            </a:extLst>
          </p:cNvPr>
          <p:cNvCxnSpPr>
            <a:cxnSpLocks/>
          </p:cNvCxnSpPr>
          <p:nvPr/>
        </p:nvCxnSpPr>
        <p:spPr>
          <a:xfrm>
            <a:off x="9135762" y="1888435"/>
            <a:ext cx="188729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6C06C7F-32DD-B5D7-3D88-E4AE6BC35559}"/>
                  </a:ext>
                </a:extLst>
              </p:cNvPr>
              <p:cNvSpPr txBox="1"/>
              <p:nvPr/>
            </p:nvSpPr>
            <p:spPr>
              <a:xfrm>
                <a:off x="9987287" y="1717021"/>
                <a:ext cx="377924"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𝑑</m:t>
                      </m:r>
                    </m:oMath>
                  </m:oMathPara>
                </a14:m>
                <a:endParaRPr lang="en-US" dirty="0"/>
              </a:p>
            </p:txBody>
          </p:sp>
        </mc:Choice>
        <mc:Fallback>
          <p:sp>
            <p:nvSpPr>
              <p:cNvPr id="18" name="TextBox 17">
                <a:extLst>
                  <a:ext uri="{FF2B5EF4-FFF2-40B4-BE49-F238E27FC236}">
                    <a16:creationId xmlns:a16="http://schemas.microsoft.com/office/drawing/2014/main" id="{86C06C7F-32DD-B5D7-3D88-E4AE6BC35559}"/>
                  </a:ext>
                </a:extLst>
              </p:cNvPr>
              <p:cNvSpPr txBox="1">
                <a:spLocks noRot="1" noChangeAspect="1" noMove="1" noResize="1" noEditPoints="1" noAdjustHandles="1" noChangeArrowheads="1" noChangeShapeType="1" noTextEdit="1"/>
              </p:cNvSpPr>
              <p:nvPr/>
            </p:nvSpPr>
            <p:spPr>
              <a:xfrm>
                <a:off x="9987287" y="1717021"/>
                <a:ext cx="37792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EF20803-A962-71E1-0143-019CB9892F0C}"/>
                  </a:ext>
                </a:extLst>
              </p:cNvPr>
              <p:cNvSpPr txBox="1"/>
              <p:nvPr/>
            </p:nvSpPr>
            <p:spPr>
              <a:xfrm>
                <a:off x="838200" y="1939090"/>
                <a:ext cx="2903039" cy="1441164"/>
              </a:xfrm>
              <a:prstGeom prst="rect">
                <a:avLst/>
              </a:prstGeom>
              <a:noFill/>
            </p:spPr>
            <p:txBody>
              <a:bodyPr wrap="none" rtlCol="0">
                <a:spAutoFit/>
              </a:bodyPr>
              <a:lstStyle/>
              <a:p>
                <a:r>
                  <a:rPr lang="en-US" i="1" dirty="0">
                    <a:latin typeface="Cambria Math" panose="02040503050406030204" pitchFamily="18" charset="0"/>
                  </a:rPr>
                  <a:t>Blur radius</a:t>
                </a:r>
              </a:p>
              <a:p>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𝑟</m:t>
                      </m:r>
                      <m:r>
                        <a:rPr lang="en-AU" b="0" i="1" smtClean="0">
                          <a:latin typeface="Cambria Math" panose="02040503050406030204" pitchFamily="18" charset="0"/>
                        </a:rPr>
                        <m:t>=</m:t>
                      </m:r>
                      <m:f>
                        <m:fPr>
                          <m:ctrlPr>
                            <a:rPr lang="en-US" i="1" smtClean="0">
                              <a:latin typeface="Cambria Math" panose="02040503050406030204" pitchFamily="18" charset="0"/>
                            </a:rPr>
                          </m:ctrlPr>
                        </m:fPr>
                        <m:num>
                          <m:r>
                            <a:rPr lang="en-AU" b="0" i="1" smtClean="0">
                              <a:latin typeface="Cambria Math" panose="02040503050406030204" pitchFamily="18" charset="0"/>
                            </a:rPr>
                            <m:t>𝑅</m:t>
                          </m:r>
                        </m:num>
                        <m:den>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den>
                      </m:f>
                      <m:d>
                        <m:dPr>
                          <m:begChr m:val="|"/>
                          <m:endChr m:val="|"/>
                          <m:ctrlPr>
                            <a:rPr lang="en-AU" b="0" i="1" smtClean="0">
                              <a:latin typeface="Cambria Math" panose="02040503050406030204" pitchFamily="18" charset="0"/>
                            </a:rPr>
                          </m:ctrlPr>
                        </m:d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e>
                      </m:d>
                    </m:oMath>
                  </m:oMathPara>
                </a14:m>
                <a:endParaRPr lang="en-US" dirty="0"/>
              </a:p>
            </p:txBody>
          </p:sp>
        </mc:Choice>
        <mc:Fallback>
          <p:sp>
            <p:nvSpPr>
              <p:cNvPr id="5" name="TextBox 4">
                <a:extLst>
                  <a:ext uri="{FF2B5EF4-FFF2-40B4-BE49-F238E27FC236}">
                    <a16:creationId xmlns:a16="http://schemas.microsoft.com/office/drawing/2014/main" id="{7EF20803-A962-71E1-0143-019CB9892F0C}"/>
                  </a:ext>
                </a:extLst>
              </p:cNvPr>
              <p:cNvSpPr txBox="1">
                <a:spLocks noRot="1" noChangeAspect="1" noMove="1" noResize="1" noEditPoints="1" noAdjustHandles="1" noChangeArrowheads="1" noChangeShapeType="1" noTextEdit="1"/>
              </p:cNvSpPr>
              <p:nvPr/>
            </p:nvSpPr>
            <p:spPr>
              <a:xfrm>
                <a:off x="838200" y="1939090"/>
                <a:ext cx="2903039" cy="1441164"/>
              </a:xfrm>
              <a:prstGeom prst="rect">
                <a:avLst/>
              </a:prstGeom>
              <a:blipFill>
                <a:blip r:embed="rId5"/>
                <a:stretch>
                  <a:fillRect l="-2183" t="-1739" b="-34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47DF4D3-D76D-CC74-3E65-9EE81DB7157B}"/>
                  </a:ext>
                </a:extLst>
              </p:cNvPr>
              <p:cNvSpPr txBox="1"/>
              <p:nvPr/>
            </p:nvSpPr>
            <p:spPr>
              <a:xfrm>
                <a:off x="9155391" y="3588033"/>
                <a:ext cx="84221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𝑅</m:t>
                      </m:r>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0</m:t>
                      </m:r>
                    </m:oMath>
                  </m:oMathPara>
                </a14:m>
                <a:endParaRPr lang="en-US" dirty="0"/>
              </a:p>
            </p:txBody>
          </p:sp>
        </mc:Choice>
        <mc:Fallback>
          <p:sp>
            <p:nvSpPr>
              <p:cNvPr id="16" name="TextBox 15">
                <a:extLst>
                  <a:ext uri="{FF2B5EF4-FFF2-40B4-BE49-F238E27FC236}">
                    <a16:creationId xmlns:a16="http://schemas.microsoft.com/office/drawing/2014/main" id="{147DF4D3-D76D-CC74-3E65-9EE81DB7157B}"/>
                  </a:ext>
                </a:extLst>
              </p:cNvPr>
              <p:cNvSpPr txBox="1">
                <a:spLocks noRot="1" noChangeAspect="1" noMove="1" noResize="1" noEditPoints="1" noAdjustHandles="1" noChangeArrowheads="1" noChangeShapeType="1" noTextEdit="1"/>
              </p:cNvSpPr>
              <p:nvPr/>
            </p:nvSpPr>
            <p:spPr>
              <a:xfrm>
                <a:off x="9155391" y="3588033"/>
                <a:ext cx="842218" cy="369332"/>
              </a:xfrm>
              <a:prstGeom prst="rect">
                <a:avLst/>
              </a:prstGeom>
              <a:blipFill>
                <a:blip r:embed="rId6"/>
                <a:stretch>
                  <a:fillRect/>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B8306CF5-309E-8561-74F5-58734BB00D80}"/>
              </a:ext>
            </a:extLst>
          </p:cNvPr>
          <p:cNvSpPr/>
          <p:nvPr/>
        </p:nvSpPr>
        <p:spPr>
          <a:xfrm>
            <a:off x="10886121" y="4651323"/>
            <a:ext cx="301170" cy="192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349979C-1E20-7165-3D63-945B0D02D751}"/>
              </a:ext>
            </a:extLst>
          </p:cNvPr>
          <p:cNvSpPr/>
          <p:nvPr/>
        </p:nvSpPr>
        <p:spPr>
          <a:xfrm>
            <a:off x="10829113" y="3011059"/>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58DB5F9-030F-396D-B98E-2AA0D916E910}"/>
                  </a:ext>
                </a:extLst>
              </p:cNvPr>
              <p:cNvSpPr txBox="1"/>
              <p:nvPr/>
            </p:nvSpPr>
            <p:spPr>
              <a:xfrm>
                <a:off x="10902486" y="4610861"/>
                <a:ext cx="35163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𝑟</m:t>
                      </m:r>
                    </m:oMath>
                  </m:oMathPara>
                </a14:m>
                <a:endParaRPr lang="en-US" dirty="0"/>
              </a:p>
            </p:txBody>
          </p:sp>
        </mc:Choice>
        <mc:Fallback>
          <p:sp>
            <p:nvSpPr>
              <p:cNvPr id="3" name="TextBox 2">
                <a:extLst>
                  <a:ext uri="{FF2B5EF4-FFF2-40B4-BE49-F238E27FC236}">
                    <a16:creationId xmlns:a16="http://schemas.microsoft.com/office/drawing/2014/main" id="{E58DB5F9-030F-396D-B98E-2AA0D916E910}"/>
                  </a:ext>
                </a:extLst>
              </p:cNvPr>
              <p:cNvSpPr txBox="1">
                <a:spLocks noRot="1" noChangeAspect="1" noMove="1" noResize="1" noEditPoints="1" noAdjustHandles="1" noChangeArrowheads="1" noChangeShapeType="1" noTextEdit="1"/>
              </p:cNvSpPr>
              <p:nvPr/>
            </p:nvSpPr>
            <p:spPr>
              <a:xfrm>
                <a:off x="10902486" y="4610861"/>
                <a:ext cx="351635" cy="369332"/>
              </a:xfrm>
              <a:prstGeom prst="rect">
                <a:avLst/>
              </a:prstGeom>
              <a:blipFill>
                <a:blip r:embed="rId7"/>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5D0F357B-7237-A691-BE41-C744996516AD}"/>
              </a:ext>
            </a:extLst>
          </p:cNvPr>
          <p:cNvSpPr/>
          <p:nvPr/>
        </p:nvSpPr>
        <p:spPr>
          <a:xfrm>
            <a:off x="9087553" y="3945513"/>
            <a:ext cx="108000" cy="108000"/>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6349B52C-0A8B-19C0-7F0D-D0B77C36192B}"/>
                  </a:ext>
                </a:extLst>
              </p:cNvPr>
              <p:cNvSpPr txBox="1"/>
              <p:nvPr/>
            </p:nvSpPr>
            <p:spPr>
              <a:xfrm>
                <a:off x="721515" y="3622347"/>
                <a:ext cx="4921988" cy="646331"/>
              </a:xfrm>
              <a:prstGeom prst="rect">
                <a:avLst/>
              </a:prstGeom>
              <a:noFill/>
            </p:spPr>
            <p:txBody>
              <a:bodyPr wrap="none" rtlCol="0">
                <a:spAutoFit/>
              </a:bodyPr>
              <a:lstStyle/>
              <a:p>
                <a:r>
                  <a:rPr lang="en-US" dirty="0"/>
                  <a:t>As </a:t>
                </a:r>
                <a14:m>
                  <m:oMath xmlns:m="http://schemas.openxmlformats.org/officeDocument/2006/math">
                    <m:r>
                      <a:rPr lang="en-US" i="1" dirty="0" smtClean="0">
                        <a:latin typeface="Cambria Math" panose="02040503050406030204" pitchFamily="18" charset="0"/>
                      </a:rPr>
                      <m:t>𝑅</m:t>
                    </m:r>
                  </m:oMath>
                </a14:m>
                <a:r>
                  <a:rPr lang="en-US" dirty="0"/>
                  <a:t> tends to zero, </a:t>
                </a:r>
                <a14:m>
                  <m:oMath xmlns:m="http://schemas.openxmlformats.org/officeDocument/2006/math">
                    <m:r>
                      <a:rPr lang="en-US" i="1" dirty="0" smtClean="0">
                        <a:latin typeface="Cambria Math" panose="02040503050406030204" pitchFamily="18" charset="0"/>
                      </a:rPr>
                      <m:t>𝑟</m:t>
                    </m:r>
                  </m:oMath>
                </a14:m>
                <a:r>
                  <a:rPr lang="en-US" dirty="0"/>
                  <a:t> also tends to 0. Which means</a:t>
                </a:r>
              </a:p>
              <a:p>
                <a:r>
                  <a:rPr lang="en-US" dirty="0"/>
                  <a:t>everything is in perfect focus. </a:t>
                </a:r>
              </a:p>
            </p:txBody>
          </p:sp>
        </mc:Choice>
        <mc:Fallback>
          <p:sp>
            <p:nvSpPr>
              <p:cNvPr id="29" name="TextBox 28">
                <a:extLst>
                  <a:ext uri="{FF2B5EF4-FFF2-40B4-BE49-F238E27FC236}">
                    <a16:creationId xmlns:a16="http://schemas.microsoft.com/office/drawing/2014/main" id="{6349B52C-0A8B-19C0-7F0D-D0B77C36192B}"/>
                  </a:ext>
                </a:extLst>
              </p:cNvPr>
              <p:cNvSpPr txBox="1">
                <a:spLocks noRot="1" noChangeAspect="1" noMove="1" noResize="1" noEditPoints="1" noAdjustHandles="1" noChangeArrowheads="1" noChangeShapeType="1" noTextEdit="1"/>
              </p:cNvSpPr>
              <p:nvPr/>
            </p:nvSpPr>
            <p:spPr>
              <a:xfrm>
                <a:off x="721515" y="3622347"/>
                <a:ext cx="4921988" cy="646331"/>
              </a:xfrm>
              <a:prstGeom prst="rect">
                <a:avLst/>
              </a:prstGeom>
              <a:blipFill>
                <a:blip r:embed="rId8"/>
                <a:stretch>
                  <a:fillRect l="-1028" t="-3922" b="-156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D95E0D69-3184-EE97-2397-4C03BED78681}"/>
                  </a:ext>
                </a:extLst>
              </p:cNvPr>
              <p:cNvSpPr txBox="1"/>
              <p:nvPr/>
            </p:nvSpPr>
            <p:spPr>
              <a:xfrm>
                <a:off x="733169" y="4474177"/>
                <a:ext cx="5486400" cy="923330"/>
              </a:xfrm>
              <a:prstGeom prst="rect">
                <a:avLst/>
              </a:prstGeom>
              <a:noFill/>
            </p:spPr>
            <p:txBody>
              <a:bodyPr wrap="square" rtlCol="0">
                <a:spAutoFit/>
              </a:bodyPr>
              <a:lstStyle/>
              <a:p>
                <a:r>
                  <a:rPr lang="en-AU" dirty="0"/>
                  <a:t>IOW: the amount of blur will be proportional to how big the aperture (</a:t>
                </a:r>
                <a14:m>
                  <m:oMath xmlns:m="http://schemas.openxmlformats.org/officeDocument/2006/math">
                    <m:r>
                      <a:rPr lang="en-AU" i="1" dirty="0" smtClean="0">
                        <a:latin typeface="Cambria Math" panose="02040503050406030204" pitchFamily="18" charset="0"/>
                      </a:rPr>
                      <m:t>𝑅</m:t>
                    </m:r>
                  </m:oMath>
                </a14:m>
                <a:r>
                  <a:rPr lang="en-AU" dirty="0"/>
                  <a:t> here) is at the front of the lens.</a:t>
                </a:r>
              </a:p>
              <a:p>
                <a:endParaRPr lang="en-US" dirty="0"/>
              </a:p>
            </p:txBody>
          </p:sp>
        </mc:Choice>
        <mc:Fallback>
          <p:sp>
            <p:nvSpPr>
              <p:cNvPr id="30" name="TextBox 29">
                <a:extLst>
                  <a:ext uri="{FF2B5EF4-FFF2-40B4-BE49-F238E27FC236}">
                    <a16:creationId xmlns:a16="http://schemas.microsoft.com/office/drawing/2014/main" id="{D95E0D69-3184-EE97-2397-4C03BED78681}"/>
                  </a:ext>
                </a:extLst>
              </p:cNvPr>
              <p:cNvSpPr txBox="1">
                <a:spLocks noRot="1" noChangeAspect="1" noMove="1" noResize="1" noEditPoints="1" noAdjustHandles="1" noChangeArrowheads="1" noChangeShapeType="1" noTextEdit="1"/>
              </p:cNvSpPr>
              <p:nvPr/>
            </p:nvSpPr>
            <p:spPr>
              <a:xfrm>
                <a:off x="733169" y="4474177"/>
                <a:ext cx="5486400" cy="923330"/>
              </a:xfrm>
              <a:prstGeom prst="rect">
                <a:avLst/>
              </a:prstGeom>
              <a:blipFill>
                <a:blip r:embed="rId9"/>
                <a:stretch>
                  <a:fillRect l="-924" t="-4110" r="-231"/>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3B2D5891-B4A0-5931-48E4-413BD5D04A75}"/>
              </a:ext>
            </a:extLst>
          </p:cNvPr>
          <p:cNvSpPr txBox="1"/>
          <p:nvPr/>
        </p:nvSpPr>
        <p:spPr>
          <a:xfrm>
            <a:off x="6180590" y="5267328"/>
            <a:ext cx="2775169" cy="646331"/>
          </a:xfrm>
          <a:prstGeom prst="rect">
            <a:avLst/>
          </a:prstGeom>
          <a:noFill/>
        </p:spPr>
        <p:txBody>
          <a:bodyPr wrap="square" rtlCol="0">
            <a:spAutoFit/>
          </a:bodyPr>
          <a:lstStyle/>
          <a:p>
            <a:r>
              <a:rPr lang="en-US" dirty="0">
                <a:solidFill>
                  <a:schemeClr val="accent6">
                    <a:lumMod val="50000"/>
                  </a:schemeClr>
                </a:solidFill>
              </a:rPr>
              <a:t>Already know this from the pinhole camera model</a:t>
            </a:r>
          </a:p>
        </p:txBody>
      </p:sp>
      <p:cxnSp>
        <p:nvCxnSpPr>
          <p:cNvPr id="33" name="Straight Arrow Connector 32">
            <a:extLst>
              <a:ext uri="{FF2B5EF4-FFF2-40B4-BE49-F238E27FC236}">
                <a16:creationId xmlns:a16="http://schemas.microsoft.com/office/drawing/2014/main" id="{F775E494-DAAE-EACB-A53E-C19AE0766F6C}"/>
              </a:ext>
            </a:extLst>
          </p:cNvPr>
          <p:cNvCxnSpPr>
            <a:cxnSpLocks/>
            <a:stCxn id="31" idx="1"/>
          </p:cNvCxnSpPr>
          <p:nvPr/>
        </p:nvCxnSpPr>
        <p:spPr>
          <a:xfrm flipH="1" flipV="1">
            <a:off x="5204178" y="4804117"/>
            <a:ext cx="976412" cy="78637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030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00522-4C0A-A7F6-2836-98368128B70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D8B0C92-AB9D-0BAC-A832-31E28E76DCB6}"/>
                  </a:ext>
                </a:extLst>
              </p:cNvPr>
              <p:cNvSpPr>
                <a:spLocks noGrp="1"/>
              </p:cNvSpPr>
              <p:nvPr>
                <p:ph type="title"/>
              </p:nvPr>
            </p:nvSpPr>
            <p:spPr>
              <a:xfrm>
                <a:off x="838200" y="79029"/>
                <a:ext cx="10515600" cy="1611660"/>
              </a:xfrm>
            </p:spPr>
            <p:txBody>
              <a:bodyPr>
                <a:normAutofit/>
              </a:bodyPr>
              <a:lstStyle/>
              <a:p>
                <a:r>
                  <a:rPr lang="en-US" dirty="0"/>
                  <a:t>What happens when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r>
                      <a:rPr lang="en-AU" b="0" i="1" smtClean="0">
                        <a:latin typeface="Cambria Math" panose="02040503050406030204" pitchFamily="18" charset="0"/>
                      </a:rPr>
                      <m:t>=</m:t>
                    </m:r>
                    <m:r>
                      <a:rPr lang="en-AU" b="0" i="1" smtClean="0">
                        <a:latin typeface="Cambria Math" panose="02040503050406030204" pitchFamily="18" charset="0"/>
                      </a:rPr>
                      <m:t>𝑧</m:t>
                    </m:r>
                  </m:oMath>
                </a14:m>
                <a:r>
                  <a:rPr lang="en-US" dirty="0"/>
                  <a:t>?</a:t>
                </a:r>
              </a:p>
            </p:txBody>
          </p:sp>
        </mc:Choice>
        <mc:Fallback>
          <p:sp>
            <p:nvSpPr>
              <p:cNvPr id="2" name="Title 1">
                <a:extLst>
                  <a:ext uri="{FF2B5EF4-FFF2-40B4-BE49-F238E27FC236}">
                    <a16:creationId xmlns:a16="http://schemas.microsoft.com/office/drawing/2014/main" id="{AD8B0C92-AB9D-0BAC-A832-31E28E76DCB6}"/>
                  </a:ext>
                </a:extLst>
              </p:cNvPr>
              <p:cNvSpPr>
                <a:spLocks noGrp="1" noRot="1" noChangeAspect="1" noMove="1" noResize="1" noEditPoints="1" noAdjustHandles="1" noChangeArrowheads="1" noChangeShapeType="1" noTextEdit="1"/>
              </p:cNvSpPr>
              <p:nvPr>
                <p:ph type="title"/>
              </p:nvPr>
            </p:nvSpPr>
            <p:spPr>
              <a:xfrm>
                <a:off x="838200" y="79029"/>
                <a:ext cx="10515600" cy="1611660"/>
              </a:xfrm>
              <a:blipFill>
                <a:blip r:embed="rId3"/>
                <a:stretch>
                  <a:fillRect l="-2413"/>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373DB794-B028-EEDF-9BDF-F00D5ED4129B}"/>
              </a:ext>
            </a:extLst>
          </p:cNvPr>
          <p:cNvSpPr/>
          <p:nvPr/>
        </p:nvSpPr>
        <p:spPr>
          <a:xfrm>
            <a:off x="9990670" y="3381063"/>
            <a:ext cx="145896" cy="1225985"/>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7E7FEF6-956B-B542-5A3B-C408AD2FA628}"/>
              </a:ext>
            </a:extLst>
          </p:cNvPr>
          <p:cNvCxnSpPr>
            <a:cxnSpLocks/>
          </p:cNvCxnSpPr>
          <p:nvPr/>
        </p:nvCxnSpPr>
        <p:spPr>
          <a:xfrm>
            <a:off x="6841067" y="3991232"/>
            <a:ext cx="51559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84A497-B528-0211-03B4-E8167CBB013F}"/>
              </a:ext>
            </a:extLst>
          </p:cNvPr>
          <p:cNvCxnSpPr>
            <a:cxnSpLocks/>
          </p:cNvCxnSpPr>
          <p:nvPr/>
        </p:nvCxnSpPr>
        <p:spPr>
          <a:xfrm>
            <a:off x="10061456" y="1715402"/>
            <a:ext cx="0" cy="41293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9AC208A-AA67-E33C-0613-370FF11CFB1C}"/>
              </a:ext>
            </a:extLst>
          </p:cNvPr>
          <p:cNvSpPr/>
          <p:nvPr/>
        </p:nvSpPr>
        <p:spPr>
          <a:xfrm>
            <a:off x="7145263" y="2659672"/>
            <a:ext cx="180000" cy="180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72B4FCE2-F707-18A7-F5E3-AE85CB46B63B}"/>
              </a:ext>
            </a:extLst>
          </p:cNvPr>
          <p:cNvCxnSpPr>
            <a:cxnSpLocks/>
            <a:stCxn id="41" idx="5"/>
          </p:cNvCxnSpPr>
          <p:nvPr/>
        </p:nvCxnSpPr>
        <p:spPr>
          <a:xfrm>
            <a:off x="7298903" y="2813312"/>
            <a:ext cx="4662203" cy="1990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53B0068-A2AB-B5D0-9B29-3A6BD360EFF7}"/>
              </a:ext>
            </a:extLst>
          </p:cNvPr>
          <p:cNvCxnSpPr>
            <a:cxnSpLocks/>
            <a:stCxn id="41" idx="5"/>
            <a:endCxn id="4" idx="4"/>
          </p:cNvCxnSpPr>
          <p:nvPr/>
        </p:nvCxnSpPr>
        <p:spPr>
          <a:xfrm>
            <a:off x="7298903" y="2813312"/>
            <a:ext cx="2764715" cy="179373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AE2B05A-AC6D-7F9B-3DFD-0FDA74B226B4}"/>
              </a:ext>
            </a:extLst>
          </p:cNvPr>
          <p:cNvCxnSpPr>
            <a:cxnSpLocks/>
            <a:stCxn id="41" idx="5"/>
            <a:endCxn id="4" idx="0"/>
          </p:cNvCxnSpPr>
          <p:nvPr/>
        </p:nvCxnSpPr>
        <p:spPr>
          <a:xfrm>
            <a:off x="7298903" y="2813312"/>
            <a:ext cx="2764715" cy="5677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F5B7C34-6A6E-94A4-80B8-A74C78ABE812}"/>
              </a:ext>
            </a:extLst>
          </p:cNvPr>
          <p:cNvCxnSpPr>
            <a:cxnSpLocks/>
            <a:stCxn id="4" idx="4"/>
          </p:cNvCxnSpPr>
          <p:nvPr/>
        </p:nvCxnSpPr>
        <p:spPr>
          <a:xfrm>
            <a:off x="10063618" y="4607048"/>
            <a:ext cx="1884308" cy="1920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D09741C-3488-71CD-AB9F-8888B4F71E84}"/>
              </a:ext>
            </a:extLst>
          </p:cNvPr>
          <p:cNvCxnSpPr>
            <a:cxnSpLocks/>
            <a:stCxn id="4" idx="0"/>
          </p:cNvCxnSpPr>
          <p:nvPr/>
        </p:nvCxnSpPr>
        <p:spPr>
          <a:xfrm>
            <a:off x="10063618" y="3381063"/>
            <a:ext cx="1885130" cy="14113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C91DB4C-1FEE-84FB-C747-0D5DAFA19A8B}"/>
              </a:ext>
            </a:extLst>
          </p:cNvPr>
          <p:cNvCxnSpPr>
            <a:cxnSpLocks/>
          </p:cNvCxnSpPr>
          <p:nvPr/>
        </p:nvCxnSpPr>
        <p:spPr>
          <a:xfrm>
            <a:off x="7145263" y="1895061"/>
            <a:ext cx="288006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CA8227F-B626-95E1-56EB-0544F970257D}"/>
                  </a:ext>
                </a:extLst>
              </p:cNvPr>
              <p:cNvSpPr txBox="1"/>
              <p:nvPr/>
            </p:nvSpPr>
            <p:spPr>
              <a:xfrm>
                <a:off x="8386670" y="1722785"/>
                <a:ext cx="451470"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AU"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AU" b="0" i="1" dirty="0" smtClean="0">
                              <a:latin typeface="Cambria Math" panose="02040503050406030204" pitchFamily="18" charset="0"/>
                            </a:rPr>
                            <m:t>0</m:t>
                          </m:r>
                        </m:sub>
                      </m:sSub>
                    </m:oMath>
                  </m:oMathPara>
                </a14:m>
                <a:endParaRPr lang="en-US" dirty="0"/>
              </a:p>
            </p:txBody>
          </p:sp>
        </mc:Choice>
        <mc:Fallback>
          <p:sp>
            <p:nvSpPr>
              <p:cNvPr id="10" name="TextBox 9">
                <a:extLst>
                  <a:ext uri="{FF2B5EF4-FFF2-40B4-BE49-F238E27FC236}">
                    <a16:creationId xmlns:a16="http://schemas.microsoft.com/office/drawing/2014/main" id="{8CA8227F-B626-95E1-56EB-0544F970257D}"/>
                  </a:ext>
                </a:extLst>
              </p:cNvPr>
              <p:cNvSpPr txBox="1">
                <a:spLocks noRot="1" noChangeAspect="1" noMove="1" noResize="1" noEditPoints="1" noAdjustHandles="1" noChangeArrowheads="1" noChangeShapeType="1" noTextEdit="1"/>
              </p:cNvSpPr>
              <p:nvPr/>
            </p:nvSpPr>
            <p:spPr>
              <a:xfrm>
                <a:off x="8386670" y="1722785"/>
                <a:ext cx="451470" cy="369332"/>
              </a:xfrm>
              <a:prstGeom prst="rect">
                <a:avLst/>
              </a:prstGeom>
              <a:blipFill>
                <a:blip r:embed="rId4"/>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5A6B04DA-0360-4246-525A-2B5DD7AE3111}"/>
              </a:ext>
            </a:extLst>
          </p:cNvPr>
          <p:cNvCxnSpPr>
            <a:cxnSpLocks/>
          </p:cNvCxnSpPr>
          <p:nvPr/>
        </p:nvCxnSpPr>
        <p:spPr>
          <a:xfrm>
            <a:off x="10061456" y="1888435"/>
            <a:ext cx="188729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5EC13526-90EE-1DE3-126B-FFA4FF2286AF}"/>
                  </a:ext>
                </a:extLst>
              </p:cNvPr>
              <p:cNvSpPr txBox="1"/>
              <p:nvPr/>
            </p:nvSpPr>
            <p:spPr>
              <a:xfrm>
                <a:off x="10912981" y="1717021"/>
                <a:ext cx="377924" cy="369332"/>
              </a:xfrm>
              <a:prstGeom prst="rect">
                <a:avLst/>
              </a:prstGeom>
              <a:solidFill>
                <a:schemeClr val="bg1"/>
              </a:solid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𝑑</m:t>
                      </m:r>
                    </m:oMath>
                  </m:oMathPara>
                </a14:m>
                <a:endParaRPr lang="en-US" dirty="0"/>
              </a:p>
            </p:txBody>
          </p:sp>
        </mc:Choice>
        <mc:Fallback>
          <p:sp>
            <p:nvSpPr>
              <p:cNvPr id="18" name="TextBox 17">
                <a:extLst>
                  <a:ext uri="{FF2B5EF4-FFF2-40B4-BE49-F238E27FC236}">
                    <a16:creationId xmlns:a16="http://schemas.microsoft.com/office/drawing/2014/main" id="{5EC13526-90EE-1DE3-126B-FFA4FF2286AF}"/>
                  </a:ext>
                </a:extLst>
              </p:cNvPr>
              <p:cNvSpPr txBox="1">
                <a:spLocks noRot="1" noChangeAspect="1" noMove="1" noResize="1" noEditPoints="1" noAdjustHandles="1" noChangeArrowheads="1" noChangeShapeType="1" noTextEdit="1"/>
              </p:cNvSpPr>
              <p:nvPr/>
            </p:nvSpPr>
            <p:spPr>
              <a:xfrm>
                <a:off x="10912981" y="1717021"/>
                <a:ext cx="37792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721AB68-3A30-8D11-04A9-28F25B1B2A30}"/>
                  </a:ext>
                </a:extLst>
              </p:cNvPr>
              <p:cNvSpPr txBox="1"/>
              <p:nvPr/>
            </p:nvSpPr>
            <p:spPr>
              <a:xfrm>
                <a:off x="6858713" y="4546845"/>
                <a:ext cx="2903039" cy="1441164"/>
              </a:xfrm>
              <a:prstGeom prst="rect">
                <a:avLst/>
              </a:prstGeom>
              <a:noFill/>
            </p:spPr>
            <p:txBody>
              <a:bodyPr wrap="none" rtlCol="0">
                <a:spAutoFit/>
              </a:bodyPr>
              <a:lstStyle/>
              <a:p>
                <a:r>
                  <a:rPr lang="en-US" i="1" dirty="0">
                    <a:latin typeface="Cambria Math" panose="02040503050406030204" pitchFamily="18" charset="0"/>
                  </a:rPr>
                  <a:t>Blur radius</a:t>
                </a:r>
              </a:p>
              <a:p>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𝑟</m:t>
                      </m:r>
                      <m:r>
                        <a:rPr lang="en-AU" b="0" i="1" smtClean="0">
                          <a:latin typeface="Cambria Math" panose="02040503050406030204" pitchFamily="18" charset="0"/>
                        </a:rPr>
                        <m:t>=</m:t>
                      </m:r>
                      <m:f>
                        <m:fPr>
                          <m:ctrlPr>
                            <a:rPr lang="en-US" i="1" smtClean="0">
                              <a:latin typeface="Cambria Math" panose="02040503050406030204" pitchFamily="18" charset="0"/>
                            </a:rPr>
                          </m:ctrlPr>
                        </m:fPr>
                        <m:num>
                          <m:r>
                            <a:rPr lang="en-AU" b="0" i="1" smtClean="0">
                              <a:latin typeface="Cambria Math" panose="02040503050406030204" pitchFamily="18" charset="0"/>
                            </a:rPr>
                            <m:t>𝑅</m:t>
                          </m:r>
                        </m:num>
                        <m:den>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den>
                      </m:f>
                      <m:d>
                        <m:dPr>
                          <m:begChr m:val="|"/>
                          <m:endChr m:val="|"/>
                          <m:ctrlPr>
                            <a:rPr lang="en-AU" b="0" i="1" smtClean="0">
                              <a:latin typeface="Cambria Math" panose="02040503050406030204" pitchFamily="18" charset="0"/>
                            </a:rPr>
                          </m:ctrlPr>
                        </m:d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den>
                              </m:f>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e>
                      </m:d>
                    </m:oMath>
                  </m:oMathPara>
                </a14:m>
                <a:endParaRPr lang="en-US" dirty="0"/>
              </a:p>
            </p:txBody>
          </p:sp>
        </mc:Choice>
        <mc:Fallback>
          <p:sp>
            <p:nvSpPr>
              <p:cNvPr id="5" name="TextBox 4">
                <a:extLst>
                  <a:ext uri="{FF2B5EF4-FFF2-40B4-BE49-F238E27FC236}">
                    <a16:creationId xmlns:a16="http://schemas.microsoft.com/office/drawing/2014/main" id="{D721AB68-3A30-8D11-04A9-28F25B1B2A30}"/>
                  </a:ext>
                </a:extLst>
              </p:cNvPr>
              <p:cNvSpPr txBox="1">
                <a:spLocks noRot="1" noChangeAspect="1" noMove="1" noResize="1" noEditPoints="1" noAdjustHandles="1" noChangeArrowheads="1" noChangeShapeType="1" noTextEdit="1"/>
              </p:cNvSpPr>
              <p:nvPr/>
            </p:nvSpPr>
            <p:spPr>
              <a:xfrm>
                <a:off x="6858713" y="4546845"/>
                <a:ext cx="2903039" cy="1441164"/>
              </a:xfrm>
              <a:prstGeom prst="rect">
                <a:avLst/>
              </a:prstGeom>
              <a:blipFill>
                <a:blip r:embed="rId6"/>
                <a:stretch>
                  <a:fillRect l="-1747" t="-2632" b="-3509"/>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BA1774AB-C574-1C48-8140-50A3BF9D4760}"/>
              </a:ext>
            </a:extLst>
          </p:cNvPr>
          <p:cNvSpPr txBox="1"/>
          <p:nvPr/>
        </p:nvSpPr>
        <p:spPr>
          <a:xfrm>
            <a:off x="10055601" y="3108911"/>
            <a:ext cx="1279896" cy="369332"/>
          </a:xfrm>
          <a:prstGeom prst="rect">
            <a:avLst/>
          </a:prstGeom>
          <a:noFill/>
        </p:spPr>
        <p:txBody>
          <a:bodyPr wrap="square" rtlCol="0">
            <a:spAutoFit/>
          </a:bodyPr>
          <a:lstStyle/>
          <a:p>
            <a:r>
              <a:rPr lang="en-US" dirty="0"/>
              <a:t>Lens radius</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05EDEDB4-EBEA-28F0-DA3C-929D7620E3C5}"/>
                  </a:ext>
                </a:extLst>
              </p:cNvPr>
              <p:cNvSpPr txBox="1"/>
              <p:nvPr/>
            </p:nvSpPr>
            <p:spPr>
              <a:xfrm>
                <a:off x="10081085" y="3588033"/>
                <a:ext cx="391774"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𝑅</m:t>
                      </m:r>
                    </m:oMath>
                  </m:oMathPara>
                </a14:m>
                <a:endParaRPr lang="en-US" dirty="0"/>
              </a:p>
            </p:txBody>
          </p:sp>
        </mc:Choice>
        <mc:Fallback>
          <p:sp>
            <p:nvSpPr>
              <p:cNvPr id="16" name="TextBox 15">
                <a:extLst>
                  <a:ext uri="{FF2B5EF4-FFF2-40B4-BE49-F238E27FC236}">
                    <a16:creationId xmlns:a16="http://schemas.microsoft.com/office/drawing/2014/main" id="{05EDEDB4-EBEA-28F0-DA3C-929D7620E3C5}"/>
                  </a:ext>
                </a:extLst>
              </p:cNvPr>
              <p:cNvSpPr txBox="1">
                <a:spLocks noRot="1" noChangeAspect="1" noMove="1" noResize="1" noEditPoints="1" noAdjustHandles="1" noChangeArrowheads="1" noChangeShapeType="1" noTextEdit="1"/>
              </p:cNvSpPr>
              <p:nvPr/>
            </p:nvSpPr>
            <p:spPr>
              <a:xfrm>
                <a:off x="10081085" y="3588033"/>
                <a:ext cx="391774" cy="369332"/>
              </a:xfrm>
              <a:prstGeom prst="rect">
                <a:avLst/>
              </a:prstGeom>
              <a:blipFill>
                <a:blip r:embed="rId7"/>
                <a:stretch>
                  <a:fillRect/>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2C150FB2-8089-10E8-F4E5-351F4ED1C1A3}"/>
              </a:ext>
            </a:extLst>
          </p:cNvPr>
          <p:cNvSpPr/>
          <p:nvPr/>
        </p:nvSpPr>
        <p:spPr>
          <a:xfrm>
            <a:off x="11811815" y="4651323"/>
            <a:ext cx="301170" cy="192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06132F4-D77F-0B98-1306-CFEB81D28E11}"/>
              </a:ext>
            </a:extLst>
          </p:cNvPr>
          <p:cNvSpPr/>
          <p:nvPr/>
        </p:nvSpPr>
        <p:spPr>
          <a:xfrm>
            <a:off x="11754807" y="3011059"/>
            <a:ext cx="45719" cy="2589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E4BA03D-336E-3564-33D8-F6BC2B7F62A4}"/>
                  </a:ext>
                </a:extLst>
              </p:cNvPr>
              <p:cNvSpPr txBox="1"/>
              <p:nvPr/>
            </p:nvSpPr>
            <p:spPr>
              <a:xfrm>
                <a:off x="11828180" y="4610861"/>
                <a:ext cx="35163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𝑟</m:t>
                      </m:r>
                    </m:oMath>
                  </m:oMathPara>
                </a14:m>
                <a:endParaRPr lang="en-US" dirty="0"/>
              </a:p>
            </p:txBody>
          </p:sp>
        </mc:Choice>
        <mc:Fallback>
          <p:sp>
            <p:nvSpPr>
              <p:cNvPr id="3" name="TextBox 2">
                <a:extLst>
                  <a:ext uri="{FF2B5EF4-FFF2-40B4-BE49-F238E27FC236}">
                    <a16:creationId xmlns:a16="http://schemas.microsoft.com/office/drawing/2014/main" id="{2E4BA03D-336E-3564-33D8-F6BC2B7F62A4}"/>
                  </a:ext>
                </a:extLst>
              </p:cNvPr>
              <p:cNvSpPr txBox="1">
                <a:spLocks noRot="1" noChangeAspect="1" noMove="1" noResize="1" noEditPoints="1" noAdjustHandles="1" noChangeArrowheads="1" noChangeShapeType="1" noTextEdit="1"/>
              </p:cNvSpPr>
              <p:nvPr/>
            </p:nvSpPr>
            <p:spPr>
              <a:xfrm>
                <a:off x="11828180" y="4610861"/>
                <a:ext cx="351635"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974104B-00F5-F130-76CB-06E3A1F110F5}"/>
                  </a:ext>
                </a:extLst>
              </p:cNvPr>
              <p:cNvSpPr txBox="1"/>
              <p:nvPr/>
            </p:nvSpPr>
            <p:spPr>
              <a:xfrm>
                <a:off x="334386" y="1657745"/>
                <a:ext cx="5608395" cy="1635832"/>
              </a:xfrm>
              <a:prstGeom prst="rect">
                <a:avLst/>
              </a:prstGeom>
              <a:noFill/>
            </p:spPr>
            <p:txBody>
              <a:bodyPr wrap="none" rtlCol="0">
                <a:spAutoFit/>
              </a:bodyPr>
              <a:lstStyle/>
              <a:p>
                <a:r>
                  <a:rPr lang="en-AU" dirty="0"/>
                  <a:t>In context of </a:t>
                </a:r>
                <a:r>
                  <a:rPr lang="en-AU" b="1" dirty="0"/>
                  <a:t>thin lens equation </a:t>
                </a:r>
                <a14:m>
                  <m:oMath xmlns:m="http://schemas.openxmlformats.org/officeDocument/2006/math">
                    <m:f>
                      <m:fPr>
                        <m:ctrlPr>
                          <a:rPr lang="en-AU" b="1" i="1" smtClean="0">
                            <a:latin typeface="Cambria Math" panose="02040503050406030204" pitchFamily="18" charset="0"/>
                          </a:rPr>
                        </m:ctrlPr>
                      </m:fPr>
                      <m:num>
                        <m:r>
                          <a:rPr lang="en-AU" b="1" i="1" smtClean="0">
                            <a:latin typeface="Cambria Math" panose="02040503050406030204" pitchFamily="18" charset="0"/>
                          </a:rPr>
                          <m:t>𝟏</m:t>
                        </m:r>
                      </m:num>
                      <m:den>
                        <m:r>
                          <a:rPr lang="en-AU" b="1" i="1" smtClean="0">
                            <a:latin typeface="Cambria Math" panose="02040503050406030204" pitchFamily="18" charset="0"/>
                          </a:rPr>
                          <m:t>𝒇</m:t>
                        </m:r>
                      </m:den>
                    </m:f>
                    <m:r>
                      <a:rPr lang="en-AU" b="1" i="1" smtClean="0">
                        <a:latin typeface="Cambria Math" panose="02040503050406030204" pitchFamily="18" charset="0"/>
                      </a:rPr>
                      <m:t>=</m:t>
                    </m:r>
                    <m:f>
                      <m:fPr>
                        <m:ctrlPr>
                          <a:rPr lang="en-AU" b="1" i="1" smtClean="0">
                            <a:latin typeface="Cambria Math" panose="02040503050406030204" pitchFamily="18" charset="0"/>
                          </a:rPr>
                        </m:ctrlPr>
                      </m:fPr>
                      <m:num>
                        <m:r>
                          <a:rPr lang="en-AU" b="1" i="1" smtClean="0">
                            <a:latin typeface="Cambria Math" panose="02040503050406030204" pitchFamily="18" charset="0"/>
                          </a:rPr>
                          <m:t>𝟏</m:t>
                        </m:r>
                      </m:num>
                      <m:den>
                        <m:r>
                          <a:rPr lang="en-AU" b="1" i="1" smtClean="0">
                            <a:latin typeface="Cambria Math" panose="02040503050406030204" pitchFamily="18" charset="0"/>
                          </a:rPr>
                          <m:t>𝒛</m:t>
                        </m:r>
                      </m:den>
                    </m:f>
                    <m:r>
                      <a:rPr lang="en-AU" b="1" i="1" smtClean="0">
                        <a:latin typeface="Cambria Math" panose="02040503050406030204" pitchFamily="18" charset="0"/>
                      </a:rPr>
                      <m:t>+</m:t>
                    </m:r>
                    <m:f>
                      <m:fPr>
                        <m:ctrlPr>
                          <a:rPr lang="en-AU" b="1" i="1" smtClean="0">
                            <a:latin typeface="Cambria Math" panose="02040503050406030204" pitchFamily="18" charset="0"/>
                          </a:rPr>
                        </m:ctrlPr>
                      </m:fPr>
                      <m:num>
                        <m:r>
                          <a:rPr lang="en-AU" b="1" i="1" smtClean="0">
                            <a:latin typeface="Cambria Math" panose="02040503050406030204" pitchFamily="18" charset="0"/>
                          </a:rPr>
                          <m:t>𝟏</m:t>
                        </m:r>
                      </m:num>
                      <m:den>
                        <m:r>
                          <a:rPr lang="en-AU" b="1" i="1" smtClean="0">
                            <a:latin typeface="Cambria Math" panose="02040503050406030204" pitchFamily="18" charset="0"/>
                          </a:rPr>
                          <m:t>𝒅</m:t>
                        </m:r>
                      </m:den>
                    </m:f>
                  </m:oMath>
                </a14:m>
                <a:r>
                  <a:rPr lang="en-AU" b="1" dirty="0"/>
                  <a:t>:</a:t>
                </a:r>
              </a:p>
              <a:p>
                <a:pPr lvl="0"/>
                <a14:m>
                  <m:oMath xmlns:m="http://schemas.openxmlformats.org/officeDocument/2006/math">
                    <m:r>
                      <a:rPr lang="en-AU" b="0" i="1" smtClean="0">
                        <a:latin typeface="Cambria Math" panose="02040503050406030204" pitchFamily="18" charset="0"/>
                      </a:rPr>
                      <m:t>𝑧</m:t>
                    </m:r>
                  </m:oMath>
                </a14:m>
                <a:r>
                  <a:rPr lang="en-AU" dirty="0"/>
                  <a:t>: This represents the distance from the lens to the point </a:t>
                </a:r>
              </a:p>
              <a:p>
                <a:pPr lvl="0"/>
                <a:r>
                  <a:rPr lang="en-AU" dirty="0"/>
                  <a:t>    in the world that is </a:t>
                </a:r>
                <a:r>
                  <a:rPr lang="en-AU" b="1" dirty="0"/>
                  <a:t>in perfect focus</a:t>
                </a:r>
                <a:r>
                  <a:rPr lang="en-AU" dirty="0"/>
                  <a:t> on the image plane.</a:t>
                </a:r>
              </a:p>
              <a:p>
                <a:pPr lvl="0"/>
                <a14:m>
                  <m:oMath xmlns:m="http://schemas.openxmlformats.org/officeDocument/2006/math">
                    <m:sSub>
                      <m:sSubPr>
                        <m:ctrlPr>
                          <a:rPr lang="en-AU" b="0" i="1" smtClean="0">
                            <a:latin typeface="Cambria Math" panose="02040503050406030204" pitchFamily="18" charset="0"/>
                          </a:rPr>
                        </m:ctrlPr>
                      </m:sSubPr>
                      <m:e>
                        <m:r>
                          <a:rPr lang="en-AU" i="1">
                            <a:latin typeface="Cambria Math" panose="02040503050406030204" pitchFamily="18" charset="0"/>
                          </a:rPr>
                          <m:t>𝑧</m:t>
                        </m:r>
                      </m:e>
                      <m:sub>
                        <m:r>
                          <a:rPr lang="en-AU" b="0" i="1" smtClean="0">
                            <a:latin typeface="Cambria Math" panose="02040503050406030204" pitchFamily="18" charset="0"/>
                          </a:rPr>
                          <m:t>0</m:t>
                        </m:r>
                      </m:sub>
                    </m:sSub>
                    <m:r>
                      <a:rPr lang="en-AU" i="1">
                        <a:latin typeface="Cambria Math" panose="02040503050406030204" pitchFamily="18" charset="0"/>
                      </a:rPr>
                      <m:t> </m:t>
                    </m:r>
                  </m:oMath>
                </a14:m>
                <a:r>
                  <a:rPr lang="en-AU" dirty="0"/>
                  <a:t>: the actual distance of a specific point in the world </a:t>
                </a:r>
              </a:p>
              <a:p>
                <a:pPr lvl="0"/>
                <a:r>
                  <a:rPr lang="en-AU" dirty="0"/>
                  <a:t>        from the lens.</a:t>
                </a:r>
              </a:p>
            </p:txBody>
          </p:sp>
        </mc:Choice>
        <mc:Fallback>
          <p:sp>
            <p:nvSpPr>
              <p:cNvPr id="11" name="TextBox 10">
                <a:extLst>
                  <a:ext uri="{FF2B5EF4-FFF2-40B4-BE49-F238E27FC236}">
                    <a16:creationId xmlns:a16="http://schemas.microsoft.com/office/drawing/2014/main" id="{F974104B-00F5-F130-76CB-06E3A1F110F5}"/>
                  </a:ext>
                </a:extLst>
              </p:cNvPr>
              <p:cNvSpPr txBox="1">
                <a:spLocks noRot="1" noChangeAspect="1" noMove="1" noResize="1" noEditPoints="1" noAdjustHandles="1" noChangeArrowheads="1" noChangeShapeType="1" noTextEdit="1"/>
              </p:cNvSpPr>
              <p:nvPr/>
            </p:nvSpPr>
            <p:spPr>
              <a:xfrm>
                <a:off x="334386" y="1657745"/>
                <a:ext cx="5608395" cy="1635832"/>
              </a:xfrm>
              <a:prstGeom prst="rect">
                <a:avLst/>
              </a:prstGeom>
              <a:blipFill>
                <a:blip r:embed="rId9"/>
                <a:stretch>
                  <a:fillRect l="-903" b="-5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FCA3C73-2EF1-8D6D-C2BF-A4060799390A}"/>
                  </a:ext>
                </a:extLst>
              </p:cNvPr>
              <p:cNvSpPr txBox="1"/>
              <p:nvPr/>
            </p:nvSpPr>
            <p:spPr>
              <a:xfrm>
                <a:off x="391474" y="3525514"/>
                <a:ext cx="997261" cy="369332"/>
              </a:xfrm>
              <a:prstGeom prst="rect">
                <a:avLst/>
              </a:prstGeom>
              <a:noFill/>
            </p:spPr>
            <p:txBody>
              <a:bodyPr wrap="none" rtlCol="0">
                <a:spAutoFit/>
              </a:bodyPr>
              <a:lstStyle/>
              <a:p>
                <a:r>
                  <a:rPr lang="en-US" dirty="0"/>
                  <a:t>If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𝑧</m:t>
                        </m:r>
                      </m:e>
                      <m:sub>
                        <m:r>
                          <a:rPr lang="en-AU" b="0" i="1" smtClean="0">
                            <a:latin typeface="Cambria Math" panose="02040503050406030204" pitchFamily="18" charset="0"/>
                          </a:rPr>
                          <m:t>0</m:t>
                        </m:r>
                      </m:sub>
                    </m:sSub>
                    <m:r>
                      <a:rPr lang="en-AU" b="0" i="1" smtClean="0">
                        <a:latin typeface="Cambria Math" panose="02040503050406030204" pitchFamily="18" charset="0"/>
                      </a:rPr>
                      <m:t>=</m:t>
                    </m:r>
                    <m:r>
                      <a:rPr lang="en-AU" b="0" i="1" smtClean="0">
                        <a:latin typeface="Cambria Math" panose="02040503050406030204" pitchFamily="18" charset="0"/>
                      </a:rPr>
                      <m:t>𝑧</m:t>
                    </m:r>
                  </m:oMath>
                </a14:m>
                <a:endParaRPr lang="en-US" dirty="0"/>
              </a:p>
            </p:txBody>
          </p:sp>
        </mc:Choice>
        <mc:Fallback>
          <p:sp>
            <p:nvSpPr>
              <p:cNvPr id="12" name="TextBox 11">
                <a:extLst>
                  <a:ext uri="{FF2B5EF4-FFF2-40B4-BE49-F238E27FC236}">
                    <a16:creationId xmlns:a16="http://schemas.microsoft.com/office/drawing/2014/main" id="{AFCA3C73-2EF1-8D6D-C2BF-A4060799390A}"/>
                  </a:ext>
                </a:extLst>
              </p:cNvPr>
              <p:cNvSpPr txBox="1">
                <a:spLocks noRot="1" noChangeAspect="1" noMove="1" noResize="1" noEditPoints="1" noAdjustHandles="1" noChangeArrowheads="1" noChangeShapeType="1" noTextEdit="1"/>
              </p:cNvSpPr>
              <p:nvPr/>
            </p:nvSpPr>
            <p:spPr>
              <a:xfrm>
                <a:off x="391474" y="3525514"/>
                <a:ext cx="997261" cy="369332"/>
              </a:xfrm>
              <a:prstGeom prst="rect">
                <a:avLst/>
              </a:prstGeom>
              <a:blipFill>
                <a:blip r:embed="rId10"/>
                <a:stretch>
                  <a:fillRect l="-5000" t="-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B1C4BA2-3FB1-D5A4-C9E7-23787E77121C}"/>
                  </a:ext>
                </a:extLst>
              </p:cNvPr>
              <p:cNvSpPr txBox="1"/>
              <p:nvPr/>
            </p:nvSpPr>
            <p:spPr>
              <a:xfrm>
                <a:off x="1617652" y="4086761"/>
                <a:ext cx="3969181" cy="634276"/>
              </a:xfrm>
              <a:prstGeom prst="rect">
                <a:avLst/>
              </a:prstGeom>
              <a:noFill/>
            </p:spPr>
            <p:txBody>
              <a:bodyPr wrap="square" rtlCol="0">
                <a:spAutoFit/>
              </a:bodyPr>
              <a:lstStyle/>
              <a:p>
                <a14:m>
                  <m:oMath xmlns:m="http://schemas.openxmlformats.org/officeDocument/2006/math">
                    <m:r>
                      <a:rPr lang="en-AU" b="0" i="1" smtClean="0">
                        <a:latin typeface="Cambria Math" panose="02040503050406030204" pitchFamily="18" charset="0"/>
                      </a:rPr>
                      <m:t>𝑟</m:t>
                    </m:r>
                    <m:r>
                      <a:rPr lang="en-AU" b="0" i="1" smtClean="0">
                        <a:latin typeface="Cambria Math" panose="02040503050406030204" pitchFamily="18" charset="0"/>
                      </a:rPr>
                      <m:t>=</m:t>
                    </m:r>
                    <m:f>
                      <m:fPr>
                        <m:ctrlPr>
                          <a:rPr lang="en-US" i="1" smtClean="0">
                            <a:latin typeface="Cambria Math" panose="02040503050406030204" pitchFamily="18" charset="0"/>
                          </a:rPr>
                        </m:ctrlPr>
                      </m:fPr>
                      <m:num>
                        <m:r>
                          <a:rPr lang="en-AU" b="0" i="1" smtClean="0">
                            <a:latin typeface="Cambria Math" panose="02040503050406030204" pitchFamily="18" charset="0"/>
                          </a:rPr>
                          <m:t>𝑅</m:t>
                        </m:r>
                      </m:num>
                      <m:den>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𝑧</m:t>
                            </m:r>
                          </m:den>
                        </m:f>
                      </m:den>
                    </m:f>
                    <m:d>
                      <m:dPr>
                        <m:begChr m:val="|"/>
                        <m:endChr m:val="|"/>
                        <m:ctrlPr>
                          <a:rPr lang="en-AU" b="0" i="1" smtClean="0">
                            <a:latin typeface="Cambria Math" panose="02040503050406030204" pitchFamily="18" charset="0"/>
                          </a:rPr>
                        </m:ctrlPr>
                      </m:dPr>
                      <m:e>
                        <m:d>
                          <m:dPr>
                            <m:ctrlPr>
                              <a:rPr lang="en-AU" b="0" i="1" smtClean="0">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𝑧</m:t>
                                </m:r>
                              </m:den>
                            </m:f>
                          </m:e>
                        </m:d>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e>
                    </m:d>
                    <m:r>
                      <a:rPr lang="en-AU"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AU" i="1">
                            <a:latin typeface="Cambria Math" panose="02040503050406030204" pitchFamily="18" charset="0"/>
                          </a:rPr>
                          <m:t>𝑅</m:t>
                        </m:r>
                      </m:num>
                      <m:den>
                        <m:f>
                          <m:fPr>
                            <m:ctrlPr>
                              <a:rPr lang="en-AU" i="1">
                                <a:latin typeface="Cambria Math" panose="02040503050406030204" pitchFamily="18" charset="0"/>
                              </a:rPr>
                            </m:ctrlPr>
                          </m:fPr>
                          <m:num>
                            <m:r>
                              <a:rPr lang="en-AU" i="1">
                                <a:latin typeface="Cambria Math" panose="02040503050406030204" pitchFamily="18" charset="0"/>
                              </a:rPr>
                              <m:t>1</m:t>
                            </m:r>
                          </m:num>
                          <m:den>
                            <m:r>
                              <a:rPr lang="en-AU" b="0" i="1" smtClean="0">
                                <a:latin typeface="Cambria Math" panose="02040503050406030204" pitchFamily="18" charset="0"/>
                              </a:rPr>
                              <m:t>𝑑</m:t>
                            </m:r>
                          </m:den>
                        </m:f>
                      </m:den>
                    </m:f>
                    <m:d>
                      <m:dPr>
                        <m:begChr m:val="|"/>
                        <m:endChr m:val="|"/>
                        <m:ctrlPr>
                          <a:rPr lang="en-AU" i="1">
                            <a:latin typeface="Cambria Math" panose="02040503050406030204" pitchFamily="18" charset="0"/>
                          </a:rPr>
                        </m:ctrlPr>
                      </m:dPr>
                      <m:e>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𝑑</m:t>
                            </m:r>
                          </m:den>
                        </m:f>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𝑑</m:t>
                            </m:r>
                          </m:den>
                        </m:f>
                      </m:e>
                    </m:d>
                    <m:r>
                      <a:rPr lang="en-AU" b="0" i="1" smtClean="0">
                        <a:latin typeface="Cambria Math" panose="02040503050406030204" pitchFamily="18" charset="0"/>
                      </a:rPr>
                      <m:t>⇒0</m:t>
                    </m:r>
                  </m:oMath>
                </a14:m>
                <a:endParaRPr lang="en-US" dirty="0"/>
              </a:p>
            </p:txBody>
          </p:sp>
        </mc:Choice>
        <mc:Fallback>
          <p:sp>
            <p:nvSpPr>
              <p:cNvPr id="13" name="TextBox 12">
                <a:extLst>
                  <a:ext uri="{FF2B5EF4-FFF2-40B4-BE49-F238E27FC236}">
                    <a16:creationId xmlns:a16="http://schemas.microsoft.com/office/drawing/2014/main" id="{4B1C4BA2-3FB1-D5A4-C9E7-23787E77121C}"/>
                  </a:ext>
                </a:extLst>
              </p:cNvPr>
              <p:cNvSpPr txBox="1">
                <a:spLocks noRot="1" noChangeAspect="1" noMove="1" noResize="1" noEditPoints="1" noAdjustHandles="1" noChangeArrowheads="1" noChangeShapeType="1" noTextEdit="1"/>
              </p:cNvSpPr>
              <p:nvPr/>
            </p:nvSpPr>
            <p:spPr>
              <a:xfrm>
                <a:off x="1617652" y="4086761"/>
                <a:ext cx="3969181" cy="634276"/>
              </a:xfrm>
              <a:prstGeom prst="rect">
                <a:avLst/>
              </a:prstGeom>
              <a:blipFill>
                <a:blip r:embed="rId11"/>
                <a:stretch>
                  <a:fillRect b="-196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3306DFD1-2B95-D9BF-5033-5358145F80C0}"/>
                  </a:ext>
                </a:extLst>
              </p:cNvPr>
              <p:cNvSpPr txBox="1"/>
              <p:nvPr/>
            </p:nvSpPr>
            <p:spPr>
              <a:xfrm>
                <a:off x="1617653" y="3478243"/>
                <a:ext cx="2352311" cy="516232"/>
              </a:xfrm>
              <a:prstGeom prst="rect">
                <a:avLst/>
              </a:prstGeom>
              <a:noFill/>
            </p:spPr>
            <p:txBody>
              <a:bodyPr wrap="none" rtlCol="0">
                <a:spAutoFit/>
              </a:bodyPr>
              <a:lstStyle/>
              <a:p>
                <a:r>
                  <a:rPr lang="en-AU" dirty="0"/>
                  <a:t> </a:t>
                </a:r>
                <a14:m>
                  <m:oMath xmlns:m="http://schemas.openxmlformats.org/officeDocument/2006/math">
                    <m:f>
                      <m:fPr>
                        <m:ctrlPr>
                          <a:rPr lang="en-AU" i="1">
                            <a:latin typeface="Cambria Math" panose="02040503050406030204" pitchFamily="18" charset="0"/>
                          </a:rPr>
                        </m:ctrlPr>
                      </m:fPr>
                      <m:num>
                        <m:r>
                          <a:rPr lang="en-AU" b="0" i="1">
                            <a:latin typeface="Cambria Math" panose="02040503050406030204" pitchFamily="18" charset="0"/>
                          </a:rPr>
                          <m:t>1</m:t>
                        </m:r>
                      </m:num>
                      <m:den>
                        <m:r>
                          <a:rPr lang="en-AU" b="0" i="1">
                            <a:latin typeface="Cambria Math" panose="02040503050406030204" pitchFamily="18" charset="0"/>
                          </a:rPr>
                          <m:t>𝑓</m:t>
                        </m:r>
                      </m:den>
                    </m:f>
                    <m:r>
                      <a:rPr lang="en-AU" b="0" i="1">
                        <a:latin typeface="Cambria Math" panose="02040503050406030204" pitchFamily="18" charset="0"/>
                      </a:rPr>
                      <m:t>=</m:t>
                    </m:r>
                    <m:f>
                      <m:fPr>
                        <m:ctrlPr>
                          <a:rPr lang="en-AU" i="1">
                            <a:latin typeface="Cambria Math" panose="02040503050406030204" pitchFamily="18" charset="0"/>
                          </a:rPr>
                        </m:ctrlPr>
                      </m:fPr>
                      <m:num>
                        <m:r>
                          <a:rPr lang="en-AU" b="0" i="1">
                            <a:latin typeface="Cambria Math" panose="02040503050406030204" pitchFamily="18" charset="0"/>
                          </a:rPr>
                          <m:t>1</m:t>
                        </m:r>
                      </m:num>
                      <m:den>
                        <m:r>
                          <a:rPr lang="en-AU" b="0" i="1">
                            <a:latin typeface="Cambria Math" panose="02040503050406030204" pitchFamily="18" charset="0"/>
                          </a:rPr>
                          <m:t>𝑧</m:t>
                        </m:r>
                      </m:den>
                    </m:f>
                    <m:r>
                      <a:rPr lang="en-AU" b="0" i="1">
                        <a:latin typeface="Cambria Math" panose="02040503050406030204" pitchFamily="18" charset="0"/>
                      </a:rPr>
                      <m:t>+</m:t>
                    </m:r>
                    <m:f>
                      <m:fPr>
                        <m:ctrlPr>
                          <a:rPr lang="en-AU" i="1">
                            <a:latin typeface="Cambria Math" panose="02040503050406030204" pitchFamily="18" charset="0"/>
                          </a:rPr>
                        </m:ctrlPr>
                      </m:fPr>
                      <m:num>
                        <m:r>
                          <a:rPr lang="en-AU" b="0" i="1">
                            <a:latin typeface="Cambria Math" panose="02040503050406030204" pitchFamily="18" charset="0"/>
                          </a:rPr>
                          <m:t>1</m:t>
                        </m:r>
                      </m:num>
                      <m:den>
                        <m:r>
                          <a:rPr lang="en-AU" b="0" i="1">
                            <a:latin typeface="Cambria Math" panose="02040503050406030204" pitchFamily="18" charset="0"/>
                          </a:rPr>
                          <m:t>𝑑</m:t>
                        </m:r>
                      </m:den>
                    </m:f>
                    <m:r>
                      <a:rPr lang="en-AU" b="0" i="1" smtClean="0">
                        <a:latin typeface="Cambria Math" panose="02040503050406030204" pitchFamily="18" charset="0"/>
                      </a:rPr>
                      <m:t>⇒</m:t>
                    </m:r>
                    <m:f>
                      <m:fPr>
                        <m:ctrlPr>
                          <a:rPr lang="en-AU" i="1">
                            <a:latin typeface="Cambria Math" panose="02040503050406030204" pitchFamily="18" charset="0"/>
                          </a:rPr>
                        </m:ctrlPr>
                      </m:fPr>
                      <m:num>
                        <m:r>
                          <a:rPr lang="en-AU" b="0" i="1">
                            <a:latin typeface="Cambria Math" panose="02040503050406030204" pitchFamily="18" charset="0"/>
                          </a:rPr>
                          <m:t>1</m:t>
                        </m:r>
                      </m:num>
                      <m:den>
                        <m:r>
                          <a:rPr lang="en-AU" b="0" i="1">
                            <a:latin typeface="Cambria Math" panose="02040503050406030204" pitchFamily="18" charset="0"/>
                          </a:rPr>
                          <m:t>𝑓</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𝑧</m:t>
                        </m:r>
                      </m:den>
                    </m:f>
                    <m:r>
                      <a:rPr lang="en-AU" b="0" i="1">
                        <a:latin typeface="Cambria Math" panose="02040503050406030204" pitchFamily="18" charset="0"/>
                      </a:rPr>
                      <m:t>=</m:t>
                    </m:r>
                    <m:f>
                      <m:fPr>
                        <m:ctrlPr>
                          <a:rPr lang="en-AU" i="1">
                            <a:latin typeface="Cambria Math" panose="02040503050406030204" pitchFamily="18" charset="0"/>
                          </a:rPr>
                        </m:ctrlPr>
                      </m:fPr>
                      <m:num>
                        <m:r>
                          <a:rPr lang="en-AU" b="0" i="1">
                            <a:latin typeface="Cambria Math" panose="02040503050406030204" pitchFamily="18" charset="0"/>
                          </a:rPr>
                          <m:t>1</m:t>
                        </m:r>
                      </m:num>
                      <m:den>
                        <m:r>
                          <a:rPr lang="en-AU" b="0" i="1">
                            <a:latin typeface="Cambria Math" panose="02040503050406030204" pitchFamily="18" charset="0"/>
                          </a:rPr>
                          <m:t>𝑑</m:t>
                        </m:r>
                      </m:den>
                    </m:f>
                  </m:oMath>
                </a14:m>
                <a:endParaRPr lang="en-US" dirty="0"/>
              </a:p>
            </p:txBody>
          </p:sp>
        </mc:Choice>
        <mc:Fallback>
          <p:sp>
            <p:nvSpPr>
              <p:cNvPr id="17" name="TextBox 16">
                <a:extLst>
                  <a:ext uri="{FF2B5EF4-FFF2-40B4-BE49-F238E27FC236}">
                    <a16:creationId xmlns:a16="http://schemas.microsoft.com/office/drawing/2014/main" id="{3306DFD1-2B95-D9BF-5033-5358145F80C0}"/>
                  </a:ext>
                </a:extLst>
              </p:cNvPr>
              <p:cNvSpPr txBox="1">
                <a:spLocks noRot="1" noChangeAspect="1" noMove="1" noResize="1" noEditPoints="1" noAdjustHandles="1" noChangeArrowheads="1" noChangeShapeType="1" noTextEdit="1"/>
              </p:cNvSpPr>
              <p:nvPr/>
            </p:nvSpPr>
            <p:spPr>
              <a:xfrm>
                <a:off x="1617653" y="3478243"/>
                <a:ext cx="2352311" cy="516232"/>
              </a:xfrm>
              <a:prstGeom prst="rect">
                <a:avLst/>
              </a:prstGeom>
              <a:blipFill>
                <a:blip r:embed="rId12"/>
                <a:stretch>
                  <a:fillRect b="-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40EC9DD8-D03D-022F-D971-9BA539105B16}"/>
                  </a:ext>
                </a:extLst>
              </p:cNvPr>
              <p:cNvSpPr txBox="1"/>
              <p:nvPr/>
            </p:nvSpPr>
            <p:spPr>
              <a:xfrm>
                <a:off x="280767" y="4722247"/>
                <a:ext cx="4225644" cy="923330"/>
              </a:xfrm>
              <a:prstGeom prst="rect">
                <a:avLst/>
              </a:prstGeom>
              <a:noFill/>
            </p:spPr>
            <p:txBody>
              <a:bodyPr wrap="none" rtlCol="0">
                <a:spAutoFit/>
              </a:bodyPr>
              <a:lstStyle/>
              <a:p>
                <a:r>
                  <a:rPr lang="en-AU" dirty="0"/>
                  <a:t>By definition, objects at distance </a:t>
                </a:r>
                <a14:m>
                  <m:oMath xmlns:m="http://schemas.openxmlformats.org/officeDocument/2006/math">
                    <m:r>
                      <a:rPr lang="en-AU" i="1" dirty="0" smtClean="0">
                        <a:latin typeface="Cambria Math" panose="02040503050406030204" pitchFamily="18" charset="0"/>
                      </a:rPr>
                      <m:t>𝑧</m:t>
                    </m:r>
                  </m:oMath>
                </a14:m>
                <a:r>
                  <a:rPr lang="en-AU" dirty="0"/>
                  <a:t> are in </a:t>
                </a:r>
              </a:p>
              <a:p>
                <a:r>
                  <a:rPr lang="en-AU" dirty="0"/>
                  <a:t>perfect focus i.e., </a:t>
                </a:r>
                <a14:m>
                  <m:oMath xmlns:m="http://schemas.openxmlformats.org/officeDocument/2006/math">
                    <m:r>
                      <a:rPr lang="en-AU" b="0" i="1" smtClean="0">
                        <a:latin typeface="Cambria Math" panose="02040503050406030204" pitchFamily="18" charset="0"/>
                      </a:rPr>
                      <m:t>𝑟</m:t>
                    </m:r>
                  </m:oMath>
                </a14:m>
                <a:r>
                  <a:rPr lang="en-AU" dirty="0"/>
                  <a:t> should be 0 that checks</a:t>
                </a:r>
              </a:p>
              <a:p>
                <a:r>
                  <a:rPr lang="en-AU" dirty="0"/>
                  <a:t>out from the blur radius equation</a:t>
                </a:r>
              </a:p>
            </p:txBody>
          </p:sp>
        </mc:Choice>
        <mc:Fallback>
          <p:sp>
            <p:nvSpPr>
              <p:cNvPr id="20" name="TextBox 19">
                <a:extLst>
                  <a:ext uri="{FF2B5EF4-FFF2-40B4-BE49-F238E27FC236}">
                    <a16:creationId xmlns:a16="http://schemas.microsoft.com/office/drawing/2014/main" id="{40EC9DD8-D03D-022F-D971-9BA539105B16}"/>
                  </a:ext>
                </a:extLst>
              </p:cNvPr>
              <p:cNvSpPr txBox="1">
                <a:spLocks noRot="1" noChangeAspect="1" noMove="1" noResize="1" noEditPoints="1" noAdjustHandles="1" noChangeArrowheads="1" noChangeShapeType="1" noTextEdit="1"/>
              </p:cNvSpPr>
              <p:nvPr/>
            </p:nvSpPr>
            <p:spPr>
              <a:xfrm>
                <a:off x="280767" y="4722247"/>
                <a:ext cx="4225644" cy="923330"/>
              </a:xfrm>
              <a:prstGeom prst="rect">
                <a:avLst/>
              </a:prstGeom>
              <a:blipFill>
                <a:blip r:embed="rId13"/>
                <a:stretch>
                  <a:fillRect l="-1201" t="-4110" r="-300" b="-9589"/>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C2868BA6-6F6E-08A2-0B2B-4E7F7872B848}"/>
              </a:ext>
            </a:extLst>
          </p:cNvPr>
          <p:cNvSpPr txBox="1"/>
          <p:nvPr/>
        </p:nvSpPr>
        <p:spPr>
          <a:xfrm>
            <a:off x="1047867" y="6068797"/>
            <a:ext cx="9292865" cy="646331"/>
          </a:xfrm>
          <a:prstGeom prst="rect">
            <a:avLst/>
          </a:prstGeom>
          <a:noFill/>
        </p:spPr>
        <p:txBody>
          <a:bodyPr wrap="none" rtlCol="0">
            <a:spAutoFit/>
          </a:bodyPr>
          <a:lstStyle/>
          <a:p>
            <a:pPr algn="ctr"/>
            <a:r>
              <a:rPr lang="en-AU" b="1" dirty="0">
                <a:solidFill>
                  <a:srgbClr val="0070C0"/>
                </a:solidFill>
              </a:rPr>
              <a:t>The amount of blur in the image is proportional to two things:</a:t>
            </a:r>
          </a:p>
          <a:p>
            <a:pPr algn="ctr"/>
            <a:r>
              <a:rPr lang="en-AU" b="1" dirty="0">
                <a:solidFill>
                  <a:srgbClr val="C00000"/>
                </a:solidFill>
              </a:rPr>
              <a:t>How big the aperture or lens is? </a:t>
            </a:r>
            <a:r>
              <a:rPr lang="en-AU" b="1" dirty="0">
                <a:solidFill>
                  <a:srgbClr val="0070C0"/>
                </a:solidFill>
              </a:rPr>
              <a:t>and </a:t>
            </a:r>
            <a:r>
              <a:rPr lang="en-AU" b="1" dirty="0">
                <a:solidFill>
                  <a:srgbClr val="C00000"/>
                </a:solidFill>
              </a:rPr>
              <a:t>How far we move in and out of this perfect plane of focus?</a:t>
            </a:r>
          </a:p>
        </p:txBody>
      </p:sp>
    </p:spTree>
    <p:extLst>
      <p:ext uri="{BB962C8B-B14F-4D97-AF65-F5344CB8AC3E}">
        <p14:creationId xmlns:p14="http://schemas.microsoft.com/office/powerpoint/2010/main" val="213040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1C64E-519D-739D-11BE-7C7BAAA2AFAF}"/>
              </a:ext>
            </a:extLst>
          </p:cNvPr>
          <p:cNvSpPr>
            <a:spLocks noGrp="1"/>
          </p:cNvSpPr>
          <p:nvPr>
            <p:ph type="title"/>
          </p:nvPr>
        </p:nvSpPr>
        <p:spPr/>
        <p:txBody>
          <a:bodyPr/>
          <a:lstStyle/>
          <a:p>
            <a:r>
              <a:rPr lang="en-US" dirty="0"/>
              <a:t>Readings</a:t>
            </a:r>
          </a:p>
        </p:txBody>
      </p:sp>
      <p:sp>
        <p:nvSpPr>
          <p:cNvPr id="3" name="Content Placeholder 2">
            <a:extLst>
              <a:ext uri="{FF2B5EF4-FFF2-40B4-BE49-F238E27FC236}">
                <a16:creationId xmlns:a16="http://schemas.microsoft.com/office/drawing/2014/main" id="{4553424F-8437-29BA-9BF4-A08FD5D8BFCE}"/>
              </a:ext>
            </a:extLst>
          </p:cNvPr>
          <p:cNvSpPr>
            <a:spLocks noGrp="1"/>
          </p:cNvSpPr>
          <p:nvPr>
            <p:ph idx="1"/>
          </p:nvPr>
        </p:nvSpPr>
        <p:spPr/>
        <p:txBody>
          <a:bodyPr/>
          <a:lstStyle/>
          <a:p>
            <a:r>
              <a:rPr lang="en-AU" sz="2000" dirty="0"/>
              <a:t>Image formation: lenses: </a:t>
            </a:r>
            <a:r>
              <a:rPr lang="en-AU" sz="2000"/>
              <a:t>thin lens: </a:t>
            </a:r>
            <a:endParaRPr lang="en-AU" sz="2000" dirty="0"/>
          </a:p>
          <a:p>
            <a:pPr marL="0" indent="0">
              <a:buNone/>
            </a:pPr>
            <a:endParaRPr lang="en-US" dirty="0"/>
          </a:p>
        </p:txBody>
      </p:sp>
    </p:spTree>
    <p:extLst>
      <p:ext uri="{BB962C8B-B14F-4D97-AF65-F5344CB8AC3E}">
        <p14:creationId xmlns:p14="http://schemas.microsoft.com/office/powerpoint/2010/main" val="147723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3208</TotalTime>
  <Words>2386</Words>
  <Application>Microsoft Macintosh PowerPoint</Application>
  <PresentationFormat>Widescreen</PresentationFormat>
  <Paragraphs>277</Paragraphs>
  <Slides>30</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Cambria Math</vt:lpstr>
      <vt:lpstr>Office Theme</vt:lpstr>
      <vt:lpstr>COMPUTER VISION</vt:lpstr>
      <vt:lpstr>Let’s design a camera</vt:lpstr>
      <vt:lpstr>Pinhole camera model</vt:lpstr>
      <vt:lpstr>Pinhole camera model</vt:lpstr>
      <vt:lpstr>Pinhole camera model</vt:lpstr>
      <vt:lpstr>Pinhole camera model</vt:lpstr>
      <vt:lpstr>Pinhole camera model</vt:lpstr>
      <vt:lpstr>Co-ordinate system</vt:lpstr>
      <vt:lpstr>Pinhole camera model</vt:lpstr>
      <vt:lpstr>Camera reference system</vt:lpstr>
      <vt:lpstr>Flatten coordinates</vt:lpstr>
      <vt:lpstr>Virtual image plane</vt:lpstr>
      <vt:lpstr>Eﬀect of perspective projection</vt:lpstr>
      <vt:lpstr>Perspective projection</vt:lpstr>
      <vt:lpstr>Eﬀect of perspective projection</vt:lpstr>
      <vt:lpstr>What if we increase the pinhole size?</vt:lpstr>
      <vt:lpstr>Can we get a sharper image if we decrease the pinhole size?</vt:lpstr>
      <vt:lpstr>Aperture in pinhole model</vt:lpstr>
      <vt:lpstr>How can we get a sharp and bright image?</vt:lpstr>
      <vt:lpstr>How can we get a sharp and bright image?</vt:lpstr>
      <vt:lpstr>Lens camera model</vt:lpstr>
      <vt:lpstr>In focus and out of focus</vt:lpstr>
      <vt:lpstr>Focus</vt:lpstr>
      <vt:lpstr>Focus</vt:lpstr>
      <vt:lpstr>Lens camera model</vt:lpstr>
      <vt:lpstr>Focal length of lens</vt:lpstr>
      <vt:lpstr>How blurry an object be, when we move the object in and out of the points those are in perfect focus?</vt:lpstr>
      <vt:lpstr>If R is zero i.e., we have a tiny tiny little pinhole and only a single ray of light goes through?</vt:lpstr>
      <vt:lpstr>What happens when z_0=z?</vt:lpstr>
      <vt:lpstr>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118</cp:revision>
  <dcterms:created xsi:type="dcterms:W3CDTF">2026-08-04T00:11:14Z</dcterms:created>
  <dcterms:modified xsi:type="dcterms:W3CDTF">2026-08-07T04:09:34Z</dcterms:modified>
</cp:coreProperties>
</file>